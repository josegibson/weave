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13658850" cx="11371250"/>
  <p:notesSz cx="7772400" cy="10058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911">
          <p15:clr>
            <a:srgbClr val="A4A3A4"/>
          </p15:clr>
        </p15:guide>
        <p15:guide id="2" pos="3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E646390-14D1-40E7-8574-0D387628F5A2}">
  <a:tblStyle styleId="{6E646390-14D1-40E7-8574-0D387628F5A2}"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4715F777-4F42-4612-BE10-C9BCD6FF47B2}"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E4242843-AAB6-44C1-86A8-03E24E99F890}" styleName="Table_2">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911" orient="horz"/>
        <p:guide pos="316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 Type="http://schemas.openxmlformats.org/officeDocument/2006/relationships/viewProps" Target="viewProps.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 Type="http://schemas.openxmlformats.org/officeDocument/2006/relationships/presProps" Target="presProps.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368675" cy="5048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4402138" y="0"/>
            <a:ext cx="3368675" cy="504825"/>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2474913" y="1257300"/>
            <a:ext cx="2822575" cy="33940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77875" y="4840288"/>
            <a:ext cx="6216650" cy="396081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684"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684"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684"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684"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684"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684"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684"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684"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684"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9553575"/>
            <a:ext cx="3368675" cy="50482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4402138" y="9553575"/>
            <a:ext cx="3368675" cy="50482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txBox="1"/>
          <p:nvPr>
            <p:ph idx="1" type="body"/>
          </p:nvPr>
        </p:nvSpPr>
        <p:spPr>
          <a:xfrm>
            <a:off x="777875" y="4840288"/>
            <a:ext cx="6216650" cy="396081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 name="Google Shape;45;p1:notes"/>
          <p:cNvSpPr/>
          <p:nvPr>
            <p:ph idx="2" type="sldImg"/>
          </p:nvPr>
        </p:nvSpPr>
        <p:spPr>
          <a:xfrm>
            <a:off x="2474913" y="1257300"/>
            <a:ext cx="2822575" cy="33940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2:notes"/>
          <p:cNvSpPr txBox="1"/>
          <p:nvPr>
            <p:ph idx="1" type="body"/>
          </p:nvPr>
        </p:nvSpPr>
        <p:spPr>
          <a:xfrm>
            <a:off x="777875" y="4840288"/>
            <a:ext cx="6216650" cy="396081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 name="Google Shape;54;p2:notes"/>
          <p:cNvSpPr/>
          <p:nvPr>
            <p:ph idx="2" type="sldImg"/>
          </p:nvPr>
        </p:nvSpPr>
        <p:spPr>
          <a:xfrm>
            <a:off x="2474913" y="1257300"/>
            <a:ext cx="2822575" cy="33940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txBox="1"/>
          <p:nvPr>
            <p:ph idx="1" type="body"/>
          </p:nvPr>
        </p:nvSpPr>
        <p:spPr>
          <a:xfrm>
            <a:off x="777875" y="4840288"/>
            <a:ext cx="6216650" cy="396081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 name="Google Shape;64;p3:notes"/>
          <p:cNvSpPr/>
          <p:nvPr>
            <p:ph idx="2" type="sldImg"/>
          </p:nvPr>
        </p:nvSpPr>
        <p:spPr>
          <a:xfrm>
            <a:off x="2474913" y="1257300"/>
            <a:ext cx="2822575" cy="33940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4:notes"/>
          <p:cNvSpPr txBox="1"/>
          <p:nvPr>
            <p:ph idx="1" type="body"/>
          </p:nvPr>
        </p:nvSpPr>
        <p:spPr>
          <a:xfrm>
            <a:off x="777875" y="4840288"/>
            <a:ext cx="6216650" cy="396081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 name="Google Shape;75;p4:notes"/>
          <p:cNvSpPr/>
          <p:nvPr>
            <p:ph idx="2" type="sldImg"/>
          </p:nvPr>
        </p:nvSpPr>
        <p:spPr>
          <a:xfrm>
            <a:off x="2474913" y="1257300"/>
            <a:ext cx="2822575" cy="33940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5:notes"/>
          <p:cNvSpPr txBox="1"/>
          <p:nvPr>
            <p:ph idx="1" type="body"/>
          </p:nvPr>
        </p:nvSpPr>
        <p:spPr>
          <a:xfrm>
            <a:off x="777875" y="4840288"/>
            <a:ext cx="6216650" cy="396081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 name="Google Shape;84;p5:notes"/>
          <p:cNvSpPr/>
          <p:nvPr>
            <p:ph idx="2" type="sldImg"/>
          </p:nvPr>
        </p:nvSpPr>
        <p:spPr>
          <a:xfrm>
            <a:off x="2474913" y="1257300"/>
            <a:ext cx="2822575" cy="33940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6:notes"/>
          <p:cNvSpPr txBox="1"/>
          <p:nvPr>
            <p:ph idx="1" type="body"/>
          </p:nvPr>
        </p:nvSpPr>
        <p:spPr>
          <a:xfrm>
            <a:off x="777875" y="4840288"/>
            <a:ext cx="6216650" cy="396081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 name="Google Shape;94;p6:notes"/>
          <p:cNvSpPr/>
          <p:nvPr>
            <p:ph idx="2" type="sldImg"/>
          </p:nvPr>
        </p:nvSpPr>
        <p:spPr>
          <a:xfrm>
            <a:off x="2474913" y="1257300"/>
            <a:ext cx="2822575" cy="33940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7:notes"/>
          <p:cNvSpPr txBox="1"/>
          <p:nvPr>
            <p:ph idx="1" type="body"/>
          </p:nvPr>
        </p:nvSpPr>
        <p:spPr>
          <a:xfrm>
            <a:off x="777875" y="4840288"/>
            <a:ext cx="6216650" cy="396081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 name="Google Shape;105;p7:notes"/>
          <p:cNvSpPr/>
          <p:nvPr>
            <p:ph idx="2" type="sldImg"/>
          </p:nvPr>
        </p:nvSpPr>
        <p:spPr>
          <a:xfrm>
            <a:off x="2474913" y="1257300"/>
            <a:ext cx="2822575" cy="33940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8:notes"/>
          <p:cNvSpPr txBox="1"/>
          <p:nvPr>
            <p:ph idx="1" type="body"/>
          </p:nvPr>
        </p:nvSpPr>
        <p:spPr>
          <a:xfrm>
            <a:off x="777875" y="4840288"/>
            <a:ext cx="6216650" cy="396081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 name="Google Shape;119;p8:notes"/>
          <p:cNvSpPr/>
          <p:nvPr>
            <p:ph idx="2" type="sldImg"/>
          </p:nvPr>
        </p:nvSpPr>
        <p:spPr>
          <a:xfrm>
            <a:off x="2474913" y="1257300"/>
            <a:ext cx="2822575" cy="33940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txBox="1"/>
          <p:nvPr>
            <p:ph idx="1" type="body"/>
          </p:nvPr>
        </p:nvSpPr>
        <p:spPr>
          <a:xfrm>
            <a:off x="777875" y="4840288"/>
            <a:ext cx="6216650" cy="396081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9:notes"/>
          <p:cNvSpPr/>
          <p:nvPr>
            <p:ph idx="2" type="sldImg"/>
          </p:nvPr>
        </p:nvSpPr>
        <p:spPr>
          <a:xfrm>
            <a:off x="2474913" y="1257300"/>
            <a:ext cx="2822575" cy="33940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0:notes"/>
          <p:cNvSpPr txBox="1"/>
          <p:nvPr>
            <p:ph idx="1" type="body"/>
          </p:nvPr>
        </p:nvSpPr>
        <p:spPr>
          <a:xfrm>
            <a:off x="777875" y="4840288"/>
            <a:ext cx="6216650" cy="396081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8" name="Google Shape;148;p10:notes"/>
          <p:cNvSpPr/>
          <p:nvPr>
            <p:ph idx="2" type="sldImg"/>
          </p:nvPr>
        </p:nvSpPr>
        <p:spPr>
          <a:xfrm>
            <a:off x="2474913" y="1257300"/>
            <a:ext cx="2822575" cy="33940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1:notes"/>
          <p:cNvSpPr txBox="1"/>
          <p:nvPr>
            <p:ph idx="1" type="body"/>
          </p:nvPr>
        </p:nvSpPr>
        <p:spPr>
          <a:xfrm>
            <a:off x="777875" y="4840288"/>
            <a:ext cx="6216650" cy="396081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1:notes"/>
          <p:cNvSpPr/>
          <p:nvPr>
            <p:ph idx="2" type="sldImg"/>
          </p:nvPr>
        </p:nvSpPr>
        <p:spPr>
          <a:xfrm>
            <a:off x="2474913" y="1257300"/>
            <a:ext cx="2822575" cy="33940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2:notes"/>
          <p:cNvSpPr txBox="1"/>
          <p:nvPr>
            <p:ph idx="1" type="body"/>
          </p:nvPr>
        </p:nvSpPr>
        <p:spPr>
          <a:xfrm>
            <a:off x="777875" y="4840288"/>
            <a:ext cx="6216650" cy="396081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7" name="Google Shape;177;p12:notes"/>
          <p:cNvSpPr/>
          <p:nvPr>
            <p:ph idx="2" type="sldImg"/>
          </p:nvPr>
        </p:nvSpPr>
        <p:spPr>
          <a:xfrm>
            <a:off x="2474913" y="1257300"/>
            <a:ext cx="2822575" cy="33940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3:notes"/>
          <p:cNvSpPr txBox="1"/>
          <p:nvPr>
            <p:ph idx="1" type="body"/>
          </p:nvPr>
        </p:nvSpPr>
        <p:spPr>
          <a:xfrm>
            <a:off x="777875" y="4840288"/>
            <a:ext cx="6216650" cy="396081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7" name="Google Shape;187;p13:notes"/>
          <p:cNvSpPr/>
          <p:nvPr>
            <p:ph idx="2" type="sldImg"/>
          </p:nvPr>
        </p:nvSpPr>
        <p:spPr>
          <a:xfrm>
            <a:off x="2474913" y="1257300"/>
            <a:ext cx="2822575" cy="33940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4:notes"/>
          <p:cNvSpPr txBox="1"/>
          <p:nvPr>
            <p:ph idx="1" type="body"/>
          </p:nvPr>
        </p:nvSpPr>
        <p:spPr>
          <a:xfrm>
            <a:off x="777875" y="4840288"/>
            <a:ext cx="6216650" cy="396081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2" name="Google Shape;192;p14:notes"/>
          <p:cNvSpPr/>
          <p:nvPr>
            <p:ph idx="2" type="sldImg"/>
          </p:nvPr>
        </p:nvSpPr>
        <p:spPr>
          <a:xfrm>
            <a:off x="2474913" y="1257300"/>
            <a:ext cx="2822575" cy="33940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5:notes"/>
          <p:cNvSpPr txBox="1"/>
          <p:nvPr>
            <p:ph idx="1" type="body"/>
          </p:nvPr>
        </p:nvSpPr>
        <p:spPr>
          <a:xfrm>
            <a:off x="777875" y="4840288"/>
            <a:ext cx="6216650" cy="396081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15:notes"/>
          <p:cNvSpPr/>
          <p:nvPr>
            <p:ph idx="2" type="sldImg"/>
          </p:nvPr>
        </p:nvSpPr>
        <p:spPr>
          <a:xfrm>
            <a:off x="2474913" y="1257300"/>
            <a:ext cx="2822575" cy="33940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6:notes"/>
          <p:cNvSpPr txBox="1"/>
          <p:nvPr>
            <p:ph idx="1" type="body"/>
          </p:nvPr>
        </p:nvSpPr>
        <p:spPr>
          <a:xfrm>
            <a:off x="777875" y="4840288"/>
            <a:ext cx="6216650" cy="396081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0" name="Google Shape;210;p16:notes"/>
          <p:cNvSpPr/>
          <p:nvPr>
            <p:ph idx="2" type="sldImg"/>
          </p:nvPr>
        </p:nvSpPr>
        <p:spPr>
          <a:xfrm>
            <a:off x="2474913" y="1257300"/>
            <a:ext cx="2822575" cy="33940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7:notes"/>
          <p:cNvSpPr txBox="1"/>
          <p:nvPr>
            <p:ph idx="1" type="body"/>
          </p:nvPr>
        </p:nvSpPr>
        <p:spPr>
          <a:xfrm>
            <a:off x="777875" y="4840288"/>
            <a:ext cx="6216650" cy="396081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9" name="Google Shape;219;p17:notes"/>
          <p:cNvSpPr/>
          <p:nvPr>
            <p:ph idx="2" type="sldImg"/>
          </p:nvPr>
        </p:nvSpPr>
        <p:spPr>
          <a:xfrm>
            <a:off x="2474913" y="1257300"/>
            <a:ext cx="2822575" cy="33940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8:notes"/>
          <p:cNvSpPr txBox="1"/>
          <p:nvPr>
            <p:ph idx="1" type="body"/>
          </p:nvPr>
        </p:nvSpPr>
        <p:spPr>
          <a:xfrm>
            <a:off x="777875" y="4840288"/>
            <a:ext cx="6216650" cy="396081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18:notes"/>
          <p:cNvSpPr/>
          <p:nvPr>
            <p:ph idx="2" type="sldImg"/>
          </p:nvPr>
        </p:nvSpPr>
        <p:spPr>
          <a:xfrm>
            <a:off x="2474913" y="1257300"/>
            <a:ext cx="2822575" cy="33940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9:notes"/>
          <p:cNvSpPr txBox="1"/>
          <p:nvPr>
            <p:ph idx="1" type="body"/>
          </p:nvPr>
        </p:nvSpPr>
        <p:spPr>
          <a:xfrm>
            <a:off x="777875" y="4840288"/>
            <a:ext cx="6216650" cy="396081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3" name="Google Shape;243;p19:notes"/>
          <p:cNvSpPr/>
          <p:nvPr>
            <p:ph idx="2" type="sldImg"/>
          </p:nvPr>
        </p:nvSpPr>
        <p:spPr>
          <a:xfrm>
            <a:off x="2474913" y="1257300"/>
            <a:ext cx="2822575" cy="33940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0:notes"/>
          <p:cNvSpPr txBox="1"/>
          <p:nvPr>
            <p:ph idx="1" type="body"/>
          </p:nvPr>
        </p:nvSpPr>
        <p:spPr>
          <a:xfrm>
            <a:off x="777875" y="4840288"/>
            <a:ext cx="6216650" cy="396081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2" name="Google Shape;252;p20:notes"/>
          <p:cNvSpPr/>
          <p:nvPr>
            <p:ph idx="2" type="sldImg"/>
          </p:nvPr>
        </p:nvSpPr>
        <p:spPr>
          <a:xfrm>
            <a:off x="2474913" y="1257300"/>
            <a:ext cx="2822575" cy="33940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1:notes"/>
          <p:cNvSpPr txBox="1"/>
          <p:nvPr>
            <p:ph idx="1" type="body"/>
          </p:nvPr>
        </p:nvSpPr>
        <p:spPr>
          <a:xfrm>
            <a:off x="777875" y="4840288"/>
            <a:ext cx="6216650" cy="396081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2" name="Google Shape;262;p21:notes"/>
          <p:cNvSpPr/>
          <p:nvPr>
            <p:ph idx="2" type="sldImg"/>
          </p:nvPr>
        </p:nvSpPr>
        <p:spPr>
          <a:xfrm>
            <a:off x="2474913" y="1257300"/>
            <a:ext cx="2822575" cy="33940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2:notes"/>
          <p:cNvSpPr txBox="1"/>
          <p:nvPr>
            <p:ph idx="1" type="body"/>
          </p:nvPr>
        </p:nvSpPr>
        <p:spPr>
          <a:xfrm>
            <a:off x="777875" y="4840288"/>
            <a:ext cx="6216650" cy="396081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2" name="Google Shape;272;p22:notes"/>
          <p:cNvSpPr/>
          <p:nvPr>
            <p:ph idx="2" type="sldImg"/>
          </p:nvPr>
        </p:nvSpPr>
        <p:spPr>
          <a:xfrm>
            <a:off x="2474913" y="1257300"/>
            <a:ext cx="2822575" cy="33940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3:notes"/>
          <p:cNvSpPr txBox="1"/>
          <p:nvPr>
            <p:ph idx="1" type="body"/>
          </p:nvPr>
        </p:nvSpPr>
        <p:spPr>
          <a:xfrm>
            <a:off x="777875" y="4840288"/>
            <a:ext cx="6216650" cy="396081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23:notes"/>
          <p:cNvSpPr/>
          <p:nvPr>
            <p:ph idx="2" type="sldImg"/>
          </p:nvPr>
        </p:nvSpPr>
        <p:spPr>
          <a:xfrm>
            <a:off x="2474913" y="1257300"/>
            <a:ext cx="2822575" cy="33940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4:notes"/>
          <p:cNvSpPr txBox="1"/>
          <p:nvPr>
            <p:ph idx="1" type="body"/>
          </p:nvPr>
        </p:nvSpPr>
        <p:spPr>
          <a:xfrm>
            <a:off x="777875" y="4840288"/>
            <a:ext cx="6216650" cy="396081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24:notes"/>
          <p:cNvSpPr/>
          <p:nvPr>
            <p:ph idx="2" type="sldImg"/>
          </p:nvPr>
        </p:nvSpPr>
        <p:spPr>
          <a:xfrm>
            <a:off x="2474913" y="1257300"/>
            <a:ext cx="2822575" cy="33940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5:notes"/>
          <p:cNvSpPr txBox="1"/>
          <p:nvPr>
            <p:ph idx="1" type="body"/>
          </p:nvPr>
        </p:nvSpPr>
        <p:spPr>
          <a:xfrm>
            <a:off x="777875" y="4840288"/>
            <a:ext cx="6216650" cy="396081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25:notes"/>
          <p:cNvSpPr/>
          <p:nvPr>
            <p:ph idx="2" type="sldImg"/>
          </p:nvPr>
        </p:nvSpPr>
        <p:spPr>
          <a:xfrm>
            <a:off x="2474913" y="1257300"/>
            <a:ext cx="2822575" cy="33940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6:notes"/>
          <p:cNvSpPr txBox="1"/>
          <p:nvPr>
            <p:ph idx="1" type="body"/>
          </p:nvPr>
        </p:nvSpPr>
        <p:spPr>
          <a:xfrm>
            <a:off x="777875" y="4840288"/>
            <a:ext cx="6216650" cy="396081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26:notes"/>
          <p:cNvSpPr/>
          <p:nvPr>
            <p:ph idx="2" type="sldImg"/>
          </p:nvPr>
        </p:nvSpPr>
        <p:spPr>
          <a:xfrm>
            <a:off x="2474913" y="1257300"/>
            <a:ext cx="2822575" cy="33940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7:notes"/>
          <p:cNvSpPr txBox="1"/>
          <p:nvPr>
            <p:ph idx="1" type="body"/>
          </p:nvPr>
        </p:nvSpPr>
        <p:spPr>
          <a:xfrm>
            <a:off x="777875" y="4840288"/>
            <a:ext cx="6216650" cy="396081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27:notes"/>
          <p:cNvSpPr/>
          <p:nvPr>
            <p:ph idx="2" type="sldImg"/>
          </p:nvPr>
        </p:nvSpPr>
        <p:spPr>
          <a:xfrm>
            <a:off x="2474913" y="1257300"/>
            <a:ext cx="2822575" cy="33940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8:notes"/>
          <p:cNvSpPr txBox="1"/>
          <p:nvPr>
            <p:ph idx="1" type="body"/>
          </p:nvPr>
        </p:nvSpPr>
        <p:spPr>
          <a:xfrm>
            <a:off x="777875" y="4840288"/>
            <a:ext cx="6216650" cy="396081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5" name="Google Shape;335;p28:notes"/>
          <p:cNvSpPr/>
          <p:nvPr>
            <p:ph idx="2" type="sldImg"/>
          </p:nvPr>
        </p:nvSpPr>
        <p:spPr>
          <a:xfrm>
            <a:off x="2474913" y="1257300"/>
            <a:ext cx="2822575" cy="33940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29:notes"/>
          <p:cNvSpPr txBox="1"/>
          <p:nvPr>
            <p:ph idx="1" type="body"/>
          </p:nvPr>
        </p:nvSpPr>
        <p:spPr>
          <a:xfrm>
            <a:off x="-2147483648" y="-2147483648"/>
            <a:ext cx="0" cy="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0" name="Google Shape;340;p29:notes"/>
          <p:cNvSpPr/>
          <p:nvPr>
            <p:ph idx="2" type="sldImg"/>
          </p:nvPr>
        </p:nvSpPr>
        <p:spPr>
          <a:xfrm>
            <a:off x="2474913" y="1257300"/>
            <a:ext cx="2822575" cy="33940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30:notes"/>
          <p:cNvSpPr txBox="1"/>
          <p:nvPr>
            <p:ph idx="1" type="body"/>
          </p:nvPr>
        </p:nvSpPr>
        <p:spPr>
          <a:xfrm>
            <a:off x="-2147483648" y="-2147483648"/>
            <a:ext cx="0" cy="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9" name="Google Shape;349;p30:notes"/>
          <p:cNvSpPr/>
          <p:nvPr>
            <p:ph idx="2" type="sldImg"/>
          </p:nvPr>
        </p:nvSpPr>
        <p:spPr>
          <a:xfrm>
            <a:off x="2474913" y="1257300"/>
            <a:ext cx="2822575" cy="33940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15" name="Shape 15"/>
        <p:cNvGrpSpPr/>
        <p:nvPr/>
      </p:nvGrpSpPr>
      <p:grpSpPr>
        <a:xfrm>
          <a:off x="0" y="0"/>
          <a:ext cx="0" cy="0"/>
          <a:chOff x="0" y="0"/>
          <a:chExt cx="0" cy="0"/>
        </a:xfrm>
      </p:grpSpPr>
      <p:sp>
        <p:nvSpPr>
          <p:cNvPr id="16" name="Google Shape;16;p2"/>
          <p:cNvSpPr txBox="1"/>
          <p:nvPr>
            <p:ph idx="11" type="ftr"/>
          </p:nvPr>
        </p:nvSpPr>
        <p:spPr>
          <a:xfrm>
            <a:off x="1270611" y="12334731"/>
            <a:ext cx="2460058" cy="19281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1253">
                <a:solidFill>
                  <a:schemeClr val="dk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0" type="dt"/>
          </p:nvPr>
        </p:nvSpPr>
        <p:spPr>
          <a:xfrm>
            <a:off x="568567" y="12702731"/>
            <a:ext cx="2615390" cy="38869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
          <p:cNvSpPr txBox="1"/>
          <p:nvPr>
            <p:ph idx="12" type="sldNum"/>
          </p:nvPr>
        </p:nvSpPr>
        <p:spPr>
          <a:xfrm>
            <a:off x="8187313" y="12702731"/>
            <a:ext cx="2615390" cy="388696"/>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9" name="Shape 19"/>
        <p:cNvGrpSpPr/>
        <p:nvPr/>
      </p:nvGrpSpPr>
      <p:grpSpPr>
        <a:xfrm>
          <a:off x="0" y="0"/>
          <a:ext cx="0" cy="0"/>
          <a:chOff x="0" y="0"/>
          <a:chExt cx="0" cy="0"/>
        </a:xfrm>
      </p:grpSpPr>
      <p:sp>
        <p:nvSpPr>
          <p:cNvPr id="20" name="Google Shape;20;p3"/>
          <p:cNvSpPr txBox="1"/>
          <p:nvPr>
            <p:ph type="ctrTitle"/>
          </p:nvPr>
        </p:nvSpPr>
        <p:spPr>
          <a:xfrm>
            <a:off x="852848" y="4234244"/>
            <a:ext cx="9665574" cy="27699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 type="subTitle"/>
          </p:nvPr>
        </p:nvSpPr>
        <p:spPr>
          <a:xfrm>
            <a:off x="1705690" y="7648957"/>
            <a:ext cx="7959884" cy="27699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
          <p:cNvSpPr txBox="1"/>
          <p:nvPr>
            <p:ph idx="11" type="ftr"/>
          </p:nvPr>
        </p:nvSpPr>
        <p:spPr>
          <a:xfrm>
            <a:off x="1270611" y="12334731"/>
            <a:ext cx="2460058" cy="19281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1253">
                <a:solidFill>
                  <a:schemeClr val="dk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0" type="dt"/>
          </p:nvPr>
        </p:nvSpPr>
        <p:spPr>
          <a:xfrm>
            <a:off x="568567" y="12702731"/>
            <a:ext cx="2615390" cy="38869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2" type="sldNum"/>
          </p:nvPr>
        </p:nvSpPr>
        <p:spPr>
          <a:xfrm>
            <a:off x="8187313" y="12702731"/>
            <a:ext cx="2615390" cy="388696"/>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5" name="Shape 25"/>
        <p:cNvGrpSpPr/>
        <p:nvPr/>
      </p:nvGrpSpPr>
      <p:grpSpPr>
        <a:xfrm>
          <a:off x="0" y="0"/>
          <a:ext cx="0" cy="0"/>
          <a:chOff x="0" y="0"/>
          <a:chExt cx="0" cy="0"/>
        </a:xfrm>
      </p:grpSpPr>
      <p:sp>
        <p:nvSpPr>
          <p:cNvPr id="26" name="Google Shape;26;p4"/>
          <p:cNvSpPr txBox="1"/>
          <p:nvPr>
            <p:ph type="title"/>
          </p:nvPr>
        </p:nvSpPr>
        <p:spPr>
          <a:xfrm>
            <a:off x="568563" y="546356"/>
            <a:ext cx="10234137" cy="27699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 type="body"/>
          </p:nvPr>
        </p:nvSpPr>
        <p:spPr>
          <a:xfrm>
            <a:off x="568563" y="3141535"/>
            <a:ext cx="10234137" cy="276999"/>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8" name="Google Shape;28;p4"/>
          <p:cNvSpPr txBox="1"/>
          <p:nvPr>
            <p:ph idx="11" type="ftr"/>
          </p:nvPr>
        </p:nvSpPr>
        <p:spPr>
          <a:xfrm>
            <a:off x="1270611" y="12334731"/>
            <a:ext cx="2460058" cy="19281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1253">
                <a:solidFill>
                  <a:schemeClr val="dk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0" type="dt"/>
          </p:nvPr>
        </p:nvSpPr>
        <p:spPr>
          <a:xfrm>
            <a:off x="568567" y="12702731"/>
            <a:ext cx="2615390" cy="38869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2" type="sldNum"/>
          </p:nvPr>
        </p:nvSpPr>
        <p:spPr>
          <a:xfrm>
            <a:off x="8187313" y="12702731"/>
            <a:ext cx="2615390" cy="388696"/>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1" name="Shape 31"/>
        <p:cNvGrpSpPr/>
        <p:nvPr/>
      </p:nvGrpSpPr>
      <p:grpSpPr>
        <a:xfrm>
          <a:off x="0" y="0"/>
          <a:ext cx="0" cy="0"/>
          <a:chOff x="0" y="0"/>
          <a:chExt cx="0" cy="0"/>
        </a:xfrm>
      </p:grpSpPr>
      <p:sp>
        <p:nvSpPr>
          <p:cNvPr id="32" name="Google Shape;32;p5"/>
          <p:cNvSpPr txBox="1"/>
          <p:nvPr>
            <p:ph type="title"/>
          </p:nvPr>
        </p:nvSpPr>
        <p:spPr>
          <a:xfrm>
            <a:off x="568563" y="546356"/>
            <a:ext cx="10234137" cy="27699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
          <p:cNvSpPr txBox="1"/>
          <p:nvPr>
            <p:ph idx="1" type="body"/>
          </p:nvPr>
        </p:nvSpPr>
        <p:spPr>
          <a:xfrm>
            <a:off x="568564" y="3141535"/>
            <a:ext cx="4946500" cy="276999"/>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4" name="Google Shape;34;p5"/>
          <p:cNvSpPr txBox="1"/>
          <p:nvPr>
            <p:ph idx="2" type="body"/>
          </p:nvPr>
        </p:nvSpPr>
        <p:spPr>
          <a:xfrm>
            <a:off x="5856203" y="3141535"/>
            <a:ext cx="4946500" cy="276999"/>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5" name="Google Shape;35;p5"/>
          <p:cNvSpPr txBox="1"/>
          <p:nvPr>
            <p:ph idx="11" type="ftr"/>
          </p:nvPr>
        </p:nvSpPr>
        <p:spPr>
          <a:xfrm>
            <a:off x="1270611" y="12334731"/>
            <a:ext cx="2460058" cy="19281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1253">
                <a:solidFill>
                  <a:schemeClr val="dk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0" type="dt"/>
          </p:nvPr>
        </p:nvSpPr>
        <p:spPr>
          <a:xfrm>
            <a:off x="568567" y="12702731"/>
            <a:ext cx="2615390" cy="38869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2" type="sldNum"/>
          </p:nvPr>
        </p:nvSpPr>
        <p:spPr>
          <a:xfrm>
            <a:off x="8187313" y="12702731"/>
            <a:ext cx="2615390" cy="388696"/>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8" name="Shape 38"/>
        <p:cNvGrpSpPr/>
        <p:nvPr/>
      </p:nvGrpSpPr>
      <p:grpSpPr>
        <a:xfrm>
          <a:off x="0" y="0"/>
          <a:ext cx="0" cy="0"/>
          <a:chOff x="0" y="0"/>
          <a:chExt cx="0" cy="0"/>
        </a:xfrm>
      </p:grpSpPr>
      <p:sp>
        <p:nvSpPr>
          <p:cNvPr id="39" name="Google Shape;39;p6"/>
          <p:cNvSpPr txBox="1"/>
          <p:nvPr>
            <p:ph type="title"/>
          </p:nvPr>
        </p:nvSpPr>
        <p:spPr>
          <a:xfrm>
            <a:off x="568563" y="546356"/>
            <a:ext cx="10234137" cy="27699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
          <p:cNvSpPr txBox="1"/>
          <p:nvPr>
            <p:ph idx="11" type="ftr"/>
          </p:nvPr>
        </p:nvSpPr>
        <p:spPr>
          <a:xfrm>
            <a:off x="1270611" y="12334731"/>
            <a:ext cx="2460058" cy="19281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1253">
                <a:solidFill>
                  <a:schemeClr val="dk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6"/>
          <p:cNvSpPr txBox="1"/>
          <p:nvPr>
            <p:ph idx="10" type="dt"/>
          </p:nvPr>
        </p:nvSpPr>
        <p:spPr>
          <a:xfrm>
            <a:off x="568567" y="12702731"/>
            <a:ext cx="2615390" cy="38869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idx="12" type="sldNum"/>
          </p:nvPr>
        </p:nvSpPr>
        <p:spPr>
          <a:xfrm>
            <a:off x="8187313" y="12702731"/>
            <a:ext cx="2615390" cy="388696"/>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568563" y="546356"/>
            <a:ext cx="10234137" cy="276999"/>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568563" y="3141535"/>
            <a:ext cx="10234137" cy="276999"/>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12" name="Google Shape;12;p1"/>
          <p:cNvSpPr txBox="1"/>
          <p:nvPr>
            <p:ph idx="11" type="ftr"/>
          </p:nvPr>
        </p:nvSpPr>
        <p:spPr>
          <a:xfrm>
            <a:off x="1270611" y="12334731"/>
            <a:ext cx="2460058" cy="19281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253"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Calibri"/>
                <a:ea typeface="Calibri"/>
                <a:cs typeface="Calibri"/>
                <a:sym typeface="Calibri"/>
              </a:defRPr>
            </a:lvl9pPr>
          </a:lstStyle>
          <a:p/>
        </p:txBody>
      </p:sp>
      <p:sp>
        <p:nvSpPr>
          <p:cNvPr id="13" name="Google Shape;13;p1"/>
          <p:cNvSpPr txBox="1"/>
          <p:nvPr>
            <p:ph idx="10" type="dt"/>
          </p:nvPr>
        </p:nvSpPr>
        <p:spPr>
          <a:xfrm>
            <a:off x="568567" y="12702731"/>
            <a:ext cx="2615390" cy="388696"/>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2526"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2526"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187313" y="12702731"/>
            <a:ext cx="2615390" cy="388696"/>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2526"/>
              <a:buFont typeface="Arial"/>
              <a:buNone/>
              <a:defRPr b="0" i="0" sz="2526"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6.jpg"/><Relationship Id="rId4" Type="http://schemas.openxmlformats.org/officeDocument/2006/relationships/image" Target="../media/image4.jpg"/><Relationship Id="rId5" Type="http://schemas.openxmlformats.org/officeDocument/2006/relationships/image" Target="../media/image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2.jpg"/><Relationship Id="rId4" Type="http://schemas.openxmlformats.org/officeDocument/2006/relationships/image" Target="../media/image13.jpg"/><Relationship Id="rId5" Type="http://schemas.openxmlformats.org/officeDocument/2006/relationships/image" Target="../media/image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5.jpg"/><Relationship Id="rId4" Type="http://schemas.openxmlformats.org/officeDocument/2006/relationships/image" Target="../media/image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9.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8.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grpSp>
        <p:nvGrpSpPr>
          <p:cNvPr id="47" name="Google Shape;47;p7"/>
          <p:cNvGrpSpPr/>
          <p:nvPr/>
        </p:nvGrpSpPr>
        <p:grpSpPr>
          <a:xfrm>
            <a:off x="2691621" y="2401319"/>
            <a:ext cx="6147936" cy="8625624"/>
            <a:chOff x="1257300" y="1141094"/>
            <a:chExt cx="5398135" cy="7573645"/>
          </a:xfrm>
        </p:grpSpPr>
        <p:sp>
          <p:nvSpPr>
            <p:cNvPr id="48" name="Google Shape;48;p7"/>
            <p:cNvSpPr/>
            <p:nvPr/>
          </p:nvSpPr>
          <p:spPr>
            <a:xfrm>
              <a:off x="1257300" y="1141094"/>
              <a:ext cx="5398135" cy="7573645"/>
            </a:xfrm>
            <a:custGeom>
              <a:rect b="b" l="l" r="r" t="t"/>
              <a:pathLst>
                <a:path extrusionOk="0" h="7573645" w="5398134">
                  <a:moveTo>
                    <a:pt x="5398122" y="0"/>
                  </a:moveTo>
                  <a:lnTo>
                    <a:pt x="5373370" y="0"/>
                  </a:lnTo>
                  <a:lnTo>
                    <a:pt x="5373370" y="635"/>
                  </a:lnTo>
                  <a:lnTo>
                    <a:pt x="5373370" y="24765"/>
                  </a:lnTo>
                  <a:lnTo>
                    <a:pt x="5373370" y="7548245"/>
                  </a:lnTo>
                  <a:lnTo>
                    <a:pt x="24130" y="7548245"/>
                  </a:lnTo>
                  <a:lnTo>
                    <a:pt x="24130" y="24765"/>
                  </a:lnTo>
                  <a:lnTo>
                    <a:pt x="5373370" y="24765"/>
                  </a:lnTo>
                  <a:lnTo>
                    <a:pt x="5373370" y="635"/>
                  </a:lnTo>
                  <a:lnTo>
                    <a:pt x="0" y="635"/>
                  </a:lnTo>
                  <a:lnTo>
                    <a:pt x="0" y="24765"/>
                  </a:lnTo>
                  <a:lnTo>
                    <a:pt x="0" y="7548245"/>
                  </a:lnTo>
                  <a:lnTo>
                    <a:pt x="0" y="7572375"/>
                  </a:lnTo>
                  <a:lnTo>
                    <a:pt x="0" y="7573645"/>
                  </a:lnTo>
                  <a:lnTo>
                    <a:pt x="5373370" y="7573645"/>
                  </a:lnTo>
                  <a:lnTo>
                    <a:pt x="5373370" y="7572375"/>
                  </a:lnTo>
                  <a:lnTo>
                    <a:pt x="5398122" y="7572375"/>
                  </a:lnTo>
                  <a:lnTo>
                    <a:pt x="5398122"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339"/>
                <a:buFont typeface="Arial"/>
                <a:buNone/>
              </a:pPr>
              <a:r>
                <a:t/>
              </a:r>
              <a:endParaRPr b="0" i="0" sz="2339" u="none" cap="none" strike="noStrike">
                <a:solidFill>
                  <a:schemeClr val="dk1"/>
                </a:solidFill>
                <a:latin typeface="Calibri"/>
                <a:ea typeface="Calibri"/>
                <a:cs typeface="Calibri"/>
                <a:sym typeface="Calibri"/>
              </a:endParaRPr>
            </a:p>
          </p:txBody>
        </p:sp>
        <p:pic>
          <p:nvPicPr>
            <p:cNvPr id="49" name="Google Shape;49;p7"/>
            <p:cNvPicPr preferRelativeResize="0"/>
            <p:nvPr/>
          </p:nvPicPr>
          <p:blipFill rotWithShape="1">
            <a:blip r:embed="rId3">
              <a:alphaModFix/>
            </a:blip>
            <a:srcRect b="0" l="0" r="0" t="0"/>
            <a:stretch/>
          </p:blipFill>
          <p:spPr>
            <a:xfrm>
              <a:off x="3107054" y="1218564"/>
              <a:ext cx="1670685" cy="1085215"/>
            </a:xfrm>
            <a:prstGeom prst="rect">
              <a:avLst/>
            </a:prstGeom>
            <a:noFill/>
            <a:ln>
              <a:noFill/>
            </a:ln>
          </p:spPr>
        </p:pic>
      </p:grpSp>
      <p:sp>
        <p:nvSpPr>
          <p:cNvPr id="50" name="Google Shape;50;p7"/>
          <p:cNvSpPr txBox="1"/>
          <p:nvPr/>
        </p:nvSpPr>
        <p:spPr>
          <a:xfrm>
            <a:off x="3602833" y="3720933"/>
            <a:ext cx="4773000" cy="374700"/>
          </a:xfrm>
          <a:prstGeom prst="rect">
            <a:avLst/>
          </a:prstGeom>
          <a:noFill/>
          <a:ln>
            <a:noFill/>
          </a:ln>
        </p:spPr>
        <p:txBody>
          <a:bodyPr anchorCtr="0" anchor="t" bIns="0" lIns="0" spcFirstLastPara="1" rIns="0" wrap="square" tIns="14450">
            <a:spAutoFit/>
          </a:bodyPr>
          <a:lstStyle/>
          <a:p>
            <a:pPr indent="0" lvl="0" marL="14464" marR="0" rtl="0" algn="l">
              <a:lnSpc>
                <a:spcPct val="100000"/>
              </a:lnSpc>
              <a:spcBef>
                <a:spcPts val="0"/>
              </a:spcBef>
              <a:spcAft>
                <a:spcPts val="0"/>
              </a:spcAft>
              <a:buClr>
                <a:srgbClr val="000000"/>
              </a:buClr>
              <a:buSzPts val="1936"/>
              <a:buFont typeface="Arial"/>
              <a:buNone/>
            </a:pPr>
            <a:r>
              <a:rPr b="1" i="0" lang="en-US" sz="1936" u="none" cap="none" strike="noStrike">
                <a:solidFill>
                  <a:schemeClr val="dk1"/>
                </a:solidFill>
                <a:latin typeface="Cambria"/>
                <a:ea typeface="Cambria"/>
                <a:cs typeface="Cambria"/>
                <a:sym typeface="Cambria"/>
              </a:rPr>
              <a:t>QA &amp; INSPECTION CIRCLE,</a:t>
            </a:r>
            <a:r>
              <a:rPr b="0" i="0" lang="en-US" sz="2339" u="none" cap="none" strike="noStrike">
                <a:solidFill>
                  <a:schemeClr val="dk1"/>
                </a:solidFill>
                <a:latin typeface="Calibri"/>
                <a:ea typeface="Calibri"/>
                <a:cs typeface="Calibri"/>
                <a:sym typeface="Calibri"/>
              </a:rPr>
              <a:t> </a:t>
            </a:r>
            <a:r>
              <a:rPr b="1" i="0" lang="en-US" sz="1936" u="none" cap="none" strike="noStrike">
                <a:solidFill>
                  <a:schemeClr val="dk1"/>
                </a:solidFill>
                <a:latin typeface="Cambria"/>
                <a:ea typeface="Cambria"/>
                <a:cs typeface="Cambria"/>
                <a:sym typeface="Cambria"/>
              </a:rPr>
              <a:t>KERALA</a:t>
            </a:r>
            <a:endParaRPr b="1" i="0" sz="1936" u="none" cap="none" strike="noStrike">
              <a:solidFill>
                <a:schemeClr val="dk1"/>
              </a:solidFill>
              <a:latin typeface="Cambria"/>
              <a:ea typeface="Cambria"/>
              <a:cs typeface="Cambria"/>
              <a:sym typeface="Cambria"/>
            </a:endParaRPr>
          </a:p>
        </p:txBody>
      </p:sp>
      <p:graphicFrame>
        <p:nvGraphicFramePr>
          <p:cNvPr id="51" name="Google Shape;51;p7"/>
          <p:cNvGraphicFramePr/>
          <p:nvPr/>
        </p:nvGraphicFramePr>
        <p:xfrm>
          <a:off x="3294751" y="4768526"/>
          <a:ext cx="3000000" cy="3000000"/>
        </p:xfrm>
        <a:graphic>
          <a:graphicData uri="http://schemas.openxmlformats.org/drawingml/2006/table">
            <a:tbl>
              <a:tblPr bandRow="1" firstRow="1">
                <a:noFill/>
                <a:tableStyleId>{6E646390-14D1-40E7-8574-0D387628F5A2}</a:tableStyleId>
              </a:tblPr>
              <a:tblGrid>
                <a:gridCol w="4941600"/>
              </a:tblGrid>
              <a:tr h="919900">
                <a:tc>
                  <a:txBody>
                    <a:bodyPr/>
                    <a:lstStyle/>
                    <a:p>
                      <a:pPr indent="0" lvl="0" marL="400685" marR="0" rtl="0" algn="l">
                        <a:lnSpc>
                          <a:spcPct val="99375"/>
                        </a:lnSpc>
                        <a:spcBef>
                          <a:spcPts val="0"/>
                        </a:spcBef>
                        <a:spcAft>
                          <a:spcPts val="0"/>
                        </a:spcAft>
                        <a:buClr>
                          <a:srgbClr val="000000"/>
                        </a:buClr>
                        <a:buSzPts val="1600"/>
                        <a:buFont typeface="Arial"/>
                        <a:buNone/>
                      </a:pPr>
                      <a:r>
                        <a:rPr b="1" lang="en-US" sz="1600" u="none" cap="none" strike="noStrike">
                          <a:latin typeface="Arial"/>
                          <a:ea typeface="Arial"/>
                          <a:cs typeface="Arial"/>
                          <a:sym typeface="Arial"/>
                        </a:rPr>
                        <a:t>ACCEPTANCE TEST SCHEDULE</a:t>
                      </a:r>
                      <a:endParaRPr sz="1600" u="none" cap="none" strike="noStrike">
                        <a:latin typeface="Arial"/>
                        <a:ea typeface="Arial"/>
                        <a:cs typeface="Arial"/>
                        <a:sym typeface="Arial"/>
                      </a:endParaRPr>
                    </a:p>
                    <a:p>
                      <a:pPr indent="0" lvl="0" marL="0" marR="0" rtl="0" algn="l">
                        <a:lnSpc>
                          <a:spcPct val="100000"/>
                        </a:lnSpc>
                        <a:spcBef>
                          <a:spcPts val="150"/>
                        </a:spcBef>
                        <a:spcAft>
                          <a:spcPts val="0"/>
                        </a:spcAft>
                        <a:buClr>
                          <a:srgbClr val="000000"/>
                        </a:buClr>
                        <a:buSzPts val="1600"/>
                        <a:buFont typeface="Arial"/>
                        <a:buNone/>
                      </a:pPr>
                      <a:r>
                        <a:t/>
                      </a:r>
                      <a:endParaRPr sz="1600" u="none" cap="none" strike="noStrike">
                        <a:latin typeface="Times New Roman"/>
                        <a:ea typeface="Times New Roman"/>
                        <a:cs typeface="Times New Roman"/>
                        <a:sym typeface="Times New Roman"/>
                      </a:endParaRPr>
                    </a:p>
                    <a:p>
                      <a:pPr indent="0" lvl="0" marL="99060" marR="0" rtl="0" algn="l">
                        <a:lnSpc>
                          <a:spcPct val="100000"/>
                        </a:lnSpc>
                        <a:spcBef>
                          <a:spcPts val="0"/>
                        </a:spcBef>
                        <a:spcAft>
                          <a:spcPts val="0"/>
                        </a:spcAft>
                        <a:buClr>
                          <a:srgbClr val="000000"/>
                        </a:buClr>
                        <a:buSzPts val="1400"/>
                        <a:buFont typeface="Arial"/>
                        <a:buNone/>
                      </a:pPr>
                      <a:r>
                        <a:t>4G Phase IX.2 – eNode-B  RP-00553- MAYYIL</a:t>
                      </a:r>
                      <a:endParaRPr sz="14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r>
              <a:tr h="3843775">
                <a:tc>
                  <a:txBody>
                    <a:bodyPr/>
                    <a:lstStyle/>
                    <a:p>
                      <a:pPr indent="0" lvl="0" marL="99060" marR="0" rtl="0" algn="l">
                        <a:lnSpc>
                          <a:spcPct val="100000"/>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Document No	QAIN-11/31(14)/1/2024-CM</a:t>
                      </a:r>
                      <a:endParaRPr sz="1300" u="none" cap="none" strike="noStrike">
                        <a:latin typeface="Arial"/>
                        <a:ea typeface="Arial"/>
                        <a:cs typeface="Arial"/>
                        <a:sym typeface="Arial"/>
                      </a:endParaRPr>
                    </a:p>
                    <a:p>
                      <a:pPr indent="0" lvl="0" marL="99060" marR="0" rtl="0" algn="l">
                        <a:lnSpc>
                          <a:spcPct val="100000"/>
                        </a:lnSpc>
                        <a:spcBef>
                          <a:spcPts val="480"/>
                        </a:spcBef>
                        <a:spcAft>
                          <a:spcPts val="0"/>
                        </a:spcAft>
                        <a:buClr>
                          <a:srgbClr val="000000"/>
                        </a:buClr>
                        <a:buSzPts val="1300"/>
                        <a:buFont typeface="Arial"/>
                        <a:buNone/>
                      </a:pPr>
                      <a:r>
                        <a:rPr lang="en-US" sz="1300" u="none" cap="none" strike="noStrike">
                          <a:latin typeface="Arial"/>
                          <a:ea typeface="Arial"/>
                          <a:cs typeface="Arial"/>
                          <a:sym typeface="Arial"/>
                        </a:rPr>
                        <a:t>No of Pages	29</a:t>
                      </a:r>
                      <a:endParaRPr sz="1300" u="none" cap="none" strike="noStrike">
                        <a:latin typeface="Arial"/>
                        <a:ea typeface="Arial"/>
                        <a:cs typeface="Arial"/>
                        <a:sym typeface="Arial"/>
                      </a:endParaRPr>
                    </a:p>
                    <a:p>
                      <a:pPr indent="0" lvl="0" marL="99060" marR="0" rtl="0" algn="l">
                        <a:lnSpc>
                          <a:spcPct val="100000"/>
                        </a:lnSpc>
                        <a:spcBef>
                          <a:spcPts val="550"/>
                        </a:spcBef>
                        <a:spcAft>
                          <a:spcPts val="0"/>
                        </a:spcAft>
                        <a:buClr>
                          <a:srgbClr val="000000"/>
                        </a:buClr>
                        <a:buSzPts val="1300"/>
                        <a:buFont typeface="Arial"/>
                        <a:buNone/>
                      </a:pPr>
                      <a:r>
                        <a:rPr lang="en-US" sz="1300" u="none" cap="none" strike="noStrike">
                          <a:latin typeface="Arial"/>
                          <a:ea typeface="Arial"/>
                          <a:cs typeface="Arial"/>
                          <a:sym typeface="Arial"/>
                        </a:rPr>
                        <a:t>Issue No.	1</a:t>
                      </a:r>
                      <a:endParaRPr sz="1300" u="none" cap="none" strike="noStrike">
                        <a:latin typeface="Arial"/>
                        <a:ea typeface="Arial"/>
                        <a:cs typeface="Arial"/>
                        <a:sym typeface="Arial"/>
                      </a:endParaRPr>
                    </a:p>
                    <a:p>
                      <a:pPr indent="0" lvl="0" marL="99060" marR="0" rtl="0" algn="l">
                        <a:lnSpc>
                          <a:spcPct val="100000"/>
                        </a:lnSpc>
                        <a:spcBef>
                          <a:spcPts val="600"/>
                        </a:spcBef>
                        <a:spcAft>
                          <a:spcPts val="0"/>
                        </a:spcAft>
                        <a:buClr>
                          <a:srgbClr val="000000"/>
                        </a:buClr>
                        <a:buSzPts val="1300"/>
                        <a:buFont typeface="Arial"/>
                        <a:buNone/>
                      </a:pPr>
                      <a:r>
                        <a:rPr lang="en-US" sz="1300" u="none" cap="none" strike="noStrike">
                          <a:latin typeface="Arial"/>
                          <a:ea typeface="Arial"/>
                          <a:cs typeface="Arial"/>
                          <a:sym typeface="Arial"/>
                        </a:rPr>
                        <a:t>Issued By:	QA &amp; Inspection, Kerala</a:t>
                      </a:r>
                      <a:endParaRPr sz="1300" u="none" cap="none" strike="noStrike">
                        <a:latin typeface="Arial"/>
                        <a:ea typeface="Arial"/>
                        <a:cs typeface="Arial"/>
                        <a:sym typeface="Arial"/>
                      </a:endParaRPr>
                    </a:p>
                    <a:p>
                      <a:pPr indent="0" lvl="0" marL="99060" marR="695960" rtl="0" algn="l">
                        <a:lnSpc>
                          <a:spcPct val="147300"/>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Approved By:	CGM, QA &amp; Inspection Circle Date of Issue:</a:t>
                      </a:r>
                      <a:endParaRPr sz="1300" u="none" cap="none" strike="noStrike">
                        <a:latin typeface="Arial"/>
                        <a:ea typeface="Arial"/>
                        <a:cs typeface="Arial"/>
                        <a:sym typeface="Arial"/>
                      </a:endParaRPr>
                    </a:p>
                    <a:p>
                      <a:pPr indent="0" lvl="0" marL="99060" marR="0" rtl="0" algn="l">
                        <a:lnSpc>
                          <a:spcPct val="100000"/>
                        </a:lnSpc>
                        <a:spcBef>
                          <a:spcPts val="530"/>
                        </a:spcBef>
                        <a:spcAft>
                          <a:spcPts val="0"/>
                        </a:spcAft>
                        <a:buClr>
                          <a:srgbClr val="000000"/>
                        </a:buClr>
                        <a:buSzPts val="1300"/>
                        <a:buFont typeface="Arial"/>
                        <a:buNone/>
                      </a:pPr>
                      <a:r>
                        <a:rPr b="1" lang="en-US" sz="1300" u="none" cap="none" strike="noStrike">
                          <a:latin typeface="Arial"/>
                          <a:ea typeface="Arial"/>
                          <a:cs typeface="Arial"/>
                          <a:sym typeface="Arial"/>
                        </a:rPr>
                        <a:t>Amendment No (If Any)</a:t>
                      </a:r>
                      <a:endParaRPr sz="1300" u="none" cap="none" strike="noStrike">
                        <a:latin typeface="Arial"/>
                        <a:ea typeface="Arial"/>
                        <a:cs typeface="Arial"/>
                        <a:sym typeface="Arial"/>
                      </a:endParaRPr>
                    </a:p>
                    <a:p>
                      <a:pPr indent="0" lvl="0" marL="0" marR="0" rtl="0" algn="l">
                        <a:lnSpc>
                          <a:spcPct val="100000"/>
                        </a:lnSpc>
                        <a:spcBef>
                          <a:spcPts val="250"/>
                        </a:spcBef>
                        <a:spcAft>
                          <a:spcPts val="0"/>
                        </a:spcAft>
                        <a:buClr>
                          <a:srgbClr val="000000"/>
                        </a:buClr>
                        <a:buSzPts val="1300"/>
                        <a:buFont typeface="Arial"/>
                        <a:buNone/>
                      </a:pPr>
                      <a:r>
                        <a:t/>
                      </a:r>
                      <a:endParaRPr sz="1300" u="none" cap="none" strike="noStrike">
                        <a:latin typeface="Times New Roman"/>
                        <a:ea typeface="Times New Roman"/>
                        <a:cs typeface="Times New Roman"/>
                        <a:sym typeface="Times New Roman"/>
                      </a:endParaRPr>
                    </a:p>
                    <a:p>
                      <a:pPr indent="0" lvl="0" marL="99060" marR="0" rtl="0" algn="l">
                        <a:lnSpc>
                          <a:spcPct val="100000"/>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No of Pages:</a:t>
                      </a:r>
                      <a:endParaRPr sz="1300" u="none" cap="none" strike="noStrike">
                        <a:latin typeface="Arial"/>
                        <a:ea typeface="Arial"/>
                        <a:cs typeface="Arial"/>
                        <a:sym typeface="Arial"/>
                      </a:endParaRPr>
                    </a:p>
                    <a:p>
                      <a:pPr indent="0" lvl="0" marL="0" marR="0" rtl="0" algn="l">
                        <a:lnSpc>
                          <a:spcPct val="100000"/>
                        </a:lnSpc>
                        <a:spcBef>
                          <a:spcPts val="245"/>
                        </a:spcBef>
                        <a:spcAft>
                          <a:spcPts val="0"/>
                        </a:spcAft>
                        <a:buClr>
                          <a:srgbClr val="000000"/>
                        </a:buClr>
                        <a:buSzPts val="1300"/>
                        <a:buFont typeface="Arial"/>
                        <a:buNone/>
                      </a:pPr>
                      <a:r>
                        <a:t/>
                      </a:r>
                      <a:endParaRPr sz="1300" u="none" cap="none" strike="noStrike">
                        <a:latin typeface="Times New Roman"/>
                        <a:ea typeface="Times New Roman"/>
                        <a:cs typeface="Times New Roman"/>
                        <a:sym typeface="Times New Roman"/>
                      </a:endParaRPr>
                    </a:p>
                    <a:p>
                      <a:pPr indent="0" lvl="0" marL="99060" marR="0" rtl="0" algn="l">
                        <a:lnSpc>
                          <a:spcPct val="100000"/>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Issued by:</a:t>
                      </a:r>
                      <a:endParaRPr sz="1300" u="none" cap="none" strike="noStrike">
                        <a:latin typeface="Arial"/>
                        <a:ea typeface="Arial"/>
                        <a:cs typeface="Arial"/>
                        <a:sym typeface="Arial"/>
                      </a:endParaRPr>
                    </a:p>
                    <a:p>
                      <a:pPr indent="0" lvl="0" marL="99060" marR="0" rtl="0" algn="l">
                        <a:lnSpc>
                          <a:spcPct val="100000"/>
                        </a:lnSpc>
                        <a:spcBef>
                          <a:spcPts val="575"/>
                        </a:spcBef>
                        <a:spcAft>
                          <a:spcPts val="0"/>
                        </a:spcAft>
                        <a:buClr>
                          <a:srgbClr val="000000"/>
                        </a:buClr>
                        <a:buSzPts val="1300"/>
                        <a:buFont typeface="Arial"/>
                        <a:buNone/>
                      </a:pPr>
                      <a:r>
                        <a:rPr lang="en-US" sz="1300" u="none" cap="none" strike="noStrike">
                          <a:latin typeface="Arial"/>
                          <a:ea typeface="Arial"/>
                          <a:cs typeface="Arial"/>
                          <a:sym typeface="Arial"/>
                        </a:rPr>
                        <a:t>Date of Issue:</a:t>
                      </a:r>
                      <a:endParaRPr sz="13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Times New Roman"/>
                        <a:ea typeface="Times New Roman"/>
                        <a:cs typeface="Times New Roman"/>
                        <a:sym typeface="Times New Roman"/>
                      </a:endParaRPr>
                    </a:p>
                    <a:p>
                      <a:pPr indent="0" lvl="0" marL="0" marR="0" rtl="0" algn="l">
                        <a:lnSpc>
                          <a:spcPct val="100000"/>
                        </a:lnSpc>
                        <a:spcBef>
                          <a:spcPts val="100"/>
                        </a:spcBef>
                        <a:spcAft>
                          <a:spcPts val="0"/>
                        </a:spcAft>
                        <a:buClr>
                          <a:srgbClr val="000000"/>
                        </a:buClr>
                        <a:buSzPts val="1300"/>
                        <a:buFont typeface="Arial"/>
                        <a:buNone/>
                      </a:pPr>
                      <a:r>
                        <a:t/>
                      </a:r>
                      <a:endParaRPr sz="1300" u="none" cap="none" strike="noStrike">
                        <a:latin typeface="Times New Roman"/>
                        <a:ea typeface="Times New Roman"/>
                        <a:cs typeface="Times New Roman"/>
                        <a:sym typeface="Times New Roman"/>
                      </a:endParaRPr>
                    </a:p>
                    <a:p>
                      <a:pPr indent="0" lvl="0" marL="0" marR="0" rtl="0" algn="ctr">
                        <a:lnSpc>
                          <a:spcPct val="100000"/>
                        </a:lnSpc>
                        <a:spcBef>
                          <a:spcPts val="5"/>
                        </a:spcBef>
                        <a:spcAft>
                          <a:spcPts val="0"/>
                        </a:spcAft>
                        <a:buClr>
                          <a:srgbClr val="000000"/>
                        </a:buClr>
                        <a:buSzPts val="1600"/>
                        <a:buFont typeface="Arial"/>
                        <a:buNone/>
                      </a:pPr>
                      <a:r>
                        <a:rPr b="1" lang="en-US" sz="1600" u="none" cap="none" strike="noStrike">
                          <a:solidFill>
                            <a:srgbClr val="FF0000"/>
                          </a:solidFill>
                          <a:latin typeface="Times New Roman"/>
                          <a:ea typeface="Times New Roman"/>
                          <a:cs typeface="Times New Roman"/>
                          <a:sym typeface="Times New Roman"/>
                        </a:rPr>
                        <a:t>Restricted use by BSNL Employees only</a:t>
                      </a:r>
                      <a:endParaRPr sz="1600" u="none" cap="none" strike="noStrike">
                        <a:latin typeface="Times New Roman"/>
                        <a:ea typeface="Times New Roman"/>
                        <a:cs typeface="Times New Roman"/>
                        <a:sym typeface="Times New Roman"/>
                      </a:endParaRPr>
                    </a:p>
                  </a:txBody>
                  <a:tcPr marT="961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tcPr>
                </a:tc>
              </a:tr>
              <a:tr h="405700">
                <a:tc>
                  <a:txBody>
                    <a:bodyPr/>
                    <a:lstStyle/>
                    <a:p>
                      <a:pPr indent="0" lvl="0" marL="0" marR="0" rtl="0" algn="ctr">
                        <a:lnSpc>
                          <a:spcPct val="98571"/>
                        </a:lnSpc>
                        <a:spcBef>
                          <a:spcPts val="0"/>
                        </a:spcBef>
                        <a:spcAft>
                          <a:spcPts val="0"/>
                        </a:spcAft>
                        <a:buClr>
                          <a:srgbClr val="000000"/>
                        </a:buClr>
                        <a:buSzPts val="1400"/>
                        <a:buFont typeface="Arial"/>
                        <a:buNone/>
                      </a:pPr>
                      <a:r>
                        <a:rPr b="1" lang="en-US" sz="1400" u="none" cap="none" strike="noStrike">
                          <a:latin typeface="Times New Roman"/>
                          <a:ea typeface="Times New Roman"/>
                          <a:cs typeface="Times New Roman"/>
                          <a:sym typeface="Times New Roman"/>
                        </a:rPr>
                        <a:t>“FIX IT RIGHT AT THE FIRST INSTANCE”</a:t>
                      </a:r>
                      <a:endParaRPr sz="1400" u="none" cap="none" strike="noStrike">
                        <a:latin typeface="Times New Roman"/>
                        <a:ea typeface="Times New Roman"/>
                        <a:cs typeface="Times New Roman"/>
                        <a:sym typeface="Times New Roman"/>
                      </a:endParaRPr>
                    </a:p>
                  </a:txBody>
                  <a:tcPr marT="0" marB="0" marR="0" marL="0">
                    <a:lnL cap="flat" cmpd="sng" w="9525">
                      <a:solidFill>
                        <a:srgbClr val="0000FF"/>
                      </a:solidFill>
                      <a:prstDash val="solid"/>
                      <a:round/>
                      <a:headEnd len="sm" w="sm" type="none"/>
                      <a:tailEnd len="sm" w="sm" type="none"/>
                    </a:lnL>
                    <a:lnR cap="flat" cmpd="sng" w="9525">
                      <a:solidFill>
                        <a:srgbClr val="0000FF"/>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FF"/>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8"/>
          <p:cNvSpPr txBox="1"/>
          <p:nvPr/>
        </p:nvSpPr>
        <p:spPr>
          <a:xfrm>
            <a:off x="2248781" y="11446613"/>
            <a:ext cx="1915019" cy="192810"/>
          </a:xfrm>
          <a:prstGeom prst="rect">
            <a:avLst/>
          </a:prstGeom>
          <a:noFill/>
          <a:ln>
            <a:noFill/>
          </a:ln>
        </p:spPr>
        <p:txBody>
          <a:bodyPr anchorCtr="0" anchor="t" bIns="0" lIns="0" spcFirstLastPara="1" rIns="0" wrap="square" tIns="0">
            <a:spAutoFit/>
          </a:bodyPr>
          <a:lstStyle/>
          <a:p>
            <a:pPr indent="0" lvl="0" marL="14464" marR="0" rtl="0" algn="l">
              <a:lnSpc>
                <a:spcPct val="1000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QAIN-11/31(14)/1/2024-CM</a:t>
            </a:r>
            <a:endParaRPr b="0" i="0" sz="1253" u="none" cap="none" strike="noStrike">
              <a:solidFill>
                <a:schemeClr val="dk1"/>
              </a:solidFill>
              <a:latin typeface="Arial"/>
              <a:ea typeface="Arial"/>
              <a:cs typeface="Arial"/>
              <a:sym typeface="Arial"/>
            </a:endParaRPr>
          </a:p>
        </p:txBody>
      </p:sp>
      <p:sp>
        <p:nvSpPr>
          <p:cNvPr id="57" name="Google Shape;57;p8"/>
          <p:cNvSpPr txBox="1"/>
          <p:nvPr/>
        </p:nvSpPr>
        <p:spPr>
          <a:xfrm>
            <a:off x="2040499" y="1530839"/>
            <a:ext cx="2603732" cy="203735"/>
          </a:xfrm>
          <a:prstGeom prst="rect">
            <a:avLst/>
          </a:prstGeom>
          <a:noFill/>
          <a:ln>
            <a:noFill/>
          </a:ln>
        </p:spPr>
        <p:txBody>
          <a:bodyPr anchorCtr="0" anchor="t" bIns="0" lIns="0" spcFirstLastPara="1" rIns="0" wrap="square" tIns="13725">
            <a:spAutoFit/>
          </a:bodyPr>
          <a:lstStyle/>
          <a:p>
            <a:pPr indent="2892"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QA &amp; INSPECTION CIRCLE KL 	</a:t>
            </a:r>
            <a:endParaRPr b="0" i="0" sz="1253" u="none" cap="none" strike="noStrike">
              <a:solidFill>
                <a:schemeClr val="dk1"/>
              </a:solidFill>
              <a:latin typeface="Arial"/>
              <a:ea typeface="Arial"/>
              <a:cs typeface="Arial"/>
              <a:sym typeface="Arial"/>
            </a:endParaRPr>
          </a:p>
        </p:txBody>
      </p:sp>
      <p:sp>
        <p:nvSpPr>
          <p:cNvPr id="58" name="Google Shape;58;p8"/>
          <p:cNvSpPr txBox="1"/>
          <p:nvPr/>
        </p:nvSpPr>
        <p:spPr>
          <a:xfrm>
            <a:off x="7238764" y="1574232"/>
            <a:ext cx="1833298" cy="408086"/>
          </a:xfrm>
          <a:prstGeom prst="rect">
            <a:avLst/>
          </a:prstGeom>
          <a:noFill/>
          <a:ln>
            <a:noFill/>
          </a:ln>
        </p:spPr>
        <p:txBody>
          <a:bodyPr anchorCtr="0" anchor="t" bIns="0" lIns="0" spcFirstLastPara="1" rIns="0" wrap="square" tIns="13725">
            <a:spAutoFit/>
          </a:bodyPr>
          <a:lstStyle/>
          <a:p>
            <a:pPr indent="701487"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4G PHASE IX.2  eNode-B A/T SCHEDULE</a:t>
            </a:r>
            <a:endParaRPr b="0" i="0" sz="1253" u="none" cap="none" strike="noStrike">
              <a:solidFill>
                <a:schemeClr val="dk1"/>
              </a:solidFill>
              <a:latin typeface="Arial"/>
              <a:ea typeface="Arial"/>
              <a:cs typeface="Arial"/>
              <a:sym typeface="Arial"/>
            </a:endParaRPr>
          </a:p>
        </p:txBody>
      </p:sp>
      <p:sp>
        <p:nvSpPr>
          <p:cNvPr id="59" name="Google Shape;59;p8"/>
          <p:cNvSpPr txBox="1"/>
          <p:nvPr/>
        </p:nvSpPr>
        <p:spPr>
          <a:xfrm>
            <a:off x="2248781" y="2170607"/>
            <a:ext cx="6647603" cy="643432"/>
          </a:xfrm>
          <a:prstGeom prst="rect">
            <a:avLst/>
          </a:prstGeom>
          <a:noFill/>
          <a:ln>
            <a:noFill/>
          </a:ln>
        </p:spPr>
        <p:txBody>
          <a:bodyPr anchorCtr="0" anchor="t" bIns="0" lIns="0" spcFirstLastPara="1" rIns="0" wrap="square" tIns="14450">
            <a:spAutoFit/>
          </a:bodyPr>
          <a:lstStyle/>
          <a:p>
            <a:pPr indent="0" lvl="0" marL="14464" marR="0" rtl="0" algn="l">
              <a:lnSpc>
                <a:spcPct val="117922"/>
              </a:lnSpc>
              <a:spcBef>
                <a:spcPts val="0"/>
              </a:spcBef>
              <a:spcAft>
                <a:spcPts val="0"/>
              </a:spcAft>
              <a:buClr>
                <a:srgbClr val="000000"/>
              </a:buClr>
              <a:buSzPts val="1367"/>
              <a:buFont typeface="Arial"/>
              <a:buNone/>
            </a:pPr>
            <a:r>
              <a:rPr b="0" i="0" lang="en-US" sz="1367" u="none" cap="none" strike="noStrike">
                <a:solidFill>
                  <a:schemeClr val="dk1"/>
                </a:solidFill>
                <a:latin typeface="Arial"/>
                <a:ea typeface="Arial"/>
                <a:cs typeface="Arial"/>
                <a:sym typeface="Arial"/>
              </a:rPr>
              <a:t>1.	Details of eNode-B: Cross check with planning document from Local Craft Terminal</a:t>
            </a:r>
            <a:endParaRPr b="0" i="0" sz="1367" u="none" cap="none" strike="noStrike">
              <a:solidFill>
                <a:schemeClr val="dk1"/>
              </a:solidFill>
              <a:latin typeface="Arial"/>
              <a:ea typeface="Arial"/>
              <a:cs typeface="Arial"/>
              <a:sym typeface="Arial"/>
            </a:endParaRPr>
          </a:p>
          <a:p>
            <a:pPr indent="0" lvl="0" marL="340619" marR="0" rtl="0" algn="l">
              <a:lnSpc>
                <a:spcPct val="117922"/>
              </a:lnSpc>
              <a:spcBef>
                <a:spcPts val="0"/>
              </a:spcBef>
              <a:spcAft>
                <a:spcPts val="0"/>
              </a:spcAft>
              <a:buClr>
                <a:srgbClr val="000000"/>
              </a:buClr>
              <a:buSzPts val="1367"/>
              <a:buFont typeface="Arial"/>
              <a:buNone/>
            </a:pPr>
            <a:r>
              <a:rPr b="0" i="0" lang="en-US" sz="1367" u="none" cap="none" strike="noStrike">
                <a:solidFill>
                  <a:schemeClr val="dk1"/>
                </a:solidFill>
                <a:latin typeface="Arial"/>
                <a:ea typeface="Arial"/>
                <a:cs typeface="Arial"/>
                <a:sym typeface="Arial"/>
              </a:rPr>
              <a:t>/EMS/DTT kit/Engg. Handset/Physical verification.</a:t>
            </a:r>
            <a:endParaRPr b="0" i="0" sz="1367" u="none" cap="none" strike="noStrike">
              <a:solidFill>
                <a:schemeClr val="dk1"/>
              </a:solidFill>
              <a:latin typeface="Arial"/>
              <a:ea typeface="Arial"/>
              <a:cs typeface="Arial"/>
              <a:sym typeface="Arial"/>
            </a:endParaRPr>
          </a:p>
          <a:p>
            <a:pPr indent="0" lvl="0" marL="309522" marR="0" rtl="0" algn="l">
              <a:lnSpc>
                <a:spcPct val="100000"/>
              </a:lnSpc>
              <a:spcBef>
                <a:spcPts val="222"/>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Type of site: (BSNL/NBSNL/IP): ----NBSNL------------</a:t>
            </a:r>
            <a:endParaRPr b="0" i="0" sz="1253" u="none" cap="none" strike="noStrike">
              <a:solidFill>
                <a:schemeClr val="dk1"/>
              </a:solidFill>
              <a:latin typeface="Arial"/>
              <a:ea typeface="Arial"/>
              <a:cs typeface="Arial"/>
              <a:sym typeface="Arial"/>
            </a:endParaRPr>
          </a:p>
        </p:txBody>
      </p:sp>
      <p:graphicFrame>
        <p:nvGraphicFramePr>
          <p:cNvPr id="60" name="Google Shape;60;p8"/>
          <p:cNvGraphicFramePr/>
          <p:nvPr/>
        </p:nvGraphicFramePr>
        <p:xfrm>
          <a:off x="2248781" y="2856328"/>
          <a:ext cx="3000000" cy="3000000"/>
        </p:xfrm>
        <a:graphic>
          <a:graphicData uri="http://schemas.openxmlformats.org/drawingml/2006/table">
            <a:tbl>
              <a:tblPr>
                <a:noFill/>
                <a:tableStyleId>{4715F777-4F42-4612-BE10-C9BCD6FF47B2}</a:tableStyleId>
              </a:tblPr>
              <a:tblGrid>
                <a:gridCol w="893650"/>
                <a:gridCol w="1350875"/>
                <a:gridCol w="1683400"/>
                <a:gridCol w="984225"/>
                <a:gridCol w="1184175"/>
                <a:gridCol w="935225"/>
              </a:tblGrid>
              <a:tr h="444875">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Lat/Long</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11.99473199/75.4560 2767</a:t>
                      </a:r>
                      <a:endParaRPr b="0" i="0" sz="1400" u="none" cap="none" strike="noStrike">
                        <a:solidFill>
                          <a:srgbClr val="000000"/>
                        </a:solidFill>
                        <a:latin typeface="Calibri"/>
                        <a:ea typeface="Calibri"/>
                        <a:cs typeface="Calibri"/>
                        <a:sym typeface="Calibri"/>
                      </a:endParaRPr>
                    </a:p>
                  </a:txBody>
                  <a:tcPr marT="8675" marB="0" marR="8675" marL="86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Equipment type:  (Macro/Micro/Pico)</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Micro</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Config: (TDD/FDD)</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 </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1651850">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Project name</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BSNL</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Site name</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RP-00553- MAYYIL</a:t>
                      </a:r>
                      <a:endParaRPr sz="11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Site ID</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RP-00553</a:t>
                      </a:r>
                      <a:endParaRPr sz="1400" u="none" cap="none" strike="noStrike"/>
                    </a:p>
                  </a:txBody>
                  <a:tcPr marT="8675" marB="0" marR="8675" marL="86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233100">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BA</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KNR</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SDCA / OA</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KANNUR</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Cell Ids</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RAC SN</a:t>
                      </a:r>
                      <a:endParaRPr/>
                    </a:p>
                    <a:p>
                      <a:pPr indent="0" lvl="0" marL="0" marR="0" rtl="0" algn="l">
                        <a:lnSpc>
                          <a:spcPct val="100000"/>
                        </a:lnSpc>
                        <a:spcBef>
                          <a:spcPts val="0"/>
                        </a:spcBef>
                        <a:spcAft>
                          <a:spcPts val="0"/>
                        </a:spcAft>
                        <a:buClr>
                          <a:srgbClr val="000000"/>
                        </a:buClr>
                        <a:buSzPts val="1400"/>
                        <a:buFont typeface="Arial"/>
                        <a:buNone/>
                      </a:pPr>
                      <a:r>
                        <a:t>_R14Rel_447_I_025_003 CEF_REL10013a79516</a:t>
                      </a:r>
                      <a:endParaRPr/>
                    </a:p>
                    <a:p>
                      <a:pPr indent="0" lvl="0" marL="0" marR="0" rtl="0" algn="l">
                        <a:lnSpc>
                          <a:spcPct val="100000"/>
                        </a:lnSpc>
                        <a:spcBef>
                          <a:spcPts val="0"/>
                        </a:spcBef>
                        <a:spcAft>
                          <a:spcPts val="0"/>
                        </a:spcAft>
                        <a:buClr>
                          <a:srgbClr val="000000"/>
                        </a:buClr>
                        <a:buSzPts val="1400"/>
                        <a:buFont typeface="Arial"/>
                        <a:buNone/>
                      </a:pPr>
                      <a:r>
                        <a:t>_R14Rel_447_I_025_003 CEF_REL10013a79516</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42050">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Circle name</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KERALA</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Vendor name</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zentix</a:t>
                      </a:r>
                      <a:endParaRPr b="0" i="0" sz="1400" u="none" cap="none" strike="noStrike">
                        <a:solidFill>
                          <a:srgbClr val="000000"/>
                        </a:solidFill>
                        <a:latin typeface="Arial"/>
                        <a:ea typeface="Arial"/>
                        <a:cs typeface="Arial"/>
                        <a:sym typeface="Arial"/>
                      </a:endParaRPr>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MIMO Config</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2*2</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775350">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On Air Date</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10.61.193.229</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A/T Date</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t>
                      </a:r>
                      <a:endParaRPr sz="1400" u="none" cap="none" strike="noStrike"/>
                    </a:p>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 </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 </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 </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1314450">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Site type :(ID/OD)</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INDOOR</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Site Category:  (RTT/RTP/GBT)</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GBT</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Transmission type:  (MW/Fiber/VSAT)</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1750650">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Antenna type /Port  (Single Band / Dual  Band) (4 / 6 / 8 / 10  Port)</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Dual Band</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CPRI length</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AA-4224-17-02JU</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 </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 </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1096350">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eNode –B: CAT  (A/B/C/D/E/ any  other)</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CAT-D</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Bandwidth (5MHz/  10MHz /20MHz etc.)</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10Mhz</a:t>
                      </a:r>
                      <a:endParaRPr b="0" i="0" sz="1400" u="none" cap="none" strike="noStrike">
                        <a:solidFill>
                          <a:srgbClr val="000000"/>
                        </a:solidFill>
                        <a:latin typeface="Arial"/>
                        <a:ea typeface="Arial"/>
                        <a:cs typeface="Arial"/>
                        <a:sym typeface="Arial"/>
                      </a:endParaRPr>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 </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 </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841150">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Sector (Antenna  detailsfor the  Installed 4G site)</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1 1 1</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3 3 3</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50M 50M 50M</a:t>
                      </a:r>
                      <a:endParaRPr sz="11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110 250 330</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 </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56375">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Sec 1</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1</a:t>
                      </a:r>
                      <a:endParaRPr sz="1400" u="none" cap="none" strike="noStrike"/>
                    </a:p>
                  </a:txBody>
                  <a:tcPr marT="8675" marB="0" marR="8675" marL="86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3</a:t>
                      </a:r>
                      <a:endParaRPr sz="1400" u="none" cap="none" strike="noStrike"/>
                    </a:p>
                  </a:txBody>
                  <a:tcPr marT="8675" marB="0" marR="8675" marL="86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50M</a:t>
                      </a:r>
                      <a:endParaRPr sz="1400" u="none" cap="none" strike="noStrike"/>
                    </a:p>
                  </a:txBody>
                  <a:tcPr marT="8675" marB="0" marR="8675" marL="86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110</a:t>
                      </a:r>
                      <a:endParaRPr sz="1400" u="none" cap="none" strike="noStrike"/>
                    </a:p>
                  </a:txBody>
                  <a:tcPr marT="8675" marB="0" marR="8675" marL="86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 </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56375">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Sec 2</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1</a:t>
                      </a:r>
                      <a:endParaRPr sz="1400" u="none" cap="none" strike="noStrike"/>
                    </a:p>
                  </a:txBody>
                  <a:tcPr marT="8675" marB="0" marR="8675" marL="86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3</a:t>
                      </a:r>
                      <a:endParaRPr sz="1400" u="none" cap="none" strike="noStrike"/>
                    </a:p>
                  </a:txBody>
                  <a:tcPr marT="8675" marB="0" marR="8675" marL="86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50M</a:t>
                      </a:r>
                      <a:endParaRPr sz="1400" u="none" cap="none" strike="noStrike"/>
                    </a:p>
                  </a:txBody>
                  <a:tcPr marT="8675" marB="0" marR="8675" marL="86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240</a:t>
                      </a:r>
                      <a:endParaRPr sz="1400" u="none" cap="none" strike="noStrike"/>
                    </a:p>
                  </a:txBody>
                  <a:tcPr marT="8675" marB="0" marR="8675" marL="86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 </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56375">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Sec 3</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1</a:t>
                      </a:r>
                      <a:endParaRPr sz="1400" u="none" cap="none" strike="noStrike"/>
                    </a:p>
                  </a:txBody>
                  <a:tcPr marT="8675" marB="0" marR="8675" marL="86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3</a:t>
                      </a:r>
                      <a:endParaRPr sz="1400" u="none" cap="none" strike="noStrike"/>
                    </a:p>
                  </a:txBody>
                  <a:tcPr marT="8675" marB="0" marR="8675" marL="86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50M</a:t>
                      </a:r>
                      <a:endParaRPr sz="1400" u="none" cap="none" strike="noStrike"/>
                    </a:p>
                  </a:txBody>
                  <a:tcPr marT="8675" marB="0" marR="8675" marL="86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350</a:t>
                      </a:r>
                      <a:endParaRPr sz="1400" u="none" cap="none" strike="noStrike"/>
                    </a:p>
                  </a:txBody>
                  <a:tcPr marT="8675" marB="0" marR="8675" marL="86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 </a:t>
                      </a:r>
                      <a:endParaRPr sz="1400" u="none" cap="none" strike="noStrike"/>
                    </a:p>
                  </a:txBody>
                  <a:tcPr marT="5875" marB="0" marR="5875" marL="58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
        <p:nvSpPr>
          <p:cNvPr id="61" name="Google Shape;61;p8"/>
          <p:cNvSpPr txBox="1"/>
          <p:nvPr/>
        </p:nvSpPr>
        <p:spPr>
          <a:xfrm>
            <a:off x="3516050" y="1874712"/>
            <a:ext cx="3592107" cy="224984"/>
          </a:xfrm>
          <a:prstGeom prst="rect">
            <a:avLst/>
          </a:prstGeom>
          <a:noFill/>
          <a:ln>
            <a:noFill/>
          </a:ln>
        </p:spPr>
        <p:txBody>
          <a:bodyPr anchorCtr="0" anchor="t" bIns="0" lIns="0" spcFirstLastPara="1" rIns="0" wrap="square" tIns="14450">
            <a:spAutoFit/>
          </a:bodyPr>
          <a:lstStyle/>
          <a:p>
            <a:pPr indent="0" lvl="0" marL="14464" marR="0" rtl="0" algn="l">
              <a:lnSpc>
                <a:spcPct val="100000"/>
              </a:lnSpc>
              <a:spcBef>
                <a:spcPts val="0"/>
              </a:spcBef>
              <a:spcAft>
                <a:spcPts val="0"/>
              </a:spcAft>
              <a:buClr>
                <a:srgbClr val="000000"/>
              </a:buClr>
              <a:buSzPts val="1253"/>
              <a:buFont typeface="Arial"/>
              <a:buNone/>
            </a:pPr>
            <a:r>
              <a:rPr b="1" i="0" lang="en-US" sz="1253" u="none" cap="none" strike="noStrike">
                <a:solidFill>
                  <a:schemeClr val="dk1"/>
                </a:solidFill>
                <a:latin typeface="Arial"/>
                <a:ea typeface="Arial"/>
                <a:cs typeface="Arial"/>
                <a:sym typeface="Arial"/>
              </a:rPr>
              <a:t>ACCEPATNCE TEST SCHEDULE FOR </a:t>
            </a:r>
            <a:r>
              <a:rPr b="1" i="0" lang="en-US" sz="1367" u="none" cap="none" strike="noStrike">
                <a:solidFill>
                  <a:schemeClr val="dk1"/>
                </a:solidFill>
                <a:latin typeface="Arial"/>
                <a:ea typeface="Arial"/>
                <a:cs typeface="Arial"/>
                <a:sym typeface="Arial"/>
              </a:rPr>
              <a:t>eNode-B</a:t>
            </a:r>
            <a:endParaRPr b="0" i="0" sz="1367"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9"/>
          <p:cNvSpPr txBox="1"/>
          <p:nvPr>
            <p:ph idx="11" type="ftr"/>
          </p:nvPr>
        </p:nvSpPr>
        <p:spPr>
          <a:xfrm>
            <a:off x="2248781" y="14495318"/>
            <a:ext cx="1915019" cy="192810"/>
          </a:xfrm>
          <a:prstGeom prst="rect">
            <a:avLst/>
          </a:prstGeom>
          <a:noFill/>
          <a:ln>
            <a:noFill/>
          </a:ln>
        </p:spPr>
        <p:txBody>
          <a:bodyPr anchorCtr="0" anchor="t" bIns="0" lIns="0" spcFirstLastPara="1" rIns="0" wrap="square" tIns="0">
            <a:spAutoFit/>
          </a:bodyPr>
          <a:lstStyle/>
          <a:p>
            <a:pPr indent="0" lvl="0" marL="14464" rtl="0" algn="l">
              <a:lnSpc>
                <a:spcPct val="100000"/>
              </a:lnSpc>
              <a:spcBef>
                <a:spcPts val="0"/>
              </a:spcBef>
              <a:spcAft>
                <a:spcPts val="0"/>
              </a:spcAft>
              <a:buSzPts val="1400"/>
              <a:buNone/>
            </a:pPr>
            <a:r>
              <a:rPr lang="en-US"/>
              <a:t>QAIN-11/31(14)/1/2023-CM</a:t>
            </a:r>
            <a:endParaRPr/>
          </a:p>
        </p:txBody>
      </p:sp>
      <p:sp>
        <p:nvSpPr>
          <p:cNvPr id="67" name="Google Shape;67;p9"/>
          <p:cNvSpPr txBox="1"/>
          <p:nvPr/>
        </p:nvSpPr>
        <p:spPr>
          <a:xfrm>
            <a:off x="7238764" y="1574232"/>
            <a:ext cx="1833298" cy="408086"/>
          </a:xfrm>
          <a:prstGeom prst="rect">
            <a:avLst/>
          </a:prstGeom>
          <a:noFill/>
          <a:ln>
            <a:noFill/>
          </a:ln>
        </p:spPr>
        <p:txBody>
          <a:bodyPr anchorCtr="0" anchor="t" bIns="0" lIns="0" spcFirstLastPara="1" rIns="0" wrap="square" tIns="13725">
            <a:spAutoFit/>
          </a:bodyPr>
          <a:lstStyle/>
          <a:p>
            <a:pPr indent="701487"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4G PHASE IX.2  eNode-B A/T SCHEDULE</a:t>
            </a:r>
            <a:endParaRPr b="0" i="0" sz="1253" u="none" cap="none" strike="noStrike">
              <a:solidFill>
                <a:schemeClr val="dk1"/>
              </a:solidFill>
              <a:latin typeface="Arial"/>
              <a:ea typeface="Arial"/>
              <a:cs typeface="Arial"/>
              <a:sym typeface="Arial"/>
            </a:endParaRPr>
          </a:p>
        </p:txBody>
      </p:sp>
      <p:sp>
        <p:nvSpPr>
          <p:cNvPr id="68" name="Google Shape;68;p9"/>
          <p:cNvSpPr txBox="1"/>
          <p:nvPr/>
        </p:nvSpPr>
        <p:spPr>
          <a:xfrm>
            <a:off x="2040499" y="1530839"/>
            <a:ext cx="2603732" cy="203735"/>
          </a:xfrm>
          <a:prstGeom prst="rect">
            <a:avLst/>
          </a:prstGeom>
          <a:noFill/>
          <a:ln>
            <a:noFill/>
          </a:ln>
        </p:spPr>
        <p:txBody>
          <a:bodyPr anchorCtr="0" anchor="t" bIns="0" lIns="0" spcFirstLastPara="1" rIns="0" wrap="square" tIns="13725">
            <a:spAutoFit/>
          </a:bodyPr>
          <a:lstStyle/>
          <a:p>
            <a:pPr indent="2892"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QA &amp; INSPECTION CIRCLE KL 	</a:t>
            </a:r>
            <a:endParaRPr b="0" i="0" sz="1253" u="none" cap="none" strike="noStrike">
              <a:solidFill>
                <a:schemeClr val="dk1"/>
              </a:solidFill>
              <a:latin typeface="Arial"/>
              <a:ea typeface="Arial"/>
              <a:cs typeface="Arial"/>
              <a:sym typeface="Arial"/>
            </a:endParaRPr>
          </a:p>
        </p:txBody>
      </p:sp>
      <p:graphicFrame>
        <p:nvGraphicFramePr>
          <p:cNvPr id="69" name="Google Shape;69;p9"/>
          <p:cNvGraphicFramePr/>
          <p:nvPr/>
        </p:nvGraphicFramePr>
        <p:xfrm>
          <a:off x="2248780" y="1892530"/>
          <a:ext cx="3000000" cy="3000000"/>
        </p:xfrm>
        <a:graphic>
          <a:graphicData uri="http://schemas.openxmlformats.org/drawingml/2006/table">
            <a:tbl>
              <a:tblPr>
                <a:noFill/>
                <a:tableStyleId>{4715F777-4F42-4612-BE10-C9BCD6FF47B2}</a:tableStyleId>
              </a:tblPr>
              <a:tblGrid>
                <a:gridCol w="2142875"/>
                <a:gridCol w="1676625"/>
                <a:gridCol w="400800"/>
                <a:gridCol w="966675"/>
                <a:gridCol w="354950"/>
                <a:gridCol w="1256175"/>
              </a:tblGrid>
              <a:tr h="473450">
                <a:tc>
                  <a:txBody>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Site ID(IP):</a:t>
                      </a:r>
                      <a:endParaRPr sz="1400" u="none" cap="none" strike="noStrike"/>
                    </a:p>
                  </a:txBody>
                  <a:tcPr marT="7225" marB="0" marR="7225" marL="7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Site Name</a:t>
                      </a:r>
                      <a:endParaRPr sz="1400" u="none" cap="none" strike="noStrike"/>
                    </a:p>
                  </a:txBody>
                  <a:tcPr marT="7225" marB="0" marR="7225" marL="7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c gridSpan="2">
                  <a:txBody>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MME</a:t>
                      </a:r>
                      <a:endParaRPr sz="1400" u="none" cap="none" strike="noStrike"/>
                    </a:p>
                  </a:txBody>
                  <a:tcPr marT="7225" marB="0" marR="7225" marL="7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SGW</a:t>
                      </a:r>
                      <a:endParaRPr sz="1400" u="none" cap="none" strike="noStrike"/>
                    </a:p>
                  </a:txBody>
                  <a:tcPr marT="7225" marB="0" marR="7225" marL="7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363800">
                <a:tc>
                  <a:txBody>
                    <a:bodyPr/>
                    <a:lstStyle/>
                    <a:p>
                      <a:pPr indent="0" lvl="0" marL="0" marR="0" rtl="0" algn="ctr">
                        <a:lnSpc>
                          <a:spcPct val="100000"/>
                        </a:lnSpc>
                        <a:spcBef>
                          <a:spcPts val="0"/>
                        </a:spcBef>
                        <a:spcAft>
                          <a:spcPts val="0"/>
                        </a:spcAft>
                        <a:buClr>
                          <a:srgbClr val="000000"/>
                        </a:buClr>
                        <a:buSzPts val="1300"/>
                        <a:buFont typeface="Arial"/>
                        <a:buNone/>
                      </a:pPr>
                      <a:r>
                        <a:rPr lang="en-US" sz="1300" u="none" cap="none" strike="noStrike"/>
                        <a:t>RP-00553</a:t>
                      </a:r>
                      <a:endParaRPr b="0" i="0" sz="1300" u="none" cap="none" strike="noStrike">
                        <a:solidFill>
                          <a:srgbClr val="000000"/>
                        </a:solidFill>
                        <a:latin typeface="Arial"/>
                        <a:ea typeface="Arial"/>
                        <a:cs typeface="Arial"/>
                        <a:sym typeface="Arial"/>
                      </a:endParaRPr>
                    </a:p>
                  </a:txBody>
                  <a:tcPr marT="7225" marB="0" marR="7225" marL="7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Clr>
                          <a:srgbClr val="000000"/>
                        </a:buClr>
                        <a:buSzPts val="1400"/>
                        <a:buFont typeface="Arial"/>
                        <a:buNone/>
                      </a:pPr>
                      <a:r>
                        <a:t>RP-00553- MAYYIL</a:t>
                      </a:r>
                      <a:endParaRPr sz="1400" u="none" cap="none" strike="noStrike"/>
                    </a:p>
                  </a:txBody>
                  <a:tcPr marT="7225" marB="0" marR="7225" marL="7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rgbClr val="000000"/>
                        </a:buClr>
                        <a:buSzPts val="1400"/>
                        <a:buFont typeface="Arial"/>
                        <a:buNone/>
                      </a:pPr>
                      <a:r>
                        <a:t>80M</a:t>
                      </a:r>
                      <a:endParaRPr sz="1400" u="none" cap="none" strike="noStrike"/>
                    </a:p>
                  </a:txBody>
                  <a:tcPr marT="7225" marB="0" marR="7225" marL="7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c>
                  <a:txBody>
                    <a:bodyPr/>
                    <a:lstStyle/>
                    <a:p>
                      <a:pPr indent="0" lvl="0" marL="0" marR="0" rtl="0" algn="l">
                        <a:lnSpc>
                          <a:spcPct val="100000"/>
                        </a:lnSpc>
                        <a:spcBef>
                          <a:spcPts val="0"/>
                        </a:spcBef>
                        <a:spcAft>
                          <a:spcPts val="0"/>
                        </a:spcAft>
                        <a:buClr>
                          <a:srgbClr val="000000"/>
                        </a:buClr>
                        <a:buSzPts val="1400"/>
                        <a:buFont typeface="Arial"/>
                        <a:buNone/>
                      </a:pPr>
                      <a:r>
                        <a:t>10.61.189.226</a:t>
                      </a:r>
                      <a:endParaRPr sz="1400" u="none" cap="none" strike="noStrike"/>
                    </a:p>
                  </a:txBody>
                  <a:tcPr marT="7225" marB="0" marR="7225" marL="7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10175">
                <a:tc>
                  <a:txBody>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SACFA ID (New site)</a:t>
                      </a:r>
                      <a:endParaRPr sz="1400" u="none" cap="none" strike="noStrike"/>
                    </a:p>
                  </a:txBody>
                  <a:tcPr marT="7225" marB="0" marR="7225" marL="7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 </a:t>
                      </a:r>
                      <a:endParaRPr sz="1400" u="none" cap="none" strike="noStrike"/>
                    </a:p>
                  </a:txBody>
                  <a:tcPr marT="7225" marB="0" marR="7225" marL="72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c gridSpan="3">
                  <a:txBody>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 </a:t>
                      </a:r>
                      <a:endParaRPr sz="1400" u="none" cap="none" strike="noStrike"/>
                    </a:p>
                  </a:txBody>
                  <a:tcPr marT="7225" marB="0" marR="7225" marL="7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c hMerge="1">
                  <a:txBody>
                    <a:bodyPr/>
                    <a:p/>
                  </a:txBody>
                </a:tc>
              </a:tr>
              <a:tr h="492425">
                <a:tc rowSpan="6">
                  <a:txBody>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Equipment  configuration</a:t>
                      </a:r>
                      <a:endParaRPr sz="1400" u="none" cap="none" strike="noStrike"/>
                    </a:p>
                  </a:txBody>
                  <a:tcPr marT="7225" marB="0" marR="7225" marL="72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5">
                  <a:txBody>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No. of racks (ODC): Mention (Indoor/Outdoor) and Rack/ODC  No. of sectors: 3</a:t>
                      </a:r>
                      <a:endParaRPr sz="1400" u="none" cap="none" strike="noStrike"/>
                    </a:p>
                  </a:txBody>
                  <a:tcPr marT="7225" marB="0" marR="7225" marL="1301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c hMerge="1">
                  <a:txBody>
                    <a:bodyPr/>
                    <a:p/>
                  </a:txBody>
                </a:tc>
                <a:tc hMerge="1">
                  <a:txBody>
                    <a:bodyPr/>
                    <a:p/>
                  </a:txBody>
                </a:tc>
                <a:tc hMerge="1">
                  <a:txBody>
                    <a:bodyPr/>
                    <a:p/>
                  </a:txBody>
                </a:tc>
              </a:tr>
              <a:tr h="250425">
                <a:tc vMerge="1">
                  <a:txBody>
                    <a:bodyPr/>
                    <a:p/>
                  </a:txBody>
                </a:tc>
                <a:tc gridSpan="5">
                  <a:txBody>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No. of carrier/ sector: Single</a:t>
                      </a:r>
                      <a:endParaRPr sz="1400" u="none" cap="none" strike="noStrike"/>
                    </a:p>
                  </a:txBody>
                  <a:tcPr marT="7225" marB="0" marR="7225" marL="1301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c hMerge="1">
                  <a:txBody>
                    <a:bodyPr/>
                    <a:p/>
                  </a:txBody>
                </a:tc>
                <a:tc hMerge="1">
                  <a:txBody>
                    <a:bodyPr/>
                    <a:p/>
                  </a:txBody>
                </a:tc>
                <a:tc hMerge="1">
                  <a:txBody>
                    <a:bodyPr/>
                    <a:p/>
                  </a:txBody>
                </a:tc>
              </a:tr>
              <a:tr h="343625">
                <a:tc vMerge="1">
                  <a:txBody>
                    <a:bodyPr/>
                    <a:p/>
                  </a:txBody>
                </a:tc>
                <a:tc gridSpan="5">
                  <a:txBody>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No. of carrier/ sector: 2</a:t>
                      </a:r>
                      <a:endParaRPr sz="1400" u="none" cap="none" strike="noStrike"/>
                    </a:p>
                  </a:txBody>
                  <a:tcPr marT="7225" marB="0" marR="7225" marL="1301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c hMerge="1">
                  <a:txBody>
                    <a:bodyPr/>
                    <a:p/>
                  </a:txBody>
                </a:tc>
                <a:tc hMerge="1">
                  <a:txBody>
                    <a:bodyPr/>
                    <a:p/>
                  </a:txBody>
                </a:tc>
                <a:tc hMerge="1">
                  <a:txBody>
                    <a:bodyPr/>
                    <a:p/>
                  </a:txBody>
                </a:tc>
              </a:tr>
              <a:tr h="343625">
                <a:tc vMerge="1">
                  <a:txBody>
                    <a:bodyPr/>
                    <a:p/>
                  </a:txBody>
                </a:tc>
                <a:tc gridSpan="5">
                  <a:txBody>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No. of Antenna per sector: Single</a:t>
                      </a:r>
                      <a:endParaRPr sz="1400" u="none" cap="none" strike="noStrike"/>
                    </a:p>
                  </a:txBody>
                  <a:tcPr marT="7225" marB="0" marR="7225" marL="1301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c hMerge="1">
                  <a:txBody>
                    <a:bodyPr/>
                    <a:p/>
                  </a:txBody>
                </a:tc>
                <a:tc hMerge="1">
                  <a:txBody>
                    <a:bodyPr/>
                    <a:p/>
                  </a:txBody>
                </a:tc>
                <a:tc hMerge="1">
                  <a:txBody>
                    <a:bodyPr/>
                    <a:p/>
                  </a:txBody>
                </a:tc>
              </a:tr>
              <a:tr h="343625">
                <a:tc vMerge="1">
                  <a:txBody>
                    <a:bodyPr/>
                    <a:p/>
                  </a:txBody>
                </a:tc>
                <a:tc gridSpan="5">
                  <a:txBody>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MME Location: Kerala</a:t>
                      </a:r>
                      <a:endParaRPr sz="1400" u="none" cap="none" strike="noStrike"/>
                    </a:p>
                  </a:txBody>
                  <a:tcPr marT="7225" marB="0" marR="7225" marL="1301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c hMerge="1">
                  <a:txBody>
                    <a:bodyPr/>
                    <a:p/>
                  </a:txBody>
                </a:tc>
                <a:tc hMerge="1">
                  <a:txBody>
                    <a:bodyPr/>
                    <a:p/>
                  </a:txBody>
                </a:tc>
                <a:tc hMerge="1">
                  <a:txBody>
                    <a:bodyPr/>
                    <a:p/>
                  </a:txBody>
                </a:tc>
              </a:tr>
              <a:tr h="343625">
                <a:tc vMerge="1">
                  <a:txBody>
                    <a:bodyPr/>
                    <a:p/>
                  </a:txBody>
                </a:tc>
                <a:tc gridSpan="5">
                  <a:txBody>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SGW Location: Kerala</a:t>
                      </a:r>
                      <a:endParaRPr sz="1400" u="none" cap="none" strike="noStrike"/>
                    </a:p>
                  </a:txBody>
                  <a:tcPr marT="7225" marB="0" marR="7225" marL="1301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c hMerge="1">
                  <a:txBody>
                    <a:bodyPr/>
                    <a:p/>
                  </a:txBody>
                </a:tc>
                <a:tc hMerge="1">
                  <a:txBody>
                    <a:bodyPr/>
                    <a:p/>
                  </a:txBody>
                </a:tc>
                <a:tc hMerge="1">
                  <a:txBody>
                    <a:bodyPr/>
                    <a:p/>
                  </a:txBody>
                </a:tc>
              </a:tr>
              <a:tr h="479550">
                <a:tc>
                  <a:txBody>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Sector No.</a:t>
                      </a:r>
                      <a:endParaRPr sz="1400" u="none" cap="none" strike="noStrike"/>
                    </a:p>
                  </a:txBody>
                  <a:tcPr marT="7225" marB="0" marR="7225" marL="7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Cell ID/PCI</a:t>
                      </a:r>
                      <a:endParaRPr sz="1400" u="none" cap="none" strike="noStrike"/>
                    </a:p>
                  </a:txBody>
                  <a:tcPr marT="7225" marB="0" marR="7225" marL="7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EARFCN</a:t>
                      </a:r>
                      <a:endParaRPr sz="1400" u="none" cap="none" strike="noStrike"/>
                    </a:p>
                  </a:txBody>
                  <a:tcPr marT="7225" marB="0" marR="7225" marL="7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c gridSpan="2">
                  <a:txBody>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TAC</a:t>
                      </a:r>
                      <a:endParaRPr sz="1400" u="none" cap="none" strike="noStrike"/>
                    </a:p>
                  </a:txBody>
                  <a:tcPr marT="7225" marB="0" marR="7225" marL="7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r>
              <a:tr h="716675">
                <a:tc>
                  <a:txBody>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1</a:t>
                      </a:r>
                      <a:endParaRPr sz="1400" u="none" cap="none" strike="noStrike"/>
                    </a:p>
                  </a:txBody>
                  <a:tcPr marT="7225" marB="0" marR="7225" marL="7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353</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rgbClr val="000000"/>
                        </a:buClr>
                        <a:buSzPts val="1300"/>
                        <a:buFont typeface="Calibri"/>
                        <a:buNone/>
                      </a:pPr>
                      <a:r>
                        <a:rPr b="0" i="0" lang="en-US" sz="1300" u="none" cap="none" strike="noStrike">
                          <a:solidFill>
                            <a:srgbClr val="000000"/>
                          </a:solidFill>
                          <a:latin typeface="Calibri"/>
                          <a:ea typeface="Calibri"/>
                          <a:cs typeface="Calibri"/>
                          <a:sym typeface="Calibri"/>
                        </a:rPr>
                        <a:t>515</a:t>
                      </a:r>
                      <a:endParaRPr sz="1400" u="none" cap="none" strike="noStrike"/>
                    </a:p>
                  </a:txBody>
                  <a:tcPr marT="7225" marB="0" marR="7225" marL="7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rgbClr val="000000"/>
                        </a:buClr>
                        <a:buSzPts val="1400"/>
                        <a:buFont typeface="Arial"/>
                        <a:buNone/>
                      </a:pPr>
                      <a:r>
                        <a:t>31743</a:t>
                      </a:r>
                      <a:endParaRPr sz="1400" u="none" cap="none" strike="noStrike"/>
                    </a:p>
                  </a:txBody>
                  <a:tcPr marT="7225" marB="0" marR="7225" marL="7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r>
              <a:tr h="801150">
                <a:tc>
                  <a:txBody>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2</a:t>
                      </a:r>
                      <a:endParaRPr sz="1400" u="none" cap="none" strike="noStrike"/>
                    </a:p>
                  </a:txBody>
                  <a:tcPr marT="7225" marB="0" marR="7225" marL="7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351</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rgbClr val="000000"/>
                        </a:buClr>
                        <a:buSzPts val="1300"/>
                        <a:buFont typeface="Calibri"/>
                        <a:buNone/>
                      </a:pPr>
                      <a:r>
                        <a:rPr b="0" i="0" lang="en-US" sz="1300" u="none" cap="none" strike="noStrike">
                          <a:solidFill>
                            <a:srgbClr val="000000"/>
                          </a:solidFill>
                          <a:latin typeface="Calibri"/>
                          <a:ea typeface="Calibri"/>
                          <a:cs typeface="Calibri"/>
                          <a:sym typeface="Calibri"/>
                        </a:rPr>
                        <a:t>515</a:t>
                      </a:r>
                      <a:endParaRPr sz="1400" u="none" cap="none" strike="noStrike"/>
                    </a:p>
                  </a:txBody>
                  <a:tcPr marT="7225" marB="0" marR="7225" marL="7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rgbClr val="000000"/>
                        </a:buClr>
                        <a:buSzPts val="1400"/>
                        <a:buFont typeface="Arial"/>
                        <a:buNone/>
                      </a:pPr>
                      <a:r>
                        <a:t>31743</a:t>
                      </a:r>
                      <a:endParaRPr sz="1400" u="none" cap="none" strike="noStrike"/>
                    </a:p>
                  </a:txBody>
                  <a:tcPr marT="7225" marB="0" marR="7225" marL="7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r>
              <a:tr h="421750">
                <a:tc>
                  <a:txBody>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3</a:t>
                      </a:r>
                      <a:endParaRPr sz="1400" u="none" cap="none" strike="noStrike"/>
                    </a:p>
                  </a:txBody>
                  <a:tcPr marT="7225" marB="0" marR="7225" marL="72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352</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rgbClr val="000000"/>
                        </a:buClr>
                        <a:buSzPts val="1300"/>
                        <a:buFont typeface="Calibri"/>
                        <a:buNone/>
                      </a:pPr>
                      <a:r>
                        <a:rPr b="0" i="0" lang="en-US" sz="1300" u="none" cap="none" strike="noStrike">
                          <a:solidFill>
                            <a:srgbClr val="000000"/>
                          </a:solidFill>
                          <a:latin typeface="Calibri"/>
                          <a:ea typeface="Calibri"/>
                          <a:cs typeface="Calibri"/>
                          <a:sym typeface="Calibri"/>
                        </a:rPr>
                        <a:t>515</a:t>
                      </a:r>
                      <a:endParaRPr sz="1400" u="none" cap="none" strike="noStrike"/>
                    </a:p>
                  </a:txBody>
                  <a:tcPr marT="7225" marB="0" marR="7225" marL="7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rgbClr val="000000"/>
                        </a:buClr>
                        <a:buSzPts val="1400"/>
                        <a:buFont typeface="Arial"/>
                        <a:buNone/>
                      </a:pPr>
                      <a:r>
                        <a:t>31743</a:t>
                      </a:r>
                      <a:endParaRPr sz="1400" u="none" cap="none" strike="noStrike"/>
                    </a:p>
                  </a:txBody>
                  <a:tcPr marT="7225" marB="0" marR="7225" marL="7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r>
            </a:tbl>
          </a:graphicData>
        </a:graphic>
      </p:graphicFrame>
      <p:sp>
        <p:nvSpPr>
          <p:cNvPr id="70" name="Google Shape;70;p9"/>
          <p:cNvSpPr txBox="1"/>
          <p:nvPr/>
        </p:nvSpPr>
        <p:spPr>
          <a:xfrm>
            <a:off x="2324412" y="8910780"/>
            <a:ext cx="4314578" cy="440308"/>
          </a:xfrm>
          <a:prstGeom prst="rect">
            <a:avLst/>
          </a:prstGeom>
          <a:noFill/>
          <a:ln>
            <a:noFill/>
          </a:ln>
        </p:spPr>
        <p:txBody>
          <a:bodyPr anchorCtr="0" anchor="t" bIns="0" lIns="0" spcFirstLastPara="1" rIns="0" wrap="square" tIns="29650">
            <a:spAutoFit/>
          </a:bodyPr>
          <a:lstStyle/>
          <a:p>
            <a:pPr indent="-326879" lvl="0" marL="340619" marR="5786" rtl="0" algn="l">
              <a:lnSpc>
                <a:spcPct val="114118"/>
              </a:lnSpc>
              <a:spcBef>
                <a:spcPts val="0"/>
              </a:spcBef>
              <a:spcAft>
                <a:spcPts val="0"/>
              </a:spcAft>
              <a:buClr>
                <a:srgbClr val="000000"/>
              </a:buClr>
              <a:buSzPts val="1367"/>
              <a:buFont typeface="Arial"/>
              <a:buNone/>
            </a:pPr>
            <a:r>
              <a:rPr b="0" i="0" lang="en-US" sz="1367" u="none" cap="none" strike="noStrike">
                <a:solidFill>
                  <a:schemeClr val="dk1"/>
                </a:solidFill>
                <a:latin typeface="Arial"/>
                <a:ea typeface="Arial"/>
                <a:cs typeface="Arial"/>
                <a:sym typeface="Arial"/>
              </a:rPr>
              <a:t>2.	Infrastructure provided by:	BSNL Capacity/Rating	(Please tick appropriate box)</a:t>
            </a:r>
            <a:endParaRPr b="0" i="0" sz="1367" u="none" cap="none" strike="noStrike">
              <a:solidFill>
                <a:schemeClr val="dk1"/>
              </a:solidFill>
              <a:latin typeface="Arial"/>
              <a:ea typeface="Arial"/>
              <a:cs typeface="Arial"/>
              <a:sym typeface="Arial"/>
            </a:endParaRPr>
          </a:p>
        </p:txBody>
      </p:sp>
      <p:graphicFrame>
        <p:nvGraphicFramePr>
          <p:cNvPr id="71" name="Google Shape;71;p9"/>
          <p:cNvGraphicFramePr/>
          <p:nvPr/>
        </p:nvGraphicFramePr>
        <p:xfrm>
          <a:off x="3109613" y="9346143"/>
          <a:ext cx="3000000" cy="3000000"/>
        </p:xfrm>
        <a:graphic>
          <a:graphicData uri="http://schemas.openxmlformats.org/drawingml/2006/table">
            <a:tbl>
              <a:tblPr bandRow="1" firstRow="1">
                <a:noFill/>
                <a:tableStyleId>{6E646390-14D1-40E7-8574-0D387628F5A2}</a:tableStyleId>
              </a:tblPr>
              <a:tblGrid>
                <a:gridCol w="2458850"/>
                <a:gridCol w="1233050"/>
              </a:tblGrid>
              <a:tr h="694275">
                <a:tc>
                  <a:txBody>
                    <a:bodyPr/>
                    <a:lstStyle/>
                    <a:p>
                      <a:pPr indent="0" lvl="0" marL="225425" marR="0" rtl="0" algn="l">
                        <a:lnSpc>
                          <a:spcPct val="98076"/>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I.	</a:t>
                      </a:r>
                      <a:r>
                        <a:rPr lang="en-US" sz="1300" u="none" cap="none" strike="noStrike">
                          <a:latin typeface="Arial"/>
                          <a:ea typeface="Arial"/>
                          <a:cs typeface="Arial"/>
                          <a:sym typeface="Arial"/>
                        </a:rPr>
                        <a:t>Power plant</a:t>
                      </a:r>
                      <a:endParaRPr sz="13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DELTA</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20700">
                <a:tc>
                  <a:txBody>
                    <a:bodyPr/>
                    <a:lstStyle/>
                    <a:p>
                      <a:pPr indent="0" lvl="0" marL="188595" marR="0" rtl="0" algn="l">
                        <a:lnSpc>
                          <a:spcPct val="98076"/>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II.	</a:t>
                      </a:r>
                      <a:r>
                        <a:rPr lang="en-US" sz="1300" u="none" cap="none" strike="noStrike">
                          <a:latin typeface="Arial"/>
                          <a:ea typeface="Arial"/>
                          <a:cs typeface="Arial"/>
                          <a:sym typeface="Arial"/>
                        </a:rPr>
                        <a:t>Battery</a:t>
                      </a:r>
                      <a:endParaRPr sz="13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VRLA</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92500">
                <a:tc>
                  <a:txBody>
                    <a:bodyPr/>
                    <a:lstStyle/>
                    <a:p>
                      <a:pPr indent="0" lvl="0" marL="154940" marR="0" rtl="0" algn="l">
                        <a:lnSpc>
                          <a:spcPct val="98076"/>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III.	</a:t>
                      </a:r>
                      <a:r>
                        <a:rPr lang="en-US" sz="1300" u="none" cap="none" strike="noStrike">
                          <a:latin typeface="Arial"/>
                          <a:ea typeface="Arial"/>
                          <a:cs typeface="Arial"/>
                          <a:sym typeface="Arial"/>
                        </a:rPr>
                        <a:t>Engine Alternator</a:t>
                      </a:r>
                      <a:endParaRPr sz="13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5454"/>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NA</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8025">
                <a:tc>
                  <a:txBody>
                    <a:bodyPr/>
                    <a:lstStyle/>
                    <a:p>
                      <a:pPr indent="0" lvl="0" marL="139700" marR="0" rtl="0" algn="l">
                        <a:lnSpc>
                          <a:spcPct val="98076"/>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IV.	</a:t>
                      </a:r>
                      <a:r>
                        <a:rPr lang="en-US" sz="1300" u="none" cap="none" strike="noStrike">
                          <a:latin typeface="Arial"/>
                          <a:ea typeface="Arial"/>
                          <a:cs typeface="Arial"/>
                          <a:sym typeface="Arial"/>
                        </a:rPr>
                        <a:t>Air-conditioning</a:t>
                      </a:r>
                      <a:endParaRPr sz="13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5454"/>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NA</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8025">
                <a:tc>
                  <a:txBody>
                    <a:bodyPr/>
                    <a:lstStyle/>
                    <a:p>
                      <a:pPr indent="0" lvl="0" marL="176530" marR="0" rtl="0" algn="l">
                        <a:lnSpc>
                          <a:spcPct val="98076"/>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V.	</a:t>
                      </a:r>
                      <a:r>
                        <a:rPr lang="en-US" sz="1300" u="none" cap="none" strike="noStrike">
                          <a:latin typeface="Arial"/>
                          <a:ea typeface="Arial"/>
                          <a:cs typeface="Arial"/>
                          <a:sym typeface="Arial"/>
                        </a:rPr>
                        <a:t>Fire detection system.</a:t>
                      </a:r>
                      <a:endParaRPr sz="13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5454"/>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BSNL</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7125">
                <a:tc>
                  <a:txBody>
                    <a:bodyPr/>
                    <a:lstStyle/>
                    <a:p>
                      <a:pPr indent="0" lvl="0" marL="139700" marR="0" rtl="0" algn="l">
                        <a:lnSpc>
                          <a:spcPct val="98461"/>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VI.	</a:t>
                      </a:r>
                      <a:r>
                        <a:rPr lang="en-US" sz="1300" u="none" cap="none" strike="noStrike">
                          <a:latin typeface="Arial"/>
                          <a:ea typeface="Arial"/>
                          <a:cs typeface="Arial"/>
                          <a:sym typeface="Arial"/>
                        </a:rPr>
                        <a:t>Tower</a:t>
                      </a:r>
                      <a:endParaRPr sz="13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GBT</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20700">
                <a:tc>
                  <a:txBody>
                    <a:bodyPr/>
                    <a:lstStyle/>
                    <a:p>
                      <a:pPr indent="0" lvl="0" marL="103504" marR="0" rtl="0" algn="l">
                        <a:lnSpc>
                          <a:spcPct val="98076"/>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VII.	</a:t>
                      </a:r>
                      <a:r>
                        <a:rPr lang="en-US" sz="1300" u="none" cap="none" strike="noStrike">
                          <a:latin typeface="Arial"/>
                          <a:ea typeface="Arial"/>
                          <a:cs typeface="Arial"/>
                          <a:sym typeface="Arial"/>
                        </a:rPr>
                        <a:t>Earthing</a:t>
                      </a:r>
                      <a:endParaRPr sz="13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15M</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3200">
                <a:tc>
                  <a:txBody>
                    <a:bodyPr/>
                    <a:lstStyle/>
                    <a:p>
                      <a:pPr indent="0" lvl="0" marL="69850" marR="0" rtl="0" algn="l">
                        <a:lnSpc>
                          <a:spcPct val="98076"/>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VIII.	</a:t>
                      </a:r>
                      <a:r>
                        <a:rPr lang="en-US" sz="1300" u="none" cap="none" strike="noStrike">
                          <a:latin typeface="Arial"/>
                          <a:ea typeface="Arial"/>
                          <a:cs typeface="Arial"/>
                          <a:sym typeface="Arial"/>
                        </a:rPr>
                        <a:t>Media</a:t>
                      </a:r>
                      <a:endParaRPr sz="13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5454"/>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MW</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77300">
                <a:tc>
                  <a:txBody>
                    <a:bodyPr/>
                    <a:lstStyle/>
                    <a:p>
                      <a:pPr indent="-384810" lvl="0" marL="524510" marR="499109" rtl="0" algn="l">
                        <a:lnSpc>
                          <a:spcPct val="97692"/>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IX.	</a:t>
                      </a:r>
                      <a:r>
                        <a:rPr lang="en-US" sz="1300" u="none" cap="none" strike="noStrike">
                          <a:latin typeface="Arial"/>
                          <a:ea typeface="Arial"/>
                          <a:cs typeface="Arial"/>
                          <a:sym typeface="Arial"/>
                        </a:rPr>
                        <a:t>Shelter (for Indoor eNode-B)</a:t>
                      </a:r>
                      <a:endParaRPr sz="1300" u="none" cap="none" strike="noStrike">
                        <a:latin typeface="Arial"/>
                        <a:ea typeface="Arial"/>
                        <a:cs typeface="Arial"/>
                        <a:sym typeface="Arial"/>
                      </a:endParaRPr>
                    </a:p>
                  </a:txBody>
                  <a:tcPr marT="21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INDOOR</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8025">
                <a:tc>
                  <a:txBody>
                    <a:bodyPr/>
                    <a:lstStyle/>
                    <a:p>
                      <a:pPr indent="0" lvl="0" marL="176530" marR="0" rtl="0" algn="l">
                        <a:lnSpc>
                          <a:spcPct val="98461"/>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X.	</a:t>
                      </a:r>
                      <a:r>
                        <a:rPr lang="en-US" sz="1300" u="none" cap="none" strike="noStrike">
                          <a:latin typeface="Arial"/>
                          <a:ea typeface="Arial"/>
                          <a:cs typeface="Arial"/>
                          <a:sym typeface="Arial"/>
                        </a:rPr>
                        <a:t>Microwave</a:t>
                      </a:r>
                      <a:endParaRPr sz="13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5454"/>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OFC</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8025">
                <a:tc>
                  <a:txBody>
                    <a:bodyPr/>
                    <a:lstStyle/>
                    <a:p>
                      <a:pPr indent="0" lvl="0" marL="139700" marR="0" rtl="0" algn="l">
                        <a:lnSpc>
                          <a:spcPct val="98076"/>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XI.	</a:t>
                      </a:r>
                      <a:r>
                        <a:rPr lang="en-US" sz="1300" u="none" cap="none" strike="noStrike">
                          <a:latin typeface="Arial"/>
                          <a:ea typeface="Arial"/>
                          <a:cs typeface="Arial"/>
                          <a:sym typeface="Arial"/>
                        </a:rPr>
                        <a:t>Outdoor UPS with Li-ion</a:t>
                      </a:r>
                      <a:endParaRPr sz="13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5454"/>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4 Hrs</a:t>
                      </a:r>
                      <a:endParaRPr sz="11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72" name="Google Shape;72;p9"/>
          <p:cNvSpPr txBox="1"/>
          <p:nvPr/>
        </p:nvSpPr>
        <p:spPr>
          <a:xfrm>
            <a:off x="6509525" y="7272397"/>
            <a:ext cx="768756" cy="224984"/>
          </a:xfrm>
          <a:prstGeom prst="rect">
            <a:avLst/>
          </a:prstGeom>
          <a:noFill/>
          <a:ln>
            <a:noFill/>
          </a:ln>
        </p:spPr>
        <p:txBody>
          <a:bodyPr anchorCtr="0" anchor="t" bIns="0" lIns="0" spcFirstLastPara="1" rIns="0" wrap="square" tIns="14450">
            <a:spAutoFit/>
          </a:bodyPr>
          <a:lstStyle/>
          <a:p>
            <a:pPr indent="0" lvl="0" marL="14464" marR="0" rtl="0" algn="l">
              <a:lnSpc>
                <a:spcPct val="100000"/>
              </a:lnSpc>
              <a:spcBef>
                <a:spcPts val="0"/>
              </a:spcBef>
              <a:spcAft>
                <a:spcPts val="0"/>
              </a:spcAft>
              <a:buClr>
                <a:srgbClr val="000000"/>
              </a:buClr>
              <a:buSzPts val="1367"/>
              <a:buFont typeface="Arial"/>
              <a:buNone/>
            </a:pPr>
            <a:r>
              <a:rPr b="0" i="0" lang="en-US" sz="1367" u="none" cap="none" strike="noStrike">
                <a:solidFill>
                  <a:schemeClr val="dk1"/>
                </a:solidFill>
                <a:latin typeface="Arial"/>
                <a:ea typeface="Arial"/>
                <a:cs typeface="Arial"/>
                <a:sym typeface="Arial"/>
              </a:rPr>
              <a:t>VENDOR</a:t>
            </a:r>
            <a:endParaRPr b="0" i="0" sz="1367"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0"/>
          <p:cNvSpPr txBox="1"/>
          <p:nvPr>
            <p:ph idx="11" type="ftr"/>
          </p:nvPr>
        </p:nvSpPr>
        <p:spPr>
          <a:xfrm>
            <a:off x="2248781" y="14495318"/>
            <a:ext cx="1915019" cy="192810"/>
          </a:xfrm>
          <a:prstGeom prst="rect">
            <a:avLst/>
          </a:prstGeom>
          <a:noFill/>
          <a:ln>
            <a:noFill/>
          </a:ln>
        </p:spPr>
        <p:txBody>
          <a:bodyPr anchorCtr="0" anchor="t" bIns="0" lIns="0" spcFirstLastPara="1" rIns="0" wrap="square" tIns="0">
            <a:spAutoFit/>
          </a:bodyPr>
          <a:lstStyle/>
          <a:p>
            <a:pPr indent="0" lvl="0" marL="14464" rtl="0" algn="l">
              <a:lnSpc>
                <a:spcPct val="100000"/>
              </a:lnSpc>
              <a:spcBef>
                <a:spcPts val="0"/>
              </a:spcBef>
              <a:spcAft>
                <a:spcPts val="0"/>
              </a:spcAft>
              <a:buSzPts val="1400"/>
              <a:buNone/>
            </a:pPr>
            <a:r>
              <a:rPr lang="en-US"/>
              <a:t>QAIN-11/31(14)/1/2023-CM</a:t>
            </a:r>
            <a:endParaRPr/>
          </a:p>
        </p:txBody>
      </p:sp>
      <p:sp>
        <p:nvSpPr>
          <p:cNvPr id="78" name="Google Shape;78;p10"/>
          <p:cNvSpPr txBox="1"/>
          <p:nvPr/>
        </p:nvSpPr>
        <p:spPr>
          <a:xfrm>
            <a:off x="7238764" y="1574232"/>
            <a:ext cx="1833298" cy="408086"/>
          </a:xfrm>
          <a:prstGeom prst="rect">
            <a:avLst/>
          </a:prstGeom>
          <a:noFill/>
          <a:ln>
            <a:noFill/>
          </a:ln>
        </p:spPr>
        <p:txBody>
          <a:bodyPr anchorCtr="0" anchor="t" bIns="0" lIns="0" spcFirstLastPara="1" rIns="0" wrap="square" tIns="13725">
            <a:spAutoFit/>
          </a:bodyPr>
          <a:lstStyle/>
          <a:p>
            <a:pPr indent="701487"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4G PHASE IX.2  eNode-B A/T SCHEDULE</a:t>
            </a:r>
            <a:endParaRPr b="0" i="0" sz="1253" u="none" cap="none" strike="noStrike">
              <a:solidFill>
                <a:schemeClr val="dk1"/>
              </a:solidFill>
              <a:latin typeface="Arial"/>
              <a:ea typeface="Arial"/>
              <a:cs typeface="Arial"/>
              <a:sym typeface="Arial"/>
            </a:endParaRPr>
          </a:p>
        </p:txBody>
      </p:sp>
      <p:sp>
        <p:nvSpPr>
          <p:cNvPr id="79" name="Google Shape;79;p10"/>
          <p:cNvSpPr txBox="1"/>
          <p:nvPr/>
        </p:nvSpPr>
        <p:spPr>
          <a:xfrm>
            <a:off x="2040499" y="2420541"/>
            <a:ext cx="5291614" cy="224984"/>
          </a:xfrm>
          <a:prstGeom prst="rect">
            <a:avLst/>
          </a:prstGeom>
          <a:noFill/>
          <a:ln>
            <a:noFill/>
          </a:ln>
        </p:spPr>
        <p:txBody>
          <a:bodyPr anchorCtr="0" anchor="t" bIns="0" lIns="0" spcFirstLastPara="1" rIns="0" wrap="square" tIns="14450">
            <a:spAutoFit/>
          </a:bodyPr>
          <a:lstStyle/>
          <a:p>
            <a:pPr indent="0" lvl="0" marL="14464" marR="0" rtl="0" algn="l">
              <a:lnSpc>
                <a:spcPct val="100000"/>
              </a:lnSpc>
              <a:spcBef>
                <a:spcPts val="0"/>
              </a:spcBef>
              <a:spcAft>
                <a:spcPts val="0"/>
              </a:spcAft>
              <a:buClr>
                <a:srgbClr val="000000"/>
              </a:buClr>
              <a:buSzPts val="1367"/>
              <a:buFont typeface="Arial"/>
              <a:buNone/>
            </a:pPr>
            <a:r>
              <a:rPr b="1" i="0" lang="en-US" sz="1367" u="none" cap="none" strike="noStrike">
                <a:solidFill>
                  <a:schemeClr val="dk1"/>
                </a:solidFill>
                <a:latin typeface="Arial"/>
                <a:ea typeface="Arial"/>
                <a:cs typeface="Arial"/>
                <a:sym typeface="Arial"/>
              </a:rPr>
              <a:t>Wideband-AMR (HD-voice) enabled: - Pass (AMR-WB 12.65Kbps)</a:t>
            </a:r>
            <a:endParaRPr b="0" i="0" sz="1367" u="none" cap="none" strike="noStrike">
              <a:solidFill>
                <a:schemeClr val="dk1"/>
              </a:solidFill>
              <a:latin typeface="Arial"/>
              <a:ea typeface="Arial"/>
              <a:cs typeface="Arial"/>
              <a:sym typeface="Arial"/>
            </a:endParaRPr>
          </a:p>
        </p:txBody>
      </p:sp>
      <p:graphicFrame>
        <p:nvGraphicFramePr>
          <p:cNvPr id="80" name="Google Shape;80;p10"/>
          <p:cNvGraphicFramePr/>
          <p:nvPr/>
        </p:nvGraphicFramePr>
        <p:xfrm>
          <a:off x="2037607" y="3174835"/>
          <a:ext cx="3000000" cy="3000000"/>
        </p:xfrm>
        <a:graphic>
          <a:graphicData uri="http://schemas.openxmlformats.org/drawingml/2006/table">
            <a:tbl>
              <a:tblPr bandRow="1" firstRow="1">
                <a:noFill/>
                <a:tableStyleId>{6E646390-14D1-40E7-8574-0D387628F5A2}</a:tableStyleId>
              </a:tblPr>
              <a:tblGrid>
                <a:gridCol w="2570225"/>
                <a:gridCol w="4160525"/>
              </a:tblGrid>
              <a:tr h="256875">
                <a:tc>
                  <a:txBody>
                    <a:bodyPr/>
                    <a:lstStyle/>
                    <a:p>
                      <a:pPr indent="0" lvl="0" marL="3175" marR="0" rtl="0" algn="ctr">
                        <a:lnSpc>
                          <a:spcPct val="96153"/>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Sector</a:t>
                      </a:r>
                      <a:endParaRPr sz="13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540" marR="0" rtl="0" algn="ctr">
                        <a:lnSpc>
                          <a:spcPct val="96153"/>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Codec</a:t>
                      </a:r>
                      <a:endParaRPr sz="13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6875">
                <a:tc>
                  <a:txBody>
                    <a:bodyPr/>
                    <a:lstStyle/>
                    <a:p>
                      <a:pPr indent="0" lvl="0" marL="4445" marR="0" rtl="0" algn="ctr">
                        <a:lnSpc>
                          <a:spcPct val="96153"/>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1</a:t>
                      </a:r>
                      <a:endParaRPr sz="13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905" marR="0" rtl="0" algn="ctr">
                        <a:lnSpc>
                          <a:spcPct val="96153"/>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AMR-WB 12.65Kbps</a:t>
                      </a:r>
                      <a:endParaRPr sz="13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6875">
                <a:tc>
                  <a:txBody>
                    <a:bodyPr/>
                    <a:lstStyle/>
                    <a:p>
                      <a:pPr indent="0" lvl="0" marL="4445" marR="0" rtl="0" algn="ctr">
                        <a:lnSpc>
                          <a:spcPct val="96153"/>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2</a:t>
                      </a:r>
                      <a:endParaRPr sz="13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905" marR="0" rtl="0" algn="ctr">
                        <a:lnSpc>
                          <a:spcPct val="96153"/>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AMR-WB 12.65Kbps</a:t>
                      </a:r>
                      <a:endParaRPr sz="13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0650">
                <a:tc>
                  <a:txBody>
                    <a:bodyPr/>
                    <a:lstStyle/>
                    <a:p>
                      <a:pPr indent="0" lvl="0" marL="4445" marR="0" rtl="0" algn="ctr">
                        <a:lnSpc>
                          <a:spcPct val="96538"/>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3</a:t>
                      </a:r>
                      <a:endParaRPr sz="13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905" marR="0" rtl="0" algn="ctr">
                        <a:lnSpc>
                          <a:spcPct val="96538"/>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AMR-WB 12.65Kbps</a:t>
                      </a:r>
                      <a:endParaRPr sz="13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81" name="Google Shape;81;p10"/>
          <p:cNvSpPr txBox="1"/>
          <p:nvPr/>
        </p:nvSpPr>
        <p:spPr>
          <a:xfrm>
            <a:off x="2040499" y="1530839"/>
            <a:ext cx="2603732" cy="203735"/>
          </a:xfrm>
          <a:prstGeom prst="rect">
            <a:avLst/>
          </a:prstGeom>
          <a:noFill/>
          <a:ln>
            <a:noFill/>
          </a:ln>
        </p:spPr>
        <p:txBody>
          <a:bodyPr anchorCtr="0" anchor="t" bIns="0" lIns="0" spcFirstLastPara="1" rIns="0" wrap="square" tIns="13725">
            <a:spAutoFit/>
          </a:bodyPr>
          <a:lstStyle/>
          <a:p>
            <a:pPr indent="2892"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QA &amp; INSPECTION CIRCLE KL 	</a:t>
            </a:r>
            <a:endParaRPr b="0" i="0" sz="1253"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1"/>
          <p:cNvSpPr txBox="1"/>
          <p:nvPr/>
        </p:nvSpPr>
        <p:spPr>
          <a:xfrm>
            <a:off x="2712180" y="2254067"/>
            <a:ext cx="5353562" cy="1449266"/>
          </a:xfrm>
          <a:prstGeom prst="rect">
            <a:avLst/>
          </a:prstGeom>
          <a:noFill/>
          <a:ln>
            <a:noFill/>
          </a:ln>
        </p:spPr>
        <p:txBody>
          <a:bodyPr anchorCtr="0" anchor="t" bIns="0" lIns="0" spcFirstLastPara="1" rIns="0" wrap="square" tIns="25150">
            <a:spAutoFit/>
          </a:bodyPr>
          <a:lstStyle/>
          <a:p>
            <a:pPr indent="-6803" lvl="0" marL="72104" marR="10883" rtl="0" algn="l">
              <a:lnSpc>
                <a:spcPct val="115436"/>
              </a:lnSpc>
              <a:spcBef>
                <a:spcPts val="0"/>
              </a:spcBef>
              <a:spcAft>
                <a:spcPts val="0"/>
              </a:spcAft>
              <a:buClr>
                <a:srgbClr val="000000"/>
              </a:buClr>
              <a:buSzPts val="1179"/>
              <a:buFont typeface="Arial"/>
              <a:buNone/>
            </a:pPr>
            <a:r>
              <a:rPr b="0" i="0" lang="en-US" sz="1179" u="none" cap="none" strike="noStrike">
                <a:solidFill>
                  <a:schemeClr val="dk1"/>
                </a:solidFill>
                <a:latin typeface="Arial"/>
                <a:ea typeface="Arial"/>
                <a:cs typeface="Arial"/>
                <a:sym typeface="Arial"/>
              </a:rPr>
              <a:t>Test results as per QA &amp; Inspection Circle latest test schedule (In case infra provided by vender).</a:t>
            </a:r>
            <a:endParaRPr b="0" i="0" sz="1179" u="none" cap="none" strike="noStrike">
              <a:solidFill>
                <a:schemeClr val="dk1"/>
              </a:solidFill>
              <a:latin typeface="Arial"/>
              <a:ea typeface="Arial"/>
              <a:cs typeface="Arial"/>
              <a:sym typeface="Arial"/>
            </a:endParaRPr>
          </a:p>
          <a:p>
            <a:pPr indent="0" lvl="0" marL="0" marR="0" rtl="0" algn="l">
              <a:lnSpc>
                <a:spcPct val="100000"/>
              </a:lnSpc>
              <a:spcBef>
                <a:spcPts val="595"/>
              </a:spcBef>
              <a:spcAft>
                <a:spcPts val="0"/>
              </a:spcAft>
              <a:buClr>
                <a:srgbClr val="000000"/>
              </a:buClr>
              <a:buSzPts val="1179"/>
              <a:buFont typeface="Arial"/>
              <a:buNone/>
            </a:pPr>
            <a:r>
              <a:t/>
            </a:r>
            <a:endParaRPr b="0" i="0" sz="1179" u="none" cap="none" strike="noStrike">
              <a:solidFill>
                <a:schemeClr val="dk1"/>
              </a:solidFill>
              <a:latin typeface="Arial"/>
              <a:ea typeface="Arial"/>
              <a:cs typeface="Arial"/>
              <a:sym typeface="Arial"/>
            </a:endParaRPr>
          </a:p>
          <a:p>
            <a:pPr indent="-6803" lvl="0" marL="72104" marR="5442" rtl="0" algn="l">
              <a:lnSpc>
                <a:spcPct val="100000"/>
              </a:lnSpc>
              <a:spcBef>
                <a:spcPts val="0"/>
              </a:spcBef>
              <a:spcAft>
                <a:spcPts val="0"/>
              </a:spcAft>
              <a:buClr>
                <a:srgbClr val="000000"/>
              </a:buClr>
              <a:buSzPts val="1179"/>
              <a:buFont typeface="Arial"/>
              <a:buNone/>
            </a:pPr>
            <a:r>
              <a:rPr b="0" i="0" lang="en-US" sz="1179" u="none" cap="none" strike="noStrike">
                <a:solidFill>
                  <a:schemeClr val="dk1"/>
                </a:solidFill>
                <a:latin typeface="Arial"/>
                <a:ea typeface="Arial"/>
                <a:cs typeface="Arial"/>
                <a:sym typeface="Arial"/>
              </a:rPr>
              <a:t>For BSNL deliverables, BSNL has to submit a sufficiency certificate for existing infra and in case of new infra, it has to be tested as per approved test schedule.</a:t>
            </a:r>
            <a:endParaRPr b="0" i="0" sz="1179" u="none" cap="none" strike="noStrike">
              <a:solidFill>
                <a:schemeClr val="dk1"/>
              </a:solidFill>
              <a:latin typeface="Arial"/>
              <a:ea typeface="Arial"/>
              <a:cs typeface="Arial"/>
              <a:sym typeface="Arial"/>
            </a:endParaRPr>
          </a:p>
          <a:p>
            <a:pPr indent="0" lvl="0" marL="0" marR="0" rtl="0" algn="l">
              <a:lnSpc>
                <a:spcPct val="100000"/>
              </a:lnSpc>
              <a:spcBef>
                <a:spcPts val="518"/>
              </a:spcBef>
              <a:spcAft>
                <a:spcPts val="0"/>
              </a:spcAft>
              <a:buClr>
                <a:srgbClr val="000000"/>
              </a:buClr>
              <a:buSzPts val="1179"/>
              <a:buFont typeface="Arial"/>
              <a:buNone/>
            </a:pPr>
            <a:r>
              <a:t/>
            </a:r>
            <a:endParaRPr b="0" i="0" sz="1179" u="none" cap="none" strike="noStrike">
              <a:solidFill>
                <a:schemeClr val="dk1"/>
              </a:solidFill>
              <a:latin typeface="Arial"/>
              <a:ea typeface="Arial"/>
              <a:cs typeface="Arial"/>
              <a:sym typeface="Arial"/>
            </a:endParaRPr>
          </a:p>
          <a:p>
            <a:pPr indent="0" lvl="0" marL="13603" marR="0" rtl="0" algn="l">
              <a:lnSpc>
                <a:spcPct val="100000"/>
              </a:lnSpc>
              <a:spcBef>
                <a:spcPts val="0"/>
              </a:spcBef>
              <a:spcAft>
                <a:spcPts val="0"/>
              </a:spcAft>
              <a:buClr>
                <a:srgbClr val="000000"/>
              </a:buClr>
              <a:buSzPts val="1286"/>
              <a:buFont typeface="Arial"/>
              <a:buNone/>
            </a:pPr>
            <a:r>
              <a:rPr b="1" i="0" lang="en-US" sz="1286" u="none" cap="none" strike="noStrike">
                <a:solidFill>
                  <a:schemeClr val="dk1"/>
                </a:solidFill>
                <a:latin typeface="Arial"/>
                <a:ea typeface="Arial"/>
                <a:cs typeface="Arial"/>
                <a:sym typeface="Arial"/>
              </a:rPr>
              <a:t>PART – A: INFRASTRUCTURE TEST</a:t>
            </a:r>
            <a:endParaRPr b="0" i="0" sz="1286" u="none" cap="none" strike="noStrike">
              <a:solidFill>
                <a:schemeClr val="dk1"/>
              </a:solidFill>
              <a:latin typeface="Arial"/>
              <a:ea typeface="Arial"/>
              <a:cs typeface="Arial"/>
              <a:sym typeface="Arial"/>
            </a:endParaRPr>
          </a:p>
        </p:txBody>
      </p:sp>
      <p:pic>
        <p:nvPicPr>
          <p:cNvPr id="87" name="Google Shape;87;p11"/>
          <p:cNvPicPr preferRelativeResize="0"/>
          <p:nvPr/>
        </p:nvPicPr>
        <p:blipFill rotWithShape="1">
          <a:blip r:embed="rId3">
            <a:alphaModFix/>
          </a:blip>
          <a:srcRect b="0" l="0" r="0" t="0"/>
          <a:stretch/>
        </p:blipFill>
        <p:spPr>
          <a:xfrm>
            <a:off x="6070926" y="10168498"/>
            <a:ext cx="195911" cy="199177"/>
          </a:xfrm>
          <a:prstGeom prst="rect">
            <a:avLst/>
          </a:prstGeom>
          <a:noFill/>
          <a:ln>
            <a:noFill/>
          </a:ln>
        </p:spPr>
      </p:pic>
      <p:graphicFrame>
        <p:nvGraphicFramePr>
          <p:cNvPr id="88" name="Google Shape;88;p11"/>
          <p:cNvGraphicFramePr/>
          <p:nvPr/>
        </p:nvGraphicFramePr>
        <p:xfrm>
          <a:off x="2725786" y="3930337"/>
          <a:ext cx="3000000" cy="3000000"/>
        </p:xfrm>
        <a:graphic>
          <a:graphicData uri="http://schemas.openxmlformats.org/drawingml/2006/table">
            <a:tbl>
              <a:tblPr bandRow="1" firstRow="1">
                <a:noFill/>
                <a:tableStyleId>{6E646390-14D1-40E7-8574-0D387628F5A2}</a:tableStyleId>
              </a:tblPr>
              <a:tblGrid>
                <a:gridCol w="427875"/>
                <a:gridCol w="2083600"/>
                <a:gridCol w="2097250"/>
                <a:gridCol w="1916900"/>
              </a:tblGrid>
              <a:tr h="590450">
                <a:tc>
                  <a:txBody>
                    <a:bodyPr/>
                    <a:lstStyle/>
                    <a:p>
                      <a:pPr indent="0" lvl="0" marL="0" marR="37465" rtl="0" algn="ctr">
                        <a:lnSpc>
                          <a:spcPct val="100000"/>
                        </a:lnSpc>
                        <a:spcBef>
                          <a:spcPts val="0"/>
                        </a:spcBef>
                        <a:spcAft>
                          <a:spcPts val="0"/>
                        </a:spcAft>
                        <a:buClr>
                          <a:srgbClr val="000000"/>
                        </a:buClr>
                        <a:buSzPts val="1100"/>
                        <a:buFont typeface="Arial"/>
                        <a:buNone/>
                      </a:pPr>
                      <a:r>
                        <a:rPr b="1" lang="en-US" sz="1100" u="none" cap="none" strike="noStrike">
                          <a:latin typeface="Arial"/>
                          <a:ea typeface="Arial"/>
                          <a:cs typeface="Arial"/>
                          <a:sym typeface="Arial"/>
                        </a:rPr>
                        <a:t>S.No</a:t>
                      </a:r>
                      <a:endParaRPr sz="1100" u="none" cap="none" strike="noStrike">
                        <a:latin typeface="Arial"/>
                        <a:ea typeface="Arial"/>
                        <a:cs typeface="Arial"/>
                        <a:sym typeface="Arial"/>
                      </a:endParaRPr>
                    </a:p>
                  </a:txBody>
                  <a:tcPr marT="462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85090" marR="0" rtl="0" algn="l">
                        <a:lnSpc>
                          <a:spcPct val="100000"/>
                        </a:lnSpc>
                        <a:spcBef>
                          <a:spcPts val="0"/>
                        </a:spcBef>
                        <a:spcAft>
                          <a:spcPts val="0"/>
                        </a:spcAft>
                        <a:buClr>
                          <a:srgbClr val="000000"/>
                        </a:buClr>
                        <a:buSzPts val="1100"/>
                        <a:buFont typeface="Arial"/>
                        <a:buNone/>
                      </a:pPr>
                      <a:r>
                        <a:rPr b="1" lang="en-US" sz="1100" u="none" cap="none" strike="noStrike">
                          <a:latin typeface="Arial"/>
                          <a:ea typeface="Arial"/>
                          <a:cs typeface="Arial"/>
                          <a:sym typeface="Arial"/>
                        </a:rPr>
                        <a:t>TEST DESCRIPTION</a:t>
                      </a:r>
                      <a:endParaRPr sz="1100" u="none" cap="none" strike="noStrike">
                        <a:latin typeface="Arial"/>
                        <a:ea typeface="Arial"/>
                        <a:cs typeface="Arial"/>
                        <a:sym typeface="Arial"/>
                      </a:endParaRPr>
                    </a:p>
                  </a:txBody>
                  <a:tcPr marT="462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88265" marR="0" rtl="0" algn="l">
                        <a:lnSpc>
                          <a:spcPct val="100000"/>
                        </a:lnSpc>
                        <a:spcBef>
                          <a:spcPts val="0"/>
                        </a:spcBef>
                        <a:spcAft>
                          <a:spcPts val="0"/>
                        </a:spcAft>
                        <a:buClr>
                          <a:srgbClr val="000000"/>
                        </a:buClr>
                        <a:buSzPts val="1100"/>
                        <a:buFont typeface="Arial"/>
                        <a:buNone/>
                      </a:pPr>
                      <a:r>
                        <a:rPr b="1" lang="en-US" sz="1100" u="none" cap="none" strike="noStrike">
                          <a:latin typeface="Arial"/>
                          <a:ea typeface="Arial"/>
                          <a:cs typeface="Arial"/>
                          <a:sym typeface="Arial"/>
                        </a:rPr>
                        <a:t>REFERENCE</a:t>
                      </a:r>
                      <a:endParaRPr sz="1100" u="none" cap="none" strike="noStrike">
                        <a:latin typeface="Arial"/>
                        <a:ea typeface="Arial"/>
                        <a:cs typeface="Arial"/>
                        <a:sym typeface="Arial"/>
                      </a:endParaRPr>
                    </a:p>
                    <a:p>
                      <a:pPr indent="0" lvl="0" marL="88265" marR="0" rtl="0" algn="l">
                        <a:lnSpc>
                          <a:spcPct val="100000"/>
                        </a:lnSpc>
                        <a:spcBef>
                          <a:spcPts val="240"/>
                        </a:spcBef>
                        <a:spcAft>
                          <a:spcPts val="0"/>
                        </a:spcAft>
                        <a:buClr>
                          <a:srgbClr val="000000"/>
                        </a:buClr>
                        <a:buSzPts val="1100"/>
                        <a:buFont typeface="Arial"/>
                        <a:buNone/>
                      </a:pPr>
                      <a:r>
                        <a:rPr b="1" lang="en-US" sz="1100" u="none" cap="none" strike="noStrike">
                          <a:latin typeface="Arial"/>
                          <a:ea typeface="Arial"/>
                          <a:cs typeface="Arial"/>
                          <a:sym typeface="Arial"/>
                        </a:rPr>
                        <a:t>/ PROCEDURE</a:t>
                      </a:r>
                      <a:endParaRPr sz="1100" u="none" cap="none" strike="noStrike">
                        <a:latin typeface="Arial"/>
                        <a:ea typeface="Arial"/>
                        <a:cs typeface="Arial"/>
                        <a:sym typeface="Arial"/>
                      </a:endParaRPr>
                    </a:p>
                  </a:txBody>
                  <a:tcPr marT="489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93980" marR="0" rtl="0" algn="l">
                        <a:lnSpc>
                          <a:spcPct val="100000"/>
                        </a:lnSpc>
                        <a:spcBef>
                          <a:spcPts val="0"/>
                        </a:spcBef>
                        <a:spcAft>
                          <a:spcPts val="0"/>
                        </a:spcAft>
                        <a:buClr>
                          <a:srgbClr val="000000"/>
                        </a:buClr>
                        <a:buSzPts val="1100"/>
                        <a:buFont typeface="Arial"/>
                        <a:buNone/>
                      </a:pPr>
                      <a:r>
                        <a:rPr b="1" lang="en-US" sz="1100" u="none" cap="none" strike="noStrike">
                          <a:latin typeface="Arial"/>
                          <a:ea typeface="Arial"/>
                          <a:cs typeface="Arial"/>
                          <a:sym typeface="Arial"/>
                        </a:rPr>
                        <a:t>REMARK</a:t>
                      </a:r>
                      <a:endParaRPr sz="1100" u="none" cap="none" strike="noStrike">
                        <a:latin typeface="Arial"/>
                        <a:ea typeface="Arial"/>
                        <a:cs typeface="Arial"/>
                        <a:sym typeface="Arial"/>
                      </a:endParaRPr>
                    </a:p>
                  </a:txBody>
                  <a:tcPr marT="462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12225">
                <a:tc>
                  <a:txBody>
                    <a:bodyPr/>
                    <a:lstStyle/>
                    <a:p>
                      <a:pPr indent="0" lvl="0" marL="7620" marR="0" rtl="0" algn="ctr">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1</a:t>
                      </a:r>
                      <a:endParaRPr sz="1100" u="none" cap="none" strike="noStrike">
                        <a:latin typeface="Arial"/>
                        <a:ea typeface="Arial"/>
                        <a:cs typeface="Arial"/>
                        <a:sym typeface="Arial"/>
                      </a:endParaRPr>
                    </a:p>
                  </a:txBody>
                  <a:tcPr marT="489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09220"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Check of documentation.</a:t>
                      </a:r>
                      <a:endParaRPr sz="1100" u="none" cap="none" strike="noStrike">
                        <a:latin typeface="Arial"/>
                        <a:ea typeface="Arial"/>
                        <a:cs typeface="Arial"/>
                        <a:sym typeface="Arial"/>
                      </a:endParaRPr>
                    </a:p>
                  </a:txBody>
                  <a:tcPr marT="489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88265"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Hard/Soft copy as per PO.</a:t>
                      </a:r>
                      <a:endParaRPr sz="1100" u="none" cap="none" strike="noStrike">
                        <a:latin typeface="Arial"/>
                        <a:ea typeface="Arial"/>
                        <a:cs typeface="Arial"/>
                        <a:sym typeface="Arial"/>
                      </a:endParaRPr>
                    </a:p>
                  </a:txBody>
                  <a:tcPr marT="489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0922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NA</a:t>
                      </a:r>
                      <a:endParaRPr sz="1000" u="none" cap="none" strike="noStrike">
                        <a:latin typeface="Arial"/>
                        <a:ea typeface="Arial"/>
                        <a:cs typeface="Arial"/>
                        <a:sym typeface="Arial"/>
                      </a:endParaRPr>
                    </a:p>
                  </a:txBody>
                  <a:tcPr marT="496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4525">
                <a:tc>
                  <a:txBody>
                    <a:bodyPr/>
                    <a:lstStyle/>
                    <a:p>
                      <a:pPr indent="0" lvl="0" marL="7620" marR="0" rtl="0" algn="ctr">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2</a:t>
                      </a:r>
                      <a:endParaRPr sz="1100" u="none" cap="none" strike="noStrike">
                        <a:latin typeface="Arial"/>
                        <a:ea typeface="Arial"/>
                        <a:cs typeface="Arial"/>
                        <a:sym typeface="Arial"/>
                      </a:endParaRPr>
                    </a:p>
                  </a:txBody>
                  <a:tcPr marT="496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09220"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Check QA certificate.</a:t>
                      </a:r>
                      <a:endParaRPr sz="1100" u="none" cap="none" strike="noStrike">
                        <a:latin typeface="Arial"/>
                        <a:ea typeface="Arial"/>
                        <a:cs typeface="Arial"/>
                        <a:sym typeface="Arial"/>
                      </a:endParaRPr>
                    </a:p>
                  </a:txBody>
                  <a:tcPr marT="496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88265" marR="74930" rtl="0" algn="just">
                        <a:lnSpc>
                          <a:spcPct val="1048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QA   certificate   to   be submitted. BBU, RRH and ODC serial no. as per release report.</a:t>
                      </a:r>
                      <a:endParaRPr sz="1100" u="none" cap="none" strike="noStrike">
                        <a:latin typeface="Arial"/>
                        <a:ea typeface="Arial"/>
                        <a:cs typeface="Arial"/>
                        <a:sym typeface="Arial"/>
                      </a:endParaRPr>
                    </a:p>
                  </a:txBody>
                  <a:tcPr marT="442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AA-4224-17-02JU 0-AA-4324-40-04BQ BD-4124-29-1781</a:t>
                      </a:r>
                      <a:endParaRPr sz="1400" u="none" cap="none" strike="noStrike"/>
                    </a:p>
                  </a:txBody>
                  <a:tcPr marT="455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034225">
                <a:tc>
                  <a:txBody>
                    <a:bodyPr/>
                    <a:lstStyle/>
                    <a:p>
                      <a:pPr indent="0" lvl="0" marL="7620" marR="0" rtl="0" algn="ctr">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3</a:t>
                      </a:r>
                      <a:endParaRPr sz="1100" u="none" cap="none" strike="noStrike">
                        <a:latin typeface="Arial"/>
                        <a:ea typeface="Arial"/>
                        <a:cs typeface="Arial"/>
                        <a:sym typeface="Arial"/>
                      </a:endParaRPr>
                    </a:p>
                  </a:txBody>
                  <a:tcPr marT="489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30810"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Location,	Alignment	&amp;</a:t>
                      </a:r>
                      <a:endParaRPr sz="1100" u="none" cap="none" strike="noStrike">
                        <a:latin typeface="Arial"/>
                        <a:ea typeface="Arial"/>
                        <a:cs typeface="Arial"/>
                        <a:sym typeface="Arial"/>
                      </a:endParaRPr>
                    </a:p>
                    <a:p>
                      <a:pPr indent="0" lvl="0" marL="127635" marR="0" rtl="0" algn="l">
                        <a:lnSpc>
                          <a:spcPct val="100000"/>
                        </a:lnSpc>
                        <a:spcBef>
                          <a:spcPts val="990"/>
                        </a:spcBef>
                        <a:spcAft>
                          <a:spcPts val="0"/>
                        </a:spcAft>
                        <a:buClr>
                          <a:srgbClr val="000000"/>
                        </a:buClr>
                        <a:buSzPts val="1100"/>
                        <a:buFont typeface="Arial"/>
                        <a:buNone/>
                      </a:pPr>
                      <a:r>
                        <a:rPr lang="en-US" sz="1100" u="none" cap="none" strike="noStrike">
                          <a:latin typeface="Arial"/>
                          <a:ea typeface="Arial"/>
                          <a:cs typeface="Arial"/>
                          <a:sym typeface="Arial"/>
                        </a:rPr>
                        <a:t>Rigidity (LAR).</a:t>
                      </a:r>
                      <a:endParaRPr sz="1100" u="none" cap="none" strike="noStrike">
                        <a:latin typeface="Arial"/>
                        <a:ea typeface="Arial"/>
                        <a:cs typeface="Arial"/>
                        <a:sym typeface="Arial"/>
                      </a:endParaRPr>
                    </a:p>
                  </a:txBody>
                  <a:tcPr marT="489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88265"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As per approved plan.</a:t>
                      </a:r>
                      <a:endParaRPr sz="1100" u="none" cap="none" strike="noStrike">
                        <a:latin typeface="Arial"/>
                        <a:ea typeface="Arial"/>
                        <a:cs typeface="Arial"/>
                        <a:sym typeface="Arial"/>
                      </a:endParaRPr>
                    </a:p>
                  </a:txBody>
                  <a:tcPr marT="489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11.99473199 75.4560 2767</a:t>
                      </a:r>
                      <a:endParaRPr sz="1400" u="none" cap="none" strike="noStrike"/>
                    </a:p>
                  </a:txBody>
                  <a:tcPr marT="449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36025">
                <a:tc>
                  <a:txBody>
                    <a:bodyPr/>
                    <a:lstStyle/>
                    <a:p>
                      <a:pPr indent="0" lvl="0" marL="7620" marR="0" rtl="0" algn="ctr">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4</a:t>
                      </a:r>
                      <a:endParaRPr sz="1100" u="none" cap="none" strike="noStrike">
                        <a:latin typeface="Arial"/>
                        <a:ea typeface="Arial"/>
                        <a:cs typeface="Arial"/>
                        <a:sym typeface="Arial"/>
                      </a:endParaRPr>
                    </a:p>
                  </a:txBody>
                  <a:tcPr marT="489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09220" marR="76200" rtl="0" algn="just">
                        <a:lnSpc>
                          <a:spcPct val="105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Check for protection from lightning  /accidental  high voltage/ induced high power for power plant and outdoor eNode-B.</a:t>
                      </a:r>
                      <a:endParaRPr sz="1100" u="none" cap="none" strike="noStrike">
                        <a:latin typeface="Arial"/>
                        <a:ea typeface="Arial"/>
                        <a:cs typeface="Arial"/>
                        <a:sym typeface="Arial"/>
                      </a:endParaRPr>
                    </a:p>
                  </a:txBody>
                  <a:tcPr marT="435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09854" marR="74930" rtl="0" algn="l">
                        <a:lnSpc>
                          <a:spcPct val="1036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Lightning	protector	earth continuity should be checked.</a:t>
                      </a:r>
                      <a:endParaRPr sz="1100" u="none" cap="none" strike="noStrike">
                        <a:latin typeface="Arial"/>
                        <a:ea typeface="Arial"/>
                        <a:cs typeface="Arial"/>
                        <a:sym typeface="Arial"/>
                      </a:endParaRPr>
                    </a:p>
                  </a:txBody>
                  <a:tcPr marT="462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91440" marR="142240" rtl="0" algn="l">
                        <a:lnSpc>
                          <a:spcPct val="1049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Protection- OK Lightening Arrester to earth and equipment’s earth continuity checked</a:t>
                      </a:r>
                      <a:endParaRPr sz="1100" u="none" cap="none" strike="noStrike">
                        <a:latin typeface="Arial"/>
                        <a:ea typeface="Arial"/>
                        <a:cs typeface="Arial"/>
                        <a:sym typeface="Arial"/>
                      </a:endParaRPr>
                    </a:p>
                  </a:txBody>
                  <a:tcPr marT="435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64600">
                <a:tc>
                  <a:txBody>
                    <a:bodyPr/>
                    <a:lstStyle/>
                    <a:p>
                      <a:pPr indent="0" lvl="0" marL="7620" marR="0" rtl="0" algn="ctr">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5</a:t>
                      </a:r>
                      <a:endParaRPr sz="1100" u="none" cap="none" strike="noStrike">
                        <a:latin typeface="Arial"/>
                        <a:ea typeface="Arial"/>
                        <a:cs typeface="Arial"/>
                        <a:sym typeface="Arial"/>
                      </a:endParaRPr>
                    </a:p>
                  </a:txBody>
                  <a:tcPr marT="489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09220" marR="2540" rtl="0" algn="l">
                        <a:lnSpc>
                          <a:spcPct val="1036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Check the electrical tilt of the antenna.</a:t>
                      </a:r>
                      <a:endParaRPr sz="1100" u="none" cap="none" strike="noStrike">
                        <a:latin typeface="Arial"/>
                        <a:ea typeface="Arial"/>
                        <a:cs typeface="Arial"/>
                        <a:sym typeface="Arial"/>
                      </a:endParaRPr>
                    </a:p>
                  </a:txBody>
                  <a:tcPr marT="462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81915" marR="0" rtl="0" algn="ctr">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Yes</a:t>
                      </a:r>
                      <a:endParaRPr sz="1100" u="none" cap="none" strike="noStrike">
                        <a:latin typeface="Arial"/>
                        <a:ea typeface="Arial"/>
                        <a:cs typeface="Arial"/>
                        <a:sym typeface="Arial"/>
                      </a:endParaRPr>
                    </a:p>
                  </a:txBody>
                  <a:tcPr marT="489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OK</a:t>
                      </a:r>
                      <a:endParaRPr sz="1000" u="none" cap="none" strike="noStrike">
                        <a:latin typeface="Arial"/>
                        <a:ea typeface="Arial"/>
                        <a:cs typeface="Arial"/>
                        <a:sym typeface="Arial"/>
                      </a:endParaRPr>
                    </a:p>
                  </a:txBody>
                  <a:tcPr marT="496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19675">
                <a:tc>
                  <a:txBody>
                    <a:bodyPr/>
                    <a:lstStyle/>
                    <a:p>
                      <a:pPr indent="0" lvl="0" marL="7620" marR="0" rtl="0" algn="ctr">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6</a:t>
                      </a:r>
                      <a:endParaRPr sz="1100" u="none" cap="none" strike="noStrike">
                        <a:latin typeface="Arial"/>
                        <a:ea typeface="Arial"/>
                        <a:cs typeface="Arial"/>
                        <a:sym typeface="Arial"/>
                      </a:endParaRPr>
                    </a:p>
                  </a:txBody>
                  <a:tcPr marT="496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18745" marR="78105" rtl="0" algn="just">
                        <a:lnSpc>
                          <a:spcPct val="964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Check for site Earthing and connectivity with BBU and RRH etc.</a:t>
                      </a:r>
                      <a:endParaRPr sz="1100" u="none" cap="none" strike="noStrike">
                        <a:latin typeface="Arial"/>
                        <a:ea typeface="Arial"/>
                        <a:cs typeface="Arial"/>
                        <a:sym typeface="Arial"/>
                      </a:endParaRPr>
                    </a:p>
                  </a:txBody>
                  <a:tcPr marT="557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88265" marR="71120" rtl="0" algn="just">
                        <a:lnSpc>
                          <a:spcPct val="1068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Use Megger for measuring the earth’s resistance value. The  value  of  earth  to  be measured and the same shall be indicated irrespective of whether  the  earth  was provided by the supplier or not.  Earth resistance value should be   .5 Ohm.</a:t>
                      </a:r>
                      <a:endParaRPr sz="1100" u="none" cap="none" strike="noStrike">
                        <a:latin typeface="Arial"/>
                        <a:ea typeface="Arial"/>
                        <a:cs typeface="Arial"/>
                        <a:sym typeface="Arial"/>
                      </a:endParaRPr>
                    </a:p>
                  </a:txBody>
                  <a:tcPr marT="401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97155" lvl="0" marL="0" marR="259715" rtl="0" algn="l">
                        <a:lnSpc>
                          <a:spcPct val="1047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Tested Earth value = 0.3 Ohms and Equipment’s, tower earth Continuity checked Ok.</a:t>
                      </a:r>
                      <a:endParaRPr sz="1000" u="none" cap="none" strike="noStrike">
                        <a:latin typeface="Arial"/>
                        <a:ea typeface="Arial"/>
                        <a:cs typeface="Arial"/>
                        <a:sym typeface="Arial"/>
                      </a:endParaRPr>
                    </a:p>
                  </a:txBody>
                  <a:tcPr marT="455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89" name="Google Shape;89;p11"/>
          <p:cNvSpPr txBox="1"/>
          <p:nvPr>
            <p:ph idx="11" type="ftr"/>
          </p:nvPr>
        </p:nvSpPr>
        <p:spPr>
          <a:xfrm>
            <a:off x="2248781" y="11446613"/>
            <a:ext cx="1915019" cy="192810"/>
          </a:xfrm>
          <a:prstGeom prst="rect">
            <a:avLst/>
          </a:prstGeom>
          <a:noFill/>
          <a:ln>
            <a:noFill/>
          </a:ln>
        </p:spPr>
        <p:txBody>
          <a:bodyPr anchorCtr="0" anchor="t" bIns="0" lIns="0" spcFirstLastPara="1" rIns="0" wrap="square" tIns="0">
            <a:spAutoFit/>
          </a:bodyPr>
          <a:lstStyle/>
          <a:p>
            <a:pPr indent="0" lvl="0" marL="14464" rtl="0" algn="l">
              <a:lnSpc>
                <a:spcPct val="100000"/>
              </a:lnSpc>
              <a:spcBef>
                <a:spcPts val="0"/>
              </a:spcBef>
              <a:spcAft>
                <a:spcPts val="0"/>
              </a:spcAft>
              <a:buSzPts val="1400"/>
              <a:buNone/>
            </a:pPr>
            <a:r>
              <a:rPr lang="en-US"/>
              <a:t>QAIN-11/31(14)/1/2023-CM</a:t>
            </a:r>
            <a:endParaRPr/>
          </a:p>
        </p:txBody>
      </p:sp>
      <p:sp>
        <p:nvSpPr>
          <p:cNvPr id="90" name="Google Shape;90;p11"/>
          <p:cNvSpPr txBox="1"/>
          <p:nvPr/>
        </p:nvSpPr>
        <p:spPr>
          <a:xfrm>
            <a:off x="2040499" y="1530839"/>
            <a:ext cx="2603732" cy="203735"/>
          </a:xfrm>
          <a:prstGeom prst="rect">
            <a:avLst/>
          </a:prstGeom>
          <a:noFill/>
          <a:ln>
            <a:noFill/>
          </a:ln>
        </p:spPr>
        <p:txBody>
          <a:bodyPr anchorCtr="0" anchor="t" bIns="0" lIns="0" spcFirstLastPara="1" rIns="0" wrap="square" tIns="13725">
            <a:spAutoFit/>
          </a:bodyPr>
          <a:lstStyle/>
          <a:p>
            <a:pPr indent="2892"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QA &amp; INSPECTION CIRCLE KL 	</a:t>
            </a:r>
            <a:endParaRPr b="0" i="0" sz="1253" u="none" cap="none" strike="noStrike">
              <a:solidFill>
                <a:schemeClr val="dk1"/>
              </a:solidFill>
              <a:latin typeface="Arial"/>
              <a:ea typeface="Arial"/>
              <a:cs typeface="Arial"/>
              <a:sym typeface="Arial"/>
            </a:endParaRPr>
          </a:p>
        </p:txBody>
      </p:sp>
      <p:sp>
        <p:nvSpPr>
          <p:cNvPr id="91" name="Google Shape;91;p11"/>
          <p:cNvSpPr txBox="1"/>
          <p:nvPr/>
        </p:nvSpPr>
        <p:spPr>
          <a:xfrm>
            <a:off x="7238764" y="1574232"/>
            <a:ext cx="1833298" cy="408086"/>
          </a:xfrm>
          <a:prstGeom prst="rect">
            <a:avLst/>
          </a:prstGeom>
          <a:noFill/>
          <a:ln>
            <a:noFill/>
          </a:ln>
        </p:spPr>
        <p:txBody>
          <a:bodyPr anchorCtr="0" anchor="t" bIns="0" lIns="0" spcFirstLastPara="1" rIns="0" wrap="square" tIns="13725">
            <a:spAutoFit/>
          </a:bodyPr>
          <a:lstStyle/>
          <a:p>
            <a:pPr indent="701487"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4G PHASE IX.2  eNode-B A/T SCHEDULE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2"/>
          <p:cNvSpPr txBox="1"/>
          <p:nvPr/>
        </p:nvSpPr>
        <p:spPr>
          <a:xfrm>
            <a:off x="2764422" y="2463040"/>
            <a:ext cx="3774704" cy="195198"/>
          </a:xfrm>
          <a:prstGeom prst="rect">
            <a:avLst/>
          </a:prstGeom>
          <a:noFill/>
          <a:ln>
            <a:noFill/>
          </a:ln>
        </p:spPr>
        <p:txBody>
          <a:bodyPr anchorCtr="0" anchor="t" bIns="0" lIns="0" spcFirstLastPara="1" rIns="0" wrap="square" tIns="13600">
            <a:spAutoFit/>
          </a:bodyPr>
          <a:lstStyle/>
          <a:p>
            <a:pPr indent="0" lvl="0" marL="13603" marR="0" rtl="0" algn="l">
              <a:lnSpc>
                <a:spcPct val="100000"/>
              </a:lnSpc>
              <a:spcBef>
                <a:spcPts val="0"/>
              </a:spcBef>
              <a:spcAft>
                <a:spcPts val="0"/>
              </a:spcAft>
              <a:buClr>
                <a:srgbClr val="000000"/>
              </a:buClr>
              <a:buSzPts val="1179"/>
              <a:buFont typeface="Arial"/>
              <a:buNone/>
            </a:pPr>
            <a:r>
              <a:rPr b="0" i="0" lang="en-US" sz="1179" u="none" cap="none" strike="noStrike">
                <a:solidFill>
                  <a:schemeClr val="dk1"/>
                </a:solidFill>
                <a:latin typeface="Arial"/>
                <a:ea typeface="Arial"/>
                <a:cs typeface="Arial"/>
                <a:sym typeface="Arial"/>
              </a:rPr>
              <a:t>1. </a:t>
            </a:r>
            <a:r>
              <a:rPr b="1" i="0" lang="en-US" sz="1179" u="none" cap="none" strike="noStrike">
                <a:solidFill>
                  <a:schemeClr val="dk1"/>
                </a:solidFill>
                <a:latin typeface="Arial"/>
                <a:ea typeface="Arial"/>
                <a:cs typeface="Arial"/>
                <a:sym typeface="Arial"/>
              </a:rPr>
              <a:t>System Related Test: (As per planning document)</a:t>
            </a:r>
            <a:endParaRPr b="0" i="0" sz="1179" u="none" cap="none" strike="noStrike">
              <a:solidFill>
                <a:schemeClr val="dk1"/>
              </a:solidFill>
              <a:latin typeface="Arial"/>
              <a:ea typeface="Arial"/>
              <a:cs typeface="Arial"/>
              <a:sym typeface="Arial"/>
            </a:endParaRPr>
          </a:p>
        </p:txBody>
      </p:sp>
      <p:graphicFrame>
        <p:nvGraphicFramePr>
          <p:cNvPr id="97" name="Google Shape;97;p12"/>
          <p:cNvGraphicFramePr/>
          <p:nvPr/>
        </p:nvGraphicFramePr>
        <p:xfrm>
          <a:off x="2138485" y="2751983"/>
          <a:ext cx="3000000" cy="3000000"/>
        </p:xfrm>
        <a:graphic>
          <a:graphicData uri="http://schemas.openxmlformats.org/drawingml/2006/table">
            <a:tbl>
              <a:tblPr bandRow="1" firstRow="1">
                <a:noFill/>
                <a:tableStyleId>{6E646390-14D1-40E7-8574-0D387628F5A2}</a:tableStyleId>
              </a:tblPr>
              <a:tblGrid>
                <a:gridCol w="1038750"/>
                <a:gridCol w="2329175"/>
                <a:gridCol w="1891100"/>
                <a:gridCol w="1665925"/>
              </a:tblGrid>
              <a:tr h="337250">
                <a:tc>
                  <a:txBody>
                    <a:bodyPr/>
                    <a:lstStyle/>
                    <a:p>
                      <a:pPr indent="0" lvl="0" marL="5715" marR="0" rtl="0" algn="l">
                        <a:lnSpc>
                          <a:spcPct val="100000"/>
                        </a:lnSpc>
                        <a:spcBef>
                          <a:spcPts val="0"/>
                        </a:spcBef>
                        <a:spcAft>
                          <a:spcPts val="0"/>
                        </a:spcAft>
                        <a:buClr>
                          <a:srgbClr val="000000"/>
                        </a:buClr>
                        <a:buSzPts val="900"/>
                        <a:buFont typeface="Arial"/>
                        <a:buNone/>
                      </a:pPr>
                      <a:r>
                        <a:rPr b="1" lang="en-US" sz="900" u="none" cap="none" strike="noStrike">
                          <a:latin typeface="Arial"/>
                          <a:ea typeface="Arial"/>
                          <a:cs typeface="Arial"/>
                          <a:sym typeface="Arial"/>
                        </a:rPr>
                        <a:t>S.No</a:t>
                      </a:r>
                      <a:endParaRPr sz="900" u="none" cap="none" strike="noStrike">
                        <a:latin typeface="Arial"/>
                        <a:ea typeface="Arial"/>
                        <a:cs typeface="Arial"/>
                        <a:sym typeface="Arial"/>
                      </a:endParaRPr>
                    </a:p>
                  </a:txBody>
                  <a:tcPr marT="1156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540" marR="0" rtl="0" algn="l">
                        <a:lnSpc>
                          <a:spcPct val="100000"/>
                        </a:lnSpc>
                        <a:spcBef>
                          <a:spcPts val="0"/>
                        </a:spcBef>
                        <a:spcAft>
                          <a:spcPts val="0"/>
                        </a:spcAft>
                        <a:buClr>
                          <a:srgbClr val="000000"/>
                        </a:buClr>
                        <a:buSzPts val="900"/>
                        <a:buFont typeface="Arial"/>
                        <a:buNone/>
                      </a:pPr>
                      <a:r>
                        <a:rPr b="1" lang="en-US" sz="900" u="none" cap="none" strike="noStrike">
                          <a:latin typeface="Arial"/>
                          <a:ea typeface="Arial"/>
                          <a:cs typeface="Arial"/>
                          <a:sym typeface="Arial"/>
                        </a:rPr>
                        <a:t>TEST DESCRIPTION</a:t>
                      </a:r>
                      <a:endParaRPr sz="900" u="none" cap="none" strike="noStrike">
                        <a:latin typeface="Arial"/>
                        <a:ea typeface="Arial"/>
                        <a:cs typeface="Arial"/>
                        <a:sym typeface="Arial"/>
                      </a:endParaRPr>
                    </a:p>
                  </a:txBody>
                  <a:tcPr marT="1156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97155" marR="0" rtl="0" algn="l">
                        <a:lnSpc>
                          <a:spcPct val="100000"/>
                        </a:lnSpc>
                        <a:spcBef>
                          <a:spcPts val="0"/>
                        </a:spcBef>
                        <a:spcAft>
                          <a:spcPts val="0"/>
                        </a:spcAft>
                        <a:buClr>
                          <a:srgbClr val="000000"/>
                        </a:buClr>
                        <a:buSzPts val="900"/>
                        <a:buFont typeface="Arial"/>
                        <a:buNone/>
                      </a:pPr>
                      <a:r>
                        <a:rPr b="1" lang="en-US" sz="900" u="none" cap="none" strike="noStrike">
                          <a:latin typeface="Arial"/>
                          <a:ea typeface="Arial"/>
                          <a:cs typeface="Arial"/>
                          <a:sym typeface="Arial"/>
                        </a:rPr>
                        <a:t>REFERENCE</a:t>
                      </a:r>
                      <a:endParaRPr sz="900" u="none" cap="none" strike="noStrike">
                        <a:latin typeface="Arial"/>
                        <a:ea typeface="Arial"/>
                        <a:cs typeface="Arial"/>
                        <a:sym typeface="Arial"/>
                      </a:endParaRPr>
                    </a:p>
                    <a:p>
                      <a:pPr indent="0" lvl="0" marL="73025" marR="0" rtl="0" algn="l">
                        <a:lnSpc>
                          <a:spcPct val="100000"/>
                        </a:lnSpc>
                        <a:spcBef>
                          <a:spcPts val="240"/>
                        </a:spcBef>
                        <a:spcAft>
                          <a:spcPts val="0"/>
                        </a:spcAft>
                        <a:buClr>
                          <a:srgbClr val="000000"/>
                        </a:buClr>
                        <a:buSzPts val="900"/>
                        <a:buFont typeface="Arial"/>
                        <a:buNone/>
                      </a:pPr>
                      <a:r>
                        <a:rPr b="1" lang="en-US" sz="900" u="none" cap="none" strike="noStrike">
                          <a:latin typeface="Arial"/>
                          <a:ea typeface="Arial"/>
                          <a:cs typeface="Arial"/>
                          <a:sym typeface="Arial"/>
                        </a:rPr>
                        <a:t>/ PROCEDURE</a:t>
                      </a:r>
                      <a:endParaRPr sz="900" u="none" cap="none" strike="noStrike">
                        <a:latin typeface="Arial"/>
                        <a:ea typeface="Arial"/>
                        <a:cs typeface="Arial"/>
                        <a:sym typeface="Arial"/>
                      </a:endParaRPr>
                    </a:p>
                  </a:txBody>
                  <a:tcPr marT="306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810" marR="0" rtl="0" algn="ctr">
                        <a:lnSpc>
                          <a:spcPct val="113222"/>
                        </a:lnSpc>
                        <a:spcBef>
                          <a:spcPts val="0"/>
                        </a:spcBef>
                        <a:spcAft>
                          <a:spcPts val="0"/>
                        </a:spcAft>
                        <a:buClr>
                          <a:srgbClr val="000000"/>
                        </a:buClr>
                        <a:buSzPts val="900"/>
                        <a:buFont typeface="Arial"/>
                        <a:buNone/>
                      </a:pPr>
                      <a:r>
                        <a:rPr b="1" lang="en-US" sz="900" u="none" cap="none" strike="noStrike">
                          <a:latin typeface="Arial"/>
                          <a:ea typeface="Arial"/>
                          <a:cs typeface="Arial"/>
                          <a:sym typeface="Arial"/>
                        </a:rPr>
                        <a:t>REMARK</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06375">
                <a:tc>
                  <a:txBody>
                    <a:bodyPr/>
                    <a:lstStyle/>
                    <a:p>
                      <a:pPr indent="0" lvl="0" marL="0" marR="0" rtl="0" algn="l">
                        <a:lnSpc>
                          <a:spcPct val="100000"/>
                        </a:lnSpc>
                        <a:spcBef>
                          <a:spcPts val="0"/>
                        </a:spcBef>
                        <a:spcAft>
                          <a:spcPts val="0"/>
                        </a:spcAft>
                        <a:buClr>
                          <a:srgbClr val="000000"/>
                        </a:buClr>
                        <a:buSzPts val="900"/>
                        <a:buFont typeface="Arial"/>
                        <a:buNone/>
                      </a:pPr>
                      <a:r>
                        <a:t/>
                      </a:r>
                      <a:endParaRPr sz="900" u="none" cap="none" strike="noStrike">
                        <a:latin typeface="Times New Roman"/>
                        <a:ea typeface="Times New Roman"/>
                        <a:cs typeface="Times New Roman"/>
                        <a:sym typeface="Times New Roman"/>
                      </a:endParaRPr>
                    </a:p>
                    <a:p>
                      <a:pPr indent="0" lvl="0" marL="0" marR="0" rtl="0" algn="l">
                        <a:lnSpc>
                          <a:spcPct val="100000"/>
                        </a:lnSpc>
                        <a:spcBef>
                          <a:spcPts val="100"/>
                        </a:spcBef>
                        <a:spcAft>
                          <a:spcPts val="0"/>
                        </a:spcAft>
                        <a:buClr>
                          <a:srgbClr val="000000"/>
                        </a:buClr>
                        <a:buSzPts val="900"/>
                        <a:buFont typeface="Arial"/>
                        <a:buNone/>
                      </a:pPr>
                      <a:r>
                        <a:t/>
                      </a:r>
                      <a:endParaRPr sz="900" u="none" cap="none" strike="noStrike">
                        <a:latin typeface="Times New Roman"/>
                        <a:ea typeface="Times New Roman"/>
                        <a:cs typeface="Times New Roman"/>
                        <a:sym typeface="Times New Roman"/>
                      </a:endParaRPr>
                    </a:p>
                    <a:p>
                      <a:pPr indent="0" lvl="0" marL="5715" marR="0" rtl="0" algn="l">
                        <a:lnSpc>
                          <a:spcPct val="100000"/>
                        </a:lnSpc>
                        <a:spcBef>
                          <a:spcPts val="0"/>
                        </a:spcBef>
                        <a:spcAft>
                          <a:spcPts val="0"/>
                        </a:spcAft>
                        <a:buClr>
                          <a:srgbClr val="000000"/>
                        </a:buClr>
                        <a:buSzPts val="900"/>
                        <a:buFont typeface="Arial"/>
                        <a:buNone/>
                      </a:pPr>
                      <a:r>
                        <a:rPr lang="en-US" sz="900" u="none" cap="none" strike="noStrike">
                          <a:latin typeface="Arial"/>
                          <a:ea typeface="Arial"/>
                          <a:cs typeface="Arial"/>
                          <a:sym typeface="Arial"/>
                        </a:rPr>
                        <a:t>1.1</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sz="900" u="none" cap="none" strike="noStrike">
                        <a:latin typeface="Times New Roman"/>
                        <a:ea typeface="Times New Roman"/>
                        <a:cs typeface="Times New Roman"/>
                        <a:sym typeface="Times New Roman"/>
                      </a:endParaRPr>
                    </a:p>
                    <a:p>
                      <a:pPr indent="0" lvl="0" marL="0" marR="0" rtl="0" algn="l">
                        <a:lnSpc>
                          <a:spcPct val="100000"/>
                        </a:lnSpc>
                        <a:spcBef>
                          <a:spcPts val="100"/>
                        </a:spcBef>
                        <a:spcAft>
                          <a:spcPts val="0"/>
                        </a:spcAft>
                        <a:buClr>
                          <a:srgbClr val="000000"/>
                        </a:buClr>
                        <a:buSzPts val="900"/>
                        <a:buFont typeface="Arial"/>
                        <a:buNone/>
                      </a:pPr>
                      <a:r>
                        <a:t/>
                      </a:r>
                      <a:endParaRPr sz="900" u="none" cap="none" strike="noStrike">
                        <a:latin typeface="Times New Roman"/>
                        <a:ea typeface="Times New Roman"/>
                        <a:cs typeface="Times New Roman"/>
                        <a:sym typeface="Times New Roman"/>
                      </a:endParaRPr>
                    </a:p>
                    <a:p>
                      <a:pPr indent="0" lvl="0" marL="2540" marR="0" rtl="0" algn="l">
                        <a:lnSpc>
                          <a:spcPct val="100000"/>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Hardware conformity check.</a:t>
                      </a:r>
                      <a:endParaRPr sz="13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3025" marR="50165" rtl="0" algn="just">
                        <a:lnSpc>
                          <a:spcPct val="79230"/>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Verify  the  HW  details  as deployed on the site.  As per vetted BoM.</a:t>
                      </a:r>
                      <a:endParaRPr sz="1300" u="none" cap="none" strike="noStrike">
                        <a:latin typeface="Arial"/>
                        <a:ea typeface="Arial"/>
                        <a:cs typeface="Arial"/>
                        <a:sym typeface="Arial"/>
                      </a:endParaRPr>
                    </a:p>
                  </a:txBody>
                  <a:tcPr marT="40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10M 64M 10M 15M</a:t>
                      </a:r>
                      <a:endParaRPr sz="1400" u="none" cap="none" strike="noStrike"/>
                    </a:p>
                  </a:txBody>
                  <a:tcPr marT="1333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98765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latin typeface="Times New Roman"/>
                        <a:ea typeface="Times New Roman"/>
                        <a:cs typeface="Times New Roman"/>
                        <a:sym typeface="Times New Roman"/>
                      </a:endParaRPr>
                    </a:p>
                    <a:p>
                      <a:pPr indent="0" lvl="0" marL="73025"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1.2</a:t>
                      </a:r>
                      <a:endParaRPr sz="1000" u="none" cap="none" strike="noStrike">
                        <a:latin typeface="Arial"/>
                        <a:ea typeface="Arial"/>
                        <a:cs typeface="Arial"/>
                        <a:sym typeface="Arial"/>
                      </a:endParaRPr>
                    </a:p>
                  </a:txBody>
                  <a:tcPr marT="1190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latin typeface="Times New Roman"/>
                        <a:ea typeface="Times New Roman"/>
                        <a:cs typeface="Times New Roman"/>
                        <a:sym typeface="Times New Roman"/>
                      </a:endParaRPr>
                    </a:p>
                    <a:p>
                      <a:pPr indent="0" lvl="0" marL="69850" marR="0" rtl="0" algn="l">
                        <a:lnSpc>
                          <a:spcPct val="100000"/>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eNode-B software version.</a:t>
                      </a:r>
                      <a:endParaRPr sz="1300" u="none" cap="none" strike="noStrike">
                        <a:latin typeface="Arial"/>
                        <a:ea typeface="Arial"/>
                        <a:cs typeface="Arial"/>
                        <a:sym typeface="Arial"/>
                      </a:endParaRPr>
                    </a:p>
                  </a:txBody>
                  <a:tcPr marT="1190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3025" marR="49530" rtl="0" algn="just">
                        <a:lnSpc>
                          <a:spcPct val="96100"/>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SW version to be filled from EMS and should be as per document approved by the planning wing.</a:t>
                      </a:r>
                      <a:endParaRPr sz="1300" u="none" cap="none" strike="noStrike">
                        <a:latin typeface="Arial"/>
                        <a:ea typeface="Arial"/>
                        <a:cs typeface="Arial"/>
                        <a:sym typeface="Arial"/>
                      </a:endParaRPr>
                    </a:p>
                  </a:txBody>
                  <a:tcPr marT="367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_R14Rel_447_I_025_003 CEF_REL10013a79516</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275">
                <a:tc>
                  <a:txBody>
                    <a:bodyPr/>
                    <a:lstStyle/>
                    <a:p>
                      <a:pPr indent="0" lvl="0" marL="73025"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1.3</a:t>
                      </a:r>
                      <a:endParaRPr sz="1000" u="none" cap="none" strike="noStrike">
                        <a:latin typeface="Arial"/>
                        <a:ea typeface="Arial"/>
                        <a:cs typeface="Arial"/>
                        <a:sym typeface="Arial"/>
                      </a:endParaRPr>
                    </a:p>
                  </a:txBody>
                  <a:tcPr marT="530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985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Check EMS integration.</a:t>
                      </a:r>
                      <a:endParaRPr sz="1000" u="none" cap="none" strike="noStrike">
                        <a:latin typeface="Arial"/>
                        <a:ea typeface="Arial"/>
                        <a:cs typeface="Arial"/>
                        <a:sym typeface="Arial"/>
                      </a:endParaRPr>
                    </a:p>
                  </a:txBody>
                  <a:tcPr marT="333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5080" marR="0" rtl="0" algn="ctr">
                        <a:lnSpc>
                          <a:spcPct val="116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OK/NOK</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350" marR="0" rtl="0" algn="ctr">
                        <a:lnSpc>
                          <a:spcPct val="116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OK </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2675">
                <a:tc>
                  <a:txBody>
                    <a:bodyPr/>
                    <a:lstStyle/>
                    <a:p>
                      <a:pPr indent="0" lvl="0" marL="73025"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1.4</a:t>
                      </a:r>
                      <a:endParaRPr sz="1000" u="none" cap="none" strike="noStrike">
                        <a:latin typeface="Arial"/>
                        <a:ea typeface="Arial"/>
                        <a:cs typeface="Arial"/>
                        <a:sym typeface="Arial"/>
                      </a:endParaRPr>
                    </a:p>
                  </a:txBody>
                  <a:tcPr marT="564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985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Check integration with SON.</a:t>
                      </a:r>
                      <a:endParaRPr sz="1000" u="none" cap="none" strike="noStrike">
                        <a:latin typeface="Arial"/>
                        <a:ea typeface="Arial"/>
                        <a:cs typeface="Arial"/>
                        <a:sym typeface="Arial"/>
                      </a:endParaRPr>
                    </a:p>
                  </a:txBody>
                  <a:tcPr marT="333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5080" marR="0" rtl="0" algn="ctr">
                        <a:lnSpc>
                          <a:spcPct val="116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OK/NOK</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810" marR="0" rtl="0" algn="ctr">
                        <a:lnSpc>
                          <a:spcPct val="116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OK</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54025">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c>
                  <a:txBody>
                    <a:bodyPr/>
                    <a:lstStyle/>
                    <a:p>
                      <a:pPr indent="12062" lvl="0" marL="57785" marR="281940" rtl="0" algn="l">
                        <a:lnSpc>
                          <a:spcPct val="104545"/>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Transport - related information. Connection type, quantity and its capacity:</a:t>
                      </a:r>
                      <a:endParaRPr sz="1100" u="none" cap="none" strike="noStrike">
                        <a:latin typeface="Arial"/>
                        <a:ea typeface="Arial"/>
                        <a:cs typeface="Arial"/>
                        <a:sym typeface="Arial"/>
                      </a:endParaRPr>
                    </a:p>
                  </a:txBody>
                  <a:tcPr marT="333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NA</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7525">
                <a:tc>
                  <a:txBody>
                    <a:bodyPr/>
                    <a:lstStyle/>
                    <a:p>
                      <a:pPr indent="0" lvl="0" marL="73025"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1.5</a:t>
                      </a:r>
                      <a:endParaRPr sz="1000" u="none" cap="none" strike="noStrike">
                        <a:latin typeface="Arial"/>
                        <a:ea typeface="Arial"/>
                        <a:cs typeface="Arial"/>
                        <a:sym typeface="Arial"/>
                      </a:endParaRPr>
                    </a:p>
                  </a:txBody>
                  <a:tcPr marT="1149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6985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a. Microwave</a:t>
                      </a:r>
                      <a:endParaRPr sz="1000" u="none" cap="none" strike="noStrike">
                        <a:latin typeface="Arial"/>
                        <a:ea typeface="Arial"/>
                        <a:cs typeface="Arial"/>
                        <a:sym typeface="Arial"/>
                      </a:endParaRPr>
                    </a:p>
                  </a:txBody>
                  <a:tcPr marT="118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5715" marR="254000" rtl="0" algn="l">
                        <a:lnSpc>
                          <a:spcPct val="115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Provide the MW make and Model details.</a:t>
                      </a:r>
                      <a:endParaRPr sz="1000" u="none" cap="none" strike="noStrike">
                        <a:latin typeface="Arial"/>
                        <a:ea typeface="Arial"/>
                        <a:cs typeface="Arial"/>
                        <a:sym typeface="Arial"/>
                      </a:endParaRPr>
                    </a:p>
                  </a:txBody>
                  <a:tcPr marT="442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MW</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9135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69850" marR="369570" rtl="0" algn="l">
                        <a:lnSpc>
                          <a:spcPct val="88461"/>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b. Integrated Transport Module (CEF12/CEF12T)</a:t>
                      </a:r>
                      <a:endParaRPr sz="1300" u="none" cap="none" strike="noStrike">
                        <a:latin typeface="Arial"/>
                        <a:ea typeface="Arial"/>
                        <a:cs typeface="Arial"/>
                        <a:sym typeface="Arial"/>
                      </a:endParaRPr>
                    </a:p>
                  </a:txBody>
                  <a:tcPr marT="442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c>
                  <a:txBody>
                    <a:bodyPr/>
                    <a:lstStyle/>
                    <a:p>
                      <a:pPr indent="0" lvl="0" marL="2540" marR="0" rtl="0" algn="ctr">
                        <a:lnSpc>
                          <a:spcPct val="116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BBU OD with TX Card</a:t>
                      </a:r>
                      <a:endParaRPr sz="1000" u="none" cap="none" strike="noStrike">
                        <a:latin typeface="Arial"/>
                        <a:ea typeface="Arial"/>
                        <a:cs typeface="Arial"/>
                        <a:sym typeface="Arial"/>
                      </a:endParaRPr>
                    </a:p>
                    <a:p>
                      <a:pPr indent="0" lvl="0" marL="8890" marR="0" rtl="0" algn="ctr">
                        <a:lnSpc>
                          <a:spcPct val="100000"/>
                        </a:lnSpc>
                        <a:spcBef>
                          <a:spcPts val="120"/>
                        </a:spcBef>
                        <a:spcAft>
                          <a:spcPts val="0"/>
                        </a:spcAft>
                        <a:buClr>
                          <a:srgbClr val="000000"/>
                        </a:buClr>
                        <a:buSzPts val="1000"/>
                        <a:buFont typeface="Arial"/>
                        <a:buNone/>
                      </a:pPr>
                      <a:r>
                        <a:rPr lang="en-US" sz="1000" u="none" cap="none" strike="noStrike">
                          <a:latin typeface="Arial"/>
                          <a:ea typeface="Arial"/>
                          <a:cs typeface="Arial"/>
                          <a:sym typeface="Arial"/>
                        </a:rPr>
                        <a:t>(CEF12T)</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c>
                  <a:txBody>
                    <a:bodyPr/>
                    <a:lstStyle/>
                    <a:p>
                      <a:pPr indent="0" lvl="0" marL="1270" marR="0" rtl="0" algn="ctr">
                        <a:lnSpc>
                          <a:spcPct val="116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10 Ge Optical / 1-4-2</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r>
              <a:tr h="469725">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tcPr>
                </a:tc>
                <a:tc>
                  <a:txBody>
                    <a:bodyPr/>
                    <a:lstStyle/>
                    <a:p>
                      <a:pPr indent="-107950" lvl="0" marL="177800" marR="0" rtl="0" algn="l">
                        <a:lnSpc>
                          <a:spcPct val="100000"/>
                        </a:lnSpc>
                        <a:spcBef>
                          <a:spcPts val="0"/>
                        </a:spcBef>
                        <a:spcAft>
                          <a:spcPts val="0"/>
                        </a:spcAft>
                        <a:buClr>
                          <a:srgbClr val="000000"/>
                        </a:buClr>
                        <a:buSzPts val="1430"/>
                        <a:buFont typeface="Arial"/>
                        <a:buAutoNum type="romanLcPeriod"/>
                      </a:pPr>
                      <a:r>
                        <a:rPr lang="en-US" sz="1300" u="none" cap="none" strike="noStrike">
                          <a:latin typeface="Arial"/>
                          <a:ea typeface="Arial"/>
                          <a:cs typeface="Arial"/>
                          <a:sym typeface="Arial"/>
                        </a:rPr>
                        <a:t>Port type-1G/10G/E1/FE</a:t>
                      </a:r>
                      <a:endParaRPr sz="1300" u="none" cap="none" strike="noStrike">
                        <a:latin typeface="Arial"/>
                        <a:ea typeface="Arial"/>
                        <a:cs typeface="Arial"/>
                        <a:sym typeface="Arial"/>
                      </a:endParaRPr>
                    </a:p>
                    <a:p>
                      <a:pPr indent="-134620" lvl="0" marL="204470" marR="0" rtl="0" algn="l">
                        <a:lnSpc>
                          <a:spcPct val="100000"/>
                        </a:lnSpc>
                        <a:spcBef>
                          <a:spcPts val="240"/>
                        </a:spcBef>
                        <a:spcAft>
                          <a:spcPts val="0"/>
                        </a:spcAft>
                        <a:buClr>
                          <a:srgbClr val="000000"/>
                        </a:buClr>
                        <a:buSzPts val="1430"/>
                        <a:buFont typeface="Arial"/>
                        <a:buAutoNum type="romanLcPeriod"/>
                      </a:pPr>
                      <a:r>
                        <a:rPr lang="en-US" sz="1300" u="none" cap="none" strike="noStrike">
                          <a:latin typeface="Arial"/>
                          <a:ea typeface="Arial"/>
                          <a:cs typeface="Arial"/>
                          <a:sym typeface="Arial"/>
                        </a:rPr>
                        <a:t>No. of Ports-1G/10G/E1/FE</a:t>
                      </a:r>
                      <a:endParaRPr sz="1300" u="none" cap="none" strike="noStrike">
                        <a:latin typeface="Arial"/>
                        <a:ea typeface="Arial"/>
                        <a:cs typeface="Arial"/>
                        <a:sym typeface="Arial"/>
                      </a:endParaRPr>
                    </a:p>
                  </a:txBody>
                  <a:tcPr marT="81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tcPr>
                </a:tc>
                <a:tc>
                  <a:txBody>
                    <a:bodyPr/>
                    <a:lstStyle/>
                    <a:p>
                      <a:pPr indent="-530860" lvl="0" marL="692150" marR="144780" rtl="0" algn="l">
                        <a:lnSpc>
                          <a:spcPct val="11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Optical port used-1G (P1) 2/2/4/1</a:t>
                      </a:r>
                      <a:endParaRPr sz="1000" u="none" cap="none" strike="noStrike">
                        <a:latin typeface="Arial"/>
                        <a:ea typeface="Arial"/>
                        <a:cs typeface="Arial"/>
                        <a:sym typeface="Arial"/>
                      </a:endParaRPr>
                    </a:p>
                  </a:txBody>
                  <a:tcPr marT="1394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tcPr>
                </a:tc>
              </a:tr>
              <a:tr h="677700">
                <a:tc>
                  <a:txBody>
                    <a:bodyPr/>
                    <a:lstStyle/>
                    <a:p>
                      <a:pPr indent="0" lvl="0" marL="73025"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1.6</a:t>
                      </a:r>
                      <a:endParaRPr sz="1000" u="none" cap="none" strike="noStrike">
                        <a:latin typeface="Arial"/>
                        <a:ea typeface="Arial"/>
                        <a:cs typeface="Arial"/>
                        <a:sym typeface="Arial"/>
                      </a:endParaRPr>
                    </a:p>
                  </a:txBody>
                  <a:tcPr marT="333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985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MME and SGW IP address.</a:t>
                      </a:r>
                      <a:endParaRPr sz="1000" u="none" cap="none" strike="noStrike">
                        <a:latin typeface="Arial"/>
                        <a:ea typeface="Arial"/>
                        <a:cs typeface="Arial"/>
                        <a:sym typeface="Arial"/>
                      </a:endParaRPr>
                    </a:p>
                  </a:txBody>
                  <a:tcPr marT="333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10.61.194.229</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latin typeface="Times New Roman"/>
                        <a:ea typeface="Times New Roman"/>
                        <a:cs typeface="Times New Roman"/>
                        <a:sym typeface="Times New Roman"/>
                      </a:endParaRPr>
                    </a:p>
                    <a:p>
                      <a:pPr indent="-381635" lvl="0" marL="490855" marR="102235" rtl="0" algn="l">
                        <a:lnSpc>
                          <a:spcPct val="116363"/>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Ping test to MME and SGW OK</a:t>
                      </a:r>
                      <a:endParaRPr sz="1100" u="none" cap="none" strike="noStrike">
                        <a:latin typeface="Arial"/>
                        <a:ea typeface="Arial"/>
                        <a:cs typeface="Arial"/>
                        <a:sym typeface="Arial"/>
                      </a:endParaRPr>
                    </a:p>
                  </a:txBody>
                  <a:tcPr marT="1421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1425">
                <a:tc>
                  <a:txBody>
                    <a:bodyPr/>
                    <a:lstStyle/>
                    <a:p>
                      <a:pPr indent="0" lvl="0" marL="73025"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1.7</a:t>
                      </a:r>
                      <a:endParaRPr sz="1000" u="none" cap="none" strike="noStrike">
                        <a:latin typeface="Arial"/>
                        <a:ea typeface="Arial"/>
                        <a:cs typeface="Arial"/>
                        <a:sym typeface="Arial"/>
                      </a:endParaRPr>
                    </a:p>
                  </a:txBody>
                  <a:tcPr marT="333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9850" marR="0" rtl="0" algn="l">
                        <a:lnSpc>
                          <a:spcPct val="100000"/>
                        </a:lnSpc>
                        <a:spcBef>
                          <a:spcPts val="0"/>
                        </a:spcBef>
                        <a:spcAft>
                          <a:spcPts val="0"/>
                        </a:spcAft>
                        <a:buClr>
                          <a:srgbClr val="000000"/>
                        </a:buClr>
                        <a:buSzPts val="1400"/>
                        <a:buFont typeface="Arial"/>
                        <a:buNone/>
                      </a:pPr>
                      <a:r>
                        <a:rPr lang="en-US" sz="1400" u="none" cap="none" strike="noStrike">
                          <a:latin typeface="Arial"/>
                          <a:ea typeface="Arial"/>
                          <a:cs typeface="Arial"/>
                          <a:sym typeface="Arial"/>
                        </a:rPr>
                        <a:t>eNode-B details (TX).</a:t>
                      </a:r>
                      <a:endParaRPr sz="1400" u="none" cap="none" strike="noStrike">
                        <a:latin typeface="Arial"/>
                        <a:ea typeface="Arial"/>
                        <a:cs typeface="Arial"/>
                        <a:sym typeface="Arial"/>
                      </a:endParaRPr>
                    </a:p>
                  </a:txBody>
                  <a:tcPr marT="333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3025" marR="0" rtl="0" algn="ctr">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Electrical / Optical</a:t>
                      </a:r>
                      <a:endParaRPr sz="1000" u="none" cap="none" strike="noStrike">
                        <a:latin typeface="Arial"/>
                        <a:ea typeface="Arial"/>
                        <a:cs typeface="Arial"/>
                        <a:sym typeface="Arial"/>
                      </a:endParaRPr>
                    </a:p>
                  </a:txBody>
                  <a:tcPr marT="333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175" marR="0" rtl="0" algn="ctr">
                        <a:lnSpc>
                          <a:spcPct val="116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Optical</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68325">
                <a:tc>
                  <a:txBody>
                    <a:bodyPr/>
                    <a:lstStyle/>
                    <a:p>
                      <a:pPr indent="0" lvl="0" marL="72390"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1.7.1</a:t>
                      </a:r>
                      <a:endParaRPr sz="13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c>
                  <a:txBody>
                    <a:bodyPr/>
                    <a:lstStyle/>
                    <a:p>
                      <a:pPr indent="0" lvl="0" marL="69850"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IP details (Table to be plugged in w.r.t. IP, VLAN including GW).</a:t>
                      </a:r>
                      <a:endParaRPr sz="13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c>
                  <a:txBody>
                    <a:bodyPr/>
                    <a:lstStyle/>
                    <a:p>
                      <a:pPr indent="0" lvl="0" marL="100330" marR="95250" rtl="0" algn="ctr">
                        <a:lnSpc>
                          <a:spcPct val="102272"/>
                        </a:lnSpc>
                        <a:spcBef>
                          <a:spcPts val="0"/>
                        </a:spcBef>
                        <a:spcAft>
                          <a:spcPts val="0"/>
                        </a:spcAft>
                        <a:buClr>
                          <a:srgbClr val="000000"/>
                        </a:buClr>
                        <a:buSzPts val="1100"/>
                        <a:buFont typeface="Arial"/>
                        <a:buNone/>
                      </a:pPr>
                      <a:r>
                        <a:rPr b="1" lang="en-US" sz="1100" u="none" cap="none" strike="noStrike">
                          <a:latin typeface="Arial"/>
                          <a:ea typeface="Arial"/>
                          <a:cs typeface="Arial"/>
                          <a:sym typeface="Arial"/>
                        </a:rPr>
                        <a:t>CEF:</a:t>
                      </a:r>
                      <a:endParaRPr sz="1300" u="none" cap="none" strike="noStrike">
                        <a:latin typeface="Arial"/>
                        <a:ea typeface="Arial"/>
                        <a:cs typeface="Arial"/>
                        <a:sym typeface="Arial"/>
                      </a:endParaRPr>
                    </a:p>
                    <a:p>
                      <a:pPr indent="0" lvl="0" marL="601980" marR="594995" rtl="0" algn="ctr">
                        <a:lnSpc>
                          <a:spcPct val="104545"/>
                        </a:lnSpc>
                        <a:spcBef>
                          <a:spcPts val="0"/>
                        </a:spcBef>
                        <a:spcAft>
                          <a:spcPts val="0"/>
                        </a:spcAft>
                        <a:buClr>
                          <a:srgbClr val="000000"/>
                        </a:buClr>
                        <a:buSzPts val="1100"/>
                        <a:buFont typeface="Arial"/>
                        <a:buNone/>
                      </a:pPr>
                      <a:r>
                        <a:rPr b="1" lang="en-US" sz="1100" u="none" cap="none" strike="noStrike">
                          <a:latin typeface="Arial"/>
                          <a:ea typeface="Arial"/>
                          <a:cs typeface="Arial"/>
                          <a:sym typeface="Arial"/>
                        </a:rPr>
                        <a:t>RAC: S1C:</a:t>
                      </a:r>
                      <a:endParaRPr sz="1400" u="none" cap="none" strike="noStrike"/>
                    </a:p>
                    <a:p>
                      <a:pPr indent="0" lvl="0" marL="601980" marR="594995" rtl="0" algn="ctr">
                        <a:lnSpc>
                          <a:spcPct val="104545"/>
                        </a:lnSpc>
                        <a:spcBef>
                          <a:spcPts val="0"/>
                        </a:spcBef>
                        <a:spcAft>
                          <a:spcPts val="0"/>
                        </a:spcAft>
                        <a:buClr>
                          <a:srgbClr val="000000"/>
                        </a:buClr>
                        <a:buSzPts val="1100"/>
                        <a:buFont typeface="Arial"/>
                        <a:buNone/>
                      </a:pPr>
                      <a:r>
                        <a:rPr b="1" lang="en-US" sz="1100" u="none" cap="none" strike="noStrike">
                          <a:latin typeface="Arial"/>
                          <a:ea typeface="Arial"/>
                          <a:cs typeface="Arial"/>
                          <a:sym typeface="Arial"/>
                        </a:rPr>
                        <a:t>S1U:</a:t>
                      </a:r>
                      <a:endParaRPr sz="13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1400"/>
                        <a:buFont typeface="Arial"/>
                        <a:buNone/>
                      </a:pPr>
                      <a:r>
                        <a:t>10.61.189.226 10.61.193.230 10.61.194.229 10.61.195.229</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r>
              <a:tr h="159100">
                <a:tc>
                  <a:txBody>
                    <a:bodyPr/>
                    <a:lstStyle/>
                    <a:p>
                      <a:pPr indent="0" lvl="0" marL="0" marR="0" rtl="0" algn="l">
                        <a:lnSpc>
                          <a:spcPct val="100000"/>
                        </a:lnSpc>
                        <a:spcBef>
                          <a:spcPts val="0"/>
                        </a:spcBef>
                        <a:spcAft>
                          <a:spcPts val="0"/>
                        </a:spcAft>
                        <a:buClr>
                          <a:srgbClr val="000000"/>
                        </a:buClr>
                        <a:buSzPts val="900"/>
                        <a:buFont typeface="Arial"/>
                        <a:buNone/>
                      </a:pPr>
                      <a:r>
                        <a:t/>
                      </a:r>
                      <a:endParaRPr sz="9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t/>
                      </a:r>
                      <a:endParaRPr sz="9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tcPr>
                </a:tc>
                <a:tc>
                  <a:txBody>
                    <a:bodyPr/>
                    <a:lstStyle/>
                    <a:p>
                      <a:pPr indent="0" lvl="0" marL="100965" marR="89535" rtl="0" algn="ctr">
                        <a:lnSpc>
                          <a:spcPct val="80769"/>
                        </a:lnSpc>
                        <a:spcBef>
                          <a:spcPts val="0"/>
                        </a:spcBef>
                        <a:spcAft>
                          <a:spcPts val="0"/>
                        </a:spcAft>
                        <a:buClr>
                          <a:srgbClr val="000000"/>
                        </a:buClr>
                        <a:buSzPts val="1300"/>
                        <a:buFont typeface="Calibri"/>
                        <a:buNone/>
                      </a:pPr>
                      <a:r>
                        <a:t/>
                      </a:r>
                      <a:endParaRPr sz="13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tcPr>
                </a:tc>
                <a:tc>
                  <a:txBody>
                    <a:bodyPr/>
                    <a:lstStyle/>
                    <a:p>
                      <a:pPr indent="0" lvl="0" marL="635" marR="0" rtl="0" algn="ctr">
                        <a:lnSpc>
                          <a:spcPct val="107500"/>
                        </a:lnSpc>
                        <a:spcBef>
                          <a:spcPts val="0"/>
                        </a:spcBef>
                        <a:spcAft>
                          <a:spcPts val="0"/>
                        </a:spcAft>
                        <a:buClr>
                          <a:srgbClr val="000000"/>
                        </a:buClr>
                        <a:buSzPts val="1000"/>
                        <a:buFont typeface="Arial"/>
                        <a:buNone/>
                      </a:pPr>
                      <a:r>
                        <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tcPr>
                </a:tc>
              </a:tr>
            </a:tbl>
          </a:graphicData>
        </a:graphic>
      </p:graphicFrame>
      <p:sp>
        <p:nvSpPr>
          <p:cNvPr id="98" name="Google Shape;98;p12"/>
          <p:cNvSpPr txBox="1"/>
          <p:nvPr/>
        </p:nvSpPr>
        <p:spPr>
          <a:xfrm>
            <a:off x="2307842" y="10446843"/>
            <a:ext cx="5474647" cy="1007471"/>
          </a:xfrm>
          <a:prstGeom prst="rect">
            <a:avLst/>
          </a:prstGeom>
          <a:noFill/>
          <a:ln>
            <a:noFill/>
          </a:ln>
        </p:spPr>
        <p:txBody>
          <a:bodyPr anchorCtr="0" anchor="t" bIns="0" lIns="0" spcFirstLastPara="1" rIns="0" wrap="square" tIns="13600">
            <a:spAutoFit/>
          </a:bodyPr>
          <a:lstStyle/>
          <a:p>
            <a:pPr indent="-327868" lvl="1" marL="341473" marR="0" rtl="0" algn="l">
              <a:lnSpc>
                <a:spcPct val="100000"/>
              </a:lnSpc>
              <a:spcBef>
                <a:spcPts val="0"/>
              </a:spcBef>
              <a:spcAft>
                <a:spcPts val="0"/>
              </a:spcAft>
              <a:buClr>
                <a:schemeClr val="dk1"/>
              </a:buClr>
              <a:buSzPts val="1179"/>
              <a:buFont typeface="Arial"/>
              <a:buAutoNum type="arabicPeriod" startAt="8"/>
            </a:pPr>
            <a:r>
              <a:rPr b="1" i="0" lang="en-US" sz="1179" u="none" cap="none" strike="noStrike">
                <a:solidFill>
                  <a:schemeClr val="dk1"/>
                </a:solidFill>
                <a:latin typeface="Arial"/>
                <a:ea typeface="Arial"/>
                <a:cs typeface="Arial"/>
                <a:sym typeface="Arial"/>
              </a:rPr>
              <a:t>eNode-B status check from Access Point:</a:t>
            </a:r>
            <a:endParaRPr b="0" i="0" sz="1179" u="none" cap="none" strike="noStrike">
              <a:solidFill>
                <a:schemeClr val="dk1"/>
              </a:solidFill>
              <a:latin typeface="Arial"/>
              <a:ea typeface="Arial"/>
              <a:cs typeface="Arial"/>
              <a:sym typeface="Arial"/>
            </a:endParaRPr>
          </a:p>
          <a:p>
            <a:pPr indent="0" lvl="0" marL="13603" marR="0" rtl="0" algn="l">
              <a:lnSpc>
                <a:spcPct val="100000"/>
              </a:lnSpc>
              <a:spcBef>
                <a:spcPts val="1055"/>
              </a:spcBef>
              <a:spcAft>
                <a:spcPts val="0"/>
              </a:spcAft>
              <a:buClr>
                <a:srgbClr val="000000"/>
              </a:buClr>
              <a:buSzPts val="1179"/>
              <a:buFont typeface="Arial"/>
              <a:buNone/>
            </a:pPr>
            <a:r>
              <a:rPr b="0" i="0" lang="en-US" sz="1179" u="none" cap="none" strike="noStrike">
                <a:solidFill>
                  <a:schemeClr val="dk1"/>
                </a:solidFill>
                <a:latin typeface="Arial"/>
                <a:ea typeface="Arial"/>
                <a:cs typeface="Arial"/>
                <a:sym typeface="Arial"/>
              </a:rPr>
              <a:t>A/T procedure:</a:t>
            </a:r>
            <a:endParaRPr b="0" i="0" sz="1179" u="none" cap="none" strike="noStrike">
              <a:solidFill>
                <a:schemeClr val="dk1"/>
              </a:solidFill>
              <a:latin typeface="Arial"/>
              <a:ea typeface="Arial"/>
              <a:cs typeface="Arial"/>
              <a:sym typeface="Arial"/>
            </a:endParaRPr>
          </a:p>
          <a:p>
            <a:pPr indent="-293857" lvl="2" marL="993129" marR="5442" rtl="0" algn="l">
              <a:lnSpc>
                <a:spcPct val="117910"/>
              </a:lnSpc>
              <a:spcBef>
                <a:spcPts val="1254"/>
              </a:spcBef>
              <a:spcAft>
                <a:spcPts val="0"/>
              </a:spcAft>
              <a:buClr>
                <a:schemeClr val="dk1"/>
              </a:buClr>
              <a:buSzPts val="1179"/>
              <a:buFont typeface="Arial"/>
              <a:buAutoNum type="romanLcPeriod"/>
            </a:pPr>
            <a:r>
              <a:rPr b="0" i="0" lang="en-US" sz="1072" u="none" cap="none" strike="noStrike">
                <a:solidFill>
                  <a:schemeClr val="dk1"/>
                </a:solidFill>
                <a:latin typeface="Arial"/>
                <a:ea typeface="Arial"/>
                <a:cs typeface="Arial"/>
                <a:sym typeface="Arial"/>
              </a:rPr>
              <a:t>Check the visual alarm (LED) indication on all cards. All LEDs should show a healthy condition.</a:t>
            </a:r>
            <a:endParaRPr b="0" i="0" sz="1072" u="none" cap="none" strike="noStrike">
              <a:solidFill>
                <a:schemeClr val="dk1"/>
              </a:solidFill>
              <a:latin typeface="Arial"/>
              <a:ea typeface="Arial"/>
              <a:cs typeface="Arial"/>
              <a:sym typeface="Arial"/>
            </a:endParaRPr>
          </a:p>
        </p:txBody>
      </p:sp>
      <p:sp>
        <p:nvSpPr>
          <p:cNvPr id="99" name="Google Shape;99;p12"/>
          <p:cNvSpPr txBox="1"/>
          <p:nvPr>
            <p:ph idx="11" type="ftr"/>
          </p:nvPr>
        </p:nvSpPr>
        <p:spPr>
          <a:xfrm>
            <a:off x="2248781" y="11446613"/>
            <a:ext cx="1915019" cy="192810"/>
          </a:xfrm>
          <a:prstGeom prst="rect">
            <a:avLst/>
          </a:prstGeom>
          <a:noFill/>
          <a:ln>
            <a:noFill/>
          </a:ln>
        </p:spPr>
        <p:txBody>
          <a:bodyPr anchorCtr="0" anchor="t" bIns="0" lIns="0" spcFirstLastPara="1" rIns="0" wrap="square" tIns="0">
            <a:spAutoFit/>
          </a:bodyPr>
          <a:lstStyle/>
          <a:p>
            <a:pPr indent="0" lvl="0" marL="14464" rtl="0" algn="l">
              <a:lnSpc>
                <a:spcPct val="100000"/>
              </a:lnSpc>
              <a:spcBef>
                <a:spcPts val="0"/>
              </a:spcBef>
              <a:spcAft>
                <a:spcPts val="0"/>
              </a:spcAft>
              <a:buSzPts val="1400"/>
              <a:buNone/>
            </a:pPr>
            <a:r>
              <a:rPr lang="en-US"/>
              <a:t>QAIN-11/31(14)/1/2023-CM</a:t>
            </a:r>
            <a:endParaRPr/>
          </a:p>
        </p:txBody>
      </p:sp>
      <p:sp>
        <p:nvSpPr>
          <p:cNvPr id="100" name="Google Shape;100;p12"/>
          <p:cNvSpPr txBox="1"/>
          <p:nvPr/>
        </p:nvSpPr>
        <p:spPr>
          <a:xfrm>
            <a:off x="2040499" y="1530839"/>
            <a:ext cx="2603732" cy="203735"/>
          </a:xfrm>
          <a:prstGeom prst="rect">
            <a:avLst/>
          </a:prstGeom>
          <a:noFill/>
          <a:ln>
            <a:noFill/>
          </a:ln>
        </p:spPr>
        <p:txBody>
          <a:bodyPr anchorCtr="0" anchor="t" bIns="0" lIns="0" spcFirstLastPara="1" rIns="0" wrap="square" tIns="13725">
            <a:spAutoFit/>
          </a:bodyPr>
          <a:lstStyle/>
          <a:p>
            <a:pPr indent="2892"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QA &amp; INSPECTION CIRCLE KL 	</a:t>
            </a:r>
            <a:endParaRPr b="0" i="0" sz="1253" u="none" cap="none" strike="noStrike">
              <a:solidFill>
                <a:schemeClr val="dk1"/>
              </a:solidFill>
              <a:latin typeface="Arial"/>
              <a:ea typeface="Arial"/>
              <a:cs typeface="Arial"/>
              <a:sym typeface="Arial"/>
            </a:endParaRPr>
          </a:p>
        </p:txBody>
      </p:sp>
      <p:sp>
        <p:nvSpPr>
          <p:cNvPr id="101" name="Google Shape;101;p12"/>
          <p:cNvSpPr txBox="1"/>
          <p:nvPr/>
        </p:nvSpPr>
        <p:spPr>
          <a:xfrm>
            <a:off x="7238764" y="1574232"/>
            <a:ext cx="1833298" cy="408086"/>
          </a:xfrm>
          <a:prstGeom prst="rect">
            <a:avLst/>
          </a:prstGeom>
          <a:noFill/>
          <a:ln>
            <a:noFill/>
          </a:ln>
        </p:spPr>
        <p:txBody>
          <a:bodyPr anchorCtr="0" anchor="t" bIns="0" lIns="0" spcFirstLastPara="1" rIns="0" wrap="square" tIns="13725">
            <a:spAutoFit/>
          </a:bodyPr>
          <a:lstStyle/>
          <a:p>
            <a:pPr indent="701487"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4G PHASE IX.2  eNode-B A/T SCHEDULE</a:t>
            </a:r>
            <a:endParaRPr b="0" i="0" sz="1400" u="none" cap="none" strike="noStrike">
              <a:solidFill>
                <a:srgbClr val="000000"/>
              </a:solidFill>
              <a:latin typeface="Arial"/>
              <a:ea typeface="Arial"/>
              <a:cs typeface="Arial"/>
              <a:sym typeface="Arial"/>
            </a:endParaRPr>
          </a:p>
        </p:txBody>
      </p:sp>
      <p:sp>
        <p:nvSpPr>
          <p:cNvPr id="102" name="Google Shape;102;p12"/>
          <p:cNvSpPr txBox="1"/>
          <p:nvPr/>
        </p:nvSpPr>
        <p:spPr>
          <a:xfrm>
            <a:off x="2373748" y="1584646"/>
            <a:ext cx="2003972" cy="526451"/>
          </a:xfrm>
          <a:prstGeom prst="rect">
            <a:avLst/>
          </a:prstGeom>
          <a:noFill/>
          <a:ln>
            <a:noFill/>
          </a:ln>
        </p:spPr>
        <p:txBody>
          <a:bodyPr anchorCtr="0" anchor="t" bIns="0" lIns="0" spcFirstLastPara="1" rIns="0" wrap="square" tIns="13725">
            <a:spAutoFit/>
          </a:bodyPr>
          <a:lstStyle/>
          <a:p>
            <a:pPr indent="2892" lvl="0" marL="14464" marR="622660" rtl="0" algn="l">
              <a:lnSpc>
                <a:spcPct val="105500"/>
              </a:lnSpc>
              <a:spcBef>
                <a:spcPts val="0"/>
              </a:spcBef>
              <a:spcAft>
                <a:spcPts val="0"/>
              </a:spcAft>
              <a:buClr>
                <a:srgbClr val="000000"/>
              </a:buClr>
              <a:buSzPts val="1253"/>
              <a:buFont typeface="Arial"/>
              <a:buNone/>
            </a:pPr>
            <a:r>
              <a:t/>
            </a:r>
            <a:endParaRPr b="0" i="0" sz="1253" u="none" cap="none" strike="noStrike">
              <a:solidFill>
                <a:schemeClr val="dk1"/>
              </a:solidFill>
              <a:latin typeface="Arial"/>
              <a:ea typeface="Arial"/>
              <a:cs typeface="Arial"/>
              <a:sym typeface="Arial"/>
            </a:endParaRPr>
          </a:p>
          <a:p>
            <a:pPr indent="0" lvl="0" marL="97629" marR="0" rtl="0" algn="l">
              <a:lnSpc>
                <a:spcPct val="100000"/>
              </a:lnSpc>
              <a:spcBef>
                <a:spcPts val="877"/>
              </a:spcBef>
              <a:spcAft>
                <a:spcPts val="0"/>
              </a:spcAft>
              <a:buClr>
                <a:srgbClr val="000000"/>
              </a:buClr>
              <a:buSzPts val="1253"/>
              <a:buFont typeface="Arial"/>
              <a:buNone/>
            </a:pPr>
            <a:r>
              <a:rPr b="1" i="0" lang="en-US" sz="1253" u="none" cap="none" strike="noStrike">
                <a:solidFill>
                  <a:schemeClr val="dk1"/>
                </a:solidFill>
                <a:latin typeface="Arial"/>
                <a:ea typeface="Arial"/>
                <a:cs typeface="Arial"/>
                <a:sym typeface="Arial"/>
              </a:rPr>
              <a:t>PART-B:  SYSTEM TEST</a:t>
            </a:r>
            <a:endParaRPr b="0" i="0" sz="1253"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3"/>
          <p:cNvSpPr txBox="1"/>
          <p:nvPr/>
        </p:nvSpPr>
        <p:spPr>
          <a:xfrm>
            <a:off x="3274148" y="2054889"/>
            <a:ext cx="4793718" cy="1071490"/>
          </a:xfrm>
          <a:prstGeom prst="rect">
            <a:avLst/>
          </a:prstGeom>
          <a:noFill/>
          <a:ln>
            <a:noFill/>
          </a:ln>
        </p:spPr>
        <p:txBody>
          <a:bodyPr anchorCtr="0" anchor="t" bIns="0" lIns="0" spcFirstLastPara="1" rIns="0" wrap="square" tIns="19725">
            <a:spAutoFit/>
          </a:bodyPr>
          <a:lstStyle/>
          <a:p>
            <a:pPr indent="-289095" lvl="0" marL="302699" marR="5442" rtl="0" algn="just">
              <a:lnSpc>
                <a:spcPct val="119962"/>
              </a:lnSpc>
              <a:spcBef>
                <a:spcPts val="0"/>
              </a:spcBef>
              <a:spcAft>
                <a:spcPts val="0"/>
              </a:spcAft>
              <a:buClr>
                <a:schemeClr val="dk1"/>
              </a:buClr>
              <a:buSzPts val="1179"/>
              <a:buFont typeface="Arial"/>
              <a:buAutoNum type="romanLcPeriod" startAt="2"/>
            </a:pPr>
            <a:r>
              <a:rPr b="0" i="0" lang="en-US" sz="1072" u="none" cap="none" strike="noStrike">
                <a:solidFill>
                  <a:schemeClr val="dk1"/>
                </a:solidFill>
                <a:latin typeface="Arial"/>
                <a:ea typeface="Arial"/>
                <a:cs typeface="Arial"/>
                <a:sym typeface="Arial"/>
              </a:rPr>
              <a:t>Connect a Laptop with Control Card through RJ45/Console port. (CEF will be accessible	through RJ 45 and RAC through Console Port (Diag cable).</a:t>
            </a:r>
            <a:endParaRPr b="0" i="0" sz="1072" u="none" cap="none" strike="noStrike">
              <a:solidFill>
                <a:schemeClr val="dk1"/>
              </a:solidFill>
              <a:latin typeface="Arial"/>
              <a:ea typeface="Arial"/>
              <a:cs typeface="Arial"/>
              <a:sym typeface="Arial"/>
            </a:endParaRPr>
          </a:p>
          <a:p>
            <a:pPr indent="-288416" lvl="0" marL="302020" marR="0" rtl="0" algn="just">
              <a:lnSpc>
                <a:spcPct val="127425"/>
              </a:lnSpc>
              <a:spcBef>
                <a:spcPts val="0"/>
              </a:spcBef>
              <a:spcAft>
                <a:spcPts val="0"/>
              </a:spcAft>
              <a:buClr>
                <a:schemeClr val="dk1"/>
              </a:buClr>
              <a:buSzPts val="1179"/>
              <a:buFont typeface="Arial"/>
              <a:buAutoNum type="romanLcPeriod" startAt="2"/>
            </a:pPr>
            <a:r>
              <a:rPr b="0" i="0" lang="en-US" sz="1072" u="none" cap="none" strike="noStrike">
                <a:solidFill>
                  <a:schemeClr val="dk1"/>
                </a:solidFill>
                <a:latin typeface="Arial"/>
                <a:ea typeface="Arial"/>
                <a:cs typeface="Arial"/>
                <a:sym typeface="Arial"/>
              </a:rPr>
              <a:t>Login through eNode-B Maintenance Tool (Like LMT)/CLI.</a:t>
            </a:r>
            <a:endParaRPr b="0" i="0" sz="1072" u="none" cap="none" strike="noStrike">
              <a:solidFill>
                <a:schemeClr val="dk1"/>
              </a:solidFill>
              <a:latin typeface="Arial"/>
              <a:ea typeface="Arial"/>
              <a:cs typeface="Arial"/>
              <a:sym typeface="Arial"/>
            </a:endParaRPr>
          </a:p>
          <a:p>
            <a:pPr indent="-289776" lvl="0" marL="303380" marR="15644" rtl="0" algn="just">
              <a:lnSpc>
                <a:spcPct val="118150"/>
              </a:lnSpc>
              <a:spcBef>
                <a:spcPts val="69"/>
              </a:spcBef>
              <a:spcAft>
                <a:spcPts val="0"/>
              </a:spcAft>
              <a:buClr>
                <a:schemeClr val="dk1"/>
              </a:buClr>
              <a:buSzPts val="1179"/>
              <a:buFont typeface="Arial"/>
              <a:buAutoNum type="romanLcPeriod" startAt="2"/>
            </a:pPr>
            <a:r>
              <a:rPr b="0" i="0" lang="en-US" sz="1072" u="none" cap="none" strike="noStrike">
                <a:solidFill>
                  <a:schemeClr val="dk1"/>
                </a:solidFill>
                <a:latin typeface="Arial"/>
                <a:ea typeface="Arial"/>
                <a:cs typeface="Arial"/>
                <a:sym typeface="Arial"/>
              </a:rPr>
              <a:t>Check the working status of all cards by LMT/CLI. All cards should be healthy</a:t>
            </a:r>
            <a:r>
              <a:rPr b="0" i="0" lang="en-US" sz="1179" u="none" cap="none" strike="noStrike">
                <a:solidFill>
                  <a:schemeClr val="dk1"/>
                </a:solidFill>
                <a:latin typeface="Arial"/>
                <a:ea typeface="Arial"/>
                <a:cs typeface="Arial"/>
                <a:sym typeface="Arial"/>
              </a:rPr>
              <a:t>.</a:t>
            </a:r>
            <a:endParaRPr b="0" i="0" sz="1179" u="none" cap="none" strike="noStrike">
              <a:solidFill>
                <a:schemeClr val="dk1"/>
              </a:solidFill>
              <a:latin typeface="Arial"/>
              <a:ea typeface="Arial"/>
              <a:cs typeface="Arial"/>
              <a:sym typeface="Arial"/>
            </a:endParaRPr>
          </a:p>
        </p:txBody>
      </p:sp>
      <p:graphicFrame>
        <p:nvGraphicFramePr>
          <p:cNvPr id="108" name="Google Shape;108;p13"/>
          <p:cNvGraphicFramePr/>
          <p:nvPr/>
        </p:nvGraphicFramePr>
        <p:xfrm>
          <a:off x="3271428" y="3286824"/>
          <a:ext cx="3000000" cy="3000000"/>
        </p:xfrm>
        <a:graphic>
          <a:graphicData uri="http://schemas.openxmlformats.org/drawingml/2006/table">
            <a:tbl>
              <a:tblPr bandRow="1" firstRow="1">
                <a:noFill/>
                <a:tableStyleId>{6E646390-14D1-40E7-8574-0D387628F5A2}</a:tableStyleId>
              </a:tblPr>
              <a:tblGrid>
                <a:gridCol w="1642800"/>
                <a:gridCol w="1825800"/>
                <a:gridCol w="2189050"/>
              </a:tblGrid>
              <a:tr h="205425">
                <a:tc>
                  <a:txBody>
                    <a:bodyPr/>
                    <a:lstStyle/>
                    <a:p>
                      <a:pPr indent="0" lvl="0" marL="152400" marR="0" rtl="0" algn="l">
                        <a:lnSpc>
                          <a:spcPct val="100000"/>
                        </a:lnSpc>
                        <a:spcBef>
                          <a:spcPts val="0"/>
                        </a:spcBef>
                        <a:spcAft>
                          <a:spcPts val="0"/>
                        </a:spcAft>
                        <a:buClr>
                          <a:srgbClr val="000000"/>
                        </a:buClr>
                        <a:buSzPts val="1000"/>
                        <a:buFont typeface="Arial"/>
                        <a:buNone/>
                      </a:pPr>
                      <a:r>
                        <a:rPr b="1" lang="en-US" sz="1000" u="none" cap="none" strike="noStrike">
                          <a:latin typeface="Arial"/>
                          <a:ea typeface="Arial"/>
                          <a:cs typeface="Arial"/>
                          <a:sym typeface="Arial"/>
                        </a:rPr>
                        <a:t>Expected Results:</a:t>
                      </a:r>
                      <a:endParaRPr sz="1000" u="none" cap="none" strike="noStrike">
                        <a:latin typeface="Arial"/>
                        <a:ea typeface="Arial"/>
                        <a:cs typeface="Arial"/>
                        <a:sym typeface="Arial"/>
                      </a:endParaRPr>
                    </a:p>
                  </a:txBody>
                  <a:tcPr marT="272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89535" rtl="0" algn="ctr">
                        <a:lnSpc>
                          <a:spcPct val="1165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Status</a:t>
                      </a:r>
                      <a:endParaRPr sz="1000" u="none" cap="none" strike="noStrike">
                        <a:latin typeface="Arial"/>
                        <a:ea typeface="Arial"/>
                        <a:cs typeface="Arial"/>
                        <a:sym typeface="Arial"/>
                      </a:endParaRPr>
                    </a:p>
                  </a:txBody>
                  <a:tcPr marT="333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83820" rtl="0" algn="ctr">
                        <a:lnSpc>
                          <a:spcPct val="1165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OK/NOK</a:t>
                      </a:r>
                      <a:endParaRPr sz="1000" u="none" cap="none" strike="noStrike">
                        <a:latin typeface="Arial"/>
                        <a:ea typeface="Arial"/>
                        <a:cs typeface="Arial"/>
                        <a:sym typeface="Arial"/>
                      </a:endParaRPr>
                    </a:p>
                  </a:txBody>
                  <a:tcPr marT="333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5425">
                <a:tc>
                  <a:txBody>
                    <a:bodyPr/>
                    <a:lstStyle/>
                    <a:p>
                      <a:pPr indent="0" lvl="0" marL="152400" marR="0" rtl="0" algn="l">
                        <a:lnSpc>
                          <a:spcPct val="119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i</a:t>
                      </a:r>
                      <a:endParaRPr sz="1000" u="none" cap="none" strike="noStrike">
                        <a:latin typeface="Arial"/>
                        <a:ea typeface="Arial"/>
                        <a:cs typeface="Arial"/>
                        <a:sym typeface="Arial"/>
                      </a:endParaRPr>
                    </a:p>
                  </a:txBody>
                  <a:tcPr marT="299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94615" rtl="0" algn="ctr">
                        <a:lnSpc>
                          <a:spcPct val="1165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OK</a:t>
                      </a:r>
                      <a:endParaRPr sz="1000" u="none" cap="none" strike="noStrike">
                        <a:latin typeface="Arial"/>
                        <a:ea typeface="Arial"/>
                        <a:cs typeface="Arial"/>
                        <a:sym typeface="Arial"/>
                      </a:endParaRPr>
                    </a:p>
                  </a:txBody>
                  <a:tcPr marT="333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85090" rtl="0" algn="ctr">
                        <a:lnSpc>
                          <a:spcPct val="1165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OK</a:t>
                      </a:r>
                      <a:endParaRPr sz="1000" u="none" cap="none" strike="noStrike">
                        <a:latin typeface="Arial"/>
                        <a:ea typeface="Arial"/>
                        <a:cs typeface="Arial"/>
                        <a:sym typeface="Arial"/>
                      </a:endParaRPr>
                    </a:p>
                  </a:txBody>
                  <a:tcPr marT="333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5425">
                <a:tc>
                  <a:txBody>
                    <a:bodyPr/>
                    <a:lstStyle/>
                    <a:p>
                      <a:pPr indent="0" lvl="0" marL="152400" marR="0" rtl="0" algn="l">
                        <a:lnSpc>
                          <a:spcPct val="119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ii</a:t>
                      </a:r>
                      <a:endParaRPr sz="1000" u="none" cap="none" strike="noStrike">
                        <a:latin typeface="Arial"/>
                        <a:ea typeface="Arial"/>
                        <a:cs typeface="Arial"/>
                        <a:sym typeface="Arial"/>
                      </a:endParaRPr>
                    </a:p>
                  </a:txBody>
                  <a:tcPr marT="299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94615" rtl="0" algn="ctr">
                        <a:lnSpc>
                          <a:spcPct val="1165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OK</a:t>
                      </a:r>
                      <a:endParaRPr sz="1000" u="none" cap="none" strike="noStrike">
                        <a:latin typeface="Arial"/>
                        <a:ea typeface="Arial"/>
                        <a:cs typeface="Arial"/>
                        <a:sym typeface="Arial"/>
                      </a:endParaRPr>
                    </a:p>
                  </a:txBody>
                  <a:tcPr marT="333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85090" rtl="0" algn="ctr">
                        <a:lnSpc>
                          <a:spcPct val="1165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OK</a:t>
                      </a:r>
                      <a:endParaRPr sz="1000" u="none" cap="none" strike="noStrike">
                        <a:latin typeface="Arial"/>
                        <a:ea typeface="Arial"/>
                        <a:cs typeface="Arial"/>
                        <a:sym typeface="Arial"/>
                      </a:endParaRPr>
                    </a:p>
                  </a:txBody>
                  <a:tcPr marT="333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8825">
                <a:tc>
                  <a:txBody>
                    <a:bodyPr/>
                    <a:lstStyle/>
                    <a:p>
                      <a:pPr indent="0" lvl="0" marL="152400" marR="0" rtl="0" algn="l">
                        <a:lnSpc>
                          <a:spcPct val="100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iii</a:t>
                      </a:r>
                      <a:endParaRPr sz="1000" u="none" cap="none" strike="noStrike">
                        <a:latin typeface="Arial"/>
                        <a:ea typeface="Arial"/>
                        <a:cs typeface="Arial"/>
                        <a:sym typeface="Arial"/>
                      </a:endParaRPr>
                    </a:p>
                  </a:txBody>
                  <a:tcPr marT="306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94615" rtl="0" algn="ctr">
                        <a:lnSpc>
                          <a:spcPct val="119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OK</a:t>
                      </a:r>
                      <a:endParaRPr sz="1000" u="none" cap="none" strike="noStrike">
                        <a:latin typeface="Arial"/>
                        <a:ea typeface="Arial"/>
                        <a:cs typeface="Arial"/>
                        <a:sym typeface="Arial"/>
                      </a:endParaRPr>
                    </a:p>
                  </a:txBody>
                  <a:tcPr marT="340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85090" rtl="0" algn="ctr">
                        <a:lnSpc>
                          <a:spcPct val="119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OK</a:t>
                      </a:r>
                      <a:endParaRPr sz="1000" u="none" cap="none" strike="noStrike">
                        <a:latin typeface="Arial"/>
                        <a:ea typeface="Arial"/>
                        <a:cs typeface="Arial"/>
                        <a:sym typeface="Arial"/>
                      </a:endParaRPr>
                    </a:p>
                  </a:txBody>
                  <a:tcPr marT="340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5425">
                <a:tc>
                  <a:txBody>
                    <a:bodyPr/>
                    <a:lstStyle/>
                    <a:p>
                      <a:pPr indent="0" lvl="0" marL="152400" marR="0" rtl="0" algn="l">
                        <a:lnSpc>
                          <a:spcPct val="119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iv</a:t>
                      </a:r>
                      <a:endParaRPr sz="1000" u="none" cap="none" strike="noStrike">
                        <a:latin typeface="Arial"/>
                        <a:ea typeface="Arial"/>
                        <a:cs typeface="Arial"/>
                        <a:sym typeface="Arial"/>
                      </a:endParaRPr>
                    </a:p>
                  </a:txBody>
                  <a:tcPr marT="299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94615" rtl="0" algn="ctr">
                        <a:lnSpc>
                          <a:spcPct val="119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OK</a:t>
                      </a:r>
                      <a:endParaRPr sz="1000" u="none" cap="none" strike="noStrike">
                        <a:latin typeface="Arial"/>
                        <a:ea typeface="Arial"/>
                        <a:cs typeface="Arial"/>
                        <a:sym typeface="Arial"/>
                      </a:endParaRPr>
                    </a:p>
                  </a:txBody>
                  <a:tcPr marT="299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85090" rtl="0" algn="ctr">
                        <a:lnSpc>
                          <a:spcPct val="119000"/>
                        </a:lnSpc>
                        <a:spcBef>
                          <a:spcPts val="0"/>
                        </a:spcBef>
                        <a:spcAft>
                          <a:spcPts val="0"/>
                        </a:spcAft>
                        <a:buClr>
                          <a:srgbClr val="000000"/>
                        </a:buClr>
                        <a:buSzPts val="1000"/>
                        <a:buFont typeface="Arial"/>
                        <a:buNone/>
                      </a:pPr>
                      <a:r>
                        <a:rPr lang="en-US" sz="1000" u="none" cap="none" strike="noStrike">
                          <a:latin typeface="Arial"/>
                          <a:ea typeface="Arial"/>
                          <a:cs typeface="Arial"/>
                          <a:sym typeface="Arial"/>
                        </a:rPr>
                        <a:t>OK</a:t>
                      </a:r>
                      <a:endParaRPr sz="1000" u="none" cap="none" strike="noStrike">
                        <a:latin typeface="Arial"/>
                        <a:ea typeface="Arial"/>
                        <a:cs typeface="Arial"/>
                        <a:sym typeface="Arial"/>
                      </a:endParaRPr>
                    </a:p>
                  </a:txBody>
                  <a:tcPr marT="299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09" name="Google Shape;109;p13"/>
          <p:cNvSpPr txBox="1"/>
          <p:nvPr/>
        </p:nvSpPr>
        <p:spPr>
          <a:xfrm>
            <a:off x="2676265" y="4608956"/>
            <a:ext cx="5753549" cy="546576"/>
          </a:xfrm>
          <a:prstGeom prst="rect">
            <a:avLst/>
          </a:prstGeom>
          <a:noFill/>
          <a:ln>
            <a:noFill/>
          </a:ln>
        </p:spPr>
        <p:txBody>
          <a:bodyPr anchorCtr="0" anchor="t" bIns="0" lIns="0" spcFirstLastPara="1" rIns="0" wrap="square" tIns="18350">
            <a:spAutoFit/>
          </a:bodyPr>
          <a:lstStyle/>
          <a:p>
            <a:pPr indent="-248960" lvl="0" marL="261887" marR="5442" rtl="0" algn="just">
              <a:lnSpc>
                <a:spcPct val="97400"/>
              </a:lnSpc>
              <a:spcBef>
                <a:spcPts val="0"/>
              </a:spcBef>
              <a:spcAft>
                <a:spcPts val="0"/>
              </a:spcAft>
              <a:buClr>
                <a:srgbClr val="000000"/>
              </a:buClr>
              <a:buSzPts val="1179"/>
              <a:buFont typeface="Arial"/>
              <a:buNone/>
            </a:pPr>
            <a:r>
              <a:rPr b="1" i="0" lang="en-US" sz="1179" u="none" cap="none" strike="noStrike">
                <a:solidFill>
                  <a:schemeClr val="dk1"/>
                </a:solidFill>
                <a:latin typeface="Arial"/>
                <a:ea typeface="Arial"/>
                <a:cs typeface="Arial"/>
                <a:sym typeface="Arial"/>
              </a:rPr>
              <a:t>2.  Installation, cabling and marking: </a:t>
            </a:r>
            <a:r>
              <a:rPr b="0" i="0" lang="en-US" sz="1179" u="none" cap="none" strike="noStrike">
                <a:solidFill>
                  <a:schemeClr val="dk1"/>
                </a:solidFill>
                <a:latin typeface="Arial"/>
                <a:ea typeface="Arial"/>
                <a:cs typeface="Arial"/>
                <a:sym typeface="Arial"/>
              </a:rPr>
              <a:t>All cabling should be done by straight wire without having any joint in between. Marking should be at both ends to identify the cable as per documentation and correlate both ends.</a:t>
            </a:r>
            <a:endParaRPr b="0" i="0" sz="1179" u="none" cap="none" strike="noStrike">
              <a:solidFill>
                <a:schemeClr val="dk1"/>
              </a:solidFill>
              <a:latin typeface="Arial"/>
              <a:ea typeface="Arial"/>
              <a:cs typeface="Arial"/>
              <a:sym typeface="Arial"/>
            </a:endParaRPr>
          </a:p>
        </p:txBody>
      </p:sp>
      <p:graphicFrame>
        <p:nvGraphicFramePr>
          <p:cNvPr id="110" name="Google Shape;110;p13"/>
          <p:cNvGraphicFramePr/>
          <p:nvPr/>
        </p:nvGraphicFramePr>
        <p:xfrm>
          <a:off x="3049392" y="5573140"/>
          <a:ext cx="3000000" cy="3000000"/>
        </p:xfrm>
        <a:graphic>
          <a:graphicData uri="http://schemas.openxmlformats.org/drawingml/2006/table">
            <a:tbl>
              <a:tblPr bandRow="1" firstRow="1">
                <a:noFill/>
                <a:tableStyleId>{6E646390-14D1-40E7-8574-0D387628F5A2}</a:tableStyleId>
              </a:tblPr>
              <a:tblGrid>
                <a:gridCol w="3733200"/>
                <a:gridCol w="1655725"/>
                <a:gridCol w="1019025"/>
              </a:tblGrid>
              <a:tr h="257825">
                <a:tc>
                  <a:txBody>
                    <a:bodyPr/>
                    <a:lstStyle/>
                    <a:p>
                      <a:pPr indent="0" lvl="0" marL="69850" marR="0" rtl="0" algn="l">
                        <a:lnSpc>
                          <a:spcPct val="100000"/>
                        </a:lnSpc>
                        <a:spcBef>
                          <a:spcPts val="0"/>
                        </a:spcBef>
                        <a:spcAft>
                          <a:spcPts val="0"/>
                        </a:spcAft>
                        <a:buClr>
                          <a:srgbClr val="000000"/>
                        </a:buClr>
                        <a:buSzPts val="1100"/>
                        <a:buFont typeface="Arial"/>
                        <a:buNone/>
                      </a:pPr>
                      <a:r>
                        <a:rPr b="1" lang="en-US" sz="1100" u="none" cap="none" strike="noStrike">
                          <a:latin typeface="Arial"/>
                          <a:ea typeface="Arial"/>
                          <a:cs typeface="Arial"/>
                          <a:sym typeface="Arial"/>
                        </a:rPr>
                        <a:t>CHECK</a:t>
                      </a:r>
                      <a:endParaRPr sz="1100" u="none" cap="none" strike="noStrike">
                        <a:latin typeface="Arial"/>
                        <a:ea typeface="Arial"/>
                        <a:cs typeface="Arial"/>
                        <a:sym typeface="Arial"/>
                      </a:endParaRPr>
                    </a:p>
                  </a:txBody>
                  <a:tcPr marT="265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3025" marR="0" rtl="0" algn="l">
                        <a:lnSpc>
                          <a:spcPct val="100000"/>
                        </a:lnSpc>
                        <a:spcBef>
                          <a:spcPts val="0"/>
                        </a:spcBef>
                        <a:spcAft>
                          <a:spcPts val="0"/>
                        </a:spcAft>
                        <a:buClr>
                          <a:srgbClr val="000000"/>
                        </a:buClr>
                        <a:buSzPts val="1100"/>
                        <a:buFont typeface="Arial"/>
                        <a:buNone/>
                      </a:pPr>
                      <a:r>
                        <a:rPr b="1" lang="en-US" sz="1100" u="none" cap="none" strike="noStrike">
                          <a:latin typeface="Arial"/>
                          <a:ea typeface="Arial"/>
                          <a:cs typeface="Arial"/>
                          <a:sym typeface="Arial"/>
                        </a:rPr>
                        <a:t>STATUS (OK/NOK)</a:t>
                      </a:r>
                      <a:endParaRPr sz="1100" u="none" cap="none" strike="noStrike">
                        <a:latin typeface="Arial"/>
                        <a:ea typeface="Arial"/>
                        <a:cs typeface="Arial"/>
                        <a:sym typeface="Arial"/>
                      </a:endParaRPr>
                    </a:p>
                  </a:txBody>
                  <a:tcPr marT="265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0485" marR="0" rtl="0" algn="l">
                        <a:lnSpc>
                          <a:spcPct val="100000"/>
                        </a:lnSpc>
                        <a:spcBef>
                          <a:spcPts val="0"/>
                        </a:spcBef>
                        <a:spcAft>
                          <a:spcPts val="0"/>
                        </a:spcAft>
                        <a:buClr>
                          <a:srgbClr val="000000"/>
                        </a:buClr>
                        <a:buSzPts val="1100"/>
                        <a:buFont typeface="Arial"/>
                        <a:buNone/>
                      </a:pPr>
                      <a:r>
                        <a:rPr b="1" lang="en-US" sz="1100" u="none" cap="none" strike="noStrike">
                          <a:latin typeface="Arial"/>
                          <a:ea typeface="Arial"/>
                          <a:cs typeface="Arial"/>
                          <a:sym typeface="Arial"/>
                        </a:rPr>
                        <a:t>REMARK</a:t>
                      </a:r>
                      <a:endParaRPr sz="1100" u="none" cap="none" strike="noStrike">
                        <a:latin typeface="Arial"/>
                        <a:ea typeface="Arial"/>
                        <a:cs typeface="Arial"/>
                        <a:sym typeface="Arial"/>
                      </a:endParaRPr>
                    </a:p>
                  </a:txBody>
                  <a:tcPr marT="265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30600">
                <a:tc>
                  <a:txBody>
                    <a:bodyPr/>
                    <a:lstStyle/>
                    <a:p>
                      <a:pPr indent="0" lvl="0" marL="69850" marR="215900" rtl="0" algn="l">
                        <a:lnSpc>
                          <a:spcPct val="115454"/>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Check the installation and cabling, crimping of cable and iron work of the eNode-B.</a:t>
                      </a:r>
                      <a:endParaRPr sz="1100" u="none" cap="none" strike="noStrike">
                        <a:latin typeface="Arial"/>
                        <a:ea typeface="Arial"/>
                        <a:cs typeface="Arial"/>
                        <a:sym typeface="Arial"/>
                      </a:endParaRPr>
                    </a:p>
                  </a:txBody>
                  <a:tcPr marT="442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175" marR="0" rtl="0" algn="ctr">
                        <a:lnSpc>
                          <a:spcPct val="113636"/>
                        </a:lnSpc>
                        <a:spcBef>
                          <a:spcPts val="0"/>
                        </a:spcBef>
                        <a:spcAft>
                          <a:spcPts val="0"/>
                        </a:spcAft>
                        <a:buClr>
                          <a:srgbClr val="000000"/>
                        </a:buClr>
                        <a:buSzPts val="1100"/>
                        <a:buFont typeface="Arial"/>
                        <a:buNone/>
                      </a:pPr>
                      <a:r>
                        <a:rPr lang="en-US" sz="1100" u="none" cap="none" strike="noStrike">
                          <a:latin typeface="Times New Roman"/>
                          <a:ea typeface="Times New Roman"/>
                          <a:cs typeface="Times New Roman"/>
                          <a:sym typeface="Times New Roman"/>
                        </a:rPr>
                        <a:t>OK</a:t>
                      </a:r>
                      <a:endParaRPr sz="11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34000">
                <a:tc>
                  <a:txBody>
                    <a:bodyPr/>
                    <a:lstStyle/>
                    <a:p>
                      <a:pPr indent="0" lvl="0" marL="69850" marR="386080" rtl="0" algn="l">
                        <a:lnSpc>
                          <a:spcPct val="115454"/>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Check of proper laying of CPRI &amp; its termination / RF connectors &amp; sealing of CPRI cable.</a:t>
                      </a:r>
                      <a:endParaRPr sz="1100" u="none" cap="none" strike="noStrike">
                        <a:latin typeface="Arial"/>
                        <a:ea typeface="Arial"/>
                        <a:cs typeface="Arial"/>
                        <a:sym typeface="Arial"/>
                      </a:endParaRPr>
                    </a:p>
                  </a:txBody>
                  <a:tcPr marT="442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175" marR="0" rtl="0" algn="ctr">
                        <a:lnSpc>
                          <a:spcPct val="113636"/>
                        </a:lnSpc>
                        <a:spcBef>
                          <a:spcPts val="0"/>
                        </a:spcBef>
                        <a:spcAft>
                          <a:spcPts val="0"/>
                        </a:spcAft>
                        <a:buClr>
                          <a:srgbClr val="000000"/>
                        </a:buClr>
                        <a:buSzPts val="1100"/>
                        <a:buFont typeface="Arial"/>
                        <a:buNone/>
                      </a:pPr>
                      <a:r>
                        <a:rPr lang="en-US" sz="1100" u="none" cap="none" strike="noStrike">
                          <a:latin typeface="Times New Roman"/>
                          <a:ea typeface="Times New Roman"/>
                          <a:cs typeface="Times New Roman"/>
                          <a:sym typeface="Times New Roman"/>
                        </a:rPr>
                        <a:t>OK</a:t>
                      </a:r>
                      <a:endParaRPr sz="11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0525">
                <a:tc>
                  <a:txBody>
                    <a:bodyPr/>
                    <a:lstStyle/>
                    <a:p>
                      <a:pPr indent="0" lvl="0" marL="69850"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Labelling of CPRI.</a:t>
                      </a:r>
                      <a:endParaRPr sz="1100" u="none" cap="none" strike="noStrike">
                        <a:latin typeface="Arial"/>
                        <a:ea typeface="Arial"/>
                        <a:cs typeface="Arial"/>
                        <a:sym typeface="Arial"/>
                      </a:endParaRPr>
                    </a:p>
                  </a:txBody>
                  <a:tcPr marT="333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175" marR="0" rtl="0" algn="ctr">
                        <a:lnSpc>
                          <a:spcPct val="111818"/>
                        </a:lnSpc>
                        <a:spcBef>
                          <a:spcPts val="0"/>
                        </a:spcBef>
                        <a:spcAft>
                          <a:spcPts val="0"/>
                        </a:spcAft>
                        <a:buClr>
                          <a:srgbClr val="000000"/>
                        </a:buClr>
                        <a:buSzPts val="1100"/>
                        <a:buFont typeface="Arial"/>
                        <a:buNone/>
                      </a:pPr>
                      <a:r>
                        <a:rPr lang="en-US" sz="1100" u="none" cap="none" strike="noStrike">
                          <a:latin typeface="Times New Roman"/>
                          <a:ea typeface="Times New Roman"/>
                          <a:cs typeface="Times New Roman"/>
                          <a:sym typeface="Times New Roman"/>
                        </a:rPr>
                        <a:t>OK</a:t>
                      </a:r>
                      <a:endParaRPr sz="11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1225">
                <a:tc>
                  <a:txBody>
                    <a:bodyPr/>
                    <a:lstStyle/>
                    <a:p>
                      <a:pPr indent="0" lvl="0" marL="69850"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CPRI Details.</a:t>
                      </a:r>
                      <a:endParaRPr sz="1100" u="none" cap="none" strike="noStrike">
                        <a:latin typeface="Arial"/>
                        <a:ea typeface="Arial"/>
                        <a:cs typeface="Arial"/>
                        <a:sym typeface="Arial"/>
                      </a:endParaRPr>
                    </a:p>
                  </a:txBody>
                  <a:tcPr marT="299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2390" marR="0" rtl="0" algn="ctr">
                        <a:lnSpc>
                          <a:spcPct val="100000"/>
                        </a:lnSpc>
                        <a:spcBef>
                          <a:spcPts val="0"/>
                        </a:spcBef>
                        <a:spcAft>
                          <a:spcPts val="0"/>
                        </a:spcAft>
                        <a:buClr>
                          <a:srgbClr val="000000"/>
                        </a:buClr>
                        <a:buSzPts val="1100"/>
                        <a:buFont typeface="Arial"/>
                        <a:buNone/>
                      </a:pPr>
                      <a:r>
                        <a:rPr lang="en-US" sz="1100" u="none" cap="none" strike="noStrike">
                          <a:latin typeface="Times New Roman"/>
                          <a:ea typeface="Times New Roman"/>
                          <a:cs typeface="Times New Roman"/>
                          <a:sym typeface="Times New Roman"/>
                        </a:rPr>
                        <a:t>Make:</a:t>
                      </a:r>
                      <a:endParaRPr sz="1100" u="none" cap="none" strike="noStrike">
                        <a:latin typeface="Times New Roman"/>
                        <a:ea typeface="Times New Roman"/>
                        <a:cs typeface="Times New Roman"/>
                        <a:sym typeface="Times New Roman"/>
                      </a:endParaRPr>
                    </a:p>
                  </a:txBody>
                  <a:tcPr marT="265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0485" marR="0" rtl="0" algn="l">
                        <a:lnSpc>
                          <a:spcPct val="100000"/>
                        </a:lnSpc>
                        <a:spcBef>
                          <a:spcPts val="0"/>
                        </a:spcBef>
                        <a:spcAft>
                          <a:spcPts val="0"/>
                        </a:spcAft>
                        <a:buClr>
                          <a:srgbClr val="000000"/>
                        </a:buClr>
                        <a:buSzPts val="1100"/>
                        <a:buFont typeface="Arial"/>
                        <a:buNone/>
                      </a:pPr>
                      <a:r>
                        <a:rPr lang="en-US" sz="1100" u="none" cap="none" strike="noStrike">
                          <a:latin typeface="Times New Roman"/>
                          <a:ea typeface="Times New Roman"/>
                          <a:cs typeface="Times New Roman"/>
                          <a:sym typeface="Times New Roman"/>
                        </a:rPr>
                        <a:t>Size: 80M</a:t>
                      </a:r>
                      <a:endParaRPr sz="1100" u="none" cap="none" strike="noStrike">
                        <a:latin typeface="Times New Roman"/>
                        <a:ea typeface="Times New Roman"/>
                        <a:cs typeface="Times New Roman"/>
                        <a:sym typeface="Times New Roman"/>
                      </a:endParaRPr>
                    </a:p>
                  </a:txBody>
                  <a:tcPr marT="265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8975">
                <a:tc>
                  <a:txBody>
                    <a:bodyPr/>
                    <a:lstStyle/>
                    <a:p>
                      <a:pPr indent="0" lvl="0" marL="69850"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Data Rate/CPRI.</a:t>
                      </a:r>
                      <a:endParaRPr sz="1100" u="none" cap="none" strike="noStrike">
                        <a:latin typeface="Arial"/>
                        <a:ea typeface="Arial"/>
                        <a:cs typeface="Arial"/>
                        <a:sym typeface="Arial"/>
                      </a:endParaRPr>
                    </a:p>
                  </a:txBody>
                  <a:tcPr marT="299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905" marR="0" rtl="0" algn="ctr">
                        <a:lnSpc>
                          <a:spcPct val="109545"/>
                        </a:lnSpc>
                        <a:spcBef>
                          <a:spcPts val="0"/>
                        </a:spcBef>
                        <a:spcAft>
                          <a:spcPts val="0"/>
                        </a:spcAft>
                        <a:buClr>
                          <a:srgbClr val="000000"/>
                        </a:buClr>
                        <a:buSzPts val="1100"/>
                        <a:buFont typeface="Arial"/>
                        <a:buNone/>
                      </a:pPr>
                      <a:r>
                        <a:rPr lang="en-US" sz="1100" u="none" cap="none" strike="noStrike">
                          <a:latin typeface="Times New Roman"/>
                          <a:ea typeface="Times New Roman"/>
                          <a:cs typeface="Times New Roman"/>
                          <a:sym typeface="Times New Roman"/>
                        </a:rPr>
                        <a:t>1.2GBPS per CPRI/Huber</a:t>
                      </a:r>
                      <a:endParaRPr sz="1100" u="none" cap="none" strike="noStrike">
                        <a:latin typeface="Times New Roman"/>
                        <a:ea typeface="Times New Roman"/>
                        <a:cs typeface="Times New Roman"/>
                        <a:sym typeface="Times New Roman"/>
                      </a:endParaRPr>
                    </a:p>
                    <a:p>
                      <a:pPr indent="0" lvl="0" marL="2540" marR="0" rtl="0" algn="ctr">
                        <a:lnSpc>
                          <a:spcPct val="115000"/>
                        </a:lnSpc>
                        <a:spcBef>
                          <a:spcPts val="0"/>
                        </a:spcBef>
                        <a:spcAft>
                          <a:spcPts val="0"/>
                        </a:spcAft>
                        <a:buClr>
                          <a:srgbClr val="000000"/>
                        </a:buClr>
                        <a:buSzPts val="1100"/>
                        <a:buFont typeface="Arial"/>
                        <a:buNone/>
                      </a:pPr>
                      <a:r>
                        <a:rPr lang="en-US" sz="1100" u="none" cap="none" strike="noStrike">
                          <a:latin typeface="Times New Roman"/>
                          <a:ea typeface="Times New Roman"/>
                          <a:cs typeface="Times New Roman"/>
                          <a:sym typeface="Times New Roman"/>
                        </a:rPr>
                        <a:t>+ Suhnu</a:t>
                      </a:r>
                      <a:endParaRPr sz="11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11" name="Google Shape;111;p13"/>
          <p:cNvSpPr txBox="1"/>
          <p:nvPr/>
        </p:nvSpPr>
        <p:spPr>
          <a:xfrm>
            <a:off x="2676262" y="7982856"/>
            <a:ext cx="1781572" cy="195884"/>
          </a:xfrm>
          <a:prstGeom prst="rect">
            <a:avLst/>
          </a:prstGeom>
          <a:noFill/>
          <a:ln>
            <a:noFill/>
          </a:ln>
        </p:spPr>
        <p:txBody>
          <a:bodyPr anchorCtr="0" anchor="t" bIns="0" lIns="0" spcFirstLastPara="1" rIns="0" wrap="square" tIns="14275">
            <a:spAutoFit/>
          </a:bodyPr>
          <a:lstStyle/>
          <a:p>
            <a:pPr indent="0" lvl="0" marL="13603" marR="0" rtl="0" algn="l">
              <a:lnSpc>
                <a:spcPct val="100000"/>
              </a:lnSpc>
              <a:spcBef>
                <a:spcPts val="0"/>
              </a:spcBef>
              <a:spcAft>
                <a:spcPts val="0"/>
              </a:spcAft>
              <a:buClr>
                <a:srgbClr val="000000"/>
              </a:buClr>
              <a:buSzPts val="1179"/>
              <a:buFont typeface="Arial"/>
              <a:buNone/>
            </a:pPr>
            <a:r>
              <a:rPr b="1" i="0" lang="en-US" sz="1179" u="none" cap="none" strike="noStrike">
                <a:solidFill>
                  <a:schemeClr val="dk1"/>
                </a:solidFill>
                <a:latin typeface="Arial"/>
                <a:ea typeface="Arial"/>
                <a:cs typeface="Arial"/>
                <a:sym typeface="Arial"/>
              </a:rPr>
              <a:t>3.  Power Measurement:</a:t>
            </a:r>
            <a:endParaRPr b="0" i="0" sz="1179" u="none" cap="none" strike="noStrike">
              <a:solidFill>
                <a:schemeClr val="dk1"/>
              </a:solidFill>
              <a:latin typeface="Arial"/>
              <a:ea typeface="Arial"/>
              <a:cs typeface="Arial"/>
              <a:sym typeface="Arial"/>
            </a:endParaRPr>
          </a:p>
        </p:txBody>
      </p:sp>
      <p:graphicFrame>
        <p:nvGraphicFramePr>
          <p:cNvPr id="112" name="Google Shape;112;p13"/>
          <p:cNvGraphicFramePr/>
          <p:nvPr/>
        </p:nvGraphicFramePr>
        <p:xfrm>
          <a:off x="3049392" y="8192372"/>
          <a:ext cx="3000000" cy="3000000"/>
        </p:xfrm>
        <a:graphic>
          <a:graphicData uri="http://schemas.openxmlformats.org/drawingml/2006/table">
            <a:tbl>
              <a:tblPr bandRow="1" firstRow="1">
                <a:noFill/>
                <a:tableStyleId>{6E646390-14D1-40E7-8574-0D387628F5A2}</a:tableStyleId>
              </a:tblPr>
              <a:tblGrid>
                <a:gridCol w="2939350"/>
                <a:gridCol w="1531925"/>
                <a:gridCol w="1836000"/>
              </a:tblGrid>
              <a:tr h="261225">
                <a:tc>
                  <a:txBody>
                    <a:bodyPr/>
                    <a:lstStyle/>
                    <a:p>
                      <a:pPr indent="0" lvl="0" marL="69850" marR="0" rtl="0" algn="l">
                        <a:lnSpc>
                          <a:spcPct val="100000"/>
                        </a:lnSpc>
                        <a:spcBef>
                          <a:spcPts val="0"/>
                        </a:spcBef>
                        <a:spcAft>
                          <a:spcPts val="0"/>
                        </a:spcAft>
                        <a:buClr>
                          <a:srgbClr val="000000"/>
                        </a:buClr>
                        <a:buSzPts val="1100"/>
                        <a:buFont typeface="Arial"/>
                        <a:buNone/>
                      </a:pPr>
                      <a:r>
                        <a:rPr b="1" lang="en-US" sz="1100" u="none" cap="none" strike="noStrike">
                          <a:latin typeface="Arial"/>
                          <a:ea typeface="Arial"/>
                          <a:cs typeface="Arial"/>
                          <a:sym typeface="Arial"/>
                        </a:rPr>
                        <a:t>CHECK</a:t>
                      </a:r>
                      <a:endParaRPr sz="1100" u="none" cap="none" strike="noStrike">
                        <a:latin typeface="Arial"/>
                        <a:ea typeface="Arial"/>
                        <a:cs typeface="Arial"/>
                        <a:sym typeface="Arial"/>
                      </a:endParaRPr>
                    </a:p>
                  </a:txBody>
                  <a:tcPr marT="299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43180" rtl="0" algn="ctr">
                        <a:lnSpc>
                          <a:spcPct val="100000"/>
                        </a:lnSpc>
                        <a:spcBef>
                          <a:spcPts val="0"/>
                        </a:spcBef>
                        <a:spcAft>
                          <a:spcPts val="0"/>
                        </a:spcAft>
                        <a:buClr>
                          <a:srgbClr val="000000"/>
                        </a:buClr>
                        <a:buSzPts val="1100"/>
                        <a:buFont typeface="Arial"/>
                        <a:buNone/>
                      </a:pPr>
                      <a:r>
                        <a:rPr b="1" lang="en-US" sz="1100" u="none" cap="none" strike="noStrike">
                          <a:latin typeface="Arial"/>
                          <a:ea typeface="Arial"/>
                          <a:cs typeface="Arial"/>
                          <a:sym typeface="Arial"/>
                        </a:rPr>
                        <a:t>STATUS (OK/NOK)</a:t>
                      </a:r>
                      <a:endParaRPr sz="1100" u="none" cap="none" strike="noStrike">
                        <a:latin typeface="Arial"/>
                        <a:ea typeface="Arial"/>
                        <a:cs typeface="Arial"/>
                        <a:sym typeface="Arial"/>
                      </a:endParaRPr>
                    </a:p>
                  </a:txBody>
                  <a:tcPr marT="299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9850" marR="0" rtl="0" algn="l">
                        <a:lnSpc>
                          <a:spcPct val="100000"/>
                        </a:lnSpc>
                        <a:spcBef>
                          <a:spcPts val="0"/>
                        </a:spcBef>
                        <a:spcAft>
                          <a:spcPts val="0"/>
                        </a:spcAft>
                        <a:buClr>
                          <a:srgbClr val="000000"/>
                        </a:buClr>
                        <a:buSzPts val="1100"/>
                        <a:buFont typeface="Arial"/>
                        <a:buNone/>
                      </a:pPr>
                      <a:r>
                        <a:rPr b="1" lang="en-US" sz="1100" u="none" cap="none" strike="noStrike">
                          <a:latin typeface="Arial"/>
                          <a:ea typeface="Arial"/>
                          <a:cs typeface="Arial"/>
                          <a:sym typeface="Arial"/>
                        </a:rPr>
                        <a:t>REMARK</a:t>
                      </a:r>
                      <a:endParaRPr sz="1100" u="none" cap="none" strike="noStrike">
                        <a:latin typeface="Arial"/>
                        <a:ea typeface="Arial"/>
                        <a:cs typeface="Arial"/>
                        <a:sym typeface="Arial"/>
                      </a:endParaRPr>
                    </a:p>
                  </a:txBody>
                  <a:tcPr marT="299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1225">
                <a:tc>
                  <a:txBody>
                    <a:bodyPr/>
                    <a:lstStyle/>
                    <a:p>
                      <a:pPr indent="0" lvl="0" marL="115570"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Polarity and labelling of power cables.</a:t>
                      </a:r>
                      <a:endParaRPr sz="1100" u="none" cap="none" strike="noStrike">
                        <a:latin typeface="Arial"/>
                        <a:ea typeface="Arial"/>
                        <a:cs typeface="Arial"/>
                        <a:sym typeface="Arial"/>
                      </a:endParaRPr>
                    </a:p>
                  </a:txBody>
                  <a:tcPr marT="333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4090"/>
                        </a:lnSpc>
                        <a:spcBef>
                          <a:spcPts val="0"/>
                        </a:spcBef>
                        <a:spcAft>
                          <a:spcPts val="0"/>
                        </a:spcAft>
                        <a:buClr>
                          <a:srgbClr val="000000"/>
                        </a:buClr>
                        <a:buSzPts val="1100"/>
                        <a:buFont typeface="Arial"/>
                        <a:buNone/>
                      </a:pPr>
                      <a:r>
                        <a:rPr lang="en-US" sz="1100" u="none" cap="none" strike="noStrike">
                          <a:latin typeface="Times New Roman"/>
                          <a:ea typeface="Times New Roman"/>
                          <a:cs typeface="Times New Roman"/>
                          <a:sym typeface="Times New Roman"/>
                        </a:rPr>
                        <a:t>OK</a:t>
                      </a:r>
                      <a:endParaRPr sz="11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540" marR="0" rtl="0" algn="l">
                        <a:lnSpc>
                          <a:spcPct val="114090"/>
                        </a:lnSpc>
                        <a:spcBef>
                          <a:spcPts val="0"/>
                        </a:spcBef>
                        <a:spcAft>
                          <a:spcPts val="0"/>
                        </a:spcAft>
                        <a:buClr>
                          <a:srgbClr val="000000"/>
                        </a:buClr>
                        <a:buSzPts val="1100"/>
                        <a:buFont typeface="Arial"/>
                        <a:buNone/>
                      </a:pPr>
                      <a:r>
                        <a:rPr lang="en-US" sz="1100" u="none" cap="none" strike="noStrike">
                          <a:latin typeface="Times New Roman"/>
                          <a:ea typeface="Times New Roman"/>
                          <a:cs typeface="Times New Roman"/>
                          <a:sym typeface="Times New Roman"/>
                        </a:rPr>
                        <a:t>Good</a:t>
                      </a:r>
                      <a:endParaRPr sz="11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825">
                <a:tc>
                  <a:txBody>
                    <a:bodyPr/>
                    <a:lstStyle/>
                    <a:p>
                      <a:pPr indent="0" lvl="0" marL="115570"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Measure the voltage at battery point.</a:t>
                      </a:r>
                      <a:endParaRPr sz="1100" u="none" cap="none" strike="noStrike">
                        <a:latin typeface="Arial"/>
                        <a:ea typeface="Arial"/>
                        <a:cs typeface="Arial"/>
                        <a:sym typeface="Arial"/>
                      </a:endParaRPr>
                    </a:p>
                  </a:txBody>
                  <a:tcPr marT="299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1818"/>
                        </a:lnSpc>
                        <a:spcBef>
                          <a:spcPts val="0"/>
                        </a:spcBef>
                        <a:spcAft>
                          <a:spcPts val="0"/>
                        </a:spcAft>
                        <a:buClr>
                          <a:srgbClr val="000000"/>
                        </a:buClr>
                        <a:buSzPts val="1100"/>
                        <a:buFont typeface="Arial"/>
                        <a:buNone/>
                      </a:pPr>
                      <a:r>
                        <a:rPr lang="en-US" sz="1100" u="none" cap="none" strike="noStrike">
                          <a:latin typeface="Times New Roman"/>
                          <a:ea typeface="Times New Roman"/>
                          <a:cs typeface="Times New Roman"/>
                          <a:sym typeface="Times New Roman"/>
                        </a:rPr>
                        <a:t>OK</a:t>
                      </a:r>
                      <a:endParaRPr sz="11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540" marR="0" rtl="0" algn="l">
                        <a:lnSpc>
                          <a:spcPct val="111818"/>
                        </a:lnSpc>
                        <a:spcBef>
                          <a:spcPts val="0"/>
                        </a:spcBef>
                        <a:spcAft>
                          <a:spcPts val="0"/>
                        </a:spcAft>
                        <a:buClr>
                          <a:srgbClr val="000000"/>
                        </a:buClr>
                        <a:buSzPts val="1100"/>
                        <a:buFont typeface="Arial"/>
                        <a:buNone/>
                      </a:pPr>
                      <a:r>
                        <a:rPr lang="en-US" sz="1100" u="none" cap="none" strike="noStrike">
                          <a:latin typeface="Times New Roman"/>
                          <a:ea typeface="Times New Roman"/>
                          <a:cs typeface="Times New Roman"/>
                          <a:sym typeface="Times New Roman"/>
                        </a:rPr>
                        <a:t>52.24 V</a:t>
                      </a:r>
                      <a:endParaRPr sz="11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1225">
                <a:tc>
                  <a:txBody>
                    <a:bodyPr/>
                    <a:lstStyle/>
                    <a:p>
                      <a:pPr indent="0" lvl="0" marL="115570"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Measure input voltage to ODC.</a:t>
                      </a:r>
                      <a:endParaRPr sz="1100" u="none" cap="none" strike="noStrike">
                        <a:latin typeface="Arial"/>
                        <a:ea typeface="Arial"/>
                        <a:cs typeface="Arial"/>
                        <a:sym typeface="Arial"/>
                      </a:endParaRPr>
                    </a:p>
                  </a:txBody>
                  <a:tcPr marT="333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3636"/>
                        </a:lnSpc>
                        <a:spcBef>
                          <a:spcPts val="0"/>
                        </a:spcBef>
                        <a:spcAft>
                          <a:spcPts val="0"/>
                        </a:spcAft>
                        <a:buClr>
                          <a:srgbClr val="000000"/>
                        </a:buClr>
                        <a:buSzPts val="1100"/>
                        <a:buFont typeface="Arial"/>
                        <a:buNone/>
                      </a:pPr>
                      <a:r>
                        <a:rPr lang="en-US" sz="1100" u="none" cap="none" strike="noStrike">
                          <a:latin typeface="Times New Roman"/>
                          <a:ea typeface="Times New Roman"/>
                          <a:cs typeface="Times New Roman"/>
                          <a:sym typeface="Times New Roman"/>
                        </a:rPr>
                        <a:t>OK</a:t>
                      </a:r>
                      <a:endParaRPr sz="11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540" marR="0" rtl="0" algn="l">
                        <a:lnSpc>
                          <a:spcPct val="113636"/>
                        </a:lnSpc>
                        <a:spcBef>
                          <a:spcPts val="0"/>
                        </a:spcBef>
                        <a:spcAft>
                          <a:spcPts val="0"/>
                        </a:spcAft>
                        <a:buClr>
                          <a:srgbClr val="000000"/>
                        </a:buClr>
                        <a:buSzPts val="1100"/>
                        <a:buFont typeface="Arial"/>
                        <a:buNone/>
                      </a:pPr>
                      <a:r>
                        <a:rPr lang="en-US" sz="1100" u="none" cap="none" strike="noStrike">
                          <a:latin typeface="Times New Roman"/>
                          <a:ea typeface="Times New Roman"/>
                          <a:cs typeface="Times New Roman"/>
                          <a:sym typeface="Times New Roman"/>
                        </a:rPr>
                        <a:t>52.7 V</a:t>
                      </a:r>
                      <a:endParaRPr sz="11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34000">
                <a:tc>
                  <a:txBody>
                    <a:bodyPr/>
                    <a:lstStyle/>
                    <a:p>
                      <a:pPr indent="0" lvl="0" marL="115570" marR="139065" rtl="0" algn="l">
                        <a:lnSpc>
                          <a:spcPct val="115454"/>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Calculate voltage drop (Between Battery terminal &amp; eNode-B).</a:t>
                      </a:r>
                      <a:endParaRPr sz="1100" u="none" cap="none" strike="noStrike">
                        <a:latin typeface="Arial"/>
                        <a:ea typeface="Arial"/>
                        <a:cs typeface="Arial"/>
                        <a:sym typeface="Arial"/>
                      </a:endParaRPr>
                    </a:p>
                  </a:txBody>
                  <a:tcPr marT="442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3636"/>
                        </a:lnSpc>
                        <a:spcBef>
                          <a:spcPts val="0"/>
                        </a:spcBef>
                        <a:spcAft>
                          <a:spcPts val="0"/>
                        </a:spcAft>
                        <a:buClr>
                          <a:srgbClr val="000000"/>
                        </a:buClr>
                        <a:buSzPts val="1100"/>
                        <a:buFont typeface="Arial"/>
                        <a:buNone/>
                      </a:pPr>
                      <a:r>
                        <a:rPr lang="en-US" sz="1100" u="none" cap="none" strike="noStrike">
                          <a:latin typeface="Times New Roman"/>
                          <a:ea typeface="Times New Roman"/>
                          <a:cs typeface="Times New Roman"/>
                          <a:sym typeface="Times New Roman"/>
                        </a:rPr>
                        <a:t>OK</a:t>
                      </a:r>
                      <a:endParaRPr sz="11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9850" marR="0" rtl="0" algn="l">
                        <a:lnSpc>
                          <a:spcPct val="100000"/>
                        </a:lnSpc>
                        <a:spcBef>
                          <a:spcPts val="0"/>
                        </a:spcBef>
                        <a:spcAft>
                          <a:spcPts val="0"/>
                        </a:spcAft>
                        <a:buClr>
                          <a:srgbClr val="000000"/>
                        </a:buClr>
                        <a:buSzPts val="1100"/>
                        <a:buFont typeface="Arial"/>
                        <a:buNone/>
                      </a:pPr>
                      <a:r>
                        <a:rPr lang="en-US" sz="1100" u="none" cap="none" strike="noStrike">
                          <a:latin typeface="Times New Roman"/>
                          <a:ea typeface="Times New Roman"/>
                          <a:cs typeface="Times New Roman"/>
                          <a:sym typeface="Times New Roman"/>
                        </a:rPr>
                        <a:t>Should be less than 1V 0.2</a:t>
                      </a:r>
                      <a:endParaRPr sz="1100" u="none" cap="none" strike="noStrike">
                        <a:latin typeface="Times New Roman"/>
                        <a:ea typeface="Times New Roman"/>
                        <a:cs typeface="Times New Roman"/>
                        <a:sym typeface="Times New Roman"/>
                      </a:endParaRPr>
                    </a:p>
                  </a:txBody>
                  <a:tcPr marT="299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13" name="Google Shape;113;p13"/>
          <p:cNvSpPr txBox="1"/>
          <p:nvPr/>
        </p:nvSpPr>
        <p:spPr>
          <a:xfrm>
            <a:off x="2686060" y="9866842"/>
            <a:ext cx="5429071" cy="1421174"/>
          </a:xfrm>
          <a:prstGeom prst="rect">
            <a:avLst/>
          </a:prstGeom>
          <a:noFill/>
          <a:ln>
            <a:noFill/>
          </a:ln>
        </p:spPr>
        <p:txBody>
          <a:bodyPr anchorCtr="0" anchor="t" bIns="0" lIns="0" spcFirstLastPara="1" rIns="0" wrap="square" tIns="13600">
            <a:spAutoFit/>
          </a:bodyPr>
          <a:lstStyle/>
          <a:p>
            <a:pPr indent="-168016" lvl="0" marL="181620" marR="0" rtl="0" algn="l">
              <a:lnSpc>
                <a:spcPct val="100000"/>
              </a:lnSpc>
              <a:spcBef>
                <a:spcPts val="0"/>
              </a:spcBef>
              <a:spcAft>
                <a:spcPts val="0"/>
              </a:spcAft>
              <a:buClr>
                <a:schemeClr val="dk1"/>
              </a:buClr>
              <a:buSzPts val="1179"/>
              <a:buFont typeface="Arial"/>
              <a:buAutoNum type="arabicPeriod" startAt="4"/>
            </a:pPr>
            <a:r>
              <a:rPr b="1" i="0" lang="en-US" sz="1179" u="none" cap="none" strike="noStrike">
                <a:solidFill>
                  <a:schemeClr val="dk1"/>
                </a:solidFill>
                <a:latin typeface="Arial"/>
                <a:ea typeface="Arial"/>
                <a:cs typeface="Arial"/>
                <a:sym typeface="Arial"/>
              </a:rPr>
              <a:t>Functional &amp; Service Related Test:</a:t>
            </a:r>
            <a:endParaRPr b="0" i="0" sz="1179" u="none" cap="none" strike="noStrike">
              <a:solidFill>
                <a:schemeClr val="dk1"/>
              </a:solidFill>
              <a:latin typeface="Arial"/>
              <a:ea typeface="Arial"/>
              <a:cs typeface="Arial"/>
              <a:sym typeface="Arial"/>
            </a:endParaRPr>
          </a:p>
          <a:p>
            <a:pPr indent="0" lvl="0" marL="0" marR="0" rtl="0" algn="l">
              <a:lnSpc>
                <a:spcPct val="100000"/>
              </a:lnSpc>
              <a:spcBef>
                <a:spcPts val="166"/>
              </a:spcBef>
              <a:spcAft>
                <a:spcPts val="0"/>
              </a:spcAft>
              <a:buClr>
                <a:schemeClr val="dk1"/>
              </a:buClr>
              <a:buSzPts val="1179"/>
              <a:buFont typeface="Arial"/>
              <a:buNone/>
            </a:pPr>
            <a:r>
              <a:t/>
            </a:r>
            <a:endParaRPr b="0" i="0" sz="1179" u="none" cap="none" strike="noStrike">
              <a:solidFill>
                <a:schemeClr val="dk1"/>
              </a:solidFill>
              <a:latin typeface="Arial"/>
              <a:ea typeface="Arial"/>
              <a:cs typeface="Arial"/>
              <a:sym typeface="Arial"/>
            </a:endParaRPr>
          </a:p>
          <a:p>
            <a:pPr indent="-421740" lvl="1" marL="950955" marR="0" rtl="0" algn="l">
              <a:lnSpc>
                <a:spcPct val="100000"/>
              </a:lnSpc>
              <a:spcBef>
                <a:spcPts val="0"/>
              </a:spcBef>
              <a:spcAft>
                <a:spcPts val="0"/>
              </a:spcAft>
              <a:buClr>
                <a:schemeClr val="dk1"/>
              </a:buClr>
              <a:buSzPts val="1179"/>
              <a:buFont typeface="Arial"/>
              <a:buAutoNum type="arabicPeriod"/>
            </a:pPr>
            <a:r>
              <a:rPr b="0" i="0" lang="en-US" sz="1179" u="none" cap="none" strike="noStrike">
                <a:solidFill>
                  <a:schemeClr val="dk1"/>
                </a:solidFill>
                <a:latin typeface="Arial"/>
                <a:ea typeface="Arial"/>
                <a:cs typeface="Arial"/>
                <a:sym typeface="Arial"/>
              </a:rPr>
              <a:t>eNode-B restart test.</a:t>
            </a:r>
            <a:endParaRPr b="0" i="0" sz="1179" u="none" cap="none" strike="noStrike">
              <a:solidFill>
                <a:schemeClr val="dk1"/>
              </a:solidFill>
              <a:latin typeface="Arial"/>
              <a:ea typeface="Arial"/>
              <a:cs typeface="Arial"/>
              <a:sym typeface="Arial"/>
            </a:endParaRPr>
          </a:p>
          <a:p>
            <a:pPr indent="0" lvl="0" marL="474118" marR="0" rtl="0" algn="l">
              <a:lnSpc>
                <a:spcPct val="100000"/>
              </a:lnSpc>
              <a:spcBef>
                <a:spcPts val="257"/>
              </a:spcBef>
              <a:spcAft>
                <a:spcPts val="0"/>
              </a:spcAft>
              <a:buClr>
                <a:srgbClr val="000000"/>
              </a:buClr>
              <a:buSzPts val="1179"/>
              <a:buFont typeface="Arial"/>
              <a:buNone/>
            </a:pPr>
            <a:r>
              <a:rPr b="0" i="0" lang="en-US" sz="1179" u="none" cap="none" strike="noStrike">
                <a:solidFill>
                  <a:schemeClr val="dk1"/>
                </a:solidFill>
                <a:latin typeface="Arial"/>
                <a:ea typeface="Arial"/>
                <a:cs typeface="Arial"/>
                <a:sym typeface="Arial"/>
              </a:rPr>
              <a:t>Test procedure (Hardware reset and Power reset):</a:t>
            </a:r>
            <a:endParaRPr b="0" i="0" sz="1179" u="none" cap="none" strike="noStrike">
              <a:solidFill>
                <a:schemeClr val="dk1"/>
              </a:solidFill>
              <a:latin typeface="Arial"/>
              <a:ea typeface="Arial"/>
              <a:cs typeface="Arial"/>
              <a:sym typeface="Arial"/>
            </a:endParaRPr>
          </a:p>
          <a:p>
            <a:pPr indent="-287736" lvl="2" marL="950956" marR="5442" rtl="0" algn="l">
              <a:lnSpc>
                <a:spcPct val="118150"/>
              </a:lnSpc>
              <a:spcBef>
                <a:spcPts val="370"/>
              </a:spcBef>
              <a:spcAft>
                <a:spcPts val="0"/>
              </a:spcAft>
              <a:buClr>
                <a:schemeClr val="dk1"/>
              </a:buClr>
              <a:buSzPts val="1179"/>
              <a:buFont typeface="Arial"/>
              <a:buAutoNum type="romanLcPeriod"/>
            </a:pPr>
            <a:r>
              <a:rPr b="0" i="0" lang="en-US" sz="1179" u="none" cap="none" strike="noStrike">
                <a:solidFill>
                  <a:schemeClr val="dk1"/>
                </a:solidFill>
                <a:latin typeface="Arial"/>
                <a:ea typeface="Arial"/>
                <a:cs typeface="Arial"/>
                <a:sym typeface="Arial"/>
              </a:rPr>
              <a:t>Check for eNode-B recovery after switching off the power supply to eNode-B.</a:t>
            </a:r>
            <a:endParaRPr b="0" i="0" sz="1179" u="none" cap="none" strike="noStrike">
              <a:solidFill>
                <a:schemeClr val="dk1"/>
              </a:solidFill>
              <a:latin typeface="Arial"/>
              <a:ea typeface="Arial"/>
              <a:cs typeface="Arial"/>
              <a:sym typeface="Arial"/>
            </a:endParaRPr>
          </a:p>
          <a:p>
            <a:pPr indent="-287736" lvl="2" marL="950955" marR="0" rtl="0" algn="l">
              <a:lnSpc>
                <a:spcPct val="100000"/>
              </a:lnSpc>
              <a:spcBef>
                <a:spcPts val="241"/>
              </a:spcBef>
              <a:spcAft>
                <a:spcPts val="0"/>
              </a:spcAft>
              <a:buClr>
                <a:schemeClr val="dk1"/>
              </a:buClr>
              <a:buSzPts val="1179"/>
              <a:buFont typeface="Arial"/>
              <a:buAutoNum type="romanLcPeriod"/>
            </a:pPr>
            <a:r>
              <a:rPr b="0" i="0" lang="en-US" sz="1179" u="none" cap="none" strike="noStrike">
                <a:solidFill>
                  <a:schemeClr val="dk1"/>
                </a:solidFill>
                <a:latin typeface="Arial"/>
                <a:ea typeface="Arial"/>
                <a:cs typeface="Arial"/>
                <a:sym typeface="Arial"/>
              </a:rPr>
              <a:t>Check for eNode-B recovery after hardware reset.</a:t>
            </a:r>
            <a:endParaRPr b="0" i="0" sz="1179" u="none" cap="none" strike="noStrike">
              <a:solidFill>
                <a:schemeClr val="dk1"/>
              </a:solidFill>
              <a:latin typeface="Arial"/>
              <a:ea typeface="Arial"/>
              <a:cs typeface="Arial"/>
              <a:sym typeface="Arial"/>
            </a:endParaRPr>
          </a:p>
        </p:txBody>
      </p:sp>
      <p:sp>
        <p:nvSpPr>
          <p:cNvPr id="114" name="Google Shape;114;p13"/>
          <p:cNvSpPr txBox="1"/>
          <p:nvPr/>
        </p:nvSpPr>
        <p:spPr>
          <a:xfrm>
            <a:off x="2040499" y="1530839"/>
            <a:ext cx="2603732" cy="203735"/>
          </a:xfrm>
          <a:prstGeom prst="rect">
            <a:avLst/>
          </a:prstGeom>
          <a:noFill/>
          <a:ln>
            <a:noFill/>
          </a:ln>
        </p:spPr>
        <p:txBody>
          <a:bodyPr anchorCtr="0" anchor="t" bIns="0" lIns="0" spcFirstLastPara="1" rIns="0" wrap="square" tIns="13725">
            <a:spAutoFit/>
          </a:bodyPr>
          <a:lstStyle/>
          <a:p>
            <a:pPr indent="2892"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QA &amp; INSPECTION CIRCLE KL 	</a:t>
            </a:r>
            <a:endParaRPr b="0" i="0" sz="1253" u="none" cap="none" strike="noStrike">
              <a:solidFill>
                <a:schemeClr val="dk1"/>
              </a:solidFill>
              <a:latin typeface="Arial"/>
              <a:ea typeface="Arial"/>
              <a:cs typeface="Arial"/>
              <a:sym typeface="Arial"/>
            </a:endParaRPr>
          </a:p>
        </p:txBody>
      </p:sp>
      <p:sp>
        <p:nvSpPr>
          <p:cNvPr id="115" name="Google Shape;115;p13"/>
          <p:cNvSpPr txBox="1"/>
          <p:nvPr/>
        </p:nvSpPr>
        <p:spPr>
          <a:xfrm>
            <a:off x="7238764" y="1574232"/>
            <a:ext cx="1833298" cy="408086"/>
          </a:xfrm>
          <a:prstGeom prst="rect">
            <a:avLst/>
          </a:prstGeom>
          <a:noFill/>
          <a:ln>
            <a:noFill/>
          </a:ln>
        </p:spPr>
        <p:txBody>
          <a:bodyPr anchorCtr="0" anchor="t" bIns="0" lIns="0" spcFirstLastPara="1" rIns="0" wrap="square" tIns="13725">
            <a:spAutoFit/>
          </a:bodyPr>
          <a:lstStyle/>
          <a:p>
            <a:pPr indent="701487"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4G PHASE IX.2  eNode-B A/T SCHEDULE</a:t>
            </a:r>
            <a:endParaRPr b="0" i="0" sz="1400" u="none" cap="none" strike="noStrike">
              <a:solidFill>
                <a:srgbClr val="000000"/>
              </a:solidFill>
              <a:latin typeface="Arial"/>
              <a:ea typeface="Arial"/>
              <a:cs typeface="Arial"/>
              <a:sym typeface="Arial"/>
            </a:endParaRPr>
          </a:p>
        </p:txBody>
      </p:sp>
      <p:sp>
        <p:nvSpPr>
          <p:cNvPr id="116" name="Google Shape;116;p13"/>
          <p:cNvSpPr txBox="1"/>
          <p:nvPr>
            <p:ph idx="11" type="ftr"/>
          </p:nvPr>
        </p:nvSpPr>
        <p:spPr>
          <a:xfrm>
            <a:off x="2248781" y="11446613"/>
            <a:ext cx="1915019" cy="192810"/>
          </a:xfrm>
          <a:prstGeom prst="rect">
            <a:avLst/>
          </a:prstGeom>
          <a:noFill/>
          <a:ln>
            <a:noFill/>
          </a:ln>
        </p:spPr>
        <p:txBody>
          <a:bodyPr anchorCtr="0" anchor="t" bIns="0" lIns="0" spcFirstLastPara="1" rIns="0" wrap="square" tIns="0">
            <a:spAutoFit/>
          </a:bodyPr>
          <a:lstStyle/>
          <a:p>
            <a:pPr indent="0" lvl="0" marL="14464" rtl="0" algn="l">
              <a:lnSpc>
                <a:spcPct val="100000"/>
              </a:lnSpc>
              <a:spcBef>
                <a:spcPts val="0"/>
              </a:spcBef>
              <a:spcAft>
                <a:spcPts val="0"/>
              </a:spcAft>
              <a:buSzPts val="1400"/>
              <a:buNone/>
            </a:pPr>
            <a:r>
              <a:rPr lang="en-US"/>
              <a:t>QAIN-11/31(14)/1/2023-CM</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4"/>
          <p:cNvSpPr txBox="1"/>
          <p:nvPr/>
        </p:nvSpPr>
        <p:spPr>
          <a:xfrm>
            <a:off x="2957398" y="2041829"/>
            <a:ext cx="5102551" cy="376658"/>
          </a:xfrm>
          <a:prstGeom prst="rect">
            <a:avLst/>
          </a:prstGeom>
          <a:noFill/>
          <a:ln>
            <a:noFill/>
          </a:ln>
        </p:spPr>
        <p:txBody>
          <a:bodyPr anchorCtr="0" anchor="t" bIns="0" lIns="0" spcFirstLastPara="1" rIns="0" wrap="square" tIns="13600">
            <a:spAutoFit/>
          </a:bodyPr>
          <a:lstStyle/>
          <a:p>
            <a:pPr indent="-6800" lvl="0" marL="19727" marR="5442" rtl="0" algn="l">
              <a:lnSpc>
                <a:spcPct val="100000"/>
              </a:lnSpc>
              <a:spcBef>
                <a:spcPts val="0"/>
              </a:spcBef>
              <a:spcAft>
                <a:spcPts val="0"/>
              </a:spcAft>
              <a:buClr>
                <a:srgbClr val="000000"/>
              </a:buClr>
              <a:buSzPts val="1179"/>
              <a:buFont typeface="Arial"/>
              <a:buNone/>
            </a:pPr>
            <a:r>
              <a:rPr b="0" i="0" lang="en-US" sz="1179" u="none" cap="none" strike="noStrike">
                <a:solidFill>
                  <a:schemeClr val="dk1"/>
                </a:solidFill>
                <a:latin typeface="Arial"/>
                <a:ea typeface="Arial"/>
                <a:cs typeface="Arial"/>
                <a:sym typeface="Arial"/>
              </a:rPr>
              <a:t>The eNode-B should come up and the status of the site should be same as what was before the reset.</a:t>
            </a:r>
            <a:endParaRPr b="0" i="0" sz="1179" u="none" cap="none" strike="noStrike">
              <a:solidFill>
                <a:schemeClr val="dk1"/>
              </a:solidFill>
              <a:latin typeface="Arial"/>
              <a:ea typeface="Arial"/>
              <a:cs typeface="Arial"/>
              <a:sym typeface="Arial"/>
            </a:endParaRPr>
          </a:p>
        </p:txBody>
      </p:sp>
      <p:graphicFrame>
        <p:nvGraphicFramePr>
          <p:cNvPr id="122" name="Google Shape;122;p14"/>
          <p:cNvGraphicFramePr/>
          <p:nvPr/>
        </p:nvGraphicFramePr>
        <p:xfrm>
          <a:off x="3268160" y="3283558"/>
          <a:ext cx="3000000" cy="3000000"/>
        </p:xfrm>
        <a:graphic>
          <a:graphicData uri="http://schemas.openxmlformats.org/drawingml/2006/table">
            <a:tbl>
              <a:tblPr bandRow="1" firstRow="1">
                <a:noFill/>
                <a:tableStyleId>{6E646390-14D1-40E7-8574-0D387628F5A2}</a:tableStyleId>
              </a:tblPr>
              <a:tblGrid>
                <a:gridCol w="1738025"/>
                <a:gridCol w="1931225"/>
                <a:gridCol w="2316250"/>
              </a:tblGrid>
              <a:tr h="365300">
                <a:tc>
                  <a:txBody>
                    <a:bodyPr/>
                    <a:lstStyle/>
                    <a:p>
                      <a:pPr indent="0" lvl="0" marL="207009" marR="0" rtl="0" algn="l">
                        <a:lnSpc>
                          <a:spcPct val="100000"/>
                        </a:lnSpc>
                        <a:spcBef>
                          <a:spcPts val="0"/>
                        </a:spcBef>
                        <a:spcAft>
                          <a:spcPts val="0"/>
                        </a:spcAft>
                        <a:buClr>
                          <a:srgbClr val="000000"/>
                        </a:buClr>
                        <a:buSzPts val="1100"/>
                        <a:buFont typeface="Arial"/>
                        <a:buNone/>
                      </a:pPr>
                      <a:r>
                        <a:rPr b="1" lang="en-US" sz="1100" u="none" cap="none" strike="noStrike">
                          <a:latin typeface="Arial"/>
                          <a:ea typeface="Arial"/>
                          <a:cs typeface="Arial"/>
                          <a:sym typeface="Arial"/>
                        </a:rPr>
                        <a:t>Expected Results:</a:t>
                      </a:r>
                      <a:endParaRPr sz="1100" u="none" cap="none" strike="noStrike">
                        <a:latin typeface="Arial"/>
                        <a:ea typeface="Arial"/>
                        <a:cs typeface="Arial"/>
                        <a:sym typeface="Arial"/>
                      </a:endParaRPr>
                    </a:p>
                  </a:txBody>
                  <a:tcPr marT="333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b="1" lang="en-US" sz="1100" u="none" cap="none" strike="noStrike">
                          <a:latin typeface="Arial"/>
                          <a:ea typeface="Arial"/>
                          <a:cs typeface="Arial"/>
                          <a:sym typeface="Arial"/>
                        </a:rPr>
                        <a:t>Status</a:t>
                      </a:r>
                      <a:endParaRPr sz="1100" u="none" cap="none" strike="noStrike">
                        <a:latin typeface="Arial"/>
                        <a:ea typeface="Arial"/>
                        <a:cs typeface="Arial"/>
                        <a:sym typeface="Arial"/>
                      </a:endParaRPr>
                    </a:p>
                  </a:txBody>
                  <a:tcPr marT="333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b="1" lang="en-US" sz="1100" u="none" cap="none" strike="noStrike">
                          <a:latin typeface="Arial"/>
                          <a:ea typeface="Arial"/>
                          <a:cs typeface="Arial"/>
                          <a:sym typeface="Arial"/>
                        </a:rPr>
                        <a:t>OK/NOK</a:t>
                      </a:r>
                      <a:endParaRPr sz="1100" u="none" cap="none" strike="noStrike">
                        <a:latin typeface="Arial"/>
                        <a:ea typeface="Arial"/>
                        <a:cs typeface="Arial"/>
                        <a:sym typeface="Arial"/>
                      </a:endParaRPr>
                    </a:p>
                  </a:txBody>
                  <a:tcPr marT="333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2575">
                <a:tc>
                  <a:txBody>
                    <a:bodyPr/>
                    <a:lstStyle/>
                    <a:p>
                      <a:pPr indent="0" lvl="0" marL="69850" marR="0" rtl="0" algn="l">
                        <a:lnSpc>
                          <a:spcPct val="100000"/>
                        </a:lnSpc>
                        <a:spcBef>
                          <a:spcPts val="0"/>
                        </a:spcBef>
                        <a:spcAft>
                          <a:spcPts val="0"/>
                        </a:spcAft>
                        <a:buClr>
                          <a:srgbClr val="000000"/>
                        </a:buClr>
                        <a:buSzPts val="1100"/>
                        <a:buFont typeface="Arial"/>
                        <a:buNone/>
                      </a:pPr>
                      <a:r>
                        <a:rPr b="1" lang="en-US" sz="1100" u="none" cap="none" strike="noStrike">
                          <a:latin typeface="Arial"/>
                          <a:ea typeface="Arial"/>
                          <a:cs typeface="Arial"/>
                          <a:sym typeface="Arial"/>
                        </a:rPr>
                        <a:t>i</a:t>
                      </a:r>
                      <a:endParaRPr sz="1100" u="none" cap="none" strike="noStrike">
                        <a:latin typeface="Arial"/>
                        <a:ea typeface="Arial"/>
                        <a:cs typeface="Arial"/>
                        <a:sym typeface="Arial"/>
                      </a:endParaRPr>
                    </a:p>
                  </a:txBody>
                  <a:tcPr marT="333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6195" marR="0" rtl="0" algn="ctr">
                        <a:lnSpc>
                          <a:spcPct val="100000"/>
                        </a:lnSpc>
                        <a:spcBef>
                          <a:spcPts val="0"/>
                        </a:spcBef>
                        <a:spcAft>
                          <a:spcPts val="0"/>
                        </a:spcAft>
                        <a:buClr>
                          <a:srgbClr val="000000"/>
                        </a:buClr>
                        <a:buSzPts val="1100"/>
                        <a:buFont typeface="Arial"/>
                        <a:buNone/>
                      </a:pPr>
                      <a:r>
                        <a:rPr lang="en-US" sz="1100" u="none" cap="none" strike="noStrike">
                          <a:latin typeface="Times New Roman"/>
                          <a:ea typeface="Times New Roman"/>
                          <a:cs typeface="Times New Roman"/>
                          <a:sym typeface="Times New Roman"/>
                        </a:rPr>
                        <a:t>5 TO 10 Minute</a:t>
                      </a:r>
                      <a:endParaRPr sz="1100" u="none" cap="none" strike="noStrike">
                        <a:latin typeface="Times New Roman"/>
                        <a:ea typeface="Times New Roman"/>
                        <a:cs typeface="Times New Roman"/>
                        <a:sym typeface="Times New Roman"/>
                      </a:endParaRPr>
                    </a:p>
                  </a:txBody>
                  <a:tcPr marT="333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8735" marR="0" rtl="0" algn="ctr">
                        <a:lnSpc>
                          <a:spcPct val="100000"/>
                        </a:lnSpc>
                        <a:spcBef>
                          <a:spcPts val="0"/>
                        </a:spcBef>
                        <a:spcAft>
                          <a:spcPts val="0"/>
                        </a:spcAft>
                        <a:buClr>
                          <a:srgbClr val="000000"/>
                        </a:buClr>
                        <a:buSzPts val="1100"/>
                        <a:buFont typeface="Arial"/>
                        <a:buNone/>
                      </a:pPr>
                      <a:r>
                        <a:rPr lang="en-US" sz="1100" u="none" cap="none" strike="noStrike">
                          <a:latin typeface="Times New Roman"/>
                          <a:ea typeface="Times New Roman"/>
                          <a:cs typeface="Times New Roman"/>
                          <a:sym typeface="Times New Roman"/>
                        </a:rPr>
                        <a:t>10 Min</a:t>
                      </a:r>
                      <a:endParaRPr sz="1100" u="none" cap="none" strike="noStrike">
                        <a:latin typeface="Times New Roman"/>
                        <a:ea typeface="Times New Roman"/>
                        <a:cs typeface="Times New Roman"/>
                        <a:sym typeface="Times New Roman"/>
                      </a:endParaRPr>
                    </a:p>
                  </a:txBody>
                  <a:tcPr marT="333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5300">
                <a:tc>
                  <a:txBody>
                    <a:bodyPr/>
                    <a:lstStyle/>
                    <a:p>
                      <a:pPr indent="0" lvl="0" marL="69850" marR="0" rtl="0" algn="l">
                        <a:lnSpc>
                          <a:spcPct val="100000"/>
                        </a:lnSpc>
                        <a:spcBef>
                          <a:spcPts val="0"/>
                        </a:spcBef>
                        <a:spcAft>
                          <a:spcPts val="0"/>
                        </a:spcAft>
                        <a:buClr>
                          <a:srgbClr val="000000"/>
                        </a:buClr>
                        <a:buSzPts val="1100"/>
                        <a:buFont typeface="Arial"/>
                        <a:buNone/>
                      </a:pPr>
                      <a:r>
                        <a:rPr b="1" lang="en-US" sz="1100" u="none" cap="none" strike="noStrike">
                          <a:latin typeface="Arial"/>
                          <a:ea typeface="Arial"/>
                          <a:cs typeface="Arial"/>
                          <a:sym typeface="Arial"/>
                        </a:rPr>
                        <a:t>ii</a:t>
                      </a:r>
                      <a:endParaRPr sz="1100" u="none" cap="none" strike="noStrike">
                        <a:latin typeface="Arial"/>
                        <a:ea typeface="Arial"/>
                        <a:cs typeface="Arial"/>
                        <a:sym typeface="Arial"/>
                      </a:endParaRPr>
                    </a:p>
                  </a:txBody>
                  <a:tcPr marT="326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6195" marR="0" rtl="0" algn="ctr">
                        <a:lnSpc>
                          <a:spcPct val="100000"/>
                        </a:lnSpc>
                        <a:spcBef>
                          <a:spcPts val="0"/>
                        </a:spcBef>
                        <a:spcAft>
                          <a:spcPts val="0"/>
                        </a:spcAft>
                        <a:buClr>
                          <a:srgbClr val="000000"/>
                        </a:buClr>
                        <a:buSzPts val="1100"/>
                        <a:buFont typeface="Arial"/>
                        <a:buNone/>
                      </a:pPr>
                      <a:r>
                        <a:rPr lang="en-US" sz="1100" u="none" cap="none" strike="noStrike">
                          <a:latin typeface="Times New Roman"/>
                          <a:ea typeface="Times New Roman"/>
                          <a:cs typeface="Times New Roman"/>
                          <a:sym typeface="Times New Roman"/>
                        </a:rPr>
                        <a:t>5 TO 10 Minute</a:t>
                      </a:r>
                      <a:endParaRPr sz="1100" u="none" cap="none" strike="noStrike">
                        <a:latin typeface="Times New Roman"/>
                        <a:ea typeface="Times New Roman"/>
                        <a:cs typeface="Times New Roman"/>
                        <a:sym typeface="Times New Roman"/>
                      </a:endParaRPr>
                    </a:p>
                  </a:txBody>
                  <a:tcPr marT="326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8735" marR="0" rtl="0" algn="ctr">
                        <a:lnSpc>
                          <a:spcPct val="100000"/>
                        </a:lnSpc>
                        <a:spcBef>
                          <a:spcPts val="0"/>
                        </a:spcBef>
                        <a:spcAft>
                          <a:spcPts val="0"/>
                        </a:spcAft>
                        <a:buClr>
                          <a:srgbClr val="000000"/>
                        </a:buClr>
                        <a:buSzPts val="1100"/>
                        <a:buFont typeface="Arial"/>
                        <a:buNone/>
                      </a:pPr>
                      <a:r>
                        <a:rPr lang="en-US" sz="1100" u="none" cap="none" strike="noStrike">
                          <a:latin typeface="Times New Roman"/>
                          <a:ea typeface="Times New Roman"/>
                          <a:cs typeface="Times New Roman"/>
                          <a:sym typeface="Times New Roman"/>
                        </a:rPr>
                        <a:t>10 Min</a:t>
                      </a:r>
                      <a:endParaRPr sz="1100" u="none" cap="none" strike="noStrike">
                        <a:latin typeface="Times New Roman"/>
                        <a:ea typeface="Times New Roman"/>
                        <a:cs typeface="Times New Roman"/>
                        <a:sym typeface="Times New Roman"/>
                      </a:endParaRPr>
                    </a:p>
                  </a:txBody>
                  <a:tcPr marT="326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23" name="Google Shape;123;p14"/>
          <p:cNvSpPr txBox="1"/>
          <p:nvPr/>
        </p:nvSpPr>
        <p:spPr>
          <a:xfrm>
            <a:off x="3133744" y="4547570"/>
            <a:ext cx="4478080" cy="1307722"/>
          </a:xfrm>
          <a:prstGeom prst="rect">
            <a:avLst/>
          </a:prstGeom>
          <a:noFill/>
          <a:ln>
            <a:noFill/>
          </a:ln>
        </p:spPr>
        <p:txBody>
          <a:bodyPr anchorCtr="0" anchor="t" bIns="0" lIns="0" spcFirstLastPara="1" rIns="0" wrap="square" tIns="42850">
            <a:spAutoFit/>
          </a:bodyPr>
          <a:lstStyle/>
          <a:p>
            <a:pPr indent="0" lvl="0" marL="13603" marR="0" rtl="0" algn="l">
              <a:lnSpc>
                <a:spcPct val="100000"/>
              </a:lnSpc>
              <a:spcBef>
                <a:spcPts val="0"/>
              </a:spcBef>
              <a:spcAft>
                <a:spcPts val="0"/>
              </a:spcAft>
              <a:buClr>
                <a:srgbClr val="000000"/>
              </a:buClr>
              <a:buSzPts val="1179"/>
              <a:buFont typeface="Arial"/>
              <a:buNone/>
            </a:pPr>
            <a:r>
              <a:rPr b="0" i="0" lang="en-US" sz="1179" u="none" cap="none" strike="noStrike">
                <a:solidFill>
                  <a:schemeClr val="dk1"/>
                </a:solidFill>
                <a:latin typeface="Arial"/>
                <a:ea typeface="Arial"/>
                <a:cs typeface="Arial"/>
                <a:sym typeface="Arial"/>
              </a:rPr>
              <a:t>Check for the related alarm on OMC-R /LMT Log-in.</a:t>
            </a:r>
            <a:endParaRPr b="0" i="0" sz="1179" u="none" cap="none" strike="noStrike">
              <a:solidFill>
                <a:schemeClr val="dk1"/>
              </a:solidFill>
              <a:latin typeface="Arial"/>
              <a:ea typeface="Arial"/>
              <a:cs typeface="Arial"/>
              <a:sym typeface="Arial"/>
            </a:endParaRPr>
          </a:p>
          <a:p>
            <a:pPr indent="-421740" lvl="1" marL="447588" marR="907422" rtl="0" algn="l">
              <a:lnSpc>
                <a:spcPct val="144529"/>
              </a:lnSpc>
              <a:spcBef>
                <a:spcPts val="48"/>
              </a:spcBef>
              <a:spcAft>
                <a:spcPts val="0"/>
              </a:spcAft>
              <a:buClr>
                <a:schemeClr val="dk1"/>
              </a:buClr>
              <a:buSzPts val="1179"/>
              <a:buFont typeface="Arial"/>
              <a:buAutoNum type="arabicPeriod" startAt="2"/>
            </a:pPr>
            <a:r>
              <a:rPr b="0" i="0" lang="en-US" sz="1179" u="none" cap="none" strike="noStrike">
                <a:solidFill>
                  <a:schemeClr val="dk1"/>
                </a:solidFill>
                <a:latin typeface="Arial"/>
                <a:ea typeface="Arial"/>
                <a:cs typeface="Arial"/>
                <a:sym typeface="Arial"/>
              </a:rPr>
              <a:t>Check for Wideband-AMR (HD-voice) enabled. Yes</a:t>
            </a:r>
            <a:endParaRPr b="0" i="0" sz="1179" u="none" cap="none" strike="noStrike">
              <a:solidFill>
                <a:schemeClr val="dk1"/>
              </a:solidFill>
              <a:latin typeface="Arial"/>
              <a:ea typeface="Arial"/>
              <a:cs typeface="Arial"/>
              <a:sym typeface="Arial"/>
            </a:endParaRPr>
          </a:p>
          <a:p>
            <a:pPr indent="-421060" lvl="1" marL="447588" marR="0" rtl="0" algn="l">
              <a:lnSpc>
                <a:spcPct val="100000"/>
              </a:lnSpc>
              <a:spcBef>
                <a:spcPts val="198"/>
              </a:spcBef>
              <a:spcAft>
                <a:spcPts val="0"/>
              </a:spcAft>
              <a:buClr>
                <a:schemeClr val="dk1"/>
              </a:buClr>
              <a:buSzPts val="1179"/>
              <a:buFont typeface="Arial"/>
              <a:buAutoNum type="arabicPeriod" startAt="2"/>
            </a:pPr>
            <a:r>
              <a:rPr b="1" i="0" lang="en-US" sz="1179" u="none" cap="none" strike="noStrike">
                <a:solidFill>
                  <a:schemeClr val="dk1"/>
                </a:solidFill>
                <a:latin typeface="Arial"/>
                <a:ea typeface="Arial"/>
                <a:cs typeface="Arial"/>
                <a:sym typeface="Arial"/>
              </a:rPr>
              <a:t>Check </a:t>
            </a:r>
            <a:r>
              <a:rPr b="0" i="0" lang="en-US" sz="1179" u="none" cap="none" strike="noStrike">
                <a:solidFill>
                  <a:schemeClr val="dk1"/>
                </a:solidFill>
                <a:latin typeface="Arial"/>
                <a:ea typeface="Arial"/>
                <a:cs typeface="Arial"/>
                <a:sym typeface="Arial"/>
              </a:rPr>
              <a:t>of Clock synchronization ( as per planning document)</a:t>
            </a:r>
            <a:endParaRPr b="0" i="0" sz="1179" u="none" cap="none" strike="noStrike">
              <a:solidFill>
                <a:schemeClr val="dk1"/>
              </a:solidFill>
              <a:latin typeface="Arial"/>
              <a:ea typeface="Arial"/>
              <a:cs typeface="Arial"/>
              <a:sym typeface="Arial"/>
            </a:endParaRPr>
          </a:p>
          <a:p>
            <a:pPr indent="0" lvl="0" marL="26529" marR="0" rtl="0" algn="l">
              <a:lnSpc>
                <a:spcPct val="100000"/>
              </a:lnSpc>
              <a:spcBef>
                <a:spcPts val="311"/>
              </a:spcBef>
              <a:spcAft>
                <a:spcPts val="0"/>
              </a:spcAft>
              <a:buClr>
                <a:srgbClr val="000000"/>
              </a:buClr>
              <a:buSzPts val="1179"/>
              <a:buFont typeface="Arial"/>
              <a:buNone/>
            </a:pPr>
            <a:r>
              <a:rPr b="0" i="0" lang="en-US" sz="1179" u="none" cap="none" strike="noStrike">
                <a:solidFill>
                  <a:schemeClr val="dk1"/>
                </a:solidFill>
                <a:latin typeface="Arial"/>
                <a:ea typeface="Arial"/>
                <a:cs typeface="Arial"/>
                <a:sym typeface="Arial"/>
              </a:rPr>
              <a:t>:	OK</a:t>
            </a:r>
            <a:endParaRPr b="0" i="0" sz="1179" u="none" cap="none" strike="noStrike">
              <a:solidFill>
                <a:schemeClr val="dk1"/>
              </a:solidFill>
              <a:latin typeface="Arial"/>
              <a:ea typeface="Arial"/>
              <a:cs typeface="Arial"/>
              <a:sym typeface="Arial"/>
            </a:endParaRPr>
          </a:p>
          <a:p>
            <a:pPr indent="-372083" lvl="2" marL="819673" marR="0" rtl="0" algn="l">
              <a:lnSpc>
                <a:spcPct val="100000"/>
              </a:lnSpc>
              <a:spcBef>
                <a:spcPts val="305"/>
              </a:spcBef>
              <a:spcAft>
                <a:spcPts val="0"/>
              </a:spcAft>
              <a:buClr>
                <a:schemeClr val="dk1"/>
              </a:buClr>
              <a:buSzPts val="1179"/>
              <a:buFont typeface="Arial"/>
              <a:buAutoNum type="arabicPeriod"/>
            </a:pPr>
            <a:r>
              <a:rPr b="0" i="0" lang="en-US" sz="1179" u="none" cap="none" strike="noStrike">
                <a:solidFill>
                  <a:schemeClr val="dk1"/>
                </a:solidFill>
                <a:latin typeface="Arial"/>
                <a:ea typeface="Arial"/>
                <a:cs typeface="Arial"/>
                <a:sym typeface="Arial"/>
              </a:rPr>
              <a:t>Synchronization type : </a:t>
            </a:r>
            <a:r>
              <a:rPr b="1" i="0" lang="en-US" sz="1179" u="none" cap="none" strike="noStrike">
                <a:solidFill>
                  <a:schemeClr val="dk1"/>
                </a:solidFill>
                <a:latin typeface="Arial"/>
                <a:ea typeface="Arial"/>
                <a:cs typeface="Arial"/>
                <a:sym typeface="Arial"/>
              </a:rPr>
              <a:t>GPS Clock</a:t>
            </a:r>
            <a:endParaRPr b="0" i="0" sz="1179" u="none" cap="none" strike="noStrike">
              <a:solidFill>
                <a:schemeClr val="dk1"/>
              </a:solidFill>
              <a:latin typeface="Arial"/>
              <a:ea typeface="Arial"/>
              <a:cs typeface="Arial"/>
              <a:sym typeface="Arial"/>
            </a:endParaRPr>
          </a:p>
        </p:txBody>
      </p:sp>
      <p:sp>
        <p:nvSpPr>
          <p:cNvPr id="124" name="Google Shape;124;p14"/>
          <p:cNvSpPr txBox="1"/>
          <p:nvPr/>
        </p:nvSpPr>
        <p:spPr>
          <a:xfrm>
            <a:off x="3016198" y="5951740"/>
            <a:ext cx="155777" cy="451535"/>
          </a:xfrm>
          <a:prstGeom prst="rect">
            <a:avLst/>
          </a:prstGeom>
          <a:noFill/>
          <a:ln>
            <a:noFill/>
          </a:ln>
        </p:spPr>
        <p:txBody>
          <a:bodyPr anchorCtr="0" anchor="t" bIns="0" lIns="0" spcFirstLastPara="1" rIns="0" wrap="square" tIns="49650">
            <a:spAutoFit/>
          </a:bodyPr>
          <a:lstStyle/>
          <a:p>
            <a:pPr indent="0" lvl="0" marL="13603" marR="0" rtl="0" algn="l">
              <a:lnSpc>
                <a:spcPct val="100000"/>
              </a:lnSpc>
              <a:spcBef>
                <a:spcPts val="0"/>
              </a:spcBef>
              <a:spcAft>
                <a:spcPts val="0"/>
              </a:spcAft>
              <a:buClr>
                <a:srgbClr val="000000"/>
              </a:buClr>
              <a:buSzPts val="1179"/>
              <a:buFont typeface="Arial"/>
              <a:buNone/>
            </a:pPr>
            <a:r>
              <a:rPr b="1" i="0" lang="en-US" sz="1179" u="none" cap="none" strike="noStrike">
                <a:solidFill>
                  <a:schemeClr val="dk1"/>
                </a:solidFill>
                <a:latin typeface="Arial"/>
                <a:ea typeface="Arial"/>
                <a:cs typeface="Arial"/>
                <a:sym typeface="Arial"/>
              </a:rPr>
              <a:t>5.</a:t>
            </a:r>
            <a:endParaRPr b="0" i="0" sz="1179" u="none" cap="none" strike="noStrike">
              <a:solidFill>
                <a:schemeClr val="dk1"/>
              </a:solidFill>
              <a:latin typeface="Arial"/>
              <a:ea typeface="Arial"/>
              <a:cs typeface="Arial"/>
              <a:sym typeface="Arial"/>
            </a:endParaRPr>
          </a:p>
          <a:p>
            <a:pPr indent="0" lvl="0" marL="13603" marR="0" rtl="0" algn="l">
              <a:lnSpc>
                <a:spcPct val="100000"/>
              </a:lnSpc>
              <a:spcBef>
                <a:spcPts val="284"/>
              </a:spcBef>
              <a:spcAft>
                <a:spcPts val="0"/>
              </a:spcAft>
              <a:buClr>
                <a:srgbClr val="000000"/>
              </a:buClr>
              <a:buSzPts val="1179"/>
              <a:buFont typeface="Arial"/>
              <a:buNone/>
            </a:pPr>
            <a:r>
              <a:rPr b="1" i="0" lang="en-US" sz="1179" u="none" cap="none" strike="noStrike">
                <a:solidFill>
                  <a:schemeClr val="dk1"/>
                </a:solidFill>
                <a:latin typeface="Arial"/>
                <a:ea typeface="Arial"/>
                <a:cs typeface="Arial"/>
                <a:sym typeface="Arial"/>
              </a:rPr>
              <a:t>6.</a:t>
            </a:r>
            <a:endParaRPr b="0" i="0" sz="1179" u="none" cap="none" strike="noStrike">
              <a:solidFill>
                <a:schemeClr val="dk1"/>
              </a:solidFill>
              <a:latin typeface="Arial"/>
              <a:ea typeface="Arial"/>
              <a:cs typeface="Arial"/>
              <a:sym typeface="Arial"/>
            </a:endParaRPr>
          </a:p>
        </p:txBody>
      </p:sp>
      <p:sp>
        <p:nvSpPr>
          <p:cNvPr id="125" name="Google Shape;125;p14"/>
          <p:cNvSpPr txBox="1"/>
          <p:nvPr/>
        </p:nvSpPr>
        <p:spPr>
          <a:xfrm>
            <a:off x="3568016" y="5951740"/>
            <a:ext cx="4855620" cy="451535"/>
          </a:xfrm>
          <a:prstGeom prst="rect">
            <a:avLst/>
          </a:prstGeom>
          <a:noFill/>
          <a:ln>
            <a:noFill/>
          </a:ln>
        </p:spPr>
        <p:txBody>
          <a:bodyPr anchorCtr="0" anchor="t" bIns="0" lIns="0" spcFirstLastPara="1" rIns="0" wrap="square" tIns="49650">
            <a:spAutoFit/>
          </a:bodyPr>
          <a:lstStyle/>
          <a:p>
            <a:pPr indent="0" lvl="0" marL="13603" marR="0" rtl="0" algn="l">
              <a:lnSpc>
                <a:spcPct val="100000"/>
              </a:lnSpc>
              <a:spcBef>
                <a:spcPts val="0"/>
              </a:spcBef>
              <a:spcAft>
                <a:spcPts val="0"/>
              </a:spcAft>
              <a:buClr>
                <a:srgbClr val="000000"/>
              </a:buClr>
              <a:buSzPts val="1179"/>
              <a:buFont typeface="Arial"/>
              <a:buNone/>
            </a:pPr>
            <a:r>
              <a:rPr b="1" i="0" lang="en-US" sz="1179" u="none" cap="none" strike="noStrike">
                <a:solidFill>
                  <a:schemeClr val="dk1"/>
                </a:solidFill>
                <a:latin typeface="Arial"/>
                <a:ea typeface="Arial"/>
                <a:cs typeface="Arial"/>
                <a:sym typeface="Arial"/>
              </a:rPr>
              <a:t>Outdoor eNode-B: </a:t>
            </a:r>
            <a:r>
              <a:rPr b="0" i="0" lang="en-US" sz="1179" u="none" cap="none" strike="noStrike">
                <a:solidFill>
                  <a:schemeClr val="dk1"/>
                </a:solidFill>
                <a:latin typeface="Arial"/>
                <a:ea typeface="Arial"/>
                <a:cs typeface="Arial"/>
                <a:sym typeface="Arial"/>
              </a:rPr>
              <a:t>Fan Cooling Unit operational status. (OK / NOK)-OK</a:t>
            </a:r>
            <a:endParaRPr b="0" i="0" sz="1179" u="none" cap="none" strike="noStrike">
              <a:solidFill>
                <a:schemeClr val="dk1"/>
              </a:solidFill>
              <a:latin typeface="Arial"/>
              <a:ea typeface="Arial"/>
              <a:cs typeface="Arial"/>
              <a:sym typeface="Arial"/>
            </a:endParaRPr>
          </a:p>
          <a:p>
            <a:pPr indent="0" lvl="0" marL="13603" marR="0" rtl="0" algn="l">
              <a:lnSpc>
                <a:spcPct val="100000"/>
              </a:lnSpc>
              <a:spcBef>
                <a:spcPts val="284"/>
              </a:spcBef>
              <a:spcAft>
                <a:spcPts val="0"/>
              </a:spcAft>
              <a:buClr>
                <a:srgbClr val="000000"/>
              </a:buClr>
              <a:buSzPts val="1179"/>
              <a:buFont typeface="Arial"/>
              <a:buNone/>
            </a:pPr>
            <a:r>
              <a:rPr b="1" i="0" lang="en-US" sz="1179" u="none" cap="none" strike="noStrike">
                <a:solidFill>
                  <a:schemeClr val="dk1"/>
                </a:solidFill>
                <a:latin typeface="Arial"/>
                <a:ea typeface="Arial"/>
                <a:cs typeface="Arial"/>
                <a:sym typeface="Arial"/>
              </a:rPr>
              <a:t>System alarm test: </a:t>
            </a:r>
            <a:r>
              <a:rPr b="0" i="0" lang="en-US" sz="1179" u="none" cap="none" strike="noStrike">
                <a:solidFill>
                  <a:schemeClr val="dk1"/>
                </a:solidFill>
                <a:latin typeface="Arial"/>
                <a:ea typeface="Arial"/>
                <a:cs typeface="Arial"/>
                <a:sym typeface="Arial"/>
              </a:rPr>
              <a:t>Generation of alarms for power failure/ media failure/</a:t>
            </a:r>
            <a:endParaRPr b="0" i="0" sz="1179" u="none" cap="none" strike="noStrike">
              <a:solidFill>
                <a:schemeClr val="dk1"/>
              </a:solidFill>
              <a:latin typeface="Arial"/>
              <a:ea typeface="Arial"/>
              <a:cs typeface="Arial"/>
              <a:sym typeface="Arial"/>
            </a:endParaRPr>
          </a:p>
        </p:txBody>
      </p:sp>
      <p:sp>
        <p:nvSpPr>
          <p:cNvPr id="126" name="Google Shape;126;p14"/>
          <p:cNvSpPr txBox="1"/>
          <p:nvPr/>
        </p:nvSpPr>
        <p:spPr>
          <a:xfrm>
            <a:off x="2999870" y="6379372"/>
            <a:ext cx="5423628" cy="773222"/>
          </a:xfrm>
          <a:prstGeom prst="rect">
            <a:avLst/>
          </a:prstGeom>
          <a:noFill/>
          <a:ln>
            <a:noFill/>
          </a:ln>
        </p:spPr>
        <p:txBody>
          <a:bodyPr anchorCtr="0" anchor="t" bIns="0" lIns="0" spcFirstLastPara="1" rIns="0" wrap="square" tIns="14275">
            <a:spAutoFit/>
          </a:bodyPr>
          <a:lstStyle/>
          <a:p>
            <a:pPr indent="0" lvl="0" marL="29929" marR="0" rtl="0" algn="l">
              <a:lnSpc>
                <a:spcPct val="100000"/>
              </a:lnSpc>
              <a:spcBef>
                <a:spcPts val="0"/>
              </a:spcBef>
              <a:spcAft>
                <a:spcPts val="0"/>
              </a:spcAft>
              <a:buClr>
                <a:srgbClr val="000000"/>
              </a:buClr>
              <a:buSzPts val="1179"/>
              <a:buFont typeface="Arial"/>
              <a:buNone/>
            </a:pPr>
            <a:r>
              <a:rPr b="0" i="0" lang="en-US" sz="1179" u="none" cap="none" strike="noStrike">
                <a:solidFill>
                  <a:schemeClr val="dk1"/>
                </a:solidFill>
                <a:latin typeface="Arial"/>
                <a:ea typeface="Arial"/>
                <a:cs typeface="Arial"/>
                <a:sym typeface="Arial"/>
              </a:rPr>
              <a:t>fan failure alarm by manually switching off or unplugging module. </a:t>
            </a:r>
            <a:r>
              <a:rPr b="1" i="0" lang="en-US" sz="1179" u="none" cap="none" strike="noStrike">
                <a:solidFill>
                  <a:schemeClr val="dk1"/>
                </a:solidFill>
                <a:latin typeface="Arial"/>
                <a:ea typeface="Arial"/>
                <a:cs typeface="Arial"/>
                <a:sym typeface="Arial"/>
              </a:rPr>
              <a:t>-OK</a:t>
            </a:r>
            <a:endParaRPr b="0" i="0" sz="1179" u="none" cap="none" strike="noStrike">
              <a:solidFill>
                <a:schemeClr val="dk1"/>
              </a:solidFill>
              <a:latin typeface="Arial"/>
              <a:ea typeface="Arial"/>
              <a:cs typeface="Arial"/>
              <a:sym typeface="Arial"/>
            </a:endParaRPr>
          </a:p>
          <a:p>
            <a:pPr indent="0" lvl="0" marL="29929" marR="5442" rtl="0" algn="l">
              <a:lnSpc>
                <a:spcPct val="101800"/>
              </a:lnSpc>
              <a:spcBef>
                <a:spcPts val="0"/>
              </a:spcBef>
              <a:spcAft>
                <a:spcPts val="0"/>
              </a:spcAft>
              <a:buClr>
                <a:srgbClr val="000000"/>
              </a:buClr>
              <a:buSzPts val="1179"/>
              <a:buFont typeface="Arial"/>
              <a:buNone/>
            </a:pPr>
            <a:r>
              <a:rPr b="1" i="0" lang="en-US" sz="1179" u="none" cap="none" strike="noStrike">
                <a:solidFill>
                  <a:schemeClr val="dk1"/>
                </a:solidFill>
                <a:latin typeface="Arial"/>
                <a:ea typeface="Arial"/>
                <a:cs typeface="Arial"/>
                <a:sym typeface="Arial"/>
              </a:rPr>
              <a:t>7.	Transmit Power Outputs: </a:t>
            </a:r>
            <a:r>
              <a:rPr b="0" i="0" lang="en-US" sz="1179" u="none" cap="none" strike="noStrike">
                <a:solidFill>
                  <a:schemeClr val="dk1"/>
                </a:solidFill>
                <a:latin typeface="Arial"/>
                <a:ea typeface="Arial"/>
                <a:cs typeface="Arial"/>
                <a:sym typeface="Arial"/>
              </a:rPr>
              <a:t>Configured power to be checked through EMS.</a:t>
            </a:r>
            <a:endParaRPr b="0" i="0" sz="1179" u="none" cap="none" strike="noStrike">
              <a:solidFill>
                <a:schemeClr val="dk1"/>
              </a:solidFill>
              <a:latin typeface="Arial"/>
              <a:ea typeface="Arial"/>
              <a:cs typeface="Arial"/>
              <a:sym typeface="Arial"/>
            </a:endParaRPr>
          </a:p>
          <a:p>
            <a:pPr indent="0" lvl="0" marL="13603" marR="0" rtl="0" algn="l">
              <a:lnSpc>
                <a:spcPct val="100000"/>
              </a:lnSpc>
              <a:spcBef>
                <a:spcPts val="230"/>
              </a:spcBef>
              <a:spcAft>
                <a:spcPts val="0"/>
              </a:spcAft>
              <a:buClr>
                <a:srgbClr val="000000"/>
              </a:buClr>
              <a:buSzPts val="1179"/>
              <a:buFont typeface="Arial"/>
              <a:buNone/>
            </a:pPr>
            <a:r>
              <a:rPr b="1" i="0" lang="en-US" sz="1179" u="none" cap="none" strike="noStrike">
                <a:solidFill>
                  <a:schemeClr val="dk1"/>
                </a:solidFill>
                <a:latin typeface="Arial"/>
                <a:ea typeface="Arial"/>
                <a:cs typeface="Arial"/>
                <a:sym typeface="Arial"/>
              </a:rPr>
              <a:t>Integrated module (for RRH type): </a:t>
            </a:r>
            <a:r>
              <a:rPr b="0" i="0" lang="en-US" sz="1179" u="none" cap="none" strike="noStrike">
                <a:solidFill>
                  <a:schemeClr val="dk1"/>
                </a:solidFill>
                <a:latin typeface="Arial"/>
                <a:ea typeface="Arial"/>
                <a:cs typeface="Arial"/>
                <a:sym typeface="Arial"/>
              </a:rPr>
              <a:t>Check TX power of eNode-B using LMT.</a:t>
            </a:r>
            <a:endParaRPr b="0" i="0" sz="1179" u="none" cap="none" strike="noStrike">
              <a:solidFill>
                <a:schemeClr val="dk1"/>
              </a:solidFill>
              <a:latin typeface="Arial"/>
              <a:ea typeface="Arial"/>
              <a:cs typeface="Arial"/>
              <a:sym typeface="Arial"/>
            </a:endParaRPr>
          </a:p>
        </p:txBody>
      </p:sp>
      <p:graphicFrame>
        <p:nvGraphicFramePr>
          <p:cNvPr id="127" name="Google Shape;127;p14"/>
          <p:cNvGraphicFramePr/>
          <p:nvPr/>
        </p:nvGraphicFramePr>
        <p:xfrm>
          <a:off x="3033068" y="7382605"/>
          <a:ext cx="3000000" cy="3000000"/>
        </p:xfrm>
        <a:graphic>
          <a:graphicData uri="http://schemas.openxmlformats.org/drawingml/2006/table">
            <a:tbl>
              <a:tblPr bandRow="1" firstRow="1">
                <a:noFill/>
                <a:tableStyleId>{6E646390-14D1-40E7-8574-0D387628F5A2}</a:tableStyleId>
              </a:tblPr>
              <a:tblGrid>
                <a:gridCol w="1836000"/>
                <a:gridCol w="369375"/>
                <a:gridCol w="1836675"/>
                <a:gridCol w="369375"/>
                <a:gridCol w="1777500"/>
              </a:tblGrid>
              <a:tr h="361900">
                <a:tc>
                  <a:txBody>
                    <a:bodyPr/>
                    <a:lstStyle/>
                    <a:p>
                      <a:pPr indent="0" lvl="0" marL="1270" marR="0" rtl="0" algn="ctr">
                        <a:lnSpc>
                          <a:spcPct val="100000"/>
                        </a:lnSpc>
                        <a:spcBef>
                          <a:spcPts val="0"/>
                        </a:spcBef>
                        <a:spcAft>
                          <a:spcPts val="0"/>
                        </a:spcAft>
                        <a:buClr>
                          <a:srgbClr val="000000"/>
                        </a:buClr>
                        <a:buSzPts val="1100"/>
                        <a:buFont typeface="Arial"/>
                        <a:buNone/>
                      </a:pPr>
                      <a:r>
                        <a:rPr b="1" lang="en-US" sz="1100" u="none" cap="none" strike="noStrike">
                          <a:latin typeface="Arial"/>
                          <a:ea typeface="Arial"/>
                          <a:cs typeface="Arial"/>
                          <a:sym typeface="Arial"/>
                        </a:rPr>
                        <a:t>Sector –0</a:t>
                      </a:r>
                      <a:endParaRPr sz="1100" u="none" cap="none" strike="noStrike">
                        <a:latin typeface="Arial"/>
                        <a:ea typeface="Arial"/>
                        <a:cs typeface="Arial"/>
                        <a:sym typeface="Arial"/>
                      </a:endParaRPr>
                    </a:p>
                  </a:txBody>
                  <a:tcPr marT="333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7620" marR="0" rtl="0" algn="ctr">
                        <a:lnSpc>
                          <a:spcPct val="100000"/>
                        </a:lnSpc>
                        <a:spcBef>
                          <a:spcPts val="0"/>
                        </a:spcBef>
                        <a:spcAft>
                          <a:spcPts val="0"/>
                        </a:spcAft>
                        <a:buClr>
                          <a:srgbClr val="000000"/>
                        </a:buClr>
                        <a:buSzPts val="1100"/>
                        <a:buFont typeface="Arial"/>
                        <a:buNone/>
                      </a:pPr>
                      <a:r>
                        <a:rPr b="1" lang="en-US" sz="1100" u="none" cap="none" strike="noStrike">
                          <a:latin typeface="Arial"/>
                          <a:ea typeface="Arial"/>
                          <a:cs typeface="Arial"/>
                          <a:sym typeface="Arial"/>
                        </a:rPr>
                        <a:t>Sector –1</a:t>
                      </a:r>
                      <a:endParaRPr sz="1100" u="none" cap="none" strike="noStrike">
                        <a:latin typeface="Arial"/>
                        <a:ea typeface="Arial"/>
                        <a:cs typeface="Arial"/>
                        <a:sym typeface="Arial"/>
                      </a:endParaRPr>
                    </a:p>
                  </a:txBody>
                  <a:tcPr marT="333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1905" marR="0" rtl="0" algn="ctr">
                        <a:lnSpc>
                          <a:spcPct val="100000"/>
                        </a:lnSpc>
                        <a:spcBef>
                          <a:spcPts val="0"/>
                        </a:spcBef>
                        <a:spcAft>
                          <a:spcPts val="0"/>
                        </a:spcAft>
                        <a:buClr>
                          <a:srgbClr val="000000"/>
                        </a:buClr>
                        <a:buSzPts val="1100"/>
                        <a:buFont typeface="Arial"/>
                        <a:buNone/>
                      </a:pPr>
                      <a:r>
                        <a:rPr b="1" lang="en-US" sz="1100" u="none" cap="none" strike="noStrike">
                          <a:latin typeface="Arial"/>
                          <a:ea typeface="Arial"/>
                          <a:cs typeface="Arial"/>
                          <a:sym typeface="Arial"/>
                        </a:rPr>
                        <a:t>Sector –2</a:t>
                      </a:r>
                      <a:endParaRPr sz="1100" u="none" cap="none" strike="noStrike">
                        <a:latin typeface="Arial"/>
                        <a:ea typeface="Arial"/>
                        <a:cs typeface="Arial"/>
                        <a:sym typeface="Arial"/>
                      </a:endParaRPr>
                    </a:p>
                  </a:txBody>
                  <a:tcPr marT="333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5300">
                <a:tc>
                  <a:txBody>
                    <a:bodyPr/>
                    <a:lstStyle/>
                    <a:p>
                      <a:pPr indent="0" lvl="0" marL="0" marR="0" rtl="0" algn="ctr">
                        <a:lnSpc>
                          <a:spcPct val="100000"/>
                        </a:lnSpc>
                        <a:spcBef>
                          <a:spcPts val="0"/>
                        </a:spcBef>
                        <a:spcAft>
                          <a:spcPts val="0"/>
                        </a:spcAft>
                        <a:buClr>
                          <a:srgbClr val="000000"/>
                        </a:buClr>
                        <a:buSzPts val="1100"/>
                        <a:buFont typeface="Arial"/>
                        <a:buNone/>
                      </a:pPr>
                      <a:r>
                        <a:rPr lang="en-US" sz="1100" u="none" cap="none" strike="noStrike">
                          <a:latin typeface="Times New Roman"/>
                          <a:ea typeface="Times New Roman"/>
                          <a:cs typeface="Times New Roman"/>
                          <a:sym typeface="Times New Roman"/>
                        </a:rPr>
                        <a:t>46</a:t>
                      </a:r>
                      <a:endParaRPr sz="1100" u="none" cap="none" strike="noStrike">
                        <a:latin typeface="Times New Roman"/>
                        <a:ea typeface="Times New Roman"/>
                        <a:cs typeface="Times New Roman"/>
                        <a:sym typeface="Times New Roman"/>
                      </a:endParaRPr>
                    </a:p>
                  </a:txBody>
                  <a:tcPr marT="326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100"/>
                        <a:buFont typeface="Arial"/>
                        <a:buNone/>
                      </a:pPr>
                      <a:r>
                        <a:rPr lang="en-US" sz="1100" u="none" cap="none" strike="noStrike">
                          <a:latin typeface="Times New Roman"/>
                          <a:ea typeface="Times New Roman"/>
                          <a:cs typeface="Times New Roman"/>
                          <a:sym typeface="Times New Roman"/>
                        </a:rPr>
                        <a:t>46</a:t>
                      </a:r>
                      <a:endParaRPr sz="1100" u="none" cap="none" strike="noStrike">
                        <a:latin typeface="Times New Roman"/>
                        <a:ea typeface="Times New Roman"/>
                        <a:cs typeface="Times New Roman"/>
                        <a:sym typeface="Times New Roman"/>
                      </a:endParaRPr>
                    </a:p>
                  </a:txBody>
                  <a:tcPr marT="326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100"/>
                        <a:buFont typeface="Arial"/>
                        <a:buNone/>
                      </a:pPr>
                      <a:r>
                        <a:rPr lang="en-US" sz="1100" u="none" cap="none" strike="noStrike">
                          <a:latin typeface="Times New Roman"/>
                          <a:ea typeface="Times New Roman"/>
                          <a:cs typeface="Times New Roman"/>
                          <a:sym typeface="Times New Roman"/>
                        </a:rPr>
                        <a:t>46</a:t>
                      </a:r>
                      <a:endParaRPr sz="1100" u="none" cap="none" strike="noStrike">
                        <a:latin typeface="Times New Roman"/>
                        <a:ea typeface="Times New Roman"/>
                        <a:cs typeface="Times New Roman"/>
                        <a:sym typeface="Times New Roman"/>
                      </a:endParaRPr>
                    </a:p>
                  </a:txBody>
                  <a:tcPr marT="326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28" name="Google Shape;128;p14"/>
          <p:cNvSpPr txBox="1"/>
          <p:nvPr/>
        </p:nvSpPr>
        <p:spPr>
          <a:xfrm>
            <a:off x="3016198" y="8090608"/>
            <a:ext cx="155777" cy="195884"/>
          </a:xfrm>
          <a:prstGeom prst="rect">
            <a:avLst/>
          </a:prstGeom>
          <a:noFill/>
          <a:ln>
            <a:noFill/>
          </a:ln>
        </p:spPr>
        <p:txBody>
          <a:bodyPr anchorCtr="0" anchor="t" bIns="0" lIns="0" spcFirstLastPara="1" rIns="0" wrap="square" tIns="14275">
            <a:spAutoFit/>
          </a:bodyPr>
          <a:lstStyle/>
          <a:p>
            <a:pPr indent="0" lvl="0" marL="13603" marR="0" rtl="0" algn="l">
              <a:lnSpc>
                <a:spcPct val="100000"/>
              </a:lnSpc>
              <a:spcBef>
                <a:spcPts val="0"/>
              </a:spcBef>
              <a:spcAft>
                <a:spcPts val="0"/>
              </a:spcAft>
              <a:buClr>
                <a:srgbClr val="000000"/>
              </a:buClr>
              <a:buSzPts val="1179"/>
              <a:buFont typeface="Arial"/>
              <a:buNone/>
            </a:pPr>
            <a:r>
              <a:rPr b="1" i="0" lang="en-US" sz="1179" u="none" cap="none" strike="noStrike">
                <a:solidFill>
                  <a:schemeClr val="dk1"/>
                </a:solidFill>
                <a:latin typeface="Arial"/>
                <a:ea typeface="Arial"/>
                <a:cs typeface="Arial"/>
                <a:sym typeface="Arial"/>
              </a:rPr>
              <a:t>8.</a:t>
            </a:r>
            <a:endParaRPr b="0" i="0" sz="1179" u="none" cap="none" strike="noStrike">
              <a:solidFill>
                <a:schemeClr val="dk1"/>
              </a:solidFill>
              <a:latin typeface="Arial"/>
              <a:ea typeface="Arial"/>
              <a:cs typeface="Arial"/>
              <a:sym typeface="Arial"/>
            </a:endParaRPr>
          </a:p>
        </p:txBody>
      </p:sp>
      <p:sp>
        <p:nvSpPr>
          <p:cNvPr id="129" name="Google Shape;129;p14"/>
          <p:cNvSpPr txBox="1"/>
          <p:nvPr/>
        </p:nvSpPr>
        <p:spPr>
          <a:xfrm>
            <a:off x="3264351" y="8055343"/>
            <a:ext cx="5375331" cy="852240"/>
          </a:xfrm>
          <a:prstGeom prst="rect">
            <a:avLst/>
          </a:prstGeom>
          <a:noFill/>
          <a:ln>
            <a:noFill/>
          </a:ln>
        </p:spPr>
        <p:txBody>
          <a:bodyPr anchorCtr="0" anchor="t" bIns="0" lIns="0" spcFirstLastPara="1" rIns="0" wrap="square" tIns="48975">
            <a:spAutoFit/>
          </a:bodyPr>
          <a:lstStyle/>
          <a:p>
            <a:pPr indent="0" lvl="0" marL="316985" marR="0" rtl="0" algn="l">
              <a:lnSpc>
                <a:spcPct val="100000"/>
              </a:lnSpc>
              <a:spcBef>
                <a:spcPts val="0"/>
              </a:spcBef>
              <a:spcAft>
                <a:spcPts val="0"/>
              </a:spcAft>
              <a:buClr>
                <a:srgbClr val="000000"/>
              </a:buClr>
              <a:buSzPts val="1179"/>
              <a:buFont typeface="Arial"/>
              <a:buNone/>
            </a:pPr>
            <a:r>
              <a:rPr b="1" i="0" lang="en-US" sz="1179" u="none" cap="none" strike="noStrike">
                <a:solidFill>
                  <a:schemeClr val="dk1"/>
                </a:solidFill>
                <a:latin typeface="Arial"/>
                <a:ea typeface="Arial"/>
                <a:cs typeface="Arial"/>
                <a:sym typeface="Arial"/>
              </a:rPr>
              <a:t>VSWR Measurements:</a:t>
            </a:r>
            <a:endParaRPr b="0" i="0" sz="1179" u="none" cap="none" strike="noStrike">
              <a:solidFill>
                <a:schemeClr val="dk1"/>
              </a:solidFill>
              <a:latin typeface="Arial"/>
              <a:ea typeface="Arial"/>
              <a:cs typeface="Arial"/>
              <a:sym typeface="Arial"/>
            </a:endParaRPr>
          </a:p>
          <a:p>
            <a:pPr indent="0" lvl="0" marL="13603" marR="0" rtl="0" algn="l">
              <a:lnSpc>
                <a:spcPct val="100000"/>
              </a:lnSpc>
              <a:spcBef>
                <a:spcPts val="284"/>
              </a:spcBef>
              <a:spcAft>
                <a:spcPts val="0"/>
              </a:spcAft>
              <a:buClr>
                <a:srgbClr val="000000"/>
              </a:buClr>
              <a:buSzPts val="1179"/>
              <a:buFont typeface="Arial"/>
              <a:buNone/>
            </a:pPr>
            <a:r>
              <a:rPr b="0" i="0" lang="en-US" sz="1179" u="none" cap="none" strike="noStrike">
                <a:solidFill>
                  <a:schemeClr val="dk1"/>
                </a:solidFill>
                <a:latin typeface="Arial"/>
                <a:ea typeface="Arial"/>
                <a:cs typeface="Arial"/>
                <a:sym typeface="Arial"/>
              </a:rPr>
              <a:t>Check feeder grounding is done properly, if applicable. Status	(OK/Not:- OK)</a:t>
            </a:r>
            <a:endParaRPr b="0" i="0" sz="1179" u="none" cap="none" strike="noStrike">
              <a:solidFill>
                <a:schemeClr val="dk1"/>
              </a:solidFill>
              <a:latin typeface="Arial"/>
              <a:ea typeface="Arial"/>
              <a:cs typeface="Arial"/>
              <a:sym typeface="Arial"/>
            </a:endParaRPr>
          </a:p>
          <a:p>
            <a:pPr indent="-182981" lvl="0" marL="195905" marR="587714" rtl="0" algn="l">
              <a:lnSpc>
                <a:spcPct val="100000"/>
              </a:lnSpc>
              <a:spcBef>
                <a:spcPts val="289"/>
              </a:spcBef>
              <a:spcAft>
                <a:spcPts val="0"/>
              </a:spcAft>
              <a:buClr>
                <a:srgbClr val="000000"/>
              </a:buClr>
              <a:buSzPts val="1179"/>
              <a:buFont typeface="Arial"/>
              <a:buNone/>
            </a:pPr>
            <a:r>
              <a:rPr b="0" i="0" lang="en-US" sz="1179" u="none" cap="none" strike="noStrike">
                <a:solidFill>
                  <a:schemeClr val="dk1"/>
                </a:solidFill>
                <a:latin typeface="Arial"/>
                <a:ea typeface="Arial"/>
                <a:cs typeface="Arial"/>
                <a:sym typeface="Arial"/>
              </a:rPr>
              <a:t>i. Measure the VSWR values of each sector (&lt;=1.3). Measurement can be done through LMT/EMS/NMS/CLI.</a:t>
            </a:r>
            <a:endParaRPr b="0" i="0" sz="1179" u="none" cap="none" strike="noStrike">
              <a:solidFill>
                <a:schemeClr val="dk1"/>
              </a:solidFill>
              <a:latin typeface="Arial"/>
              <a:ea typeface="Arial"/>
              <a:cs typeface="Arial"/>
              <a:sym typeface="Arial"/>
            </a:endParaRPr>
          </a:p>
        </p:txBody>
      </p:sp>
      <p:graphicFrame>
        <p:nvGraphicFramePr>
          <p:cNvPr id="130" name="Google Shape;130;p14"/>
          <p:cNvGraphicFramePr/>
          <p:nvPr/>
        </p:nvGraphicFramePr>
        <p:xfrm>
          <a:off x="3215917" y="9126627"/>
          <a:ext cx="3000000" cy="3000000"/>
        </p:xfrm>
        <a:graphic>
          <a:graphicData uri="http://schemas.openxmlformats.org/drawingml/2006/table">
            <a:tbl>
              <a:tblPr bandRow="1" firstRow="1">
                <a:noFill/>
                <a:tableStyleId>{6E646390-14D1-40E7-8574-0D387628F5A2}</a:tableStyleId>
              </a:tblPr>
              <a:tblGrid>
                <a:gridCol w="2021700"/>
                <a:gridCol w="1042150"/>
                <a:gridCol w="1714900"/>
                <a:gridCol w="1225125"/>
              </a:tblGrid>
              <a:tr h="365300">
                <a:tc>
                  <a:txBody>
                    <a:bodyPr/>
                    <a:lstStyle/>
                    <a:p>
                      <a:pPr indent="0" lvl="0" marL="66675" marR="0" rtl="0" algn="l">
                        <a:lnSpc>
                          <a:spcPct val="100000"/>
                        </a:lnSpc>
                        <a:spcBef>
                          <a:spcPts val="0"/>
                        </a:spcBef>
                        <a:spcAft>
                          <a:spcPts val="0"/>
                        </a:spcAft>
                        <a:buClr>
                          <a:srgbClr val="000000"/>
                        </a:buClr>
                        <a:buSzPts val="1100"/>
                        <a:buFont typeface="Arial"/>
                        <a:buNone/>
                      </a:pPr>
                      <a:r>
                        <a:rPr b="1" lang="en-US" sz="1100" u="none" cap="none" strike="noStrike">
                          <a:latin typeface="Arial"/>
                          <a:ea typeface="Arial"/>
                          <a:cs typeface="Arial"/>
                          <a:sym typeface="Arial"/>
                        </a:rPr>
                        <a:t>Antennas &amp; Cables</a:t>
                      </a:r>
                      <a:endParaRPr sz="1100" u="none" cap="none" strike="noStrike">
                        <a:latin typeface="Arial"/>
                        <a:ea typeface="Arial"/>
                        <a:cs typeface="Arial"/>
                        <a:sym typeface="Arial"/>
                      </a:endParaRPr>
                    </a:p>
                  </a:txBody>
                  <a:tcPr marT="326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b="1" lang="en-US" sz="1100" u="none" cap="none" strike="noStrike">
                          <a:latin typeface="Arial"/>
                          <a:ea typeface="Arial"/>
                          <a:cs typeface="Arial"/>
                          <a:sym typeface="Arial"/>
                        </a:rPr>
                        <a:t>VSWR</a:t>
                      </a:r>
                      <a:endParaRPr sz="1100" u="none" cap="none" strike="noStrike">
                        <a:latin typeface="Arial"/>
                        <a:ea typeface="Arial"/>
                        <a:cs typeface="Arial"/>
                        <a:sym typeface="Arial"/>
                      </a:endParaRPr>
                    </a:p>
                  </a:txBody>
                  <a:tcPr marT="326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6675" marR="0" rtl="0" algn="l">
                        <a:lnSpc>
                          <a:spcPct val="100000"/>
                        </a:lnSpc>
                        <a:spcBef>
                          <a:spcPts val="0"/>
                        </a:spcBef>
                        <a:spcAft>
                          <a:spcPts val="0"/>
                        </a:spcAft>
                        <a:buClr>
                          <a:srgbClr val="000000"/>
                        </a:buClr>
                        <a:buSzPts val="1100"/>
                        <a:buFont typeface="Arial"/>
                        <a:buNone/>
                      </a:pPr>
                      <a:r>
                        <a:rPr b="1" lang="en-US" sz="1100" u="none" cap="none" strike="noStrike">
                          <a:latin typeface="Arial"/>
                          <a:ea typeface="Arial"/>
                          <a:cs typeface="Arial"/>
                          <a:sym typeface="Arial"/>
                        </a:rPr>
                        <a:t>Antennas &amp; Cables</a:t>
                      </a:r>
                      <a:endParaRPr sz="1100" u="none" cap="none" strike="noStrike">
                        <a:latin typeface="Arial"/>
                        <a:ea typeface="Arial"/>
                        <a:cs typeface="Arial"/>
                        <a:sym typeface="Arial"/>
                      </a:endParaRPr>
                    </a:p>
                  </a:txBody>
                  <a:tcPr marT="326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6675" marR="0" rtl="0" algn="l">
                        <a:lnSpc>
                          <a:spcPct val="100000"/>
                        </a:lnSpc>
                        <a:spcBef>
                          <a:spcPts val="0"/>
                        </a:spcBef>
                        <a:spcAft>
                          <a:spcPts val="0"/>
                        </a:spcAft>
                        <a:buClr>
                          <a:srgbClr val="000000"/>
                        </a:buClr>
                        <a:buSzPts val="1100"/>
                        <a:buFont typeface="Arial"/>
                        <a:buNone/>
                      </a:pPr>
                      <a:r>
                        <a:rPr b="1" lang="en-US" sz="1100" u="none" cap="none" strike="noStrike">
                          <a:latin typeface="Arial"/>
                          <a:ea typeface="Arial"/>
                          <a:cs typeface="Arial"/>
                          <a:sym typeface="Arial"/>
                        </a:rPr>
                        <a:t>VSWR</a:t>
                      </a:r>
                      <a:endParaRPr sz="1100" u="none" cap="none" strike="noStrike">
                        <a:latin typeface="Arial"/>
                        <a:ea typeface="Arial"/>
                        <a:cs typeface="Arial"/>
                        <a:sym typeface="Arial"/>
                      </a:endParaRPr>
                    </a:p>
                  </a:txBody>
                  <a:tcPr marT="326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2575">
                <a:tc>
                  <a:txBody>
                    <a:bodyPr/>
                    <a:lstStyle/>
                    <a:p>
                      <a:pPr indent="0" lvl="0" marL="66675"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Sector 0	Main</a:t>
                      </a:r>
                      <a:endParaRPr sz="1100" u="none" cap="none" strike="noStrike">
                        <a:latin typeface="Arial"/>
                        <a:ea typeface="Arial"/>
                        <a:cs typeface="Arial"/>
                        <a:sym typeface="Arial"/>
                      </a:endParaRPr>
                    </a:p>
                  </a:txBody>
                  <a:tcPr marT="367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6195" marR="0" rtl="0" algn="ctr">
                        <a:lnSpc>
                          <a:spcPct val="100000"/>
                        </a:lnSpc>
                        <a:spcBef>
                          <a:spcPts val="0"/>
                        </a:spcBef>
                        <a:spcAft>
                          <a:spcPts val="0"/>
                        </a:spcAft>
                        <a:buClr>
                          <a:srgbClr val="000000"/>
                        </a:buClr>
                        <a:buSzPts val="1100"/>
                        <a:buFont typeface="Arial"/>
                        <a:buNone/>
                      </a:pPr>
                      <a:r>
                        <a:rPr lang="en-US" sz="1100" u="none" cap="none" strike="noStrike">
                          <a:latin typeface="Times New Roman"/>
                          <a:ea typeface="Times New Roman"/>
                          <a:cs typeface="Times New Roman"/>
                          <a:sym typeface="Times New Roman"/>
                        </a:rPr>
                        <a:t>1.10</a:t>
                      </a:r>
                      <a:endParaRPr sz="1100" u="none" cap="none" strike="noStrike">
                        <a:latin typeface="Times New Roman"/>
                        <a:ea typeface="Times New Roman"/>
                        <a:cs typeface="Times New Roman"/>
                        <a:sym typeface="Times New Roman"/>
                      </a:endParaRPr>
                    </a:p>
                  </a:txBody>
                  <a:tcPr marT="333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6675"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Sector 0	Div</a:t>
                      </a:r>
                      <a:endParaRPr sz="1100" u="none" cap="none" strike="noStrike">
                        <a:latin typeface="Arial"/>
                        <a:ea typeface="Arial"/>
                        <a:cs typeface="Arial"/>
                        <a:sym typeface="Arial"/>
                      </a:endParaRPr>
                    </a:p>
                  </a:txBody>
                  <a:tcPr marT="367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422275" rtl="0" algn="r">
                        <a:lnSpc>
                          <a:spcPct val="100000"/>
                        </a:lnSpc>
                        <a:spcBef>
                          <a:spcPts val="0"/>
                        </a:spcBef>
                        <a:spcAft>
                          <a:spcPts val="0"/>
                        </a:spcAft>
                        <a:buClr>
                          <a:srgbClr val="000000"/>
                        </a:buClr>
                        <a:buSzPts val="1100"/>
                        <a:buFont typeface="Arial"/>
                        <a:buNone/>
                      </a:pPr>
                      <a:r>
                        <a:rPr lang="en-US" sz="1100" u="none" cap="none" strike="noStrike">
                          <a:latin typeface="Times New Roman"/>
                          <a:ea typeface="Times New Roman"/>
                          <a:cs typeface="Times New Roman"/>
                          <a:sym typeface="Times New Roman"/>
                        </a:rPr>
                        <a:t>1.10</a:t>
                      </a:r>
                      <a:endParaRPr sz="1100" u="none" cap="none" strike="noStrike">
                        <a:latin typeface="Times New Roman"/>
                        <a:ea typeface="Times New Roman"/>
                        <a:cs typeface="Times New Roman"/>
                        <a:sym typeface="Times New Roman"/>
                      </a:endParaRPr>
                    </a:p>
                  </a:txBody>
                  <a:tcPr marT="333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5300">
                <a:tc>
                  <a:txBody>
                    <a:bodyPr/>
                    <a:lstStyle/>
                    <a:p>
                      <a:pPr indent="0" lvl="0" marL="66675"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Sector 1	Main</a:t>
                      </a:r>
                      <a:endParaRPr sz="1100" u="none" cap="none" strike="noStrike">
                        <a:latin typeface="Arial"/>
                        <a:ea typeface="Arial"/>
                        <a:cs typeface="Arial"/>
                        <a:sym typeface="Arial"/>
                      </a:endParaRPr>
                    </a:p>
                  </a:txBody>
                  <a:tcPr marT="360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6195" marR="0" rtl="0" algn="ctr">
                        <a:lnSpc>
                          <a:spcPct val="100000"/>
                        </a:lnSpc>
                        <a:spcBef>
                          <a:spcPts val="0"/>
                        </a:spcBef>
                        <a:spcAft>
                          <a:spcPts val="0"/>
                        </a:spcAft>
                        <a:buClr>
                          <a:srgbClr val="000000"/>
                        </a:buClr>
                        <a:buSzPts val="1100"/>
                        <a:buFont typeface="Arial"/>
                        <a:buNone/>
                      </a:pPr>
                      <a:r>
                        <a:rPr lang="en-US" sz="1100" u="none" cap="none" strike="noStrike">
                          <a:latin typeface="Times New Roman"/>
                          <a:ea typeface="Times New Roman"/>
                          <a:cs typeface="Times New Roman"/>
                          <a:sym typeface="Times New Roman"/>
                        </a:rPr>
                        <a:t>1.11</a:t>
                      </a:r>
                      <a:endParaRPr sz="1100" u="none" cap="none" strike="noStrike">
                        <a:latin typeface="Times New Roman"/>
                        <a:ea typeface="Times New Roman"/>
                        <a:cs typeface="Times New Roman"/>
                        <a:sym typeface="Times New Roman"/>
                      </a:endParaRPr>
                    </a:p>
                  </a:txBody>
                  <a:tcPr marT="326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6675"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Sector 1	Div</a:t>
                      </a:r>
                      <a:endParaRPr sz="1100" u="none" cap="none" strike="noStrike">
                        <a:latin typeface="Arial"/>
                        <a:ea typeface="Arial"/>
                        <a:cs typeface="Arial"/>
                        <a:sym typeface="Arial"/>
                      </a:endParaRPr>
                    </a:p>
                  </a:txBody>
                  <a:tcPr marT="360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421640" rtl="0" algn="r">
                        <a:lnSpc>
                          <a:spcPct val="100000"/>
                        </a:lnSpc>
                        <a:spcBef>
                          <a:spcPts val="0"/>
                        </a:spcBef>
                        <a:spcAft>
                          <a:spcPts val="0"/>
                        </a:spcAft>
                        <a:buClr>
                          <a:srgbClr val="000000"/>
                        </a:buClr>
                        <a:buSzPts val="1100"/>
                        <a:buFont typeface="Arial"/>
                        <a:buNone/>
                      </a:pPr>
                      <a:r>
                        <a:rPr lang="en-US" sz="1100" u="none" cap="none" strike="noStrike">
                          <a:latin typeface="Times New Roman"/>
                          <a:ea typeface="Times New Roman"/>
                          <a:cs typeface="Times New Roman"/>
                          <a:sym typeface="Times New Roman"/>
                        </a:rPr>
                        <a:t>1.12</a:t>
                      </a:r>
                      <a:endParaRPr sz="1100" u="none" cap="none" strike="noStrike">
                        <a:latin typeface="Times New Roman"/>
                        <a:ea typeface="Times New Roman"/>
                        <a:cs typeface="Times New Roman"/>
                        <a:sym typeface="Times New Roman"/>
                      </a:endParaRPr>
                    </a:p>
                  </a:txBody>
                  <a:tcPr marT="326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1900">
                <a:tc>
                  <a:txBody>
                    <a:bodyPr/>
                    <a:lstStyle/>
                    <a:p>
                      <a:pPr indent="0" lvl="0" marL="66675"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Sector 2	Main</a:t>
                      </a:r>
                      <a:endParaRPr sz="1100" u="none" cap="none" strike="noStrike">
                        <a:latin typeface="Arial"/>
                        <a:ea typeface="Arial"/>
                        <a:cs typeface="Arial"/>
                        <a:sym typeface="Arial"/>
                      </a:endParaRPr>
                    </a:p>
                  </a:txBody>
                  <a:tcPr marT="360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6195" marR="0" rtl="0" algn="ctr">
                        <a:lnSpc>
                          <a:spcPct val="100000"/>
                        </a:lnSpc>
                        <a:spcBef>
                          <a:spcPts val="0"/>
                        </a:spcBef>
                        <a:spcAft>
                          <a:spcPts val="0"/>
                        </a:spcAft>
                        <a:buClr>
                          <a:srgbClr val="000000"/>
                        </a:buClr>
                        <a:buSzPts val="1100"/>
                        <a:buFont typeface="Arial"/>
                        <a:buNone/>
                      </a:pPr>
                      <a:r>
                        <a:rPr lang="en-US" sz="1100" u="none" cap="none" strike="noStrike">
                          <a:latin typeface="Times New Roman"/>
                          <a:ea typeface="Times New Roman"/>
                          <a:cs typeface="Times New Roman"/>
                          <a:sym typeface="Times New Roman"/>
                        </a:rPr>
                        <a:t>1.12</a:t>
                      </a:r>
                      <a:endParaRPr sz="1100" u="none" cap="none" strike="noStrike">
                        <a:latin typeface="Times New Roman"/>
                        <a:ea typeface="Times New Roman"/>
                        <a:cs typeface="Times New Roman"/>
                        <a:sym typeface="Times New Roman"/>
                      </a:endParaRPr>
                    </a:p>
                  </a:txBody>
                  <a:tcPr marT="326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6675"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Sector 2	Div</a:t>
                      </a:r>
                      <a:endParaRPr sz="1100" u="none" cap="none" strike="noStrike">
                        <a:latin typeface="Arial"/>
                        <a:ea typeface="Arial"/>
                        <a:cs typeface="Arial"/>
                        <a:sym typeface="Arial"/>
                      </a:endParaRPr>
                    </a:p>
                  </a:txBody>
                  <a:tcPr marT="360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422275" rtl="0" algn="r">
                        <a:lnSpc>
                          <a:spcPct val="100000"/>
                        </a:lnSpc>
                        <a:spcBef>
                          <a:spcPts val="0"/>
                        </a:spcBef>
                        <a:spcAft>
                          <a:spcPts val="0"/>
                        </a:spcAft>
                        <a:buClr>
                          <a:srgbClr val="000000"/>
                        </a:buClr>
                        <a:buSzPts val="1100"/>
                        <a:buFont typeface="Arial"/>
                        <a:buNone/>
                      </a:pPr>
                      <a:r>
                        <a:rPr lang="en-US" sz="1100" u="none" cap="none" strike="noStrike">
                          <a:latin typeface="Times New Roman"/>
                          <a:ea typeface="Times New Roman"/>
                          <a:cs typeface="Times New Roman"/>
                          <a:sym typeface="Times New Roman"/>
                        </a:rPr>
                        <a:t>1.11</a:t>
                      </a:r>
                      <a:endParaRPr sz="1100" u="none" cap="none" strike="noStrike">
                        <a:latin typeface="Times New Roman"/>
                        <a:ea typeface="Times New Roman"/>
                        <a:cs typeface="Times New Roman"/>
                        <a:sym typeface="Times New Roman"/>
                      </a:endParaRPr>
                    </a:p>
                  </a:txBody>
                  <a:tcPr marT="326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31" name="Google Shape;131;p14"/>
          <p:cNvSpPr txBox="1"/>
          <p:nvPr/>
        </p:nvSpPr>
        <p:spPr>
          <a:xfrm>
            <a:off x="2040499" y="1530839"/>
            <a:ext cx="2603732" cy="203735"/>
          </a:xfrm>
          <a:prstGeom prst="rect">
            <a:avLst/>
          </a:prstGeom>
          <a:noFill/>
          <a:ln>
            <a:noFill/>
          </a:ln>
        </p:spPr>
        <p:txBody>
          <a:bodyPr anchorCtr="0" anchor="t" bIns="0" lIns="0" spcFirstLastPara="1" rIns="0" wrap="square" tIns="13725">
            <a:spAutoFit/>
          </a:bodyPr>
          <a:lstStyle/>
          <a:p>
            <a:pPr indent="2892"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QA &amp; INSPECTION CIRCLE KL 	</a:t>
            </a:r>
            <a:endParaRPr b="0" i="0" sz="1253" u="none" cap="none" strike="noStrike">
              <a:solidFill>
                <a:schemeClr val="dk1"/>
              </a:solidFill>
              <a:latin typeface="Arial"/>
              <a:ea typeface="Arial"/>
              <a:cs typeface="Arial"/>
              <a:sym typeface="Arial"/>
            </a:endParaRPr>
          </a:p>
        </p:txBody>
      </p:sp>
      <p:sp>
        <p:nvSpPr>
          <p:cNvPr id="132" name="Google Shape;132;p14"/>
          <p:cNvSpPr txBox="1"/>
          <p:nvPr/>
        </p:nvSpPr>
        <p:spPr>
          <a:xfrm>
            <a:off x="7238764" y="1574232"/>
            <a:ext cx="1833298" cy="408086"/>
          </a:xfrm>
          <a:prstGeom prst="rect">
            <a:avLst/>
          </a:prstGeom>
          <a:noFill/>
          <a:ln>
            <a:noFill/>
          </a:ln>
        </p:spPr>
        <p:txBody>
          <a:bodyPr anchorCtr="0" anchor="t" bIns="0" lIns="0" spcFirstLastPara="1" rIns="0" wrap="square" tIns="13725">
            <a:spAutoFit/>
          </a:bodyPr>
          <a:lstStyle/>
          <a:p>
            <a:pPr indent="701487"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4G PHASE IX.2  eNode-B A/T SCHEDULE</a:t>
            </a:r>
            <a:endParaRPr b="0" i="0" sz="1400" u="none" cap="none" strike="noStrike">
              <a:solidFill>
                <a:srgbClr val="000000"/>
              </a:solidFill>
              <a:latin typeface="Arial"/>
              <a:ea typeface="Arial"/>
              <a:cs typeface="Arial"/>
              <a:sym typeface="Arial"/>
            </a:endParaRPr>
          </a:p>
        </p:txBody>
      </p:sp>
      <p:sp>
        <p:nvSpPr>
          <p:cNvPr id="133" name="Google Shape;133;p14"/>
          <p:cNvSpPr txBox="1"/>
          <p:nvPr>
            <p:ph idx="11" type="ftr"/>
          </p:nvPr>
        </p:nvSpPr>
        <p:spPr>
          <a:xfrm>
            <a:off x="2248781" y="11446613"/>
            <a:ext cx="1915019" cy="192810"/>
          </a:xfrm>
          <a:prstGeom prst="rect">
            <a:avLst/>
          </a:prstGeom>
          <a:noFill/>
          <a:ln>
            <a:noFill/>
          </a:ln>
        </p:spPr>
        <p:txBody>
          <a:bodyPr anchorCtr="0" anchor="t" bIns="0" lIns="0" spcFirstLastPara="1" rIns="0" wrap="square" tIns="0">
            <a:spAutoFit/>
          </a:bodyPr>
          <a:lstStyle/>
          <a:p>
            <a:pPr indent="0" lvl="0" marL="14464" rtl="0" algn="l">
              <a:lnSpc>
                <a:spcPct val="100000"/>
              </a:lnSpc>
              <a:spcBef>
                <a:spcPts val="0"/>
              </a:spcBef>
              <a:spcAft>
                <a:spcPts val="0"/>
              </a:spcAft>
              <a:buSzPts val="1400"/>
              <a:buNone/>
            </a:pPr>
            <a:r>
              <a:rPr lang="en-US"/>
              <a:t>QAIN-11/31(14)/1/2023-CM</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5"/>
          <p:cNvSpPr txBox="1"/>
          <p:nvPr>
            <p:ph idx="11" type="ftr"/>
          </p:nvPr>
        </p:nvSpPr>
        <p:spPr>
          <a:xfrm>
            <a:off x="2248781" y="14495318"/>
            <a:ext cx="1915019" cy="192810"/>
          </a:xfrm>
          <a:prstGeom prst="rect">
            <a:avLst/>
          </a:prstGeom>
          <a:noFill/>
          <a:ln>
            <a:noFill/>
          </a:ln>
        </p:spPr>
        <p:txBody>
          <a:bodyPr anchorCtr="0" anchor="t" bIns="0" lIns="0" spcFirstLastPara="1" rIns="0" wrap="square" tIns="0">
            <a:spAutoFit/>
          </a:bodyPr>
          <a:lstStyle/>
          <a:p>
            <a:pPr indent="0" lvl="0" marL="14464" rtl="0" algn="l">
              <a:lnSpc>
                <a:spcPct val="100000"/>
              </a:lnSpc>
              <a:spcBef>
                <a:spcPts val="0"/>
              </a:spcBef>
              <a:spcAft>
                <a:spcPts val="0"/>
              </a:spcAft>
              <a:buSzPts val="1400"/>
              <a:buNone/>
            </a:pPr>
            <a:r>
              <a:rPr lang="en-US"/>
              <a:t>QAIN-11/31(14)/1/2023-CM</a:t>
            </a:r>
            <a:endParaRPr/>
          </a:p>
        </p:txBody>
      </p:sp>
      <p:sp>
        <p:nvSpPr>
          <p:cNvPr id="139" name="Google Shape;139;p15"/>
          <p:cNvSpPr txBox="1"/>
          <p:nvPr/>
        </p:nvSpPr>
        <p:spPr>
          <a:xfrm>
            <a:off x="7238764" y="1574232"/>
            <a:ext cx="1833298" cy="408086"/>
          </a:xfrm>
          <a:prstGeom prst="rect">
            <a:avLst/>
          </a:prstGeom>
          <a:noFill/>
          <a:ln>
            <a:noFill/>
          </a:ln>
        </p:spPr>
        <p:txBody>
          <a:bodyPr anchorCtr="0" anchor="t" bIns="0" lIns="0" spcFirstLastPara="1" rIns="0" wrap="square" tIns="13725">
            <a:spAutoFit/>
          </a:bodyPr>
          <a:lstStyle/>
          <a:p>
            <a:pPr indent="701487"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4G PHASE IX.2  eNode-B A/T SCHEDULE</a:t>
            </a:r>
            <a:endParaRPr b="0" i="0" sz="1253" u="none" cap="none" strike="noStrike">
              <a:solidFill>
                <a:schemeClr val="dk1"/>
              </a:solidFill>
              <a:latin typeface="Arial"/>
              <a:ea typeface="Arial"/>
              <a:cs typeface="Arial"/>
              <a:sym typeface="Arial"/>
            </a:endParaRPr>
          </a:p>
        </p:txBody>
      </p:sp>
      <p:sp>
        <p:nvSpPr>
          <p:cNvPr id="140" name="Google Shape;140;p15"/>
          <p:cNvSpPr txBox="1"/>
          <p:nvPr/>
        </p:nvSpPr>
        <p:spPr>
          <a:xfrm>
            <a:off x="2276551" y="2413601"/>
            <a:ext cx="3132878" cy="210379"/>
          </a:xfrm>
          <a:prstGeom prst="rect">
            <a:avLst/>
          </a:prstGeom>
          <a:noFill/>
          <a:ln>
            <a:noFill/>
          </a:ln>
        </p:spPr>
        <p:txBody>
          <a:bodyPr anchorCtr="0" anchor="t" bIns="0" lIns="0" spcFirstLastPara="1" rIns="0" wrap="square" tIns="0">
            <a:spAutoFit/>
          </a:bodyPr>
          <a:lstStyle/>
          <a:p>
            <a:pPr indent="0" lvl="0" marL="14464" marR="0" rtl="0" algn="l">
              <a:lnSpc>
                <a:spcPct val="100000"/>
              </a:lnSpc>
              <a:spcBef>
                <a:spcPts val="0"/>
              </a:spcBef>
              <a:spcAft>
                <a:spcPts val="0"/>
              </a:spcAft>
              <a:buClr>
                <a:srgbClr val="000000"/>
              </a:buClr>
              <a:buSzPts val="1367"/>
              <a:buFont typeface="Arial"/>
              <a:buNone/>
            </a:pPr>
            <a:r>
              <a:rPr b="0" i="0" lang="en-US" sz="1367" u="none" cap="none" strike="noStrike">
                <a:solidFill>
                  <a:schemeClr val="dk1"/>
                </a:solidFill>
                <a:latin typeface="Arial"/>
                <a:ea typeface="Arial"/>
                <a:cs typeface="Arial"/>
                <a:sym typeface="Arial"/>
              </a:rPr>
              <a:t>9.   </a:t>
            </a:r>
            <a:r>
              <a:rPr b="1" i="0" lang="en-US" sz="1253" u="none" cap="none" strike="noStrike">
                <a:solidFill>
                  <a:schemeClr val="dk1"/>
                </a:solidFill>
                <a:latin typeface="Arial"/>
                <a:ea typeface="Arial"/>
                <a:cs typeface="Arial"/>
                <a:sym typeface="Arial"/>
              </a:rPr>
              <a:t>4G services to be tested in all sectors.</a:t>
            </a:r>
            <a:endParaRPr b="0" i="0" sz="1253" u="none" cap="none" strike="noStrike">
              <a:solidFill>
                <a:schemeClr val="dk1"/>
              </a:solidFill>
              <a:latin typeface="Arial"/>
              <a:ea typeface="Arial"/>
              <a:cs typeface="Arial"/>
              <a:sym typeface="Arial"/>
            </a:endParaRPr>
          </a:p>
        </p:txBody>
      </p:sp>
      <p:graphicFrame>
        <p:nvGraphicFramePr>
          <p:cNvPr id="141" name="Google Shape;141;p15"/>
          <p:cNvGraphicFramePr/>
          <p:nvPr/>
        </p:nvGraphicFramePr>
        <p:xfrm>
          <a:off x="2096619" y="3379644"/>
          <a:ext cx="3000000" cy="3000000"/>
        </p:xfrm>
        <a:graphic>
          <a:graphicData uri="http://schemas.openxmlformats.org/drawingml/2006/table">
            <a:tbl>
              <a:tblPr bandRow="1" firstRow="1">
                <a:noFill/>
                <a:tableStyleId>{6E646390-14D1-40E7-8574-0D387628F5A2}</a:tableStyleId>
              </a:tblPr>
              <a:tblGrid>
                <a:gridCol w="553250"/>
                <a:gridCol w="6763325"/>
              </a:tblGrid>
              <a:tr h="255325">
                <a:tc>
                  <a:txBody>
                    <a:bodyPr/>
                    <a:lstStyle/>
                    <a:p>
                      <a:pPr indent="0" lvl="0" marL="0" marR="81915" rtl="0" algn="r">
                        <a:lnSpc>
                          <a:spcPct val="100000"/>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I.</a:t>
                      </a:r>
                      <a:endParaRPr sz="1300" u="none" cap="none" strike="noStrike">
                        <a:latin typeface="Arial"/>
                        <a:ea typeface="Arial"/>
                        <a:cs typeface="Arial"/>
                        <a:sym typeface="Arial"/>
                      </a:endParaRPr>
                    </a:p>
                  </a:txBody>
                  <a:tcPr marT="14475" marB="0" marR="0" marL="0">
                    <a:lnL cap="flat" cmpd="sng" w="952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tcPr>
                </a:tc>
                <a:tc>
                  <a:txBody>
                    <a:bodyPr/>
                    <a:lstStyle/>
                    <a:p>
                      <a:pPr indent="0" lvl="0" marL="81280" marR="0" rtl="0" algn="l">
                        <a:lnSpc>
                          <a:spcPct val="100000"/>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VoLTE/ CSFB/ SRVCC/eSRVCC /Fast return to LTE– O/G and I/C call : </a:t>
                      </a:r>
                      <a:endParaRPr sz="1300" u="none" cap="none" strike="noStrike">
                        <a:latin typeface="Arial"/>
                        <a:ea typeface="Arial"/>
                        <a:cs typeface="Arial"/>
                        <a:sym typeface="Arial"/>
                      </a:endParaRPr>
                    </a:p>
                  </a:txBody>
                  <a:tcPr marT="14475" marB="0" marR="0" marL="0">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r>
              <a:tr h="258625">
                <a:tc>
                  <a:txBody>
                    <a:bodyPr/>
                    <a:lstStyle/>
                    <a:p>
                      <a:pPr indent="0" lvl="0" marL="0" marR="81915" rtl="0" algn="r">
                        <a:lnSpc>
                          <a:spcPct val="100000"/>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II.</a:t>
                      </a:r>
                      <a:endParaRPr sz="1300" u="none" cap="none" strike="noStrike">
                        <a:latin typeface="Arial"/>
                        <a:ea typeface="Arial"/>
                        <a:cs typeface="Arial"/>
                        <a:sym typeface="Arial"/>
                      </a:endParaRPr>
                    </a:p>
                  </a:txBody>
                  <a:tcPr marT="33275" marB="0" marR="0" marL="0">
                    <a:lnL cap="flat" cmpd="sng" w="9525">
                      <a:solidFill>
                        <a:srgbClr val="000000"/>
                      </a:solidFill>
                      <a:prstDash val="solid"/>
                      <a:round/>
                      <a:headEnd len="sm" w="sm" type="none"/>
                      <a:tailEnd len="sm" w="sm" type="none"/>
                    </a:lnL>
                  </a:tcPr>
                </a:tc>
                <a:tc>
                  <a:txBody>
                    <a:bodyPr/>
                    <a:lstStyle/>
                    <a:p>
                      <a:pPr indent="0" lvl="0" marL="81280" marR="0" rtl="0" algn="l">
                        <a:lnSpc>
                          <a:spcPct val="100000"/>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ViLTE : Under Discussion</a:t>
                      </a:r>
                      <a:endParaRPr sz="1300" u="none" cap="none" strike="noStrike">
                        <a:latin typeface="Arial"/>
                        <a:ea typeface="Arial"/>
                        <a:cs typeface="Arial"/>
                        <a:sym typeface="Arial"/>
                      </a:endParaRPr>
                    </a:p>
                  </a:txBody>
                  <a:tcPr marT="33275" marB="0" marR="0" marL="0">
                    <a:lnR cap="flat" cmpd="sng" w="9525">
                      <a:solidFill>
                        <a:srgbClr val="000000"/>
                      </a:solidFill>
                      <a:prstDash val="solid"/>
                      <a:round/>
                      <a:headEnd len="sm" w="sm" type="none"/>
                      <a:tailEnd len="sm" w="sm" type="none"/>
                    </a:lnR>
                  </a:tcPr>
                </a:tc>
              </a:tr>
              <a:tr h="244875">
                <a:tc>
                  <a:txBody>
                    <a:bodyPr/>
                    <a:lstStyle/>
                    <a:p>
                      <a:pPr indent="0" lvl="0" marL="0" marR="76200" rtl="0" algn="r">
                        <a:lnSpc>
                          <a:spcPct val="100000"/>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III.</a:t>
                      </a:r>
                      <a:endParaRPr sz="1300" u="none" cap="none" strike="noStrike">
                        <a:latin typeface="Arial"/>
                        <a:ea typeface="Arial"/>
                        <a:cs typeface="Arial"/>
                        <a:sym typeface="Arial"/>
                      </a:endParaRPr>
                    </a:p>
                  </a:txBody>
                  <a:tcPr marT="17350" marB="0" marR="0" marL="0">
                    <a:lnL cap="flat" cmpd="sng" w="9525">
                      <a:solidFill>
                        <a:srgbClr val="000000"/>
                      </a:solidFill>
                      <a:prstDash val="solid"/>
                      <a:round/>
                      <a:headEnd len="sm" w="sm" type="none"/>
                      <a:tailEnd len="sm" w="sm" type="none"/>
                    </a:lnL>
                  </a:tcPr>
                </a:tc>
                <a:tc>
                  <a:txBody>
                    <a:bodyPr/>
                    <a:lstStyle/>
                    <a:p>
                      <a:pPr indent="0" lvl="0" marL="81280" marR="0" rtl="0" algn="l">
                        <a:lnSpc>
                          <a:spcPct val="100000"/>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DATA, Video and Audio Streaming/Web Browsing : Pass</a:t>
                      </a:r>
                      <a:endParaRPr sz="1300" u="none" cap="none" strike="noStrike">
                        <a:latin typeface="Arial"/>
                        <a:ea typeface="Arial"/>
                        <a:cs typeface="Arial"/>
                        <a:sym typeface="Arial"/>
                      </a:endParaRPr>
                    </a:p>
                  </a:txBody>
                  <a:tcPr marT="17350" marB="0" marR="0" marL="0">
                    <a:lnR cap="flat" cmpd="sng" w="9525">
                      <a:solidFill>
                        <a:srgbClr val="000000"/>
                      </a:solidFill>
                      <a:prstDash val="solid"/>
                      <a:round/>
                      <a:headEnd len="sm" w="sm" type="none"/>
                      <a:tailEnd len="sm" w="sm" type="none"/>
                    </a:lnR>
                  </a:tcPr>
                </a:tc>
              </a:tr>
              <a:tr h="246600">
                <a:tc>
                  <a:txBody>
                    <a:bodyPr/>
                    <a:lstStyle/>
                    <a:p>
                      <a:pPr indent="0" lvl="0" marL="0" marR="79375" rtl="0" algn="r">
                        <a:lnSpc>
                          <a:spcPct val="100000"/>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IV.</a:t>
                      </a:r>
                      <a:endParaRPr sz="1300" u="none" cap="none" strike="noStrike">
                        <a:latin typeface="Arial"/>
                        <a:ea typeface="Arial"/>
                        <a:cs typeface="Arial"/>
                        <a:sym typeface="Arial"/>
                      </a:endParaRPr>
                    </a:p>
                  </a:txBody>
                  <a:tcPr marT="19525" marB="0" marR="0" marL="0">
                    <a:lnL cap="flat" cmpd="sng" w="9525">
                      <a:solidFill>
                        <a:srgbClr val="000000"/>
                      </a:solidFill>
                      <a:prstDash val="solid"/>
                      <a:round/>
                      <a:headEnd len="sm" w="sm" type="none"/>
                      <a:tailEnd len="sm" w="sm" type="none"/>
                    </a:lnL>
                  </a:tcPr>
                </a:tc>
                <a:tc>
                  <a:txBody>
                    <a:bodyPr/>
                    <a:lstStyle/>
                    <a:p>
                      <a:pPr indent="0" lvl="0" marL="81280" marR="0" rtl="0" algn="l">
                        <a:lnSpc>
                          <a:spcPct val="100000"/>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SMS, USSD : Pass, NA</a:t>
                      </a:r>
                      <a:endParaRPr sz="1300" u="none" cap="none" strike="noStrike">
                        <a:latin typeface="Arial"/>
                        <a:ea typeface="Arial"/>
                        <a:cs typeface="Arial"/>
                        <a:sym typeface="Arial"/>
                      </a:endParaRPr>
                    </a:p>
                  </a:txBody>
                  <a:tcPr marT="19525" marB="0" marR="0" marL="0">
                    <a:lnR cap="flat" cmpd="sng" w="9525">
                      <a:solidFill>
                        <a:srgbClr val="000000"/>
                      </a:solidFill>
                      <a:prstDash val="solid"/>
                      <a:round/>
                      <a:headEnd len="sm" w="sm" type="none"/>
                      <a:tailEnd len="sm" w="sm" type="none"/>
                    </a:lnR>
                  </a:tcPr>
                </a:tc>
              </a:tr>
              <a:tr h="246475">
                <a:tc>
                  <a:txBody>
                    <a:bodyPr/>
                    <a:lstStyle/>
                    <a:p>
                      <a:pPr indent="0" lvl="0" marL="0" marR="84455" rtl="0" algn="r">
                        <a:lnSpc>
                          <a:spcPct val="100000"/>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V.</a:t>
                      </a:r>
                      <a:endParaRPr sz="1300" u="none" cap="none" strike="noStrike">
                        <a:latin typeface="Arial"/>
                        <a:ea typeface="Arial"/>
                        <a:cs typeface="Arial"/>
                        <a:sym typeface="Arial"/>
                      </a:endParaRPr>
                    </a:p>
                  </a:txBody>
                  <a:tcPr marT="19525" marB="0" marR="0" marL="0">
                    <a:lnL cap="flat" cmpd="sng" w="9525">
                      <a:solidFill>
                        <a:srgbClr val="000000"/>
                      </a:solidFill>
                      <a:prstDash val="solid"/>
                      <a:round/>
                      <a:headEnd len="sm" w="sm" type="none"/>
                      <a:tailEnd len="sm" w="sm" type="none"/>
                    </a:lnL>
                  </a:tcPr>
                </a:tc>
                <a:tc>
                  <a:txBody>
                    <a:bodyPr/>
                    <a:lstStyle/>
                    <a:p>
                      <a:pPr indent="0" lvl="0" marL="81280" marR="0" rtl="0" algn="l">
                        <a:lnSpc>
                          <a:spcPct val="100000"/>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Emergency call (112) : Pass</a:t>
                      </a:r>
                      <a:endParaRPr sz="1300" u="none" cap="none" strike="noStrike">
                        <a:latin typeface="Arial"/>
                        <a:ea typeface="Arial"/>
                        <a:cs typeface="Arial"/>
                        <a:sym typeface="Arial"/>
                      </a:endParaRPr>
                    </a:p>
                  </a:txBody>
                  <a:tcPr marT="19525" marB="0" marR="0" marL="0">
                    <a:lnR cap="flat" cmpd="sng" w="9525">
                      <a:solidFill>
                        <a:srgbClr val="000000"/>
                      </a:solidFill>
                      <a:prstDash val="solid"/>
                      <a:round/>
                      <a:headEnd len="sm" w="sm" type="none"/>
                      <a:tailEnd len="sm" w="sm" type="none"/>
                    </a:lnR>
                  </a:tcPr>
                </a:tc>
              </a:tr>
              <a:tr h="246475">
                <a:tc>
                  <a:txBody>
                    <a:bodyPr/>
                    <a:lstStyle/>
                    <a:p>
                      <a:pPr indent="0" lvl="0" marL="0" marR="76200" rtl="0" algn="r">
                        <a:lnSpc>
                          <a:spcPct val="100000"/>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VI.</a:t>
                      </a:r>
                      <a:endParaRPr sz="1300" u="none" cap="none" strike="noStrike">
                        <a:latin typeface="Arial"/>
                        <a:ea typeface="Arial"/>
                        <a:cs typeface="Arial"/>
                        <a:sym typeface="Arial"/>
                      </a:endParaRPr>
                    </a:p>
                  </a:txBody>
                  <a:tcPr marT="19525" marB="0" marR="0" marL="0">
                    <a:lnL cap="flat" cmpd="sng" w="9525">
                      <a:solidFill>
                        <a:srgbClr val="000000"/>
                      </a:solidFill>
                      <a:prstDash val="solid"/>
                      <a:round/>
                      <a:headEnd len="sm" w="sm" type="none"/>
                      <a:tailEnd len="sm" w="sm" type="none"/>
                    </a:lnL>
                  </a:tcPr>
                </a:tc>
                <a:tc>
                  <a:txBody>
                    <a:bodyPr/>
                    <a:lstStyle/>
                    <a:p>
                      <a:pPr indent="0" lvl="0" marL="81280" marR="0" rtl="0" algn="l">
                        <a:lnSpc>
                          <a:spcPct val="100000"/>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LBS services : Under Discussion</a:t>
                      </a:r>
                      <a:endParaRPr sz="1300" u="none" cap="none" strike="noStrike">
                        <a:latin typeface="Arial"/>
                        <a:ea typeface="Arial"/>
                        <a:cs typeface="Arial"/>
                        <a:sym typeface="Arial"/>
                      </a:endParaRPr>
                    </a:p>
                  </a:txBody>
                  <a:tcPr marT="19525" marB="0" marR="0" marL="0">
                    <a:lnR cap="flat" cmpd="sng" w="9525">
                      <a:solidFill>
                        <a:srgbClr val="000000"/>
                      </a:solidFill>
                      <a:prstDash val="solid"/>
                      <a:round/>
                      <a:headEnd len="sm" w="sm" type="none"/>
                      <a:tailEnd len="sm" w="sm" type="none"/>
                    </a:lnR>
                  </a:tcPr>
                </a:tc>
              </a:tr>
              <a:tr h="246675">
                <a:tc>
                  <a:txBody>
                    <a:bodyPr/>
                    <a:lstStyle/>
                    <a:p>
                      <a:pPr indent="0" lvl="0" marL="0" marR="76200" rtl="0" algn="r">
                        <a:lnSpc>
                          <a:spcPct val="100000"/>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VII.</a:t>
                      </a:r>
                      <a:endParaRPr sz="1300" u="none" cap="none" strike="noStrike">
                        <a:latin typeface="Arial"/>
                        <a:ea typeface="Arial"/>
                        <a:cs typeface="Arial"/>
                        <a:sym typeface="Arial"/>
                      </a:endParaRPr>
                    </a:p>
                  </a:txBody>
                  <a:tcPr marT="19525" marB="0" marR="0" marL="0">
                    <a:lnL cap="flat" cmpd="sng" w="9525">
                      <a:solidFill>
                        <a:srgbClr val="000000"/>
                      </a:solidFill>
                      <a:prstDash val="solid"/>
                      <a:round/>
                      <a:headEnd len="sm" w="sm" type="none"/>
                      <a:tailEnd len="sm" w="sm" type="none"/>
                    </a:lnL>
                  </a:tcPr>
                </a:tc>
                <a:tc>
                  <a:txBody>
                    <a:bodyPr/>
                    <a:lstStyle/>
                    <a:p>
                      <a:pPr indent="0" lvl="0" marL="81280" marR="0" rtl="0" algn="l">
                        <a:lnSpc>
                          <a:spcPct val="100000"/>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Cell Broadcast on handset.: Under Discussion</a:t>
                      </a:r>
                      <a:endParaRPr sz="1300" u="none" cap="none" strike="noStrike">
                        <a:latin typeface="Arial"/>
                        <a:ea typeface="Arial"/>
                        <a:cs typeface="Arial"/>
                        <a:sym typeface="Arial"/>
                      </a:endParaRPr>
                    </a:p>
                  </a:txBody>
                  <a:tcPr marT="19525" marB="0" marR="0" marL="0">
                    <a:lnR cap="flat" cmpd="sng" w="9525">
                      <a:solidFill>
                        <a:srgbClr val="000000"/>
                      </a:solidFill>
                      <a:prstDash val="solid"/>
                      <a:round/>
                      <a:headEnd len="sm" w="sm" type="none"/>
                      <a:tailEnd len="sm" w="sm" type="none"/>
                    </a:lnR>
                  </a:tcPr>
                </a:tc>
              </a:tr>
              <a:tr h="286425">
                <a:tc>
                  <a:txBody>
                    <a:bodyPr/>
                    <a:lstStyle/>
                    <a:p>
                      <a:pPr indent="0" lvl="0" marL="0" marR="73660" rtl="0" algn="r">
                        <a:lnSpc>
                          <a:spcPct val="100000"/>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VIII.</a:t>
                      </a:r>
                      <a:endParaRPr sz="1300" u="none" cap="none" strike="noStrike">
                        <a:latin typeface="Arial"/>
                        <a:ea typeface="Arial"/>
                        <a:cs typeface="Arial"/>
                        <a:sym typeface="Arial"/>
                      </a:endParaRPr>
                    </a:p>
                  </a:txBody>
                  <a:tcPr marT="19525" marB="0" marR="0" marL="0">
                    <a:lnL cap="flat" cmpd="sng" w="9525">
                      <a:solidFill>
                        <a:srgbClr val="000000"/>
                      </a:solidFill>
                      <a:prstDash val="solid"/>
                      <a:round/>
                      <a:headEnd len="sm" w="sm" type="none"/>
                      <a:tailEnd len="sm" w="sm" type="none"/>
                    </a:lnL>
                    <a:lnB cap="flat" cmpd="sng" w="9525">
                      <a:solidFill>
                        <a:srgbClr val="000000"/>
                      </a:solidFill>
                      <a:prstDash val="solid"/>
                      <a:round/>
                      <a:headEnd len="sm" w="sm" type="none"/>
                      <a:tailEnd len="sm" w="sm" type="none"/>
                    </a:lnB>
                  </a:tcPr>
                </a:tc>
                <a:tc>
                  <a:txBody>
                    <a:bodyPr/>
                    <a:lstStyle/>
                    <a:p>
                      <a:pPr indent="0" lvl="0" marL="81280" marR="0" rtl="0" algn="l">
                        <a:lnSpc>
                          <a:spcPct val="100000"/>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Check NB-IoT / M2M service : Under Discussion</a:t>
                      </a:r>
                      <a:endParaRPr sz="1300" u="none" cap="none" strike="noStrike">
                        <a:latin typeface="Arial"/>
                        <a:ea typeface="Arial"/>
                        <a:cs typeface="Arial"/>
                        <a:sym typeface="Arial"/>
                      </a:endParaRPr>
                    </a:p>
                  </a:txBody>
                  <a:tcPr marT="19525" marB="0" marR="0" marL="0">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tcPr>
                </a:tc>
              </a:tr>
            </a:tbl>
          </a:graphicData>
        </a:graphic>
      </p:graphicFrame>
      <p:graphicFrame>
        <p:nvGraphicFramePr>
          <p:cNvPr id="142" name="Google Shape;142;p15"/>
          <p:cNvGraphicFramePr/>
          <p:nvPr/>
        </p:nvGraphicFramePr>
        <p:xfrm>
          <a:off x="2037607" y="5886669"/>
          <a:ext cx="3000000" cy="3000000"/>
        </p:xfrm>
        <a:graphic>
          <a:graphicData uri="http://schemas.openxmlformats.org/drawingml/2006/table">
            <a:tbl>
              <a:tblPr bandRow="1" firstRow="1">
                <a:noFill/>
                <a:tableStyleId>{6E646390-14D1-40E7-8574-0D387628F5A2}</a:tableStyleId>
              </a:tblPr>
              <a:tblGrid>
                <a:gridCol w="3476400"/>
                <a:gridCol w="3885725"/>
              </a:tblGrid>
              <a:tr h="319350">
                <a:tc>
                  <a:txBody>
                    <a:bodyPr/>
                    <a:lstStyle/>
                    <a:p>
                      <a:pPr indent="0" lvl="0" marL="643255" marR="0" rtl="0" algn="l">
                        <a:lnSpc>
                          <a:spcPct val="100000"/>
                        </a:lnSpc>
                        <a:spcBef>
                          <a:spcPts val="0"/>
                        </a:spcBef>
                        <a:spcAft>
                          <a:spcPts val="0"/>
                        </a:spcAft>
                        <a:buClr>
                          <a:srgbClr val="000000"/>
                        </a:buClr>
                        <a:buSzPts val="1300"/>
                        <a:buFont typeface="Arial"/>
                        <a:buNone/>
                      </a:pPr>
                      <a:r>
                        <a:rPr b="1" lang="en-US" sz="1300" u="none" cap="none" strike="noStrike">
                          <a:latin typeface="Arial"/>
                          <a:ea typeface="Arial"/>
                          <a:cs typeface="Arial"/>
                          <a:sym typeface="Arial"/>
                        </a:rPr>
                        <a:t>Sec 1</a:t>
                      </a:r>
                      <a:endParaRPr sz="1300" u="none" cap="none" strike="noStrike">
                        <a:latin typeface="Arial"/>
                        <a:ea typeface="Arial"/>
                        <a:cs typeface="Arial"/>
                        <a:sym typeface="Arial"/>
                      </a:endParaRPr>
                    </a:p>
                  </a:txBody>
                  <a:tcPr marT="347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45795" marR="0" rtl="0" algn="l">
                        <a:lnSpc>
                          <a:spcPct val="100000"/>
                        </a:lnSpc>
                        <a:spcBef>
                          <a:spcPts val="0"/>
                        </a:spcBef>
                        <a:spcAft>
                          <a:spcPts val="0"/>
                        </a:spcAft>
                        <a:buClr>
                          <a:srgbClr val="000000"/>
                        </a:buClr>
                        <a:buSzPts val="1300"/>
                        <a:buFont typeface="Arial"/>
                        <a:buNone/>
                      </a:pPr>
                      <a:r>
                        <a:rPr b="1" lang="en-US" sz="1300" u="none" cap="none" strike="noStrike">
                          <a:latin typeface="Arial"/>
                          <a:ea typeface="Arial"/>
                          <a:cs typeface="Arial"/>
                          <a:sym typeface="Arial"/>
                        </a:rPr>
                        <a:t>OK</a:t>
                      </a:r>
                      <a:endParaRPr sz="1300" u="none" cap="none" strike="noStrike">
                        <a:latin typeface="Arial"/>
                        <a:ea typeface="Arial"/>
                        <a:cs typeface="Arial"/>
                        <a:sym typeface="Arial"/>
                      </a:endParaRPr>
                    </a:p>
                  </a:txBody>
                  <a:tcPr marT="347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6175">
                <a:tc>
                  <a:txBody>
                    <a:bodyPr/>
                    <a:lstStyle/>
                    <a:p>
                      <a:pPr indent="0" lvl="0" marL="643255" marR="0" rtl="0" algn="l">
                        <a:lnSpc>
                          <a:spcPct val="100000"/>
                        </a:lnSpc>
                        <a:spcBef>
                          <a:spcPts val="0"/>
                        </a:spcBef>
                        <a:spcAft>
                          <a:spcPts val="0"/>
                        </a:spcAft>
                        <a:buClr>
                          <a:srgbClr val="000000"/>
                        </a:buClr>
                        <a:buSzPts val="1300"/>
                        <a:buFont typeface="Arial"/>
                        <a:buNone/>
                      </a:pPr>
                      <a:r>
                        <a:rPr b="1" lang="en-US" sz="1300" u="none" cap="none" strike="noStrike">
                          <a:latin typeface="Arial"/>
                          <a:ea typeface="Arial"/>
                          <a:cs typeface="Arial"/>
                          <a:sym typeface="Arial"/>
                        </a:rPr>
                        <a:t>Sec 2</a:t>
                      </a:r>
                      <a:endParaRPr sz="1300" u="none" cap="none" strike="noStrike">
                        <a:latin typeface="Arial"/>
                        <a:ea typeface="Arial"/>
                        <a:cs typeface="Arial"/>
                        <a:sym typeface="Arial"/>
                      </a:endParaRPr>
                    </a:p>
                  </a:txBody>
                  <a:tcPr marT="347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45795" marR="0" rtl="0" algn="l">
                        <a:lnSpc>
                          <a:spcPct val="100000"/>
                        </a:lnSpc>
                        <a:spcBef>
                          <a:spcPts val="0"/>
                        </a:spcBef>
                        <a:spcAft>
                          <a:spcPts val="0"/>
                        </a:spcAft>
                        <a:buClr>
                          <a:srgbClr val="000000"/>
                        </a:buClr>
                        <a:buSzPts val="1300"/>
                        <a:buFont typeface="Arial"/>
                        <a:buNone/>
                      </a:pPr>
                      <a:r>
                        <a:rPr b="1" lang="en-US" sz="1300" u="none" cap="none" strike="noStrike">
                          <a:latin typeface="Arial"/>
                          <a:ea typeface="Arial"/>
                          <a:cs typeface="Arial"/>
                          <a:sym typeface="Arial"/>
                        </a:rPr>
                        <a:t>OK</a:t>
                      </a:r>
                      <a:endParaRPr sz="1300" u="none" cap="none" strike="noStrike">
                        <a:latin typeface="Arial"/>
                        <a:ea typeface="Arial"/>
                        <a:cs typeface="Arial"/>
                        <a:sym typeface="Arial"/>
                      </a:endParaRPr>
                    </a:p>
                  </a:txBody>
                  <a:tcPr marT="347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9350">
                <a:tc>
                  <a:txBody>
                    <a:bodyPr/>
                    <a:lstStyle/>
                    <a:p>
                      <a:pPr indent="0" lvl="0" marL="643255" marR="0" rtl="0" algn="l">
                        <a:lnSpc>
                          <a:spcPct val="100000"/>
                        </a:lnSpc>
                        <a:spcBef>
                          <a:spcPts val="0"/>
                        </a:spcBef>
                        <a:spcAft>
                          <a:spcPts val="0"/>
                        </a:spcAft>
                        <a:buClr>
                          <a:srgbClr val="000000"/>
                        </a:buClr>
                        <a:buSzPts val="1300"/>
                        <a:buFont typeface="Arial"/>
                        <a:buNone/>
                      </a:pPr>
                      <a:r>
                        <a:rPr b="1" lang="en-US" sz="1300" u="none" cap="none" strike="noStrike">
                          <a:latin typeface="Arial"/>
                          <a:ea typeface="Arial"/>
                          <a:cs typeface="Arial"/>
                          <a:sym typeface="Arial"/>
                        </a:rPr>
                        <a:t>Sec 3</a:t>
                      </a:r>
                      <a:endParaRPr sz="1300" u="none" cap="none" strike="noStrike">
                        <a:latin typeface="Arial"/>
                        <a:ea typeface="Arial"/>
                        <a:cs typeface="Arial"/>
                        <a:sym typeface="Arial"/>
                      </a:endParaRPr>
                    </a:p>
                  </a:txBody>
                  <a:tcPr marT="347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45795" marR="0" rtl="0" algn="l">
                        <a:lnSpc>
                          <a:spcPct val="100000"/>
                        </a:lnSpc>
                        <a:spcBef>
                          <a:spcPts val="0"/>
                        </a:spcBef>
                        <a:spcAft>
                          <a:spcPts val="0"/>
                        </a:spcAft>
                        <a:buClr>
                          <a:srgbClr val="000000"/>
                        </a:buClr>
                        <a:buSzPts val="1300"/>
                        <a:buFont typeface="Arial"/>
                        <a:buNone/>
                      </a:pPr>
                      <a:r>
                        <a:rPr b="1" lang="en-US" sz="1300" u="none" cap="none" strike="noStrike">
                          <a:latin typeface="Arial"/>
                          <a:ea typeface="Arial"/>
                          <a:cs typeface="Arial"/>
                          <a:sym typeface="Arial"/>
                        </a:rPr>
                        <a:t>OK</a:t>
                      </a:r>
                      <a:endParaRPr sz="1300" u="none" cap="none" strike="noStrike">
                        <a:latin typeface="Arial"/>
                        <a:ea typeface="Arial"/>
                        <a:cs typeface="Arial"/>
                        <a:sym typeface="Arial"/>
                      </a:endParaRPr>
                    </a:p>
                  </a:txBody>
                  <a:tcPr marT="347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43" name="Google Shape;143;p15"/>
          <p:cNvSpPr txBox="1"/>
          <p:nvPr/>
        </p:nvSpPr>
        <p:spPr>
          <a:xfrm>
            <a:off x="2037608" y="7317153"/>
            <a:ext cx="2606625" cy="211109"/>
          </a:xfrm>
          <a:prstGeom prst="rect">
            <a:avLst/>
          </a:prstGeom>
          <a:noFill/>
          <a:ln>
            <a:noFill/>
          </a:ln>
        </p:spPr>
        <p:txBody>
          <a:bodyPr anchorCtr="0" anchor="t" bIns="0" lIns="0" spcFirstLastPara="1" rIns="0" wrap="square" tIns="700">
            <a:spAutoFit/>
          </a:bodyPr>
          <a:lstStyle/>
          <a:p>
            <a:pPr indent="0" lvl="0" marL="14464" marR="0" rtl="0" algn="l">
              <a:lnSpc>
                <a:spcPct val="100000"/>
              </a:lnSpc>
              <a:spcBef>
                <a:spcPts val="0"/>
              </a:spcBef>
              <a:spcAft>
                <a:spcPts val="0"/>
              </a:spcAft>
              <a:buClr>
                <a:srgbClr val="000000"/>
              </a:buClr>
              <a:buSzPts val="1367"/>
              <a:buFont typeface="Arial"/>
              <a:buNone/>
            </a:pPr>
            <a:r>
              <a:rPr b="0" i="0" lang="en-US" sz="1367" u="none" cap="none" strike="noStrike">
                <a:solidFill>
                  <a:schemeClr val="dk1"/>
                </a:solidFill>
                <a:latin typeface="Arial"/>
                <a:ea typeface="Arial"/>
                <a:cs typeface="Arial"/>
                <a:sym typeface="Arial"/>
              </a:rPr>
              <a:t>10.  </a:t>
            </a:r>
            <a:r>
              <a:rPr b="1" i="0" lang="en-US" sz="1253" u="none" cap="none" strike="noStrike">
                <a:solidFill>
                  <a:schemeClr val="dk1"/>
                </a:solidFill>
                <a:latin typeface="Arial"/>
                <a:ea typeface="Arial"/>
                <a:cs typeface="Arial"/>
                <a:sym typeface="Arial"/>
              </a:rPr>
              <a:t>Calls for Handover (4G to 4G)</a:t>
            </a:r>
            <a:endParaRPr b="0" i="0" sz="1253" u="none" cap="none" strike="noStrike">
              <a:solidFill>
                <a:schemeClr val="dk1"/>
              </a:solidFill>
              <a:latin typeface="Arial"/>
              <a:ea typeface="Arial"/>
              <a:cs typeface="Arial"/>
              <a:sym typeface="Arial"/>
            </a:endParaRPr>
          </a:p>
        </p:txBody>
      </p:sp>
      <p:graphicFrame>
        <p:nvGraphicFramePr>
          <p:cNvPr id="144" name="Google Shape;144;p15"/>
          <p:cNvGraphicFramePr/>
          <p:nvPr/>
        </p:nvGraphicFramePr>
        <p:xfrm>
          <a:off x="2037608" y="7768711"/>
          <a:ext cx="3000000" cy="3000000"/>
        </p:xfrm>
        <a:graphic>
          <a:graphicData uri="http://schemas.openxmlformats.org/drawingml/2006/table">
            <a:tbl>
              <a:tblPr bandRow="1" firstRow="1">
                <a:noFill/>
                <a:tableStyleId>{6E646390-14D1-40E7-8574-0D387628F5A2}</a:tableStyleId>
              </a:tblPr>
              <a:tblGrid>
                <a:gridCol w="1944675"/>
                <a:gridCol w="1809425"/>
                <a:gridCol w="1809425"/>
                <a:gridCol w="1816675"/>
              </a:tblGrid>
              <a:tr h="232575">
                <a:tc gridSpan="4">
                  <a:txBody>
                    <a:bodyPr/>
                    <a:lstStyle/>
                    <a:p>
                      <a:pPr indent="0" lvl="0" marL="184150" marR="0" rtl="0" algn="ctr">
                        <a:lnSpc>
                          <a:spcPct val="100000"/>
                        </a:lnSpc>
                        <a:spcBef>
                          <a:spcPts val="0"/>
                        </a:spcBef>
                        <a:spcAft>
                          <a:spcPts val="0"/>
                        </a:spcAft>
                        <a:buClr>
                          <a:srgbClr val="000000"/>
                        </a:buClr>
                        <a:buSzPts val="1300"/>
                        <a:buFont typeface="Arial"/>
                        <a:buNone/>
                      </a:pPr>
                      <a:r>
                        <a:rPr lang="en-US" sz="1300" u="none" cap="none" strike="noStrike">
                          <a:latin typeface="Calibri"/>
                          <a:ea typeface="Calibri"/>
                          <a:cs typeface="Calibri"/>
                          <a:sym typeface="Calibri"/>
                        </a:rPr>
                        <a:t>Intra Enb Handover Call</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c hMerge="1">
                  <a:txBody>
                    <a:bodyPr/>
                    <a:p/>
                  </a:txBody>
                </a:tc>
                <a:tc hMerge="1">
                  <a:txBody>
                    <a:bodyPr/>
                    <a:p/>
                  </a:txBody>
                </a:tc>
              </a:tr>
              <a:tr h="229100">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36905" marR="0" rtl="0" algn="l">
                        <a:lnSpc>
                          <a:spcPct val="98076"/>
                        </a:lnSpc>
                        <a:spcBef>
                          <a:spcPts val="0"/>
                        </a:spcBef>
                        <a:spcAft>
                          <a:spcPts val="0"/>
                        </a:spcAft>
                        <a:buClr>
                          <a:srgbClr val="000000"/>
                        </a:buClr>
                        <a:buSzPts val="1300"/>
                        <a:buFont typeface="Arial"/>
                        <a:buNone/>
                      </a:pPr>
                      <a:r>
                        <a:rPr lang="en-US" sz="1300" u="none" cap="none" strike="noStrike">
                          <a:latin typeface="Calibri"/>
                          <a:ea typeface="Calibri"/>
                          <a:cs typeface="Calibri"/>
                          <a:sym typeface="Calibri"/>
                        </a:rPr>
                        <a:t>Sector -1</a:t>
                      </a:r>
                      <a:endParaRPr sz="1300" u="none" cap="none" strike="noStrike">
                        <a:latin typeface="Calibri"/>
                        <a:ea typeface="Calibri"/>
                        <a:cs typeface="Calibri"/>
                        <a:sym typeface="Calibri"/>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36905" marR="0" rtl="0" algn="l">
                        <a:lnSpc>
                          <a:spcPct val="98076"/>
                        </a:lnSpc>
                        <a:spcBef>
                          <a:spcPts val="0"/>
                        </a:spcBef>
                        <a:spcAft>
                          <a:spcPts val="0"/>
                        </a:spcAft>
                        <a:buClr>
                          <a:srgbClr val="000000"/>
                        </a:buClr>
                        <a:buSzPts val="1300"/>
                        <a:buFont typeface="Arial"/>
                        <a:buNone/>
                      </a:pPr>
                      <a:r>
                        <a:rPr lang="en-US" sz="1300" u="none" cap="none" strike="noStrike">
                          <a:latin typeface="Calibri"/>
                          <a:ea typeface="Calibri"/>
                          <a:cs typeface="Calibri"/>
                          <a:sym typeface="Calibri"/>
                        </a:rPr>
                        <a:t>Sector -2</a:t>
                      </a:r>
                      <a:endParaRPr sz="1300" u="none" cap="none" strike="noStrike">
                        <a:latin typeface="Calibri"/>
                        <a:ea typeface="Calibri"/>
                        <a:cs typeface="Calibri"/>
                        <a:sym typeface="Calibri"/>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61035" marR="0" rtl="0" algn="l">
                        <a:lnSpc>
                          <a:spcPct val="98076"/>
                        </a:lnSpc>
                        <a:spcBef>
                          <a:spcPts val="0"/>
                        </a:spcBef>
                        <a:spcAft>
                          <a:spcPts val="0"/>
                        </a:spcAft>
                        <a:buClr>
                          <a:srgbClr val="000000"/>
                        </a:buClr>
                        <a:buSzPts val="1300"/>
                        <a:buFont typeface="Arial"/>
                        <a:buNone/>
                      </a:pPr>
                      <a:r>
                        <a:rPr lang="en-US" sz="1300" u="none" cap="none" strike="noStrike">
                          <a:latin typeface="Calibri"/>
                          <a:ea typeface="Calibri"/>
                          <a:cs typeface="Calibri"/>
                          <a:sym typeface="Calibri"/>
                        </a:rPr>
                        <a:t>Sector-3</a:t>
                      </a:r>
                      <a:endParaRPr sz="1300" u="none" cap="none" strike="noStrike">
                        <a:latin typeface="Calibri"/>
                        <a:ea typeface="Calibri"/>
                        <a:cs typeface="Calibri"/>
                        <a:sym typeface="Calibri"/>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85975">
                <a:tc>
                  <a:txBody>
                    <a:bodyPr/>
                    <a:lstStyle/>
                    <a:p>
                      <a:pPr indent="-344805" lvl="0" marL="722630" marR="242570" rtl="0" algn="l">
                        <a:lnSpc>
                          <a:spcPct val="104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Intra eNB Handover -  Sector 1</a:t>
                      </a:r>
                      <a:endParaRPr sz="1100" u="none" cap="none" strike="noStrike">
                        <a:latin typeface="Calibri"/>
                        <a:ea typeface="Calibri"/>
                        <a:cs typeface="Calibri"/>
                        <a:sym typeface="Calibri"/>
                      </a:endParaRPr>
                    </a:p>
                  </a:txBody>
                  <a:tcPr marT="115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9075" marR="0" rtl="0" algn="just">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-pass</a:t>
                      </a:r>
                      <a:endParaRPr b="0" i="0" sz="1300" u="none" cap="none" strike="noStrike">
                        <a:solidFill>
                          <a:srgbClr val="000000"/>
                        </a:solidFill>
                        <a:latin typeface="Times New Roman"/>
                        <a:ea typeface="Times New Roman"/>
                        <a:cs typeface="Times New Roman"/>
                        <a:sym typeface="Times New Roman"/>
                      </a:endParaRPr>
                    </a:p>
                  </a:txBody>
                  <a:tcPr marT="354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219075" marR="0" rtl="0" algn="just">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Pass</a:t>
                      </a:r>
                      <a:endParaRPr b="0" i="0" sz="1300" u="none" cap="none" strike="noStrike">
                        <a:solidFill>
                          <a:srgbClr val="000000"/>
                        </a:solidFill>
                        <a:latin typeface="Times New Roman"/>
                        <a:ea typeface="Times New Roman"/>
                        <a:cs typeface="Times New Roman"/>
                        <a:sym typeface="Times New Roman"/>
                      </a:endParaRPr>
                    </a:p>
                  </a:txBody>
                  <a:tcPr marT="347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219075" marR="0" rtl="0" algn="just">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pass</a:t>
                      </a:r>
                      <a:endParaRPr b="0" i="0" sz="1300" u="none" cap="none" strike="noStrike">
                        <a:solidFill>
                          <a:srgbClr val="000000"/>
                        </a:solidFill>
                        <a:latin typeface="Times New Roman"/>
                        <a:ea typeface="Times New Roman"/>
                        <a:cs typeface="Times New Roman"/>
                        <a:sym typeface="Times New Roman"/>
                      </a:endParaRPr>
                    </a:p>
                  </a:txBody>
                  <a:tcPr marT="347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486425">
                <a:tc>
                  <a:txBody>
                    <a:bodyPr/>
                    <a:lstStyle/>
                    <a:p>
                      <a:pPr indent="-344805" lvl="0" marL="722630" marR="242570" rtl="0" algn="l">
                        <a:lnSpc>
                          <a:spcPct val="1063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Intra eNB Handover -  Sector 2</a:t>
                      </a:r>
                      <a:endParaRPr sz="1100" u="none" cap="none" strike="noStrike">
                        <a:latin typeface="Calibri"/>
                        <a:ea typeface="Calibri"/>
                        <a:cs typeface="Calibri"/>
                        <a:sym typeface="Calibri"/>
                      </a:endParaRPr>
                    </a:p>
                  </a:txBody>
                  <a:tcPr marT="72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9075" marR="0" rtl="0" algn="just">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Pass</a:t>
                      </a:r>
                      <a:endParaRPr b="0" i="0" sz="1300" u="none" cap="none" strike="noStrike">
                        <a:solidFill>
                          <a:srgbClr val="000000"/>
                        </a:solidFill>
                        <a:latin typeface="Times New Roman"/>
                        <a:ea typeface="Times New Roman"/>
                        <a:cs typeface="Times New Roman"/>
                        <a:sym typeface="Times New Roman"/>
                      </a:endParaRPr>
                    </a:p>
                  </a:txBody>
                  <a:tcPr marT="354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219075" marR="0" rtl="0" algn="just">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pass</a:t>
                      </a:r>
                      <a:endParaRPr b="0" i="0" sz="1300" u="none" cap="none" strike="noStrike">
                        <a:solidFill>
                          <a:srgbClr val="000000"/>
                        </a:solidFill>
                        <a:latin typeface="Times New Roman"/>
                        <a:ea typeface="Times New Roman"/>
                        <a:cs typeface="Times New Roman"/>
                        <a:sym typeface="Times New Roman"/>
                      </a:endParaRPr>
                    </a:p>
                  </a:txBody>
                  <a:tcPr marT="347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219075" marR="0" rtl="0" algn="just">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Pass</a:t>
                      </a:r>
                      <a:endParaRPr b="0" i="0" sz="1300" u="none" cap="none" strike="noStrike">
                        <a:solidFill>
                          <a:srgbClr val="000000"/>
                        </a:solidFill>
                        <a:latin typeface="Times New Roman"/>
                        <a:ea typeface="Times New Roman"/>
                        <a:cs typeface="Times New Roman"/>
                        <a:sym typeface="Times New Roman"/>
                      </a:endParaRPr>
                    </a:p>
                  </a:txBody>
                  <a:tcPr marT="347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485975">
                <a:tc>
                  <a:txBody>
                    <a:bodyPr/>
                    <a:lstStyle/>
                    <a:p>
                      <a:pPr indent="-344805" lvl="0" marL="722630" marR="242570" rtl="0" algn="l">
                        <a:lnSpc>
                          <a:spcPct val="104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Intra eNB Handover -  Sector 3</a:t>
                      </a:r>
                      <a:endParaRPr sz="1100" u="none" cap="none" strike="noStrike">
                        <a:latin typeface="Calibri"/>
                        <a:ea typeface="Calibri"/>
                        <a:cs typeface="Calibri"/>
                        <a:sym typeface="Calibri"/>
                      </a:endParaRPr>
                    </a:p>
                  </a:txBody>
                  <a:tcPr marT="115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9075" marR="0" rtl="0" algn="just">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Pass</a:t>
                      </a:r>
                      <a:endParaRPr b="0" i="0" sz="1300" u="none" cap="none" strike="noStrike">
                        <a:solidFill>
                          <a:srgbClr val="000000"/>
                        </a:solidFill>
                        <a:latin typeface="Times New Roman"/>
                        <a:ea typeface="Times New Roman"/>
                        <a:cs typeface="Times New Roman"/>
                        <a:sym typeface="Times New Roman"/>
                      </a:endParaRPr>
                    </a:p>
                  </a:txBody>
                  <a:tcPr marT="383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219075" marR="0" rtl="0" algn="just">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Pass</a:t>
                      </a:r>
                      <a:endParaRPr b="0" i="0" sz="1300" u="none" cap="none" strike="noStrike">
                        <a:solidFill>
                          <a:srgbClr val="000000"/>
                        </a:solidFill>
                        <a:latin typeface="Times New Roman"/>
                        <a:ea typeface="Times New Roman"/>
                        <a:cs typeface="Times New Roman"/>
                        <a:sym typeface="Times New Roman"/>
                      </a:endParaRPr>
                    </a:p>
                  </a:txBody>
                  <a:tcPr marT="347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219075" marR="0" rtl="0" algn="just">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Pass</a:t>
                      </a:r>
                      <a:endParaRPr b="0" i="0" sz="1300" u="none" cap="none" strike="noStrike">
                        <a:solidFill>
                          <a:srgbClr val="000000"/>
                        </a:solidFill>
                        <a:latin typeface="Times New Roman"/>
                        <a:ea typeface="Times New Roman"/>
                        <a:cs typeface="Times New Roman"/>
                        <a:sym typeface="Times New Roman"/>
                      </a:endParaRPr>
                    </a:p>
                  </a:txBody>
                  <a:tcPr marT="347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229100">
                <a:tc gridSpan="4">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c hMerge="1">
                  <a:txBody>
                    <a:bodyPr/>
                    <a:p/>
                  </a:txBody>
                </a:tc>
                <a:tc hMerge="1">
                  <a:txBody>
                    <a:bodyPr/>
                    <a:p/>
                  </a:txBody>
                </a:tc>
              </a:tr>
              <a:tr h="552225">
                <a:tc>
                  <a:txBody>
                    <a:bodyPr/>
                    <a:lstStyle/>
                    <a:p>
                      <a:pPr indent="0" lvl="0" marL="39624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Inter eNB Handover</a:t>
                      </a:r>
                      <a:endParaRPr sz="1100" u="none" cap="none" strike="noStrike">
                        <a:latin typeface="Calibri"/>
                        <a:ea typeface="Calibri"/>
                        <a:cs typeface="Calibri"/>
                        <a:sym typeface="Calibri"/>
                      </a:endParaRPr>
                    </a:p>
                  </a:txBody>
                  <a:tcPr marT="42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9075" marR="0" rtl="0" algn="ctr">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Pass</a:t>
                      </a:r>
                      <a:endParaRPr b="0" i="0" sz="1300" u="none" cap="none" strike="noStrike">
                        <a:solidFill>
                          <a:srgbClr val="000000"/>
                        </a:solidFill>
                        <a:latin typeface="Times New Roman"/>
                        <a:ea typeface="Times New Roman"/>
                        <a:cs typeface="Times New Roman"/>
                        <a:sym typeface="Times New Roman"/>
                      </a:endParaRPr>
                    </a:p>
                  </a:txBody>
                  <a:tcPr marT="383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9075" marR="0" rtl="0" algn="ctr">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Pass</a:t>
                      </a:r>
                      <a:endParaRPr b="0" i="0" sz="1300" u="none" cap="none" strike="noStrike">
                        <a:solidFill>
                          <a:srgbClr val="000000"/>
                        </a:solidFill>
                        <a:latin typeface="Times New Roman"/>
                        <a:ea typeface="Times New Roman"/>
                        <a:cs typeface="Times New Roman"/>
                        <a:sym typeface="Times New Roman"/>
                      </a:endParaRPr>
                    </a:p>
                    <a:p>
                      <a:pPr indent="0" lvl="0" marL="219075" marR="0" rtl="0" algn="ctr">
                        <a:lnSpc>
                          <a:spcPct val="100000"/>
                        </a:lnSpc>
                        <a:spcBef>
                          <a:spcPts val="244"/>
                        </a:spcBef>
                        <a:spcAft>
                          <a:spcPts val="0"/>
                        </a:spcAft>
                        <a:buClr>
                          <a:srgbClr val="000000"/>
                        </a:buClr>
                        <a:buSzPts val="1300"/>
                        <a:buFont typeface="Calibri"/>
                        <a:buNone/>
                      </a:pPr>
                      <a:r>
                        <a:t/>
                      </a:r>
                      <a:endParaRPr b="0" i="0" sz="1300" u="none" cap="none" strike="noStrike">
                        <a:solidFill>
                          <a:srgbClr val="000000"/>
                        </a:solidFill>
                        <a:latin typeface="Times New Roman"/>
                        <a:ea typeface="Times New Roman"/>
                        <a:cs typeface="Times New Roman"/>
                        <a:sym typeface="Times New Roman"/>
                      </a:endParaRPr>
                    </a:p>
                  </a:txBody>
                  <a:tcPr marT="383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9075" marR="0" rtl="0" algn="ctr">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Pass</a:t>
                      </a:r>
                      <a:endParaRPr b="0" i="0" sz="1300" u="none" cap="none" strike="noStrike">
                        <a:solidFill>
                          <a:srgbClr val="000000"/>
                        </a:solidFill>
                        <a:latin typeface="Times New Roman"/>
                        <a:ea typeface="Times New Roman"/>
                        <a:cs typeface="Times New Roman"/>
                        <a:sym typeface="Times New Roman"/>
                      </a:endParaRPr>
                    </a:p>
                  </a:txBody>
                  <a:tcPr marT="383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45" name="Google Shape;145;p15"/>
          <p:cNvSpPr txBox="1"/>
          <p:nvPr/>
        </p:nvSpPr>
        <p:spPr>
          <a:xfrm>
            <a:off x="2040499" y="1530839"/>
            <a:ext cx="2603732" cy="203735"/>
          </a:xfrm>
          <a:prstGeom prst="rect">
            <a:avLst/>
          </a:prstGeom>
          <a:noFill/>
          <a:ln>
            <a:noFill/>
          </a:ln>
        </p:spPr>
        <p:txBody>
          <a:bodyPr anchorCtr="0" anchor="t" bIns="0" lIns="0" spcFirstLastPara="1" rIns="0" wrap="square" tIns="13725">
            <a:spAutoFit/>
          </a:bodyPr>
          <a:lstStyle/>
          <a:p>
            <a:pPr indent="2892"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QA &amp; INSPECTION CIRCLE KL 	</a:t>
            </a:r>
            <a:endParaRPr b="0" i="0" sz="1253"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6"/>
          <p:cNvSpPr/>
          <p:nvPr/>
        </p:nvSpPr>
        <p:spPr>
          <a:xfrm>
            <a:off x="6778248" y="4856600"/>
            <a:ext cx="140811" cy="140811"/>
          </a:xfrm>
          <a:custGeom>
            <a:rect b="b" l="l" r="r" t="t"/>
            <a:pathLst>
              <a:path extrusionOk="0" h="131444" w="131445">
                <a:moveTo>
                  <a:pt x="0" y="131064"/>
                </a:moveTo>
                <a:lnTo>
                  <a:pt x="131063" y="131064"/>
                </a:lnTo>
                <a:lnTo>
                  <a:pt x="131063" y="0"/>
                </a:lnTo>
                <a:lnTo>
                  <a:pt x="0" y="0"/>
                </a:lnTo>
                <a:lnTo>
                  <a:pt x="0" y="131064"/>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928"/>
              <a:buFont typeface="Arial"/>
              <a:buNone/>
            </a:pPr>
            <a:r>
              <a:t/>
            </a:r>
            <a:endParaRPr b="0" i="0" sz="1928" u="none" cap="none" strike="noStrike">
              <a:solidFill>
                <a:schemeClr val="dk1"/>
              </a:solidFill>
              <a:latin typeface="Calibri"/>
              <a:ea typeface="Calibri"/>
              <a:cs typeface="Calibri"/>
              <a:sym typeface="Calibri"/>
            </a:endParaRPr>
          </a:p>
        </p:txBody>
      </p:sp>
      <p:sp>
        <p:nvSpPr>
          <p:cNvPr id="151" name="Google Shape;151;p16"/>
          <p:cNvSpPr/>
          <p:nvPr/>
        </p:nvSpPr>
        <p:spPr>
          <a:xfrm>
            <a:off x="6778248" y="7359861"/>
            <a:ext cx="140811" cy="140811"/>
          </a:xfrm>
          <a:custGeom>
            <a:rect b="b" l="l" r="r" t="t"/>
            <a:pathLst>
              <a:path extrusionOk="0" h="131445" w="131445">
                <a:moveTo>
                  <a:pt x="0" y="131063"/>
                </a:moveTo>
                <a:lnTo>
                  <a:pt x="131063" y="131063"/>
                </a:lnTo>
                <a:lnTo>
                  <a:pt x="131063" y="0"/>
                </a:lnTo>
                <a:lnTo>
                  <a:pt x="0" y="0"/>
                </a:lnTo>
                <a:lnTo>
                  <a:pt x="0" y="131063"/>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928"/>
              <a:buFont typeface="Arial"/>
              <a:buNone/>
            </a:pPr>
            <a:r>
              <a:t/>
            </a:r>
            <a:endParaRPr b="0" i="0" sz="1928" u="none" cap="none" strike="noStrike">
              <a:solidFill>
                <a:schemeClr val="dk1"/>
              </a:solidFill>
              <a:latin typeface="Calibri"/>
              <a:ea typeface="Calibri"/>
              <a:cs typeface="Calibri"/>
              <a:sym typeface="Calibri"/>
            </a:endParaRPr>
          </a:p>
        </p:txBody>
      </p:sp>
      <p:sp>
        <p:nvSpPr>
          <p:cNvPr id="152" name="Google Shape;152;p16"/>
          <p:cNvSpPr txBox="1"/>
          <p:nvPr/>
        </p:nvSpPr>
        <p:spPr>
          <a:xfrm>
            <a:off x="2474650" y="2673106"/>
            <a:ext cx="5307305" cy="1971031"/>
          </a:xfrm>
          <a:prstGeom prst="rect">
            <a:avLst/>
          </a:prstGeom>
          <a:noFill/>
          <a:ln>
            <a:noFill/>
          </a:ln>
        </p:spPr>
        <p:txBody>
          <a:bodyPr anchorCtr="0" anchor="t" bIns="0" lIns="0" spcFirstLastPara="1" rIns="0" wrap="square" tIns="14950">
            <a:spAutoFit/>
          </a:bodyPr>
          <a:lstStyle/>
          <a:p>
            <a:pPr indent="0" lvl="0" marL="265288" marR="5442" rtl="0" algn="just">
              <a:lnSpc>
                <a:spcPct val="99400"/>
              </a:lnSpc>
              <a:spcBef>
                <a:spcPts val="0"/>
              </a:spcBef>
              <a:spcAft>
                <a:spcPts val="0"/>
              </a:spcAft>
              <a:buClr>
                <a:srgbClr val="000000"/>
              </a:buClr>
              <a:buSzPts val="1179"/>
              <a:buFont typeface="Arial"/>
              <a:buNone/>
            </a:pPr>
            <a:r>
              <a:rPr b="0" i="0" lang="en-US" sz="1179" u="none" cap="none" strike="noStrike">
                <a:solidFill>
                  <a:schemeClr val="dk1"/>
                </a:solidFill>
                <a:latin typeface="Arial"/>
                <a:ea typeface="Arial"/>
                <a:cs typeface="Arial"/>
                <a:sym typeface="Arial"/>
              </a:rPr>
              <a:t>Vendor is responsible in all types of sites (NBSNL, IP and BSNL) for extending external alarm termination from eNode-B to the nearest KRONE- box. For eNode-B A/T external alarm generation may be verified from the KRONE box.</a:t>
            </a:r>
            <a:endParaRPr b="0" i="0" sz="1179" u="none" cap="none" strike="noStrike">
              <a:solidFill>
                <a:schemeClr val="dk1"/>
              </a:solidFill>
              <a:latin typeface="Arial"/>
              <a:ea typeface="Arial"/>
              <a:cs typeface="Arial"/>
              <a:sym typeface="Arial"/>
            </a:endParaRPr>
          </a:p>
          <a:p>
            <a:pPr indent="0" lvl="0" marL="265288" marR="13603" rtl="0" algn="just">
              <a:lnSpc>
                <a:spcPct val="99100"/>
              </a:lnSpc>
              <a:spcBef>
                <a:spcPts val="300"/>
              </a:spcBef>
              <a:spcAft>
                <a:spcPts val="0"/>
              </a:spcAft>
              <a:buClr>
                <a:srgbClr val="000000"/>
              </a:buClr>
              <a:buSzPts val="1179"/>
              <a:buFont typeface="Arial"/>
              <a:buNone/>
            </a:pPr>
            <a:r>
              <a:rPr b="0" i="0" lang="en-US" sz="1179" u="none" cap="none" strike="noStrike">
                <a:solidFill>
                  <a:schemeClr val="dk1"/>
                </a:solidFill>
                <a:latin typeface="Arial"/>
                <a:ea typeface="Arial"/>
                <a:cs typeface="Arial"/>
                <a:sym typeface="Arial"/>
              </a:rPr>
              <a:t>In the case of sites where infra items are supplied by the vendor, the vendor should extend external alarms from elements like PP/Bty etc all the way to eNode-B.</a:t>
            </a:r>
            <a:endParaRPr b="0" i="0" sz="1179" u="none" cap="none" strike="noStrike">
              <a:solidFill>
                <a:schemeClr val="dk1"/>
              </a:solidFill>
              <a:latin typeface="Arial"/>
              <a:ea typeface="Arial"/>
              <a:cs typeface="Arial"/>
              <a:sym typeface="Arial"/>
            </a:endParaRPr>
          </a:p>
          <a:p>
            <a:pPr indent="0" lvl="0" marL="389089" marR="0" rtl="0" algn="just">
              <a:lnSpc>
                <a:spcPct val="100000"/>
              </a:lnSpc>
              <a:spcBef>
                <a:spcPts val="257"/>
              </a:spcBef>
              <a:spcAft>
                <a:spcPts val="0"/>
              </a:spcAft>
              <a:buClr>
                <a:srgbClr val="000000"/>
              </a:buClr>
              <a:buSzPts val="1179"/>
              <a:buFont typeface="Arial"/>
              <a:buNone/>
            </a:pPr>
            <a:r>
              <a:rPr b="0" i="0" lang="en-US" sz="1179" u="none" cap="none" strike="noStrike">
                <a:solidFill>
                  <a:schemeClr val="dk1"/>
                </a:solidFill>
                <a:latin typeface="Arial"/>
                <a:ea typeface="Arial"/>
                <a:cs typeface="Arial"/>
                <a:sym typeface="Arial"/>
              </a:rPr>
              <a:t>Alarm cables are punched firmly and correctly. Status (OK/NOK)</a:t>
            </a:r>
            <a:endParaRPr b="0" i="0" sz="1179" u="none" cap="none" strike="noStrike">
              <a:solidFill>
                <a:schemeClr val="dk1"/>
              </a:solidFill>
              <a:latin typeface="Arial"/>
              <a:ea typeface="Arial"/>
              <a:cs typeface="Arial"/>
              <a:sym typeface="Arial"/>
            </a:endParaRPr>
          </a:p>
          <a:p>
            <a:pPr indent="0" lvl="0" marL="0" marR="0" rtl="0" algn="l">
              <a:lnSpc>
                <a:spcPct val="100000"/>
              </a:lnSpc>
              <a:spcBef>
                <a:spcPts val="626"/>
              </a:spcBef>
              <a:spcAft>
                <a:spcPts val="0"/>
              </a:spcAft>
              <a:buClr>
                <a:srgbClr val="000000"/>
              </a:buClr>
              <a:buSzPts val="1179"/>
              <a:buFont typeface="Arial"/>
              <a:buNone/>
            </a:pPr>
            <a:r>
              <a:t/>
            </a:r>
            <a:endParaRPr b="0" i="0" sz="1179" u="none" cap="none" strike="noStrike">
              <a:solidFill>
                <a:schemeClr val="dk1"/>
              </a:solidFill>
              <a:latin typeface="Arial"/>
              <a:ea typeface="Arial"/>
              <a:cs typeface="Arial"/>
              <a:sym typeface="Arial"/>
            </a:endParaRPr>
          </a:p>
          <a:p>
            <a:pPr indent="0" lvl="0" marL="13603" marR="0" rtl="0" algn="l">
              <a:lnSpc>
                <a:spcPct val="100000"/>
              </a:lnSpc>
              <a:spcBef>
                <a:spcPts val="0"/>
              </a:spcBef>
              <a:spcAft>
                <a:spcPts val="0"/>
              </a:spcAft>
              <a:buClr>
                <a:srgbClr val="000000"/>
              </a:buClr>
              <a:buSzPts val="1179"/>
              <a:buFont typeface="Arial"/>
              <a:buNone/>
            </a:pPr>
            <a:r>
              <a:rPr b="0" i="0" lang="en-US" sz="1179" u="none" cap="none" strike="noStrike">
                <a:solidFill>
                  <a:schemeClr val="dk1"/>
                </a:solidFill>
                <a:latin typeface="Arial"/>
                <a:ea typeface="Arial"/>
                <a:cs typeface="Arial"/>
                <a:sym typeface="Arial"/>
              </a:rPr>
              <a:t>List of External alarms to be extended–</a:t>
            </a:r>
            <a:endParaRPr b="0" i="0" sz="1179" u="none" cap="none" strike="noStrike">
              <a:solidFill>
                <a:schemeClr val="dk1"/>
              </a:solidFill>
              <a:latin typeface="Arial"/>
              <a:ea typeface="Arial"/>
              <a:cs typeface="Arial"/>
              <a:sym typeface="Arial"/>
            </a:endParaRPr>
          </a:p>
        </p:txBody>
      </p:sp>
      <p:graphicFrame>
        <p:nvGraphicFramePr>
          <p:cNvPr id="153" name="Google Shape;153;p16"/>
          <p:cNvGraphicFramePr/>
          <p:nvPr/>
        </p:nvGraphicFramePr>
        <p:xfrm>
          <a:off x="2474649" y="4856598"/>
          <a:ext cx="3000000" cy="3000000"/>
        </p:xfrm>
        <a:graphic>
          <a:graphicData uri="http://schemas.openxmlformats.org/drawingml/2006/table">
            <a:tbl>
              <a:tblPr bandRow="1" firstRow="1">
                <a:noFill/>
                <a:tableStyleId>{6E646390-14D1-40E7-8574-0D387628F5A2}</a:tableStyleId>
              </a:tblPr>
              <a:tblGrid>
                <a:gridCol w="3002625"/>
                <a:gridCol w="1553700"/>
                <a:gridCol w="2210800"/>
              </a:tblGrid>
              <a:tr h="244900">
                <a:tc>
                  <a:txBody>
                    <a:bodyPr/>
                    <a:lstStyle/>
                    <a:p>
                      <a:pPr indent="0" lvl="0" marL="73025"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1.	AC Main Fail</a:t>
                      </a:r>
                      <a:endParaRPr sz="1100" u="none" cap="none" strike="noStrike">
                        <a:latin typeface="Arial"/>
                        <a:ea typeface="Arial"/>
                        <a:cs typeface="Arial"/>
                        <a:sym typeface="Arial"/>
                      </a:endParaRPr>
                    </a:p>
                  </a:txBody>
                  <a:tcPr marT="3400" marB="0" marR="0" marL="0">
                    <a:lnL cap="flat" cmpd="sng" w="952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7145"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OK</a:t>
                      </a:r>
                      <a:endParaRPr sz="1100" u="none" cap="none" strike="noStrike">
                        <a:latin typeface="Arial"/>
                        <a:ea typeface="Arial"/>
                        <a:cs typeface="Arial"/>
                        <a:sym typeface="Arial"/>
                      </a:endParaRPr>
                    </a:p>
                  </a:txBody>
                  <a:tcPr marT="3400" marB="0" marR="0" marL="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96240"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Actual</a:t>
                      </a:r>
                      <a:endParaRPr sz="1100" u="none" cap="none" strike="noStrike">
                        <a:latin typeface="Arial"/>
                        <a:ea typeface="Arial"/>
                        <a:cs typeface="Arial"/>
                        <a:sym typeface="Arial"/>
                      </a:endParaRPr>
                    </a:p>
                  </a:txBody>
                  <a:tcPr marT="3400" marB="0" marR="0" marL="0">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7600">
                <a:tc>
                  <a:txBody>
                    <a:bodyPr/>
                    <a:lstStyle/>
                    <a:p>
                      <a:pPr indent="0" lvl="0" marL="73025"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2.	DG on Load</a:t>
                      </a:r>
                      <a:endParaRPr sz="1100" u="none" cap="none" strike="noStrike">
                        <a:latin typeface="Arial"/>
                        <a:ea typeface="Arial"/>
                        <a:cs typeface="Arial"/>
                        <a:sym typeface="Arial"/>
                      </a:endParaRPr>
                    </a:p>
                  </a:txBody>
                  <a:tcPr marT="6800" marB="0" marR="0" marL="0">
                    <a:lnL cap="flat" cmpd="sng" w="952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7145"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OK</a:t>
                      </a:r>
                      <a:endParaRPr sz="1100" u="none" cap="none" strike="noStrike">
                        <a:latin typeface="Arial"/>
                        <a:ea typeface="Arial"/>
                        <a:cs typeface="Arial"/>
                        <a:sym typeface="Arial"/>
                      </a:endParaRPr>
                    </a:p>
                  </a:txBody>
                  <a:tcPr marT="6800" marB="0" marR="0" marL="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96240"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Actual</a:t>
                      </a:r>
                      <a:endParaRPr sz="1100" u="none" cap="none" strike="noStrike">
                        <a:latin typeface="Arial"/>
                        <a:ea typeface="Arial"/>
                        <a:cs typeface="Arial"/>
                        <a:sym typeface="Arial"/>
                      </a:endParaRPr>
                    </a:p>
                  </a:txBody>
                  <a:tcPr marT="6800" marB="0" marR="0" marL="0">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4200">
                <a:tc>
                  <a:txBody>
                    <a:bodyPr/>
                    <a:lstStyle/>
                    <a:p>
                      <a:pPr indent="0" lvl="0" marL="73025"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3.	Diesel Low (below a threshold level)</a:t>
                      </a:r>
                      <a:endParaRPr sz="1100" u="none" cap="none" strike="noStrike">
                        <a:latin typeface="Arial"/>
                        <a:ea typeface="Arial"/>
                        <a:cs typeface="Arial"/>
                        <a:sym typeface="Arial"/>
                      </a:endParaRPr>
                    </a:p>
                  </a:txBody>
                  <a:tcPr marT="6800" marB="0" marR="0" marL="0">
                    <a:lnL cap="flat" cmpd="sng" w="952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7145"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OK</a:t>
                      </a:r>
                      <a:endParaRPr sz="1100" u="none" cap="none" strike="noStrike">
                        <a:latin typeface="Arial"/>
                        <a:ea typeface="Arial"/>
                        <a:cs typeface="Arial"/>
                        <a:sym typeface="Arial"/>
                      </a:endParaRPr>
                    </a:p>
                  </a:txBody>
                  <a:tcPr marT="6800" marB="0" marR="0" marL="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96240"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Actual</a:t>
                      </a:r>
                      <a:endParaRPr sz="1100" u="none" cap="none" strike="noStrike">
                        <a:latin typeface="Arial"/>
                        <a:ea typeface="Arial"/>
                        <a:cs typeface="Arial"/>
                        <a:sym typeface="Arial"/>
                      </a:endParaRPr>
                    </a:p>
                  </a:txBody>
                  <a:tcPr marT="6800" marB="0" marR="0" marL="0">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7600">
                <a:tc>
                  <a:txBody>
                    <a:bodyPr/>
                    <a:lstStyle/>
                    <a:p>
                      <a:pPr indent="0" lvl="0" marL="73025"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4.	High Temperature</a:t>
                      </a:r>
                      <a:endParaRPr sz="1100" u="none" cap="none" strike="noStrike">
                        <a:latin typeface="Arial"/>
                        <a:ea typeface="Arial"/>
                        <a:cs typeface="Arial"/>
                        <a:sym typeface="Arial"/>
                      </a:endParaRPr>
                    </a:p>
                  </a:txBody>
                  <a:tcPr marT="6800" marB="0" marR="0" marL="0">
                    <a:lnL cap="flat" cmpd="sng" w="952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7145"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OK</a:t>
                      </a:r>
                      <a:endParaRPr sz="1100" u="none" cap="none" strike="noStrike">
                        <a:latin typeface="Arial"/>
                        <a:ea typeface="Arial"/>
                        <a:cs typeface="Arial"/>
                        <a:sym typeface="Arial"/>
                      </a:endParaRPr>
                    </a:p>
                  </a:txBody>
                  <a:tcPr marT="6800" marB="0" marR="0" marL="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96240"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Actual</a:t>
                      </a:r>
                      <a:endParaRPr sz="1100" u="none" cap="none" strike="noStrike">
                        <a:latin typeface="Arial"/>
                        <a:ea typeface="Arial"/>
                        <a:cs typeface="Arial"/>
                        <a:sym typeface="Arial"/>
                      </a:endParaRPr>
                    </a:p>
                  </a:txBody>
                  <a:tcPr marT="6800" marB="0" marR="0" marL="0">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45550">
                <a:tc>
                  <a:txBody>
                    <a:bodyPr/>
                    <a:lstStyle/>
                    <a:p>
                      <a:pPr indent="0" lvl="0" marL="73025" marR="9525" rtl="0" algn="l">
                        <a:lnSpc>
                          <a:spcPct val="115454"/>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5.	eNode-B Battery Low (Voltage of the battery bank below a threshold level)</a:t>
                      </a:r>
                      <a:endParaRPr sz="1100" u="none" cap="none" strike="noStrike">
                        <a:latin typeface="Arial"/>
                        <a:ea typeface="Arial"/>
                        <a:cs typeface="Arial"/>
                        <a:sym typeface="Arial"/>
                      </a:endParaRPr>
                    </a:p>
                  </a:txBody>
                  <a:tcPr marT="15650" marB="0" marR="0" marL="0">
                    <a:lnL cap="flat" cmpd="sng" w="952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7145"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OK</a:t>
                      </a:r>
                      <a:endParaRPr sz="1100" u="none" cap="none" strike="noStrike">
                        <a:latin typeface="Arial"/>
                        <a:ea typeface="Arial"/>
                        <a:cs typeface="Arial"/>
                        <a:sym typeface="Arial"/>
                      </a:endParaRPr>
                    </a:p>
                  </a:txBody>
                  <a:tcPr marT="7475" marB="0" marR="0" marL="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96240"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Actual</a:t>
                      </a:r>
                      <a:endParaRPr sz="1100" u="none" cap="none" strike="noStrike">
                        <a:latin typeface="Arial"/>
                        <a:ea typeface="Arial"/>
                        <a:cs typeface="Arial"/>
                        <a:sym typeface="Arial"/>
                      </a:endParaRPr>
                    </a:p>
                  </a:txBody>
                  <a:tcPr marT="7475" marB="0" marR="0" marL="0">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7600">
                <a:tc>
                  <a:txBody>
                    <a:bodyPr/>
                    <a:lstStyle/>
                    <a:p>
                      <a:pPr indent="0" lvl="0" marL="73025"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6.	Cabin Door Open</a:t>
                      </a:r>
                      <a:endParaRPr sz="1100" u="none" cap="none" strike="noStrike">
                        <a:latin typeface="Arial"/>
                        <a:ea typeface="Arial"/>
                        <a:cs typeface="Arial"/>
                        <a:sym typeface="Arial"/>
                      </a:endParaRPr>
                    </a:p>
                  </a:txBody>
                  <a:tcPr marT="6800" marB="0" marR="0" marL="0">
                    <a:lnL cap="flat" cmpd="sng" w="952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7145"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OK</a:t>
                      </a:r>
                      <a:endParaRPr sz="1100" u="none" cap="none" strike="noStrike">
                        <a:latin typeface="Arial"/>
                        <a:ea typeface="Arial"/>
                        <a:cs typeface="Arial"/>
                        <a:sym typeface="Arial"/>
                      </a:endParaRPr>
                    </a:p>
                  </a:txBody>
                  <a:tcPr marT="6800" marB="0" marR="0" marL="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96240"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Actual</a:t>
                      </a:r>
                      <a:endParaRPr sz="1100" u="none" cap="none" strike="noStrike">
                        <a:latin typeface="Arial"/>
                        <a:ea typeface="Arial"/>
                        <a:cs typeface="Arial"/>
                        <a:sym typeface="Arial"/>
                      </a:endParaRPr>
                    </a:p>
                  </a:txBody>
                  <a:tcPr marT="6800" marB="0" marR="0" marL="0">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18350">
                <a:tc>
                  <a:txBody>
                    <a:bodyPr/>
                    <a:lstStyle/>
                    <a:p>
                      <a:pPr indent="0" lvl="0" marL="73025" marR="314960" rtl="0" algn="just">
                        <a:lnSpc>
                          <a:spcPct val="955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7.    DG Battery Low (Voltage of the battery of the DG set below a threshold level</a:t>
                      </a:r>
                      <a:endParaRPr sz="1100" u="none" cap="none" strike="noStrike">
                        <a:latin typeface="Arial"/>
                        <a:ea typeface="Arial"/>
                        <a:cs typeface="Arial"/>
                        <a:sym typeface="Arial"/>
                      </a:endParaRPr>
                    </a:p>
                  </a:txBody>
                  <a:tcPr marT="11575" marB="0" marR="0" marL="0">
                    <a:lnL cap="flat" cmpd="sng" w="952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7145"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OK</a:t>
                      </a:r>
                      <a:endParaRPr sz="1100" u="none" cap="none" strike="noStrike">
                        <a:latin typeface="Arial"/>
                        <a:ea typeface="Arial"/>
                        <a:cs typeface="Arial"/>
                        <a:sym typeface="Arial"/>
                      </a:endParaRPr>
                    </a:p>
                  </a:txBody>
                  <a:tcPr marT="3400" marB="0" marR="0" marL="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96240"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Actual</a:t>
                      </a:r>
                      <a:endParaRPr sz="1100" u="none" cap="none" strike="noStrike">
                        <a:latin typeface="Arial"/>
                        <a:ea typeface="Arial"/>
                        <a:cs typeface="Arial"/>
                        <a:sym typeface="Arial"/>
                      </a:endParaRPr>
                    </a:p>
                  </a:txBody>
                  <a:tcPr marT="3400" marB="0" marR="0" marL="0">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5425">
                <a:tc>
                  <a:txBody>
                    <a:bodyPr/>
                    <a:lstStyle/>
                    <a:p>
                      <a:pPr indent="0" lvl="0" marL="73025"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8.	Fire</a:t>
                      </a:r>
                      <a:endParaRPr sz="1100" u="none" cap="none" strike="noStrike">
                        <a:latin typeface="Arial"/>
                        <a:ea typeface="Arial"/>
                        <a:cs typeface="Arial"/>
                        <a:sym typeface="Arial"/>
                      </a:endParaRPr>
                    </a:p>
                  </a:txBody>
                  <a:tcPr marT="6800" marB="0" marR="0" marL="0">
                    <a:lnL cap="flat" cmpd="sng" w="952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7145"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OK</a:t>
                      </a:r>
                      <a:endParaRPr sz="1100" u="none" cap="none" strike="noStrike">
                        <a:latin typeface="Arial"/>
                        <a:ea typeface="Arial"/>
                        <a:cs typeface="Arial"/>
                        <a:sym typeface="Arial"/>
                      </a:endParaRPr>
                    </a:p>
                  </a:txBody>
                  <a:tcPr marT="6800" marB="0" marR="0" marL="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96240" marR="0" rtl="0" algn="l">
                        <a:lnSpc>
                          <a:spcPct val="100000"/>
                        </a:lnSpc>
                        <a:spcBef>
                          <a:spcPts val="0"/>
                        </a:spcBef>
                        <a:spcAft>
                          <a:spcPts val="0"/>
                        </a:spcAft>
                        <a:buClr>
                          <a:srgbClr val="000000"/>
                        </a:buClr>
                        <a:buSzPts val="1100"/>
                        <a:buFont typeface="Arial"/>
                        <a:buNone/>
                      </a:pPr>
                      <a:r>
                        <a:rPr lang="en-US" sz="1100" u="none" cap="none" strike="noStrike">
                          <a:latin typeface="Arial"/>
                          <a:ea typeface="Arial"/>
                          <a:cs typeface="Arial"/>
                          <a:sym typeface="Arial"/>
                        </a:rPr>
                        <a:t>Actual</a:t>
                      </a:r>
                      <a:endParaRPr sz="1100" u="none" cap="none" strike="noStrike">
                        <a:latin typeface="Arial"/>
                        <a:ea typeface="Arial"/>
                        <a:cs typeface="Arial"/>
                        <a:sym typeface="Arial"/>
                      </a:endParaRPr>
                    </a:p>
                  </a:txBody>
                  <a:tcPr marT="6800" marB="0" marR="0" marL="0">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54" name="Google Shape;154;p16"/>
          <p:cNvSpPr txBox="1"/>
          <p:nvPr/>
        </p:nvSpPr>
        <p:spPr>
          <a:xfrm>
            <a:off x="2148364" y="2128196"/>
            <a:ext cx="326285" cy="195198"/>
          </a:xfrm>
          <a:prstGeom prst="rect">
            <a:avLst/>
          </a:prstGeom>
          <a:noFill/>
          <a:ln>
            <a:noFill/>
          </a:ln>
        </p:spPr>
        <p:txBody>
          <a:bodyPr anchorCtr="0" anchor="t" bIns="0" lIns="0" spcFirstLastPara="1" rIns="0" wrap="square" tIns="13600">
            <a:spAutoFit/>
          </a:bodyPr>
          <a:lstStyle/>
          <a:p>
            <a:pPr indent="0" lvl="0" marL="13603" marR="0" rtl="0" algn="l">
              <a:lnSpc>
                <a:spcPct val="100000"/>
              </a:lnSpc>
              <a:spcBef>
                <a:spcPts val="0"/>
              </a:spcBef>
              <a:spcAft>
                <a:spcPts val="0"/>
              </a:spcAft>
              <a:buClr>
                <a:srgbClr val="000000"/>
              </a:buClr>
              <a:buSzPts val="1179"/>
              <a:buFont typeface="Arial"/>
              <a:buNone/>
            </a:pPr>
            <a:r>
              <a:rPr b="1" i="0" lang="en-US" sz="1179" u="none" cap="none" strike="noStrike">
                <a:solidFill>
                  <a:schemeClr val="dk1"/>
                </a:solidFill>
                <a:latin typeface="Arial"/>
                <a:ea typeface="Arial"/>
                <a:cs typeface="Arial"/>
                <a:sym typeface="Arial"/>
              </a:rPr>
              <a:t>11.</a:t>
            </a:r>
            <a:endParaRPr b="0" i="0" sz="1179" u="none" cap="none" strike="noStrike">
              <a:solidFill>
                <a:schemeClr val="dk1"/>
              </a:solidFill>
              <a:latin typeface="Arial"/>
              <a:ea typeface="Arial"/>
              <a:cs typeface="Arial"/>
              <a:sym typeface="Arial"/>
            </a:endParaRPr>
          </a:p>
        </p:txBody>
      </p:sp>
      <p:sp>
        <p:nvSpPr>
          <p:cNvPr id="155" name="Google Shape;155;p16"/>
          <p:cNvSpPr txBox="1"/>
          <p:nvPr/>
        </p:nvSpPr>
        <p:spPr>
          <a:xfrm>
            <a:off x="2510918" y="2128196"/>
            <a:ext cx="1496549" cy="195198"/>
          </a:xfrm>
          <a:prstGeom prst="rect">
            <a:avLst/>
          </a:prstGeom>
          <a:noFill/>
          <a:ln>
            <a:noFill/>
          </a:ln>
        </p:spPr>
        <p:txBody>
          <a:bodyPr anchorCtr="0" anchor="t" bIns="0" lIns="0" spcFirstLastPara="1" rIns="0" wrap="square" tIns="13600">
            <a:spAutoFit/>
          </a:bodyPr>
          <a:lstStyle/>
          <a:p>
            <a:pPr indent="0" lvl="0" marL="13603" marR="0" rtl="0" algn="l">
              <a:lnSpc>
                <a:spcPct val="100000"/>
              </a:lnSpc>
              <a:spcBef>
                <a:spcPts val="0"/>
              </a:spcBef>
              <a:spcAft>
                <a:spcPts val="0"/>
              </a:spcAft>
              <a:buClr>
                <a:srgbClr val="000000"/>
              </a:buClr>
              <a:buSzPts val="1179"/>
              <a:buFont typeface="Arial"/>
              <a:buNone/>
            </a:pPr>
            <a:r>
              <a:rPr b="1" i="0" lang="en-US" sz="1179" u="none" cap="none" strike="noStrike">
                <a:solidFill>
                  <a:schemeClr val="dk1"/>
                </a:solidFill>
                <a:latin typeface="Arial"/>
                <a:ea typeface="Arial"/>
                <a:cs typeface="Arial"/>
                <a:sym typeface="Arial"/>
              </a:rPr>
              <a:t>External alarm tests:</a:t>
            </a:r>
            <a:endParaRPr b="0" i="0" sz="1179" u="none" cap="none" strike="noStrike">
              <a:solidFill>
                <a:schemeClr val="dk1"/>
              </a:solidFill>
              <a:latin typeface="Arial"/>
              <a:ea typeface="Arial"/>
              <a:cs typeface="Arial"/>
              <a:sym typeface="Arial"/>
            </a:endParaRPr>
          </a:p>
        </p:txBody>
      </p:sp>
      <p:sp>
        <p:nvSpPr>
          <p:cNvPr id="156" name="Google Shape;156;p16"/>
          <p:cNvSpPr txBox="1"/>
          <p:nvPr/>
        </p:nvSpPr>
        <p:spPr>
          <a:xfrm>
            <a:off x="2040499" y="1530839"/>
            <a:ext cx="2603732" cy="203735"/>
          </a:xfrm>
          <a:prstGeom prst="rect">
            <a:avLst/>
          </a:prstGeom>
          <a:noFill/>
          <a:ln>
            <a:noFill/>
          </a:ln>
        </p:spPr>
        <p:txBody>
          <a:bodyPr anchorCtr="0" anchor="t" bIns="0" lIns="0" spcFirstLastPara="1" rIns="0" wrap="square" tIns="13725">
            <a:spAutoFit/>
          </a:bodyPr>
          <a:lstStyle/>
          <a:p>
            <a:pPr indent="2892"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QA &amp; INSPECTION CIRCLE KL 	</a:t>
            </a:r>
            <a:endParaRPr b="0" i="0" sz="1253" u="none" cap="none" strike="noStrike">
              <a:solidFill>
                <a:schemeClr val="dk1"/>
              </a:solidFill>
              <a:latin typeface="Arial"/>
              <a:ea typeface="Arial"/>
              <a:cs typeface="Arial"/>
              <a:sym typeface="Arial"/>
            </a:endParaRPr>
          </a:p>
        </p:txBody>
      </p:sp>
      <p:sp>
        <p:nvSpPr>
          <p:cNvPr id="157" name="Google Shape;157;p16"/>
          <p:cNvSpPr txBox="1"/>
          <p:nvPr/>
        </p:nvSpPr>
        <p:spPr>
          <a:xfrm>
            <a:off x="7238764" y="1574232"/>
            <a:ext cx="1833298" cy="408086"/>
          </a:xfrm>
          <a:prstGeom prst="rect">
            <a:avLst/>
          </a:prstGeom>
          <a:noFill/>
          <a:ln>
            <a:noFill/>
          </a:ln>
        </p:spPr>
        <p:txBody>
          <a:bodyPr anchorCtr="0" anchor="t" bIns="0" lIns="0" spcFirstLastPara="1" rIns="0" wrap="square" tIns="13725">
            <a:spAutoFit/>
          </a:bodyPr>
          <a:lstStyle/>
          <a:p>
            <a:pPr indent="701487"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4G PHASE IX.2  eNode-B A/T SCHEDULE</a:t>
            </a:r>
            <a:endParaRPr b="0" i="0" sz="1400" u="none" cap="none" strike="noStrike">
              <a:solidFill>
                <a:srgbClr val="000000"/>
              </a:solidFill>
              <a:latin typeface="Arial"/>
              <a:ea typeface="Arial"/>
              <a:cs typeface="Arial"/>
              <a:sym typeface="Arial"/>
            </a:endParaRPr>
          </a:p>
        </p:txBody>
      </p:sp>
      <p:sp>
        <p:nvSpPr>
          <p:cNvPr id="158" name="Google Shape;158;p16"/>
          <p:cNvSpPr txBox="1"/>
          <p:nvPr>
            <p:ph idx="11" type="ftr"/>
          </p:nvPr>
        </p:nvSpPr>
        <p:spPr>
          <a:xfrm>
            <a:off x="2248781" y="11446613"/>
            <a:ext cx="1915019" cy="192810"/>
          </a:xfrm>
          <a:prstGeom prst="rect">
            <a:avLst/>
          </a:prstGeom>
          <a:noFill/>
          <a:ln>
            <a:noFill/>
          </a:ln>
        </p:spPr>
        <p:txBody>
          <a:bodyPr anchorCtr="0" anchor="t" bIns="0" lIns="0" spcFirstLastPara="1" rIns="0" wrap="square" tIns="0">
            <a:spAutoFit/>
          </a:bodyPr>
          <a:lstStyle/>
          <a:p>
            <a:pPr indent="0" lvl="0" marL="14464" rtl="0" algn="l">
              <a:lnSpc>
                <a:spcPct val="100000"/>
              </a:lnSpc>
              <a:spcBef>
                <a:spcPts val="0"/>
              </a:spcBef>
              <a:spcAft>
                <a:spcPts val="0"/>
              </a:spcAft>
              <a:buSzPts val="1400"/>
              <a:buNone/>
            </a:pPr>
            <a:r>
              <a:rPr lang="en-US"/>
              <a:t>QAIN-11/31(14)/1/2023-CM</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7"/>
          <p:cNvSpPr txBox="1"/>
          <p:nvPr/>
        </p:nvSpPr>
        <p:spPr>
          <a:xfrm>
            <a:off x="7238764" y="1574232"/>
            <a:ext cx="1833298" cy="408086"/>
          </a:xfrm>
          <a:prstGeom prst="rect">
            <a:avLst/>
          </a:prstGeom>
          <a:noFill/>
          <a:ln>
            <a:noFill/>
          </a:ln>
        </p:spPr>
        <p:txBody>
          <a:bodyPr anchorCtr="0" anchor="t" bIns="0" lIns="0" spcFirstLastPara="1" rIns="0" wrap="square" tIns="13725">
            <a:spAutoFit/>
          </a:bodyPr>
          <a:lstStyle/>
          <a:p>
            <a:pPr indent="701487"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4G PHASE IX.2  eNode-B A/T SCHEDULE</a:t>
            </a:r>
            <a:endParaRPr b="0" i="0" sz="1253" u="none" cap="none" strike="noStrike">
              <a:solidFill>
                <a:schemeClr val="dk1"/>
              </a:solidFill>
              <a:latin typeface="Arial"/>
              <a:ea typeface="Arial"/>
              <a:cs typeface="Arial"/>
              <a:sym typeface="Arial"/>
            </a:endParaRPr>
          </a:p>
        </p:txBody>
      </p:sp>
      <p:sp>
        <p:nvSpPr>
          <p:cNvPr id="164" name="Google Shape;164;p17"/>
          <p:cNvSpPr txBox="1"/>
          <p:nvPr/>
        </p:nvSpPr>
        <p:spPr>
          <a:xfrm>
            <a:off x="2109927" y="2514270"/>
            <a:ext cx="7487955" cy="3995054"/>
          </a:xfrm>
          <a:prstGeom prst="rect">
            <a:avLst/>
          </a:prstGeom>
          <a:noFill/>
          <a:ln>
            <a:noFill/>
          </a:ln>
        </p:spPr>
        <p:txBody>
          <a:bodyPr anchorCtr="0" anchor="t" bIns="0" lIns="0" spcFirstLastPara="1" rIns="0" wrap="square" tIns="14450">
            <a:spAutoFit/>
          </a:bodyPr>
          <a:lstStyle/>
          <a:p>
            <a:pPr indent="0" lvl="0" marL="14464" marR="0" rtl="0" algn="just">
              <a:lnSpc>
                <a:spcPct val="100000"/>
              </a:lnSpc>
              <a:spcBef>
                <a:spcPts val="0"/>
              </a:spcBef>
              <a:spcAft>
                <a:spcPts val="0"/>
              </a:spcAft>
              <a:buClr>
                <a:srgbClr val="000000"/>
              </a:buClr>
              <a:buSzPts val="1253"/>
              <a:buFont typeface="Arial"/>
              <a:buNone/>
            </a:pPr>
            <a:r>
              <a:rPr b="1" i="0" lang="en-US" sz="1253" u="none" cap="none" strike="noStrike">
                <a:solidFill>
                  <a:schemeClr val="dk1"/>
                </a:solidFill>
                <a:latin typeface="Arial"/>
                <a:ea typeface="Arial"/>
                <a:cs typeface="Arial"/>
                <a:sym typeface="Arial"/>
              </a:rPr>
              <a:t>PART C: COVERAGE TEST</a:t>
            </a:r>
            <a:endParaRPr b="0" i="0" sz="1253" u="none" cap="none" strike="noStrike">
              <a:solidFill>
                <a:schemeClr val="dk1"/>
              </a:solidFill>
              <a:latin typeface="Arial"/>
              <a:ea typeface="Arial"/>
              <a:cs typeface="Arial"/>
              <a:sym typeface="Arial"/>
            </a:endParaRPr>
          </a:p>
          <a:p>
            <a:pPr indent="0" lvl="0" marL="0" marR="0" rtl="0" algn="l">
              <a:lnSpc>
                <a:spcPct val="100000"/>
              </a:lnSpc>
              <a:spcBef>
                <a:spcPts val="40"/>
              </a:spcBef>
              <a:spcAft>
                <a:spcPts val="0"/>
              </a:spcAft>
              <a:buClr>
                <a:srgbClr val="000000"/>
              </a:buClr>
              <a:buSzPts val="1821"/>
              <a:buFont typeface="Arial"/>
              <a:buNone/>
            </a:pPr>
            <a:r>
              <a:t/>
            </a:r>
            <a:endParaRPr b="0" i="0" sz="1820" u="none" cap="none" strike="noStrike">
              <a:solidFill>
                <a:schemeClr val="dk1"/>
              </a:solidFill>
              <a:latin typeface="Arial"/>
              <a:ea typeface="Arial"/>
              <a:cs typeface="Arial"/>
              <a:sym typeface="Arial"/>
            </a:endParaRPr>
          </a:p>
          <a:p>
            <a:pPr indent="-7232" lvl="0" marL="20973" marR="5786" rtl="0" algn="just">
              <a:lnSpc>
                <a:spcPct val="100000"/>
              </a:lnSpc>
              <a:spcBef>
                <a:spcPts val="6"/>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The vendor shall carry out the simulation of coverage and generate prediction maps of the cities with the  existing and identified sites to be specified by the purchaser. The supplier shall indicate additional  locations, if any, required to meet the coverage requirements of the purchaser. The prediction map so  generated and agreed upon shall form the basis for acceptance testing of the coverage.</a:t>
            </a:r>
            <a:endParaRPr b="0" i="0" sz="1253" u="none" cap="none" strike="noStrike">
              <a:solidFill>
                <a:schemeClr val="dk1"/>
              </a:solidFill>
              <a:latin typeface="Arial"/>
              <a:ea typeface="Arial"/>
              <a:cs typeface="Arial"/>
              <a:sym typeface="Arial"/>
            </a:endParaRPr>
          </a:p>
          <a:p>
            <a:pPr indent="0" lvl="0" marL="14464" marR="0" rtl="0" algn="just">
              <a:lnSpc>
                <a:spcPct val="100000"/>
              </a:lnSpc>
              <a:spcBef>
                <a:spcPts val="188"/>
              </a:spcBef>
              <a:spcAft>
                <a:spcPts val="0"/>
              </a:spcAft>
              <a:buClr>
                <a:srgbClr val="000000"/>
              </a:buClr>
              <a:buSzPts val="1253"/>
              <a:buFont typeface="Arial"/>
              <a:buNone/>
            </a:pPr>
            <a:r>
              <a:rPr b="1" i="0" lang="en-US" sz="1253" u="none" cap="none" strike="noStrike">
                <a:solidFill>
                  <a:schemeClr val="dk1"/>
                </a:solidFill>
                <a:latin typeface="Arial"/>
                <a:ea typeface="Arial"/>
                <a:cs typeface="Arial"/>
                <a:sym typeface="Arial"/>
              </a:rPr>
              <a:t>Prior requisite to start coverage test:</a:t>
            </a:r>
            <a:endParaRPr b="0" i="0" sz="1253" u="none" cap="none" strike="noStrike">
              <a:solidFill>
                <a:schemeClr val="dk1"/>
              </a:solidFill>
              <a:latin typeface="Arial"/>
              <a:ea typeface="Arial"/>
              <a:cs typeface="Arial"/>
              <a:sym typeface="Arial"/>
            </a:endParaRPr>
          </a:p>
          <a:p>
            <a:pPr indent="-326879" lvl="0" marL="483086" marR="11571" rtl="0" algn="just">
              <a:lnSpc>
                <a:spcPct val="101800"/>
              </a:lnSpc>
              <a:spcBef>
                <a:spcPts val="330"/>
              </a:spcBef>
              <a:spcAft>
                <a:spcPts val="0"/>
              </a:spcAft>
              <a:buClr>
                <a:schemeClr val="dk1"/>
              </a:buClr>
              <a:buSzPts val="1253"/>
              <a:buFont typeface="Arial"/>
              <a:buChar char="•"/>
            </a:pPr>
            <a:r>
              <a:rPr b="0" i="0" lang="en-US" sz="1253" u="none" cap="none" strike="noStrike">
                <a:solidFill>
                  <a:schemeClr val="dk1"/>
                </a:solidFill>
                <a:latin typeface="Arial"/>
                <a:ea typeface="Arial"/>
                <a:cs typeface="Arial"/>
                <a:sym typeface="Arial"/>
              </a:rPr>
              <a:t>Basic calls / messages / data may be checked. Geographical clusters and size of cluster may be  finalized by the Circle RF Planning teams in consultation with the vendor.</a:t>
            </a:r>
            <a:endParaRPr b="0" i="0" sz="1253" u="none" cap="none" strike="noStrike">
              <a:solidFill>
                <a:schemeClr val="dk1"/>
              </a:solidFill>
              <a:latin typeface="Arial"/>
              <a:ea typeface="Arial"/>
              <a:cs typeface="Arial"/>
              <a:sym typeface="Arial"/>
            </a:endParaRPr>
          </a:p>
          <a:p>
            <a:pPr indent="-326879" lvl="0" marL="483086" marR="0" rtl="0" algn="just">
              <a:lnSpc>
                <a:spcPct val="100000"/>
              </a:lnSpc>
              <a:spcBef>
                <a:spcPts val="330"/>
              </a:spcBef>
              <a:spcAft>
                <a:spcPts val="0"/>
              </a:spcAft>
              <a:buClr>
                <a:schemeClr val="dk1"/>
              </a:buClr>
              <a:buSzPts val="1253"/>
              <a:buFont typeface="Arial"/>
              <a:buChar char="•"/>
            </a:pPr>
            <a:r>
              <a:rPr b="0" i="0" lang="en-US" sz="1253" u="none" cap="none" strike="noStrike">
                <a:solidFill>
                  <a:schemeClr val="dk1"/>
                </a:solidFill>
                <a:latin typeface="Arial"/>
                <a:ea typeface="Arial"/>
                <a:cs typeface="Arial"/>
                <a:sym typeface="Arial"/>
              </a:rPr>
              <a:t>Link budget should be submitted for all bands as mentioned in the PO &amp; DTR.</a:t>
            </a:r>
            <a:endParaRPr b="0" i="0" sz="1253" u="none" cap="none" strike="noStrike">
              <a:solidFill>
                <a:schemeClr val="dk1"/>
              </a:solidFill>
              <a:latin typeface="Arial"/>
              <a:ea typeface="Arial"/>
              <a:cs typeface="Arial"/>
              <a:sym typeface="Arial"/>
            </a:endParaRPr>
          </a:p>
          <a:p>
            <a:pPr indent="-326879" lvl="0" marL="483086" marR="5786" rtl="0" algn="just">
              <a:lnSpc>
                <a:spcPct val="98900"/>
              </a:lnSpc>
              <a:spcBef>
                <a:spcPts val="205"/>
              </a:spcBef>
              <a:spcAft>
                <a:spcPts val="0"/>
              </a:spcAft>
              <a:buClr>
                <a:schemeClr val="dk1"/>
              </a:buClr>
              <a:buSzPts val="1253"/>
              <a:buFont typeface="Arial"/>
              <a:buChar char="•"/>
            </a:pPr>
            <a:r>
              <a:rPr b="0" i="0" lang="en-US" sz="1253" u="none" cap="none" strike="noStrike">
                <a:solidFill>
                  <a:schemeClr val="dk1"/>
                </a:solidFill>
                <a:latin typeface="Arial"/>
                <a:ea typeface="Arial"/>
                <a:cs typeface="Arial"/>
                <a:sym typeface="Arial"/>
              </a:rPr>
              <a:t>Coverage A/T should cover all sectors of the sites included in the cluster and plots may be  prepared cluster wise. Event based KPIs may be performed as static tests for each of the sectors  and cell wise statistics may also be submitted as part of the A/T reports along with cluster wise  plots and KPI statistics.</a:t>
            </a:r>
            <a:endParaRPr b="0" i="0" sz="1253" u="none" cap="none" strike="noStrike">
              <a:solidFill>
                <a:schemeClr val="dk1"/>
              </a:solidFill>
              <a:latin typeface="Arial"/>
              <a:ea typeface="Arial"/>
              <a:cs typeface="Arial"/>
              <a:sym typeface="Arial"/>
            </a:endParaRPr>
          </a:p>
          <a:p>
            <a:pPr indent="-326879" lvl="0" marL="483086" marR="65809" rtl="0" algn="just">
              <a:lnSpc>
                <a:spcPct val="100000"/>
              </a:lnSpc>
              <a:spcBef>
                <a:spcPts val="359"/>
              </a:spcBef>
              <a:spcAft>
                <a:spcPts val="0"/>
              </a:spcAft>
              <a:buClr>
                <a:schemeClr val="dk1"/>
              </a:buClr>
              <a:buSzPts val="1253"/>
              <a:buFont typeface="Arial"/>
              <a:buChar char="•"/>
            </a:pPr>
            <a:r>
              <a:rPr b="0" i="0" lang="en-US" sz="1253" u="none" cap="none" strike="noStrike">
                <a:solidFill>
                  <a:schemeClr val="dk1"/>
                </a:solidFill>
                <a:latin typeface="Arial"/>
                <a:ea typeface="Arial"/>
                <a:cs typeface="Arial"/>
                <a:sym typeface="Arial"/>
              </a:rPr>
              <a:t>80% [minimum] of technology-specified throughput shall be demonstrated in field drive tests as  applicable.</a:t>
            </a:r>
            <a:endParaRPr b="0" i="0" sz="1253" u="none" cap="none" strike="noStrike">
              <a:solidFill>
                <a:schemeClr val="dk1"/>
              </a:solidFill>
              <a:latin typeface="Arial"/>
              <a:ea typeface="Arial"/>
              <a:cs typeface="Arial"/>
              <a:sym typeface="Arial"/>
            </a:endParaRPr>
          </a:p>
          <a:p>
            <a:pPr indent="-326879" lvl="0" marL="483086" marR="0" rtl="0" algn="just">
              <a:lnSpc>
                <a:spcPct val="119074"/>
              </a:lnSpc>
              <a:spcBef>
                <a:spcPts val="325"/>
              </a:spcBef>
              <a:spcAft>
                <a:spcPts val="0"/>
              </a:spcAft>
              <a:buClr>
                <a:schemeClr val="dk1"/>
              </a:buClr>
              <a:buSzPts val="1253"/>
              <a:buFont typeface="Arial"/>
              <a:buChar char="•"/>
            </a:pPr>
            <a:r>
              <a:rPr b="0" i="0" lang="en-US" sz="1253" u="none" cap="none" strike="noStrike">
                <a:solidFill>
                  <a:schemeClr val="dk1"/>
                </a:solidFill>
                <a:latin typeface="Arial"/>
                <a:ea typeface="Arial"/>
                <a:cs typeface="Arial"/>
                <a:sym typeface="Arial"/>
              </a:rPr>
              <a:t>The coverage A/T reports submitted by the vendor should be evaluated &amp; approved by the BA</a:t>
            </a:r>
            <a:endParaRPr b="0" i="0" sz="1253" u="none" cap="none" strike="noStrike">
              <a:solidFill>
                <a:schemeClr val="dk1"/>
              </a:solidFill>
              <a:latin typeface="Arial"/>
              <a:ea typeface="Arial"/>
              <a:cs typeface="Arial"/>
              <a:sym typeface="Arial"/>
            </a:endParaRPr>
          </a:p>
          <a:p>
            <a:pPr indent="0" lvl="0" marL="483086" marR="211893" rtl="0" algn="just">
              <a:lnSpc>
                <a:spcPct val="118196"/>
              </a:lnSpc>
              <a:spcBef>
                <a:spcPts val="57"/>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 Circle RF teams after ensuring that suitable measures to improve the QoS are incorporated, in  case issues are identified during A/T.</a:t>
            </a:r>
            <a:endParaRPr b="0" i="0" sz="1253" u="none" cap="none" strike="noStrike">
              <a:solidFill>
                <a:schemeClr val="dk1"/>
              </a:solidFill>
              <a:latin typeface="Arial"/>
              <a:ea typeface="Arial"/>
              <a:cs typeface="Arial"/>
              <a:sym typeface="Arial"/>
            </a:endParaRPr>
          </a:p>
        </p:txBody>
      </p:sp>
      <p:sp>
        <p:nvSpPr>
          <p:cNvPr id="165" name="Google Shape;165;p17"/>
          <p:cNvSpPr txBox="1"/>
          <p:nvPr/>
        </p:nvSpPr>
        <p:spPr>
          <a:xfrm>
            <a:off x="2109926" y="7129812"/>
            <a:ext cx="7136483" cy="1882302"/>
          </a:xfrm>
          <a:prstGeom prst="rect">
            <a:avLst/>
          </a:prstGeom>
          <a:noFill/>
          <a:ln>
            <a:noFill/>
          </a:ln>
        </p:spPr>
        <p:txBody>
          <a:bodyPr anchorCtr="0" anchor="t" bIns="0" lIns="0" spcFirstLastPara="1" rIns="0" wrap="square" tIns="59300">
            <a:spAutoFit/>
          </a:bodyPr>
          <a:lstStyle/>
          <a:p>
            <a:pPr indent="-392688" lvl="0" marL="406429" marR="0" rtl="0" algn="l">
              <a:lnSpc>
                <a:spcPct val="100000"/>
              </a:lnSpc>
              <a:spcBef>
                <a:spcPts val="0"/>
              </a:spcBef>
              <a:spcAft>
                <a:spcPts val="0"/>
              </a:spcAft>
              <a:buClr>
                <a:schemeClr val="dk1"/>
              </a:buClr>
              <a:buSzPts val="1253"/>
              <a:buFont typeface="Arial"/>
              <a:buAutoNum type="arabicPeriod"/>
            </a:pPr>
            <a:r>
              <a:rPr b="1" i="0" lang="en-US" sz="1253" u="none" cap="none" strike="noStrike">
                <a:solidFill>
                  <a:schemeClr val="dk1"/>
                </a:solidFill>
                <a:latin typeface="Arial"/>
                <a:ea typeface="Arial"/>
                <a:cs typeface="Arial"/>
                <a:sym typeface="Arial"/>
              </a:rPr>
              <a:t>Drive Test Results: The following drive test results plots are prepared.</a:t>
            </a:r>
            <a:endParaRPr b="0" i="0" sz="1253" u="none" cap="none" strike="noStrike">
              <a:solidFill>
                <a:schemeClr val="dk1"/>
              </a:solidFill>
              <a:latin typeface="Arial"/>
              <a:ea typeface="Arial"/>
              <a:cs typeface="Arial"/>
              <a:sym typeface="Arial"/>
            </a:endParaRPr>
          </a:p>
          <a:p>
            <a:pPr indent="-455605" lvl="1" marL="1225795" marR="0" rtl="0" algn="l">
              <a:lnSpc>
                <a:spcPct val="100000"/>
              </a:lnSpc>
              <a:spcBef>
                <a:spcPts val="353"/>
              </a:spcBef>
              <a:spcAft>
                <a:spcPts val="0"/>
              </a:spcAft>
              <a:buClr>
                <a:schemeClr val="dk1"/>
              </a:buClr>
              <a:buSzPts val="1253"/>
              <a:buFont typeface="Arial"/>
              <a:buAutoNum type="romanUcPeriod"/>
            </a:pPr>
            <a:r>
              <a:rPr b="0" i="0" lang="en-US" sz="1253" u="none" cap="none" strike="noStrike">
                <a:solidFill>
                  <a:schemeClr val="dk1"/>
                </a:solidFill>
                <a:latin typeface="Arial"/>
                <a:ea typeface="Arial"/>
                <a:cs typeface="Arial"/>
                <a:sym typeface="Arial"/>
              </a:rPr>
              <a:t>RSRP Plot (As per Prediction Plot)</a:t>
            </a:r>
            <a:endParaRPr b="0" i="0" sz="1253" u="none" cap="none" strike="noStrike">
              <a:solidFill>
                <a:schemeClr val="dk1"/>
              </a:solidFill>
              <a:latin typeface="Arial"/>
              <a:ea typeface="Arial"/>
              <a:cs typeface="Arial"/>
              <a:sym typeface="Arial"/>
            </a:endParaRPr>
          </a:p>
          <a:p>
            <a:pPr indent="-455605" lvl="1" marL="1225795" marR="0" rtl="0" algn="l">
              <a:lnSpc>
                <a:spcPct val="100000"/>
              </a:lnSpc>
              <a:spcBef>
                <a:spcPts val="359"/>
              </a:spcBef>
              <a:spcAft>
                <a:spcPts val="0"/>
              </a:spcAft>
              <a:buClr>
                <a:schemeClr val="dk1"/>
              </a:buClr>
              <a:buSzPts val="1253"/>
              <a:buFont typeface="Arial"/>
              <a:buAutoNum type="romanUcPeriod"/>
            </a:pPr>
            <a:r>
              <a:rPr b="0" i="0" lang="en-US" sz="1253" u="none" cap="none" strike="noStrike">
                <a:solidFill>
                  <a:schemeClr val="dk1"/>
                </a:solidFill>
                <a:latin typeface="Arial"/>
                <a:ea typeface="Arial"/>
                <a:cs typeface="Arial"/>
                <a:sym typeface="Arial"/>
              </a:rPr>
              <a:t>RSRQ Plot</a:t>
            </a:r>
            <a:endParaRPr b="0" i="0" sz="1253" u="none" cap="none" strike="noStrike">
              <a:solidFill>
                <a:schemeClr val="dk1"/>
              </a:solidFill>
              <a:latin typeface="Arial"/>
              <a:ea typeface="Arial"/>
              <a:cs typeface="Arial"/>
              <a:sym typeface="Arial"/>
            </a:endParaRPr>
          </a:p>
          <a:p>
            <a:pPr indent="-455605" lvl="1" marL="1225795" marR="0" rtl="0" algn="l">
              <a:lnSpc>
                <a:spcPct val="100000"/>
              </a:lnSpc>
              <a:spcBef>
                <a:spcPts val="330"/>
              </a:spcBef>
              <a:spcAft>
                <a:spcPts val="0"/>
              </a:spcAft>
              <a:buClr>
                <a:schemeClr val="dk1"/>
              </a:buClr>
              <a:buSzPts val="1253"/>
              <a:buFont typeface="Arial"/>
              <a:buAutoNum type="romanUcPeriod"/>
            </a:pPr>
            <a:r>
              <a:rPr b="0" i="0" lang="en-US" sz="1253" u="none" cap="none" strike="noStrike">
                <a:solidFill>
                  <a:schemeClr val="dk1"/>
                </a:solidFill>
                <a:latin typeface="Arial"/>
                <a:ea typeface="Arial"/>
                <a:cs typeface="Arial"/>
                <a:sym typeface="Arial"/>
              </a:rPr>
              <a:t>SINR Plot</a:t>
            </a:r>
            <a:endParaRPr b="0" i="0" sz="1253" u="none" cap="none" strike="noStrike">
              <a:solidFill>
                <a:schemeClr val="dk1"/>
              </a:solidFill>
              <a:latin typeface="Arial"/>
              <a:ea typeface="Arial"/>
              <a:cs typeface="Arial"/>
              <a:sym typeface="Arial"/>
            </a:endParaRPr>
          </a:p>
          <a:p>
            <a:pPr indent="-455605" lvl="1" marL="1225795" marR="0" rtl="0" algn="l">
              <a:lnSpc>
                <a:spcPct val="100000"/>
              </a:lnSpc>
              <a:spcBef>
                <a:spcPts val="353"/>
              </a:spcBef>
              <a:spcAft>
                <a:spcPts val="0"/>
              </a:spcAft>
              <a:buClr>
                <a:schemeClr val="dk1"/>
              </a:buClr>
              <a:buSzPts val="1253"/>
              <a:buFont typeface="Arial"/>
              <a:buAutoNum type="romanUcPeriod"/>
            </a:pPr>
            <a:r>
              <a:rPr b="0" i="0" lang="en-US" sz="1253" u="none" cap="none" strike="noStrike">
                <a:solidFill>
                  <a:schemeClr val="dk1"/>
                </a:solidFill>
                <a:latin typeface="Arial"/>
                <a:ea typeface="Arial"/>
                <a:cs typeface="Arial"/>
                <a:sym typeface="Arial"/>
              </a:rPr>
              <a:t>DL Throughput plot</a:t>
            </a:r>
            <a:endParaRPr b="0" i="0" sz="1253" u="none" cap="none" strike="noStrike">
              <a:solidFill>
                <a:schemeClr val="dk1"/>
              </a:solidFill>
              <a:latin typeface="Arial"/>
              <a:ea typeface="Arial"/>
              <a:cs typeface="Arial"/>
              <a:sym typeface="Arial"/>
            </a:endParaRPr>
          </a:p>
          <a:p>
            <a:pPr indent="0" lvl="0" marL="0" marR="0" rtl="0" algn="l">
              <a:lnSpc>
                <a:spcPct val="100000"/>
              </a:lnSpc>
              <a:spcBef>
                <a:spcPts val="34"/>
              </a:spcBef>
              <a:spcAft>
                <a:spcPts val="0"/>
              </a:spcAft>
              <a:buClr>
                <a:srgbClr val="000000"/>
              </a:buClr>
              <a:buSzPts val="1821"/>
              <a:buFont typeface="Arial"/>
              <a:buNone/>
            </a:pPr>
            <a:r>
              <a:t/>
            </a:r>
            <a:endParaRPr b="0" i="0" sz="1820" u="none" cap="none" strike="noStrike">
              <a:solidFill>
                <a:schemeClr val="dk1"/>
              </a:solidFill>
              <a:latin typeface="Arial"/>
              <a:ea typeface="Arial"/>
              <a:cs typeface="Arial"/>
              <a:sym typeface="Arial"/>
            </a:endParaRPr>
          </a:p>
          <a:p>
            <a:pPr indent="-7232" lvl="0" marL="674007" marR="5786" rtl="0" algn="l">
              <a:lnSpc>
                <a:spcPct val="100000"/>
              </a:lnSpc>
              <a:spcBef>
                <a:spcPts val="6"/>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The plot indicates the coverage parameters marked by different colours for different levels e.g.  Excellent, Good, Poor etc.</a:t>
            </a:r>
            <a:endParaRPr b="0" i="0" sz="1253" u="none" cap="none" strike="noStrike">
              <a:solidFill>
                <a:schemeClr val="dk1"/>
              </a:solidFill>
              <a:latin typeface="Arial"/>
              <a:ea typeface="Arial"/>
              <a:cs typeface="Arial"/>
              <a:sym typeface="Arial"/>
            </a:endParaRPr>
          </a:p>
        </p:txBody>
      </p:sp>
      <p:sp>
        <p:nvSpPr>
          <p:cNvPr id="166" name="Google Shape;166;p17"/>
          <p:cNvSpPr txBox="1"/>
          <p:nvPr/>
        </p:nvSpPr>
        <p:spPr>
          <a:xfrm>
            <a:off x="2540371" y="9788882"/>
            <a:ext cx="553244" cy="207415"/>
          </a:xfrm>
          <a:prstGeom prst="rect">
            <a:avLst/>
          </a:prstGeom>
          <a:noFill/>
          <a:ln>
            <a:noFill/>
          </a:ln>
        </p:spPr>
        <p:txBody>
          <a:bodyPr anchorCtr="0" anchor="t" bIns="0" lIns="0" spcFirstLastPara="1" rIns="0" wrap="square" tIns="14450">
            <a:spAutoFit/>
          </a:bodyPr>
          <a:lstStyle/>
          <a:p>
            <a:pPr indent="0" lvl="0" marL="14464" marR="0" rtl="0" algn="l">
              <a:lnSpc>
                <a:spcPct val="1000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Results</a:t>
            </a:r>
            <a:endParaRPr b="0" i="0" sz="1400" u="none" cap="none" strike="noStrike">
              <a:solidFill>
                <a:srgbClr val="000000"/>
              </a:solidFill>
              <a:latin typeface="Arial"/>
              <a:ea typeface="Arial"/>
              <a:cs typeface="Arial"/>
              <a:sym typeface="Arial"/>
            </a:endParaRPr>
          </a:p>
        </p:txBody>
      </p:sp>
      <p:sp>
        <p:nvSpPr>
          <p:cNvPr id="167" name="Google Shape;167;p17"/>
          <p:cNvSpPr txBox="1"/>
          <p:nvPr/>
        </p:nvSpPr>
        <p:spPr>
          <a:xfrm>
            <a:off x="5127617" y="9764583"/>
            <a:ext cx="580725" cy="207415"/>
          </a:xfrm>
          <a:prstGeom prst="rect">
            <a:avLst/>
          </a:prstGeom>
          <a:noFill/>
          <a:ln>
            <a:noFill/>
          </a:ln>
        </p:spPr>
        <p:txBody>
          <a:bodyPr anchorCtr="0" anchor="t" bIns="0" lIns="0" spcFirstLastPara="1" rIns="0" wrap="square" tIns="14450">
            <a:spAutoFit/>
          </a:bodyPr>
          <a:lstStyle/>
          <a:p>
            <a:pPr indent="0" lvl="0" marL="14464" marR="0" rtl="0" algn="l">
              <a:lnSpc>
                <a:spcPct val="1000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Remark</a:t>
            </a:r>
            <a:endParaRPr b="0" i="0" sz="1253" u="none" cap="none" strike="noStrike">
              <a:solidFill>
                <a:schemeClr val="dk1"/>
              </a:solidFill>
              <a:latin typeface="Arial"/>
              <a:ea typeface="Arial"/>
              <a:cs typeface="Arial"/>
              <a:sym typeface="Arial"/>
            </a:endParaRPr>
          </a:p>
        </p:txBody>
      </p:sp>
      <p:sp>
        <p:nvSpPr>
          <p:cNvPr id="168" name="Google Shape;168;p17"/>
          <p:cNvSpPr txBox="1"/>
          <p:nvPr/>
        </p:nvSpPr>
        <p:spPr>
          <a:xfrm>
            <a:off x="2352920" y="10525094"/>
            <a:ext cx="6706182" cy="565628"/>
          </a:xfrm>
          <a:prstGeom prst="rect">
            <a:avLst/>
          </a:prstGeom>
          <a:noFill/>
          <a:ln>
            <a:noFill/>
          </a:ln>
        </p:spPr>
        <p:txBody>
          <a:bodyPr anchorCtr="0" anchor="t" bIns="0" lIns="0" spcFirstLastPara="1" rIns="0" wrap="square" tIns="26750">
            <a:spAutoFit/>
          </a:bodyPr>
          <a:lstStyle/>
          <a:p>
            <a:pPr indent="0" lvl="0" marL="14464" marR="5786" rtl="0" algn="just">
              <a:lnSpc>
                <a:spcPct val="115403"/>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Passing criteria as per approved prediction plot by BSNL RF planning teams for RSRP, RSRQ,  SINR, DL &amp; UL Throughput. Colour legends (Green, Yellow, and Red etc.) for different levels of  respective coverage parameters to be decided by planning in consultation with the vendor.</a:t>
            </a:r>
            <a:endParaRPr b="0" i="0" sz="1253" u="none" cap="none" strike="noStrike">
              <a:solidFill>
                <a:schemeClr val="dk1"/>
              </a:solidFill>
              <a:latin typeface="Arial"/>
              <a:ea typeface="Arial"/>
              <a:cs typeface="Arial"/>
              <a:sym typeface="Arial"/>
            </a:endParaRPr>
          </a:p>
        </p:txBody>
      </p:sp>
      <p:sp>
        <p:nvSpPr>
          <p:cNvPr id="169" name="Google Shape;169;p17"/>
          <p:cNvSpPr/>
          <p:nvPr/>
        </p:nvSpPr>
        <p:spPr>
          <a:xfrm>
            <a:off x="3262932" y="9764581"/>
            <a:ext cx="1120951" cy="244874"/>
          </a:xfrm>
          <a:custGeom>
            <a:rect b="b" l="l" r="r" t="t"/>
            <a:pathLst>
              <a:path extrusionOk="0" h="262254" w="984250">
                <a:moveTo>
                  <a:pt x="0" y="262254"/>
                </a:moveTo>
                <a:lnTo>
                  <a:pt x="984250" y="262254"/>
                </a:lnTo>
                <a:lnTo>
                  <a:pt x="984250" y="0"/>
                </a:lnTo>
                <a:lnTo>
                  <a:pt x="0" y="0"/>
                </a:lnTo>
                <a:lnTo>
                  <a:pt x="0" y="262254"/>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Pass</a:t>
            </a:r>
            <a:endParaRPr b="0" i="0" sz="1253" u="none" cap="none" strike="noStrike">
              <a:solidFill>
                <a:schemeClr val="dk1"/>
              </a:solidFill>
              <a:latin typeface="Arial"/>
              <a:ea typeface="Arial"/>
              <a:cs typeface="Arial"/>
              <a:sym typeface="Arial"/>
            </a:endParaRPr>
          </a:p>
        </p:txBody>
      </p:sp>
      <p:sp>
        <p:nvSpPr>
          <p:cNvPr id="170" name="Google Shape;170;p17"/>
          <p:cNvSpPr/>
          <p:nvPr/>
        </p:nvSpPr>
        <p:spPr>
          <a:xfrm>
            <a:off x="5865708" y="9680257"/>
            <a:ext cx="2249135" cy="420176"/>
          </a:xfrm>
          <a:custGeom>
            <a:rect b="b" l="l" r="r" t="t"/>
            <a:pathLst>
              <a:path extrusionOk="0" h="368934" w="1974850">
                <a:moveTo>
                  <a:pt x="0" y="368934"/>
                </a:moveTo>
                <a:lnTo>
                  <a:pt x="984250" y="368934"/>
                </a:lnTo>
                <a:lnTo>
                  <a:pt x="984250" y="0"/>
                </a:lnTo>
                <a:lnTo>
                  <a:pt x="0" y="0"/>
                </a:lnTo>
                <a:lnTo>
                  <a:pt x="0" y="368934"/>
                </a:lnTo>
                <a:close/>
              </a:path>
              <a:path extrusionOk="0" h="368934" w="1974850">
                <a:moveTo>
                  <a:pt x="990600" y="368934"/>
                </a:moveTo>
                <a:lnTo>
                  <a:pt x="1974850" y="368934"/>
                </a:lnTo>
                <a:lnTo>
                  <a:pt x="1974850" y="0"/>
                </a:lnTo>
                <a:lnTo>
                  <a:pt x="990600" y="0"/>
                </a:lnTo>
                <a:lnTo>
                  <a:pt x="990600" y="368934"/>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339"/>
              <a:buFont typeface="Arial"/>
              <a:buNone/>
            </a:pPr>
            <a:r>
              <a:t/>
            </a:r>
            <a:endParaRPr b="0" i="0" sz="2339" u="none" cap="none" strike="noStrike">
              <a:solidFill>
                <a:schemeClr val="dk1"/>
              </a:solidFill>
              <a:latin typeface="Calibri"/>
              <a:ea typeface="Calibri"/>
              <a:cs typeface="Calibri"/>
              <a:sym typeface="Calibri"/>
            </a:endParaRPr>
          </a:p>
        </p:txBody>
      </p:sp>
      <p:sp>
        <p:nvSpPr>
          <p:cNvPr id="171" name="Google Shape;171;p17"/>
          <p:cNvSpPr txBox="1"/>
          <p:nvPr>
            <p:ph idx="11" type="ftr"/>
          </p:nvPr>
        </p:nvSpPr>
        <p:spPr>
          <a:xfrm>
            <a:off x="2248781" y="14495318"/>
            <a:ext cx="1915019" cy="192810"/>
          </a:xfrm>
          <a:prstGeom prst="rect">
            <a:avLst/>
          </a:prstGeom>
          <a:noFill/>
          <a:ln>
            <a:noFill/>
          </a:ln>
        </p:spPr>
        <p:txBody>
          <a:bodyPr anchorCtr="0" anchor="t" bIns="0" lIns="0" spcFirstLastPara="1" rIns="0" wrap="square" tIns="0">
            <a:spAutoFit/>
          </a:bodyPr>
          <a:lstStyle/>
          <a:p>
            <a:pPr indent="0" lvl="0" marL="14464" rtl="0" algn="l">
              <a:lnSpc>
                <a:spcPct val="100000"/>
              </a:lnSpc>
              <a:spcBef>
                <a:spcPts val="0"/>
              </a:spcBef>
              <a:spcAft>
                <a:spcPts val="0"/>
              </a:spcAft>
              <a:buSzPts val="1400"/>
              <a:buNone/>
            </a:pPr>
            <a:r>
              <a:rPr lang="en-US"/>
              <a:t>QAIN-11/31(14)/1/2023-CM</a:t>
            </a:r>
            <a:endParaRPr/>
          </a:p>
        </p:txBody>
      </p:sp>
      <p:sp>
        <p:nvSpPr>
          <p:cNvPr id="172" name="Google Shape;172;p17"/>
          <p:cNvSpPr txBox="1"/>
          <p:nvPr/>
        </p:nvSpPr>
        <p:spPr>
          <a:xfrm>
            <a:off x="6206331" y="9746234"/>
            <a:ext cx="553244" cy="207415"/>
          </a:xfrm>
          <a:prstGeom prst="rect">
            <a:avLst/>
          </a:prstGeom>
          <a:noFill/>
          <a:ln>
            <a:noFill/>
          </a:ln>
        </p:spPr>
        <p:txBody>
          <a:bodyPr anchorCtr="0" anchor="t" bIns="0" lIns="0" spcFirstLastPara="1" rIns="0" wrap="square" tIns="14450">
            <a:spAutoFit/>
          </a:bodyPr>
          <a:lstStyle/>
          <a:p>
            <a:pPr indent="0" lvl="0" marL="14464" marR="0" rtl="0" algn="l">
              <a:lnSpc>
                <a:spcPct val="1000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Pass</a:t>
            </a:r>
            <a:endParaRPr b="0" i="0" sz="1253" u="none" cap="none" strike="noStrike">
              <a:solidFill>
                <a:schemeClr val="dk1"/>
              </a:solidFill>
              <a:latin typeface="Arial"/>
              <a:ea typeface="Arial"/>
              <a:cs typeface="Arial"/>
              <a:sym typeface="Arial"/>
            </a:endParaRPr>
          </a:p>
        </p:txBody>
      </p:sp>
      <p:sp>
        <p:nvSpPr>
          <p:cNvPr id="173" name="Google Shape;173;p17"/>
          <p:cNvSpPr txBox="1"/>
          <p:nvPr/>
        </p:nvSpPr>
        <p:spPr>
          <a:xfrm>
            <a:off x="7388754" y="9746234"/>
            <a:ext cx="553244" cy="207415"/>
          </a:xfrm>
          <a:prstGeom prst="rect">
            <a:avLst/>
          </a:prstGeom>
          <a:noFill/>
          <a:ln>
            <a:noFill/>
          </a:ln>
        </p:spPr>
        <p:txBody>
          <a:bodyPr anchorCtr="0" anchor="t" bIns="0" lIns="0" spcFirstLastPara="1" rIns="0" wrap="square" tIns="14450">
            <a:spAutoFit/>
          </a:bodyPr>
          <a:lstStyle/>
          <a:p>
            <a:pPr indent="0" lvl="0" marL="14464" marR="0" rtl="0" algn="l">
              <a:lnSpc>
                <a:spcPct val="1000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Fail</a:t>
            </a:r>
            <a:endParaRPr b="0" i="0" sz="1253" u="none" cap="none" strike="noStrike">
              <a:solidFill>
                <a:schemeClr val="dk1"/>
              </a:solidFill>
              <a:latin typeface="Arial"/>
              <a:ea typeface="Arial"/>
              <a:cs typeface="Arial"/>
              <a:sym typeface="Arial"/>
            </a:endParaRPr>
          </a:p>
        </p:txBody>
      </p:sp>
      <p:sp>
        <p:nvSpPr>
          <p:cNvPr id="174" name="Google Shape;174;p17"/>
          <p:cNvSpPr txBox="1"/>
          <p:nvPr/>
        </p:nvSpPr>
        <p:spPr>
          <a:xfrm>
            <a:off x="2040499" y="1530839"/>
            <a:ext cx="2603732" cy="203735"/>
          </a:xfrm>
          <a:prstGeom prst="rect">
            <a:avLst/>
          </a:prstGeom>
          <a:noFill/>
          <a:ln>
            <a:noFill/>
          </a:ln>
        </p:spPr>
        <p:txBody>
          <a:bodyPr anchorCtr="0" anchor="t" bIns="0" lIns="0" spcFirstLastPara="1" rIns="0" wrap="square" tIns="13725">
            <a:spAutoFit/>
          </a:bodyPr>
          <a:lstStyle/>
          <a:p>
            <a:pPr indent="2892"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QA &amp; INSPECTION CIRCLE KL 	</a:t>
            </a:r>
            <a:endParaRPr b="0" i="0" sz="1253"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8"/>
          <p:cNvSpPr txBox="1"/>
          <p:nvPr>
            <p:ph idx="11" type="ftr"/>
          </p:nvPr>
        </p:nvSpPr>
        <p:spPr>
          <a:xfrm>
            <a:off x="1370918" y="12135891"/>
            <a:ext cx="1917437" cy="192810"/>
          </a:xfrm>
          <a:prstGeom prst="rect">
            <a:avLst/>
          </a:prstGeom>
          <a:noFill/>
          <a:ln>
            <a:noFill/>
          </a:ln>
        </p:spPr>
        <p:txBody>
          <a:bodyPr anchorCtr="0" anchor="t" bIns="0" lIns="0" spcFirstLastPara="1" rIns="0" wrap="square" tIns="0">
            <a:spAutoFit/>
          </a:bodyPr>
          <a:lstStyle/>
          <a:p>
            <a:pPr indent="0" lvl="0" marL="14464" rtl="0" algn="l">
              <a:lnSpc>
                <a:spcPct val="100000"/>
              </a:lnSpc>
              <a:spcBef>
                <a:spcPts val="0"/>
              </a:spcBef>
              <a:spcAft>
                <a:spcPts val="0"/>
              </a:spcAft>
              <a:buSzPts val="1400"/>
              <a:buNone/>
            </a:pPr>
            <a:r>
              <a:rPr lang="en-US"/>
              <a:t>QAIN-11/31(14)/1/2023-CM</a:t>
            </a:r>
            <a:endParaRPr/>
          </a:p>
        </p:txBody>
      </p:sp>
      <p:sp>
        <p:nvSpPr>
          <p:cNvPr id="180" name="Google Shape;180;p18"/>
          <p:cNvSpPr txBox="1"/>
          <p:nvPr/>
        </p:nvSpPr>
        <p:spPr>
          <a:xfrm>
            <a:off x="7310843" y="1169219"/>
            <a:ext cx="1792082" cy="612437"/>
          </a:xfrm>
          <a:prstGeom prst="rect">
            <a:avLst/>
          </a:prstGeom>
          <a:noFill/>
          <a:ln>
            <a:noFill/>
          </a:ln>
        </p:spPr>
        <p:txBody>
          <a:bodyPr anchorCtr="0" anchor="t" bIns="0" lIns="0" spcFirstLastPara="1" rIns="0" wrap="square" tIns="13725">
            <a:spAutoFit/>
          </a:bodyPr>
          <a:lstStyle/>
          <a:p>
            <a:pPr indent="701487"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4G PHASE IX.2  eNode-B A/T SCHEDULE</a:t>
            </a:r>
            <a:endParaRPr b="0" i="0" sz="1253" u="none" cap="none" strike="noStrike">
              <a:solidFill>
                <a:schemeClr val="dk1"/>
              </a:solidFill>
              <a:latin typeface="Arial"/>
              <a:ea typeface="Arial"/>
              <a:cs typeface="Arial"/>
              <a:sym typeface="Arial"/>
            </a:endParaRPr>
          </a:p>
        </p:txBody>
      </p:sp>
      <p:sp>
        <p:nvSpPr>
          <p:cNvPr id="181" name="Google Shape;181;p18"/>
          <p:cNvSpPr txBox="1"/>
          <p:nvPr/>
        </p:nvSpPr>
        <p:spPr>
          <a:xfrm>
            <a:off x="2138203" y="1814343"/>
            <a:ext cx="2906212" cy="252690"/>
          </a:xfrm>
          <a:prstGeom prst="rect">
            <a:avLst/>
          </a:prstGeom>
          <a:noFill/>
          <a:ln>
            <a:noFill/>
          </a:ln>
        </p:spPr>
        <p:txBody>
          <a:bodyPr anchorCtr="0" anchor="t" bIns="0" lIns="0" spcFirstLastPara="1" rIns="0" wrap="square" tIns="59300">
            <a:spAutoFit/>
          </a:bodyPr>
          <a:lstStyle/>
          <a:p>
            <a:pPr indent="0" lvl="0" marL="14464" marR="0" rtl="0" algn="l">
              <a:lnSpc>
                <a:spcPct val="100000"/>
              </a:lnSpc>
              <a:spcBef>
                <a:spcPts val="0"/>
              </a:spcBef>
              <a:spcAft>
                <a:spcPts val="0"/>
              </a:spcAft>
              <a:buClr>
                <a:srgbClr val="000000"/>
              </a:buClr>
              <a:buSzPts val="1253"/>
              <a:buFont typeface="Arial"/>
              <a:buNone/>
            </a:pPr>
            <a:r>
              <a:rPr b="1" i="0" lang="en-US" sz="1253" u="none" cap="none" strike="noStrike">
                <a:solidFill>
                  <a:schemeClr val="dk1"/>
                </a:solidFill>
                <a:latin typeface="Arial"/>
                <a:ea typeface="Arial"/>
                <a:cs typeface="Arial"/>
                <a:sym typeface="Arial"/>
              </a:rPr>
              <a:t>2.	Physical site information</a:t>
            </a:r>
            <a:r>
              <a:rPr b="0" i="0" lang="en-US" sz="1253" u="none" cap="none" strike="noStrike">
                <a:solidFill>
                  <a:schemeClr val="dk1"/>
                </a:solidFill>
                <a:latin typeface="Arial"/>
                <a:ea typeface="Arial"/>
                <a:cs typeface="Arial"/>
                <a:sym typeface="Arial"/>
              </a:rPr>
              <a:t>.</a:t>
            </a:r>
            <a:endParaRPr b="0" i="0" sz="1253" u="none" cap="none" strike="noStrike">
              <a:solidFill>
                <a:schemeClr val="dk1"/>
              </a:solidFill>
              <a:latin typeface="Arial"/>
              <a:ea typeface="Arial"/>
              <a:cs typeface="Arial"/>
              <a:sym typeface="Arial"/>
            </a:endParaRPr>
          </a:p>
        </p:txBody>
      </p:sp>
      <p:sp>
        <p:nvSpPr>
          <p:cNvPr id="182" name="Google Shape;182;p18"/>
          <p:cNvSpPr txBox="1"/>
          <p:nvPr/>
        </p:nvSpPr>
        <p:spPr>
          <a:xfrm>
            <a:off x="2055039" y="6021614"/>
            <a:ext cx="4057104" cy="400954"/>
          </a:xfrm>
          <a:prstGeom prst="rect">
            <a:avLst/>
          </a:prstGeom>
          <a:noFill/>
          <a:ln>
            <a:noFill/>
          </a:ln>
        </p:spPr>
        <p:txBody>
          <a:bodyPr anchorCtr="0" anchor="t" bIns="0" lIns="0" spcFirstLastPara="1" rIns="0" wrap="square" tIns="15175">
            <a:spAutoFit/>
          </a:bodyPr>
          <a:lstStyle/>
          <a:p>
            <a:pPr indent="0" lvl="0" marL="14464" marR="0" rtl="0" algn="l">
              <a:lnSpc>
                <a:spcPct val="100000"/>
              </a:lnSpc>
              <a:spcBef>
                <a:spcPts val="0"/>
              </a:spcBef>
              <a:spcAft>
                <a:spcPts val="0"/>
              </a:spcAft>
              <a:buClr>
                <a:srgbClr val="000000"/>
              </a:buClr>
              <a:buSzPts val="1253"/>
              <a:buFont typeface="Arial"/>
              <a:buNone/>
            </a:pPr>
            <a:r>
              <a:rPr b="1" i="0" lang="en-US" sz="1253" u="none" cap="none" strike="noStrike">
                <a:solidFill>
                  <a:schemeClr val="dk1"/>
                </a:solidFill>
                <a:latin typeface="Arial"/>
                <a:ea typeface="Arial"/>
                <a:cs typeface="Arial"/>
                <a:sym typeface="Arial"/>
              </a:rPr>
              <a:t>3.	Technical site information</a:t>
            </a:r>
            <a:endParaRPr b="0" i="0" sz="1253" u="none" cap="none" strike="noStrike">
              <a:solidFill>
                <a:schemeClr val="dk1"/>
              </a:solidFill>
              <a:latin typeface="Arial"/>
              <a:ea typeface="Arial"/>
              <a:cs typeface="Arial"/>
              <a:sym typeface="Arial"/>
            </a:endParaRPr>
          </a:p>
          <a:p>
            <a:pPr indent="0" lvl="0" marL="340619" marR="0" rtl="0" algn="l">
              <a:lnSpc>
                <a:spcPct val="1000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a:t>
            </a:r>
            <a:endParaRPr b="0" i="0" sz="1253" u="none" cap="none" strike="noStrike">
              <a:solidFill>
                <a:schemeClr val="dk1"/>
              </a:solidFill>
              <a:latin typeface="Arial"/>
              <a:ea typeface="Arial"/>
              <a:cs typeface="Arial"/>
              <a:sym typeface="Arial"/>
            </a:endParaRPr>
          </a:p>
        </p:txBody>
      </p:sp>
      <p:sp>
        <p:nvSpPr>
          <p:cNvPr id="183" name="Google Shape;183;p18"/>
          <p:cNvSpPr txBox="1"/>
          <p:nvPr/>
        </p:nvSpPr>
        <p:spPr>
          <a:xfrm>
            <a:off x="2129902" y="1125260"/>
            <a:ext cx="2545195" cy="408086"/>
          </a:xfrm>
          <a:prstGeom prst="rect">
            <a:avLst/>
          </a:prstGeom>
          <a:noFill/>
          <a:ln>
            <a:noFill/>
          </a:ln>
        </p:spPr>
        <p:txBody>
          <a:bodyPr anchorCtr="0" anchor="t" bIns="0" lIns="0" spcFirstLastPara="1" rIns="0" wrap="square" tIns="13725">
            <a:spAutoFit/>
          </a:bodyPr>
          <a:lstStyle/>
          <a:p>
            <a:pPr indent="2892"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QA &amp; INSPECTION CIRCLE KL 	</a:t>
            </a:r>
            <a:endParaRPr b="0" i="0" sz="1253" u="none" cap="none" strike="noStrike">
              <a:solidFill>
                <a:schemeClr val="dk1"/>
              </a:solidFill>
              <a:latin typeface="Arial"/>
              <a:ea typeface="Arial"/>
              <a:cs typeface="Arial"/>
              <a:sym typeface="Arial"/>
            </a:endParaRPr>
          </a:p>
        </p:txBody>
      </p:sp>
      <p:graphicFrame>
        <p:nvGraphicFramePr>
          <p:cNvPr id="184" name="Google Shape;184;p18"/>
          <p:cNvGraphicFramePr/>
          <p:nvPr/>
        </p:nvGraphicFramePr>
        <p:xfrm>
          <a:off x="1370916" y="2348027"/>
          <a:ext cx="3000000" cy="3000000"/>
        </p:xfrm>
        <a:graphic>
          <a:graphicData uri="http://schemas.openxmlformats.org/drawingml/2006/table">
            <a:tbl>
              <a:tblPr>
                <a:noFill/>
                <a:tableStyleId>{4715F777-4F42-4612-BE10-C9BCD6FF47B2}</a:tableStyleId>
              </a:tblPr>
              <a:tblGrid>
                <a:gridCol w="687875"/>
                <a:gridCol w="396850"/>
                <a:gridCol w="582050"/>
                <a:gridCol w="1124425"/>
                <a:gridCol w="555600"/>
                <a:gridCol w="648200"/>
                <a:gridCol w="1164125"/>
                <a:gridCol w="899550"/>
                <a:gridCol w="978925"/>
                <a:gridCol w="859850"/>
                <a:gridCol w="291025"/>
              </a:tblGrid>
              <a:tr h="224525">
                <a:tc rowSpan="2">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Circle</a:t>
                      </a:r>
                      <a:endParaRPr sz="1400" u="none" cap="none" strike="noStrike"/>
                    </a:p>
                  </a:txBody>
                  <a:tcPr marT="6425" marB="0" marR="6425" marL="6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SSA</a:t>
                      </a:r>
                      <a:endParaRPr sz="1400" u="none" cap="none" strike="noStrike"/>
                    </a:p>
                  </a:txBody>
                  <a:tcPr marT="6425" marB="0" marR="6425" marL="6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City</a:t>
                      </a:r>
                      <a:endParaRPr sz="1400" u="none" cap="none" strike="noStrike"/>
                    </a:p>
                  </a:txBody>
                  <a:tcPr marT="6425" marB="0" marR="6425" marL="6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eNodeB Name</a:t>
                      </a:r>
                      <a:endParaRPr sz="1400" u="none" cap="none" strike="noStrike"/>
                    </a:p>
                  </a:txBody>
                  <a:tcPr marT="6425" marB="0" marR="6425" marL="6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Site ID</a:t>
                      </a:r>
                      <a:endParaRPr sz="1400" u="none" cap="none" strike="noStrike"/>
                    </a:p>
                  </a:txBody>
                  <a:tcPr marT="6425" marB="0" marR="6425" marL="6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Cell ID</a:t>
                      </a:r>
                      <a:endParaRPr sz="1400" u="none" cap="none" strike="noStrike"/>
                    </a:p>
                  </a:txBody>
                  <a:tcPr marT="6425" marB="0" marR="6425" marL="6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Site  Name</a:t>
                      </a:r>
                      <a:endParaRPr sz="1400" u="none" cap="none" strike="noStrike"/>
                    </a:p>
                  </a:txBody>
                  <a:tcPr marT="6425" marB="0" marR="6425" marL="6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Lat</a:t>
                      </a:r>
                      <a:endParaRPr sz="1400" u="none" cap="none" strike="noStrike"/>
                    </a:p>
                  </a:txBody>
                  <a:tcPr marT="6425" marB="0" marR="6425" marL="6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Long</a:t>
                      </a:r>
                      <a:endParaRPr sz="1400" u="none" cap="none" strike="noStrike"/>
                    </a:p>
                  </a:txBody>
                  <a:tcPr marT="6425" marB="0" marR="6425" marL="6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Orientation</a:t>
                      </a:r>
                      <a:endParaRPr sz="1400" u="none" cap="none" strike="noStrike"/>
                    </a:p>
                  </a:txBody>
                  <a:tcPr marT="6425" marB="0" marR="6425" marL="6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M-</a:t>
                      </a:r>
                      <a:endParaRPr sz="1400" u="none" cap="none" strike="noStrike"/>
                    </a:p>
                  </a:txBody>
                  <a:tcPr marT="6425" marB="0" marR="6425" marL="6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60675">
                <a:tc vMerge="1">
                  <a:txBody>
                    <a:bodyPr/>
                    <a:p/>
                  </a:txBody>
                </a:tc>
                <a:tc vMerge="1">
                  <a:txBody>
                    <a:bodyPr/>
                    <a:p/>
                  </a:txBody>
                </a:tc>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/Town</a:t>
                      </a:r>
                      <a:endParaRPr sz="1400" u="none" cap="none" strike="noStrike"/>
                    </a:p>
                  </a:txBody>
                  <a:tcPr marT="6425" marB="0" marR="6425" marL="6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vMerge="1">
                  <a:txBody>
                    <a:bodyPr/>
                    <a:p/>
                  </a:txBody>
                </a:tc>
                <a:tc vMerge="1">
                  <a:txBody>
                    <a:bodyPr/>
                    <a:p/>
                  </a:txBody>
                </a:tc>
                <a:tc vMerge="1">
                  <a:txBody>
                    <a:bodyPr/>
                    <a:p/>
                  </a:txBody>
                </a:tc>
                <a:tc vMerge="1">
                  <a:txBody>
                    <a:bodyPr/>
                    <a:p/>
                  </a:txBody>
                </a:tc>
                <a:tc vMerge="1">
                  <a:txBody>
                    <a:bodyPr/>
                    <a:p/>
                  </a:txBody>
                </a:tc>
                <a:tc vMerge="1">
                  <a:txBody>
                    <a:bodyPr/>
                    <a:p/>
                  </a:txBody>
                </a:tc>
                <a:tc vMerge="1">
                  <a:txBody>
                    <a:bodyPr/>
                    <a:p/>
                  </a:txBody>
                </a:tc>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Tilt</a:t>
                      </a:r>
                      <a:endParaRPr sz="1400" u="none" cap="none" strike="noStrike"/>
                    </a:p>
                  </a:txBody>
                  <a:tcPr marT="6425" marB="0" marR="6425" marL="6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34750">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KERALA</a:t>
                      </a:r>
                      <a:endParaRPr sz="1400" u="none" cap="none" strike="noStrike"/>
                    </a:p>
                  </a:txBody>
                  <a:tcPr marT="6425" marB="0" marR="6425" marL="6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KNR</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KANNUR</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T4KL01KNTH AP09R00553_A</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RP-00553- MAYYIL</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674886-0</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RP-00553- MAYYIL</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11.99473199</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75.4560 2767</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110</a:t>
                      </a:r>
                      <a:endParaRPr sz="1400" u="none" cap="none" strike="noStrike"/>
                    </a:p>
                  </a:txBody>
                  <a:tcPr marT="8675" marB="0" marR="8675" marL="86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1</a:t>
                      </a:r>
                      <a:endParaRPr sz="1400" u="none" cap="none" strike="noStrike"/>
                    </a:p>
                  </a:txBody>
                  <a:tcPr marT="8675" marB="0" marR="8675" marL="86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78600">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KERALA</a:t>
                      </a:r>
                      <a:endParaRPr sz="1400" u="none" cap="none" strike="noStrike"/>
                    </a:p>
                  </a:txBody>
                  <a:tcPr marT="6425" marB="0" marR="6425" marL="6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KNR</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KANNUR</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T4KL01KNTH AP09R00553_B</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RP-00553- MAYYIL</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674886-1</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RP-00553- MAYYIL</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11.99473199</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75.4560 2767</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250</a:t>
                      </a:r>
                      <a:endParaRPr sz="1400" u="none" cap="none" strike="noStrike"/>
                    </a:p>
                  </a:txBody>
                  <a:tcPr marT="8675" marB="0" marR="8675" marL="86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1</a:t>
                      </a:r>
                      <a:endParaRPr sz="1400" u="none" cap="none" strike="noStrike"/>
                    </a:p>
                  </a:txBody>
                  <a:tcPr marT="8675" marB="0" marR="8675" marL="86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78600">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KERALA</a:t>
                      </a:r>
                      <a:endParaRPr sz="1400" u="none" cap="none" strike="noStrike"/>
                    </a:p>
                  </a:txBody>
                  <a:tcPr marT="6425" marB="0" marR="6425" marL="6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KNR</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KANNUR</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T4KL01KNTH AP09R00553_C</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RP-00553- MAYYIL</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674886-2</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RP-00553- MAYYIL</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11.99473199</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75.4560 2767</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330</a:t>
                      </a:r>
                      <a:endParaRPr sz="1400" u="none" cap="none" strike="noStrike"/>
                    </a:p>
                  </a:txBody>
                  <a:tcPr marT="8675" marB="0" marR="8675" marL="86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1</a:t>
                      </a:r>
                      <a:endParaRPr sz="1400" u="none" cap="none" strike="noStrike"/>
                    </a:p>
                  </a:txBody>
                  <a:tcPr marT="8675" marB="0" marR="8675" marL="86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graphicFrame>
        <p:nvGraphicFramePr>
          <p:cNvPr id="189" name="Google Shape;189;p19"/>
          <p:cNvGraphicFramePr/>
          <p:nvPr/>
        </p:nvGraphicFramePr>
        <p:xfrm>
          <a:off x="1497219" y="1952626"/>
          <a:ext cx="3000000" cy="3000000"/>
        </p:xfrm>
        <a:graphic>
          <a:graphicData uri="http://schemas.openxmlformats.org/drawingml/2006/table">
            <a:tbl>
              <a:tblPr>
                <a:noFill/>
                <a:tableStyleId>{4715F777-4F42-4612-BE10-C9BCD6FF47B2}</a:tableStyleId>
              </a:tblPr>
              <a:tblGrid>
                <a:gridCol w="791400"/>
                <a:gridCol w="615525"/>
                <a:gridCol w="522125"/>
                <a:gridCol w="631875"/>
                <a:gridCol w="606100"/>
                <a:gridCol w="614125"/>
                <a:gridCol w="443300"/>
                <a:gridCol w="464250"/>
                <a:gridCol w="670575"/>
                <a:gridCol w="618975"/>
                <a:gridCol w="618975"/>
                <a:gridCol w="889800"/>
                <a:gridCol w="889800"/>
              </a:tblGrid>
              <a:tr h="737850">
                <a:tc rowSpan="2">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eNodeB  Name</a:t>
                      </a:r>
                      <a:endParaRPr sz="1400" u="none" cap="none" strike="noStrike"/>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eNode B  Cell  name</a:t>
                      </a:r>
                      <a:endParaRPr sz="1400" u="none" cap="none" strike="noStrike"/>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eNode B ID</a:t>
                      </a:r>
                      <a:endParaRPr sz="1400" u="none" cap="none" strike="noStrike"/>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eNode  B Cell ID</a:t>
                      </a:r>
                      <a:endParaRPr sz="1400" u="none" cap="none" strike="noStrike"/>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Sector Id</a:t>
                      </a:r>
                      <a:endParaRPr sz="1400" u="none" cap="none" strike="noStrike"/>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TAC</a:t>
                      </a:r>
                      <a:endParaRPr sz="1400" u="none" cap="none" strike="noStrike"/>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PCI</a:t>
                      </a:r>
                      <a:endParaRPr sz="1400" u="none" cap="none" strike="noStrike"/>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RSI</a:t>
                      </a:r>
                      <a:endParaRPr sz="1400" u="none" cap="none" strike="noStrike"/>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RS Power</a:t>
                      </a:r>
                      <a:endParaRPr sz="1400" u="none" cap="none" strike="noStrike"/>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EUARFCN  UL</a:t>
                      </a:r>
                      <a:endParaRPr sz="1400" u="none" cap="none" strike="noStrike"/>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EUARFCN  DL</a:t>
                      </a:r>
                      <a:endParaRPr sz="1400" u="none" cap="none" strike="noStrike"/>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Neighbour Verified  and Corrected from EMS including X2</a:t>
                      </a:r>
                      <a:endParaRPr sz="1400" u="none" cap="none" strike="noStrike"/>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xBody>
                    <a:bodyPr/>
                    <a:p/>
                  </a:txBody>
                </a:tc>
              </a:tr>
              <a:tr h="494375">
                <a:tc vMerge="1">
                  <a:txBody>
                    <a:bodyPr/>
                    <a:p/>
                  </a:txBody>
                </a:tc>
                <a:tc vMerge="1">
                  <a:txBody>
                    <a:bodyPr/>
                    <a:p/>
                  </a:txBody>
                </a:tc>
                <a:tc vMerge="1">
                  <a:txBody>
                    <a:bodyPr/>
                    <a:p/>
                  </a:txBody>
                </a:tc>
                <a:tc vMerge="1">
                  <a:txBody>
                    <a:bodyPr/>
                    <a:p/>
                  </a:txBody>
                </a:tc>
                <a:tc vMerge="1">
                  <a:txBody>
                    <a:bodyPr/>
                    <a:p/>
                  </a:txBody>
                </a:tc>
                <a:tc vMerge="1">
                  <a:txBody>
                    <a:bodyPr/>
                    <a:p/>
                  </a:txBody>
                </a:tc>
                <a:tc vMerge="1">
                  <a:txBody>
                    <a:bodyPr/>
                    <a:p/>
                  </a:txBody>
                </a:tc>
                <a:tc vMerge="1">
                  <a:txBody>
                    <a:bodyPr/>
                    <a:p/>
                  </a:txBody>
                </a:tc>
                <a:tc vMerge="1">
                  <a:txBody>
                    <a:bodyPr/>
                    <a:p/>
                  </a:txBody>
                </a:tc>
                <a:tc vMerge="1">
                  <a:txBody>
                    <a:bodyPr/>
                    <a:p/>
                  </a:txBody>
                </a:tc>
                <a:tc vMerge="1">
                  <a:txBody>
                    <a:bodyPr/>
                    <a:p/>
                  </a:txBody>
                </a:tc>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4G-4G</a:t>
                      </a:r>
                      <a:endParaRPr sz="1400" u="none" cap="none" strike="noStrike"/>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4G-3G/4G-2G</a:t>
                      </a:r>
                      <a:endParaRPr sz="1400" u="none" cap="none" strike="noStrike"/>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90925">
                <a:tc>
                  <a:txBody>
                    <a:bodyPr/>
                    <a:lstStyle/>
                    <a:p>
                      <a:pPr indent="0" lvl="0" marL="0" marR="0" rtl="0" algn="l">
                        <a:lnSpc>
                          <a:spcPct val="100000"/>
                        </a:lnSpc>
                        <a:spcBef>
                          <a:spcPts val="0"/>
                        </a:spcBef>
                        <a:spcAft>
                          <a:spcPts val="0"/>
                        </a:spcAft>
                        <a:buClr>
                          <a:srgbClr val="000000"/>
                        </a:buClr>
                        <a:buSzPts val="1400"/>
                        <a:buFont typeface="Arial"/>
                        <a:buNone/>
                      </a:pPr>
                      <a:r>
                        <a:t>T4KL01KNTH AP09R00553_A</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T4KL01KNTH AP09R00553_A</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674886</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905" marR="0" rtl="0" algn="ctr">
                        <a:lnSpc>
                          <a:spcPct val="100000"/>
                        </a:lnSpc>
                        <a:spcBef>
                          <a:spcPts val="0"/>
                        </a:spcBef>
                        <a:spcAft>
                          <a:spcPts val="0"/>
                        </a:spcAft>
                        <a:buClr>
                          <a:srgbClr val="000000"/>
                        </a:buClr>
                        <a:buSzPts val="1300"/>
                        <a:buFont typeface="Arial"/>
                        <a:buNone/>
                      </a:pPr>
                      <a:r>
                        <a:rPr lang="en-US" sz="1300" u="none" cap="none" strike="noStrike"/>
                        <a:t>674886-0</a:t>
                      </a:r>
                      <a:endParaRPr b="0" i="0" sz="1300" u="none" cap="none" strike="noStrike">
                        <a:solidFill>
                          <a:srgbClr val="000000"/>
                        </a:solidFill>
                        <a:latin typeface="Calibri"/>
                        <a:ea typeface="Calibri"/>
                        <a:cs typeface="Calibri"/>
                        <a:sym typeface="Calibri"/>
                      </a:endParaRPr>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0</a:t>
                      </a:r>
                      <a:endParaRPr sz="1400" u="none" cap="none" strike="noStrike"/>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31743</a:t>
                      </a:r>
                      <a:endParaRPr sz="1400" u="none" cap="none" strike="noStrike"/>
                    </a:p>
                  </a:txBody>
                  <a:tcPr marT="7225" marB="0" marR="7225" marL="7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353</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281</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15</a:t>
                      </a:r>
                      <a:endParaRPr sz="1400" u="none" cap="none" strike="noStrike"/>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18515</a:t>
                      </a:r>
                      <a:endParaRPr sz="1400" u="none" cap="none" strike="noStrike"/>
                    </a:p>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alibri"/>
                        <a:ea typeface="Calibri"/>
                        <a:cs typeface="Calibri"/>
                        <a:sym typeface="Calibri"/>
                      </a:endParaRPr>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515</a:t>
                      </a:r>
                      <a:endParaRPr sz="1400" u="none" cap="none" strike="noStrike"/>
                    </a:p>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alibri"/>
                        <a:ea typeface="Calibri"/>
                        <a:cs typeface="Calibri"/>
                        <a:sym typeface="Calibri"/>
                      </a:endParaRPr>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 </a:t>
                      </a:r>
                      <a:endParaRPr sz="1400" u="none" cap="none" strike="noStrike"/>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 </a:t>
                      </a:r>
                      <a:endParaRPr sz="1400" u="none" cap="none" strike="noStrike"/>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47075">
                <a:tc>
                  <a:txBody>
                    <a:bodyPr/>
                    <a:lstStyle/>
                    <a:p>
                      <a:pPr indent="0" lvl="0" marL="0" marR="0" rtl="0" algn="l">
                        <a:lnSpc>
                          <a:spcPct val="100000"/>
                        </a:lnSpc>
                        <a:spcBef>
                          <a:spcPts val="0"/>
                        </a:spcBef>
                        <a:spcAft>
                          <a:spcPts val="0"/>
                        </a:spcAft>
                        <a:buClr>
                          <a:srgbClr val="000000"/>
                        </a:buClr>
                        <a:buSzPts val="1400"/>
                        <a:buFont typeface="Arial"/>
                        <a:buNone/>
                      </a:pPr>
                      <a:r>
                        <a:t>T4KL01KNTH AP09R00553_A</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T4KL01KNTH AP09R00553_A</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905" marR="0" rtl="0" algn="ctr">
                        <a:lnSpc>
                          <a:spcPct val="100000"/>
                        </a:lnSpc>
                        <a:spcBef>
                          <a:spcPts val="0"/>
                        </a:spcBef>
                        <a:spcAft>
                          <a:spcPts val="0"/>
                        </a:spcAft>
                        <a:buClr>
                          <a:srgbClr val="000000"/>
                        </a:buClr>
                        <a:buSzPts val="1300"/>
                        <a:buFont typeface="Arial"/>
                        <a:buNone/>
                      </a:pPr>
                      <a:r>
                        <a:rPr lang="en-US" sz="1300" u="none" cap="none" strike="noStrike"/>
                        <a:t>674886</a:t>
                      </a:r>
                      <a:endParaRPr sz="1400" u="none" cap="none" strike="noStrike"/>
                    </a:p>
                    <a:p>
                      <a:pPr indent="0" lvl="0" marL="1905" marR="0" rtl="0" algn="ctr">
                        <a:lnSpc>
                          <a:spcPct val="100000"/>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SCFT MODEL REPORT:AR2}</a:t>
                      </a:r>
                      <a:endParaRPr b="0" i="0" sz="1300" u="none" cap="none" strike="noStrike">
                        <a:solidFill>
                          <a:srgbClr val="000000"/>
                        </a:solidFill>
                        <a:latin typeface="Calibri"/>
                        <a:ea typeface="Calibri"/>
                        <a:cs typeface="Calibri"/>
                        <a:sym typeface="Calibri"/>
                      </a:endParaRPr>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905" marR="0" rtl="0" algn="ctr">
                        <a:lnSpc>
                          <a:spcPct val="100000"/>
                        </a:lnSpc>
                        <a:spcBef>
                          <a:spcPts val="0"/>
                        </a:spcBef>
                        <a:spcAft>
                          <a:spcPts val="0"/>
                        </a:spcAft>
                        <a:buClr>
                          <a:srgbClr val="000000"/>
                        </a:buClr>
                        <a:buSzPts val="1300"/>
                        <a:buFont typeface="Arial"/>
                        <a:buNone/>
                      </a:pPr>
                      <a:r>
                        <a:rPr lang="en-US" sz="1300" u="none" cap="none" strike="noStrike"/>
                        <a:t>674886-1</a:t>
                      </a:r>
                      <a:endParaRPr b="0" i="0" sz="1300" u="none" cap="none" strike="noStrike">
                        <a:solidFill>
                          <a:srgbClr val="000000"/>
                        </a:solidFill>
                        <a:latin typeface="Calibri"/>
                        <a:ea typeface="Calibri"/>
                        <a:cs typeface="Calibri"/>
                        <a:sym typeface="Calibri"/>
                      </a:endParaRPr>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1</a:t>
                      </a:r>
                      <a:endParaRPr sz="1400" u="none" cap="none" strike="noStrike"/>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31743</a:t>
                      </a:r>
                      <a:endParaRPr sz="1400" u="none" cap="none" strike="noStrike"/>
                    </a:p>
                  </a:txBody>
                  <a:tcPr marT="7225" marB="0" marR="7225" marL="7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351</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204</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15</a:t>
                      </a:r>
                      <a:endParaRPr sz="1400" u="none" cap="none" strike="noStrike"/>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18515</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515</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 </a:t>
                      </a:r>
                      <a:endParaRPr sz="1400" u="none" cap="none" strike="noStrike"/>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 </a:t>
                      </a:r>
                      <a:endParaRPr sz="1400" u="none" cap="none" strike="noStrike"/>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47075">
                <a:tc>
                  <a:txBody>
                    <a:bodyPr/>
                    <a:lstStyle/>
                    <a:p>
                      <a:pPr indent="0" lvl="0" marL="0" marR="0" rtl="0" algn="l">
                        <a:lnSpc>
                          <a:spcPct val="100000"/>
                        </a:lnSpc>
                        <a:spcBef>
                          <a:spcPts val="0"/>
                        </a:spcBef>
                        <a:spcAft>
                          <a:spcPts val="0"/>
                        </a:spcAft>
                        <a:buClr>
                          <a:srgbClr val="000000"/>
                        </a:buClr>
                        <a:buSzPts val="1400"/>
                        <a:buFont typeface="Arial"/>
                        <a:buNone/>
                      </a:pPr>
                      <a:r>
                        <a:t>T4KL01KNTH AP09R00553_A</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T4KL01KNTH AP09R00553_A</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905" marR="0" rtl="0" algn="ctr">
                        <a:lnSpc>
                          <a:spcPct val="100000"/>
                        </a:lnSpc>
                        <a:spcBef>
                          <a:spcPts val="0"/>
                        </a:spcBef>
                        <a:spcAft>
                          <a:spcPts val="0"/>
                        </a:spcAft>
                        <a:buClr>
                          <a:srgbClr val="000000"/>
                        </a:buClr>
                        <a:buSzPts val="1300"/>
                        <a:buFont typeface="Arial"/>
                        <a:buNone/>
                      </a:pPr>
                      <a:r>
                        <a:rPr lang="en-US" sz="1300" u="none" cap="none" strike="noStrike"/>
                        <a:t>674886</a:t>
                      </a:r>
                      <a:endParaRPr sz="1400" u="none" cap="none" strike="noStrike"/>
                    </a:p>
                    <a:p>
                      <a:pPr indent="0" lvl="0" marL="1905" marR="0" rtl="0" algn="ctr">
                        <a:lnSpc>
                          <a:spcPct val="100000"/>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SCFT MODEL REPORT:AR2}</a:t>
                      </a:r>
                      <a:endParaRPr b="0" i="0" sz="1300" u="none" cap="none" strike="noStrike">
                        <a:solidFill>
                          <a:srgbClr val="000000"/>
                        </a:solidFill>
                        <a:latin typeface="Calibri"/>
                        <a:ea typeface="Calibri"/>
                        <a:cs typeface="Calibri"/>
                        <a:sym typeface="Calibri"/>
                      </a:endParaRPr>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905" marR="0" rtl="0" algn="ctr">
                        <a:lnSpc>
                          <a:spcPct val="100000"/>
                        </a:lnSpc>
                        <a:spcBef>
                          <a:spcPts val="0"/>
                        </a:spcBef>
                        <a:spcAft>
                          <a:spcPts val="0"/>
                        </a:spcAft>
                        <a:buClr>
                          <a:srgbClr val="000000"/>
                        </a:buClr>
                        <a:buSzPts val="1300"/>
                        <a:buFont typeface="Arial"/>
                        <a:buNone/>
                      </a:pPr>
                      <a:r>
                        <a:rPr lang="en-US" sz="1300" u="none" cap="none" strike="noStrike"/>
                        <a:t>674886-2</a:t>
                      </a:r>
                      <a:endParaRPr b="0" i="0" sz="1300" u="none" cap="none" strike="noStrike">
                        <a:solidFill>
                          <a:srgbClr val="000000"/>
                        </a:solidFill>
                        <a:latin typeface="Calibri"/>
                        <a:ea typeface="Calibri"/>
                        <a:cs typeface="Calibri"/>
                        <a:sym typeface="Calibri"/>
                      </a:endParaRPr>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2</a:t>
                      </a:r>
                      <a:endParaRPr sz="1400" u="none" cap="none" strike="noStrike"/>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31743</a:t>
                      </a:r>
                      <a:endParaRPr sz="1400" u="none" cap="none" strike="noStrike"/>
                    </a:p>
                  </a:txBody>
                  <a:tcPr marT="7225" marB="0" marR="7225" marL="72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352</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163</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15</a:t>
                      </a:r>
                      <a:endParaRPr sz="1400" u="none" cap="none" strike="noStrike"/>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18515</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515</a:t>
                      </a:r>
                      <a:endParaRPr sz="1400" u="none" cap="none" strike="noStrike"/>
                    </a:p>
                  </a:txBody>
                  <a:tcPr marT="8675" marB="0" marR="8675" marL="86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 </a:t>
                      </a:r>
                      <a:endParaRPr sz="1400" u="none" cap="none" strike="noStrike"/>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 </a:t>
                      </a:r>
                      <a:endParaRPr sz="1400" u="none" cap="none" strike="noStrike"/>
                    </a:p>
                  </a:txBody>
                  <a:tcPr marT="6350" marB="0" marR="6350" marL="63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3" name="Shape 193"/>
        <p:cNvGrpSpPr/>
        <p:nvPr/>
      </p:nvGrpSpPr>
      <p:grpSpPr>
        <a:xfrm>
          <a:off x="0" y="0"/>
          <a:ext cx="0" cy="0"/>
          <a:chOff x="0" y="0"/>
          <a:chExt cx="0" cy="0"/>
        </a:xfrm>
      </p:grpSpPr>
      <p:sp>
        <p:nvSpPr>
          <p:cNvPr id="194" name="Google Shape;194;p20"/>
          <p:cNvSpPr txBox="1"/>
          <p:nvPr>
            <p:ph idx="11" type="ftr"/>
          </p:nvPr>
        </p:nvSpPr>
        <p:spPr>
          <a:xfrm>
            <a:off x="2248781" y="14495318"/>
            <a:ext cx="1915019" cy="192810"/>
          </a:xfrm>
          <a:prstGeom prst="rect">
            <a:avLst/>
          </a:prstGeom>
          <a:noFill/>
          <a:ln>
            <a:noFill/>
          </a:ln>
        </p:spPr>
        <p:txBody>
          <a:bodyPr anchorCtr="0" anchor="t" bIns="0" lIns="0" spcFirstLastPara="1" rIns="0" wrap="square" tIns="0">
            <a:spAutoFit/>
          </a:bodyPr>
          <a:lstStyle/>
          <a:p>
            <a:pPr indent="0" lvl="0" marL="14464" rtl="0" algn="l">
              <a:lnSpc>
                <a:spcPct val="100000"/>
              </a:lnSpc>
              <a:spcBef>
                <a:spcPts val="0"/>
              </a:spcBef>
              <a:spcAft>
                <a:spcPts val="0"/>
              </a:spcAft>
              <a:buSzPts val="1400"/>
              <a:buNone/>
            </a:pPr>
            <a:r>
              <a:rPr lang="en-US"/>
              <a:t>QAIN-11/31(14)/1/2023-CM</a:t>
            </a:r>
            <a:endParaRPr/>
          </a:p>
        </p:txBody>
      </p:sp>
      <p:sp>
        <p:nvSpPr>
          <p:cNvPr id="195" name="Google Shape;195;p20"/>
          <p:cNvSpPr txBox="1"/>
          <p:nvPr/>
        </p:nvSpPr>
        <p:spPr>
          <a:xfrm>
            <a:off x="7238764" y="1574232"/>
            <a:ext cx="1833298" cy="408086"/>
          </a:xfrm>
          <a:prstGeom prst="rect">
            <a:avLst/>
          </a:prstGeom>
          <a:noFill/>
          <a:ln>
            <a:noFill/>
          </a:ln>
        </p:spPr>
        <p:txBody>
          <a:bodyPr anchorCtr="0" anchor="t" bIns="0" lIns="0" spcFirstLastPara="1" rIns="0" wrap="square" tIns="13725">
            <a:spAutoFit/>
          </a:bodyPr>
          <a:lstStyle/>
          <a:p>
            <a:pPr indent="701487"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4G PHASE IX.2  eNode-B A/T SCHEDULE</a:t>
            </a:r>
            <a:endParaRPr b="0" i="0" sz="1253" u="none" cap="none" strike="noStrike">
              <a:solidFill>
                <a:schemeClr val="dk1"/>
              </a:solidFill>
              <a:latin typeface="Arial"/>
              <a:ea typeface="Arial"/>
              <a:cs typeface="Arial"/>
              <a:sym typeface="Arial"/>
            </a:endParaRPr>
          </a:p>
        </p:txBody>
      </p:sp>
      <p:sp>
        <p:nvSpPr>
          <p:cNvPr id="196" name="Google Shape;196;p20"/>
          <p:cNvSpPr txBox="1"/>
          <p:nvPr/>
        </p:nvSpPr>
        <p:spPr>
          <a:xfrm>
            <a:off x="2130755" y="2472873"/>
            <a:ext cx="7431545" cy="673860"/>
          </a:xfrm>
          <a:prstGeom prst="rect">
            <a:avLst/>
          </a:prstGeom>
          <a:noFill/>
          <a:ln>
            <a:noFill/>
          </a:ln>
        </p:spPr>
        <p:txBody>
          <a:bodyPr anchorCtr="0" anchor="t" bIns="0" lIns="0" spcFirstLastPara="1" rIns="0" wrap="square" tIns="56400">
            <a:spAutoFit/>
          </a:bodyPr>
          <a:lstStyle/>
          <a:p>
            <a:pPr indent="0" lvl="0" marL="14464" marR="0" rtl="0" algn="l">
              <a:lnSpc>
                <a:spcPct val="100000"/>
              </a:lnSpc>
              <a:spcBef>
                <a:spcPts val="0"/>
              </a:spcBef>
              <a:spcAft>
                <a:spcPts val="0"/>
              </a:spcAft>
              <a:buClr>
                <a:srgbClr val="000000"/>
              </a:buClr>
              <a:buSzPts val="1253"/>
              <a:buFont typeface="Arial"/>
              <a:buNone/>
            </a:pPr>
            <a:r>
              <a:rPr b="1" i="0" lang="en-US" sz="1253" u="none" cap="none" strike="noStrike">
                <a:solidFill>
                  <a:schemeClr val="dk1"/>
                </a:solidFill>
                <a:latin typeface="Arial"/>
                <a:ea typeface="Arial"/>
                <a:cs typeface="Arial"/>
                <a:sym typeface="Arial"/>
              </a:rPr>
              <a:t>4.	Drive test procedure</a:t>
            </a:r>
            <a:endParaRPr b="0" i="0" sz="1253" u="none" cap="none" strike="noStrike">
              <a:solidFill>
                <a:schemeClr val="dk1"/>
              </a:solidFill>
              <a:latin typeface="Arial"/>
              <a:ea typeface="Arial"/>
              <a:cs typeface="Arial"/>
              <a:sym typeface="Arial"/>
            </a:endParaRPr>
          </a:p>
          <a:p>
            <a:pPr indent="-62912" lvl="0" marL="274810" marR="5786" rtl="0" algn="l">
              <a:lnSpc>
                <a:spcPct val="100000"/>
              </a:lnSpc>
              <a:spcBef>
                <a:spcPts val="33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The Drive Test will be done with NEMO/TEMS/X-CAL with Calibrated Mobiles. The phones will be in the  following modes</a:t>
            </a:r>
            <a:endParaRPr b="0" i="0" sz="1253" u="none" cap="none" strike="noStrike">
              <a:solidFill>
                <a:schemeClr val="dk1"/>
              </a:solidFill>
              <a:latin typeface="Arial"/>
              <a:ea typeface="Arial"/>
              <a:cs typeface="Arial"/>
              <a:sym typeface="Arial"/>
            </a:endParaRPr>
          </a:p>
        </p:txBody>
      </p:sp>
      <p:graphicFrame>
        <p:nvGraphicFramePr>
          <p:cNvPr id="197" name="Google Shape;197;p20"/>
          <p:cNvGraphicFramePr/>
          <p:nvPr/>
        </p:nvGraphicFramePr>
        <p:xfrm>
          <a:off x="2457639" y="3515026"/>
          <a:ext cx="3000000" cy="3000000"/>
        </p:xfrm>
        <a:graphic>
          <a:graphicData uri="http://schemas.openxmlformats.org/drawingml/2006/table">
            <a:tbl>
              <a:tblPr bandRow="1" firstRow="1">
                <a:noFill/>
                <a:tableStyleId>{6E646390-14D1-40E7-8574-0D387628F5A2}</a:tableStyleId>
              </a:tblPr>
              <a:tblGrid>
                <a:gridCol w="934375"/>
                <a:gridCol w="1504250"/>
                <a:gridCol w="1076825"/>
                <a:gridCol w="972700"/>
                <a:gridCol w="2194900"/>
              </a:tblGrid>
              <a:tr h="450550">
                <a:tc>
                  <a:txBody>
                    <a:bodyPr/>
                    <a:lstStyle/>
                    <a:p>
                      <a:pPr indent="0" lvl="0" marL="10795" marR="0" rtl="0" algn="ctr">
                        <a:lnSpc>
                          <a:spcPct val="96153"/>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Device</a:t>
                      </a:r>
                      <a:endParaRPr sz="1300" u="none" cap="none" strike="noStrike">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8415" marR="0" rtl="0" algn="ctr">
                        <a:lnSpc>
                          <a:spcPct val="96153"/>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Type of Call</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5240" marR="0" rtl="0" algn="ctr">
                        <a:lnSpc>
                          <a:spcPct val="96153"/>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Operator Name</a:t>
                      </a:r>
                      <a:endParaRPr sz="13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0160" marR="0" rtl="0" algn="ctr">
                        <a:lnSpc>
                          <a:spcPct val="96153"/>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Mode</a:t>
                      </a:r>
                      <a:endParaRPr sz="13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3970" marR="0" rtl="0" algn="ctr">
                        <a:lnSpc>
                          <a:spcPct val="96153"/>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Comment</a:t>
                      </a:r>
                      <a:endParaRPr sz="13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48050">
                <a:tc>
                  <a:txBody>
                    <a:bodyPr/>
                    <a:lstStyle/>
                    <a:p>
                      <a:pPr indent="0" lvl="0" marL="13970" marR="0" rtl="0" algn="ctr">
                        <a:lnSpc>
                          <a:spcPct val="96153"/>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MS1</a:t>
                      </a:r>
                      <a:endParaRPr sz="1300" u="none" cap="none" strike="noStrike">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0795" marR="0" rtl="0" algn="ctr">
                        <a:lnSpc>
                          <a:spcPct val="96153"/>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Volte Call Short</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13690" marR="0" rtl="0" algn="l">
                        <a:lnSpc>
                          <a:spcPct val="100000"/>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BSNL</a:t>
                      </a:r>
                      <a:endParaRPr sz="13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9685" marR="0" rtl="0" algn="ctr">
                        <a:lnSpc>
                          <a:spcPct val="96153"/>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LTE</a:t>
                      </a:r>
                      <a:endParaRPr sz="13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540" marR="0" rtl="0" algn="l">
                        <a:lnSpc>
                          <a:spcPct val="100000"/>
                        </a:lnSpc>
                        <a:spcBef>
                          <a:spcPts val="0"/>
                        </a:spcBef>
                        <a:spcAft>
                          <a:spcPts val="0"/>
                        </a:spcAft>
                        <a:buClr>
                          <a:srgbClr val="000000"/>
                        </a:buClr>
                        <a:buSzPts val="1300"/>
                        <a:buFont typeface="Arial"/>
                        <a:buNone/>
                      </a:pPr>
                      <a:r>
                        <a:rPr lang="en-US" sz="1300" u="none" cap="none" strike="noStrike">
                          <a:latin typeface="Times New Roman"/>
                          <a:ea typeface="Times New Roman"/>
                          <a:cs typeface="Times New Roman"/>
                          <a:sym typeface="Times New Roman"/>
                        </a:rPr>
                        <a:t>YES ( 30 s interval /5s hold )</a:t>
                      </a:r>
                      <a:endParaRPr sz="13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0775">
                <a:tc>
                  <a:txBody>
                    <a:bodyPr/>
                    <a:lstStyle/>
                    <a:p>
                      <a:pPr indent="0" lvl="0" marL="13970" marR="0" rtl="0" algn="ctr">
                        <a:lnSpc>
                          <a:spcPct val="96153"/>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MS2</a:t>
                      </a:r>
                      <a:endParaRPr sz="1300" u="none" cap="none" strike="noStrike">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3334" marR="0" rtl="0" algn="ctr">
                        <a:lnSpc>
                          <a:spcPct val="96153"/>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Volte Call Long</a:t>
                      </a:r>
                      <a:endParaRPr sz="13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6510" marR="0" rtl="0" algn="ctr">
                        <a:lnSpc>
                          <a:spcPct val="96153"/>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BSNL</a:t>
                      </a:r>
                      <a:endParaRPr sz="13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9685" marR="0" rtl="0" algn="ctr">
                        <a:lnSpc>
                          <a:spcPct val="96153"/>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LTE</a:t>
                      </a:r>
                      <a:endParaRPr sz="13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9370" marR="0" rtl="0" algn="l">
                        <a:lnSpc>
                          <a:spcPct val="98076"/>
                        </a:lnSpc>
                        <a:spcBef>
                          <a:spcPts val="0"/>
                        </a:spcBef>
                        <a:spcAft>
                          <a:spcPts val="0"/>
                        </a:spcAft>
                        <a:buClr>
                          <a:srgbClr val="000000"/>
                        </a:buClr>
                        <a:buSzPts val="1300"/>
                        <a:buFont typeface="Arial"/>
                        <a:buNone/>
                      </a:pPr>
                      <a:r>
                        <a:rPr lang="en-US" sz="1300" u="none" cap="none" strike="noStrike">
                          <a:latin typeface="Times New Roman"/>
                          <a:ea typeface="Times New Roman"/>
                          <a:cs typeface="Times New Roman"/>
                          <a:sym typeface="Times New Roman"/>
                        </a:rPr>
                        <a:t>YES</a:t>
                      </a:r>
                      <a:endParaRPr sz="13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84650">
                <a:tc>
                  <a:txBody>
                    <a:bodyPr/>
                    <a:lstStyle/>
                    <a:p>
                      <a:pPr indent="0" lvl="0" marL="13970" marR="0" rtl="0" algn="ctr">
                        <a:lnSpc>
                          <a:spcPct val="96153"/>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MS3</a:t>
                      </a:r>
                      <a:endParaRPr sz="1300" u="none" cap="none" strike="noStrike">
                        <a:latin typeface="Arial"/>
                        <a:ea typeface="Arial"/>
                        <a:cs typeface="Arial"/>
                        <a:sym typeface="Arial"/>
                      </a:endParaRPr>
                    </a:p>
                  </a:txBody>
                  <a:tcPr marT="0" marB="0" marR="0" marL="0">
                    <a:lnL cap="flat" cmpd="sng" w="1270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6510" marR="0" rtl="0" algn="ctr">
                        <a:lnSpc>
                          <a:spcPct val="96153"/>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Data Download</a:t>
                      </a:r>
                      <a:endParaRPr sz="13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6510" marR="0" rtl="0" algn="ctr">
                        <a:lnSpc>
                          <a:spcPct val="96153"/>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BSNL</a:t>
                      </a:r>
                      <a:endParaRPr sz="13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9685" marR="0" rtl="0" algn="ctr">
                        <a:lnSpc>
                          <a:spcPct val="96153"/>
                        </a:lnSpc>
                        <a:spcBef>
                          <a:spcPts val="0"/>
                        </a:spcBef>
                        <a:spcAft>
                          <a:spcPts val="0"/>
                        </a:spcAft>
                        <a:buClr>
                          <a:srgbClr val="000000"/>
                        </a:buClr>
                        <a:buSzPts val="1300"/>
                        <a:buFont typeface="Arial"/>
                        <a:buNone/>
                      </a:pPr>
                      <a:r>
                        <a:rPr lang="en-US" sz="1300" u="none" cap="none" strike="noStrike">
                          <a:latin typeface="Arial"/>
                          <a:ea typeface="Arial"/>
                          <a:cs typeface="Arial"/>
                          <a:sym typeface="Arial"/>
                        </a:rPr>
                        <a:t>LTE</a:t>
                      </a:r>
                      <a:endParaRPr sz="13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39370" marR="0" rtl="0" algn="l">
                        <a:lnSpc>
                          <a:spcPct val="96153"/>
                        </a:lnSpc>
                        <a:spcBef>
                          <a:spcPts val="0"/>
                        </a:spcBef>
                        <a:spcAft>
                          <a:spcPts val="0"/>
                        </a:spcAft>
                        <a:buClr>
                          <a:srgbClr val="000000"/>
                        </a:buClr>
                        <a:buSzPts val="1300"/>
                        <a:buFont typeface="Arial"/>
                        <a:buNone/>
                      </a:pPr>
                      <a:r>
                        <a:rPr lang="en-US" sz="1300" u="none" cap="none" strike="noStrike">
                          <a:latin typeface="Times New Roman"/>
                          <a:ea typeface="Times New Roman"/>
                          <a:cs typeface="Times New Roman"/>
                          <a:sym typeface="Times New Roman"/>
                        </a:rPr>
                        <a:t>YES</a:t>
                      </a:r>
                      <a:endParaRPr sz="1300" u="none" cap="none" strike="noStrike">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198" name="Google Shape;198;p20"/>
          <p:cNvSpPr txBox="1"/>
          <p:nvPr/>
        </p:nvSpPr>
        <p:spPr>
          <a:xfrm>
            <a:off x="2040499" y="1530839"/>
            <a:ext cx="2603732" cy="203735"/>
          </a:xfrm>
          <a:prstGeom prst="rect">
            <a:avLst/>
          </a:prstGeom>
          <a:noFill/>
          <a:ln>
            <a:noFill/>
          </a:ln>
        </p:spPr>
        <p:txBody>
          <a:bodyPr anchorCtr="0" anchor="t" bIns="0" lIns="0" spcFirstLastPara="1" rIns="0" wrap="square" tIns="13725">
            <a:spAutoFit/>
          </a:bodyPr>
          <a:lstStyle/>
          <a:p>
            <a:pPr indent="2892"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QA &amp; INSPECTION CIRCLE KL 	</a:t>
            </a:r>
            <a:endParaRPr b="0" i="0" sz="1253"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1"/>
          <p:cNvSpPr txBox="1"/>
          <p:nvPr>
            <p:ph idx="11" type="ftr"/>
          </p:nvPr>
        </p:nvSpPr>
        <p:spPr>
          <a:xfrm>
            <a:off x="2248781" y="14495318"/>
            <a:ext cx="1915019" cy="192810"/>
          </a:xfrm>
          <a:prstGeom prst="rect">
            <a:avLst/>
          </a:prstGeom>
          <a:noFill/>
          <a:ln>
            <a:noFill/>
          </a:ln>
        </p:spPr>
        <p:txBody>
          <a:bodyPr anchorCtr="0" anchor="t" bIns="0" lIns="0" spcFirstLastPara="1" rIns="0" wrap="square" tIns="0">
            <a:spAutoFit/>
          </a:bodyPr>
          <a:lstStyle/>
          <a:p>
            <a:pPr indent="0" lvl="0" marL="14464" rtl="0" algn="l">
              <a:lnSpc>
                <a:spcPct val="100000"/>
              </a:lnSpc>
              <a:spcBef>
                <a:spcPts val="0"/>
              </a:spcBef>
              <a:spcAft>
                <a:spcPts val="0"/>
              </a:spcAft>
              <a:buSzPts val="1400"/>
              <a:buNone/>
            </a:pPr>
            <a:r>
              <a:rPr lang="en-US"/>
              <a:t>QAIN-11/31(14)/1/2023-CM</a:t>
            </a:r>
            <a:endParaRPr/>
          </a:p>
        </p:txBody>
      </p:sp>
      <p:sp>
        <p:nvSpPr>
          <p:cNvPr id="204" name="Google Shape;204;p21"/>
          <p:cNvSpPr txBox="1"/>
          <p:nvPr/>
        </p:nvSpPr>
        <p:spPr>
          <a:xfrm>
            <a:off x="7238764" y="1574232"/>
            <a:ext cx="1833298" cy="408086"/>
          </a:xfrm>
          <a:prstGeom prst="rect">
            <a:avLst/>
          </a:prstGeom>
          <a:noFill/>
          <a:ln>
            <a:noFill/>
          </a:ln>
        </p:spPr>
        <p:txBody>
          <a:bodyPr anchorCtr="0" anchor="t" bIns="0" lIns="0" spcFirstLastPara="1" rIns="0" wrap="square" tIns="13725">
            <a:spAutoFit/>
          </a:bodyPr>
          <a:lstStyle/>
          <a:p>
            <a:pPr indent="701487"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4G PHASE IX.2  eNode-B A/T SCHEDULE</a:t>
            </a:r>
            <a:endParaRPr b="0" i="0" sz="1253" u="none" cap="none" strike="noStrike">
              <a:solidFill>
                <a:schemeClr val="dk1"/>
              </a:solidFill>
              <a:latin typeface="Arial"/>
              <a:ea typeface="Arial"/>
              <a:cs typeface="Arial"/>
              <a:sym typeface="Arial"/>
            </a:endParaRPr>
          </a:p>
        </p:txBody>
      </p:sp>
      <p:sp>
        <p:nvSpPr>
          <p:cNvPr id="205" name="Google Shape;205;p21"/>
          <p:cNvSpPr txBox="1"/>
          <p:nvPr/>
        </p:nvSpPr>
        <p:spPr>
          <a:xfrm>
            <a:off x="2040499" y="1530839"/>
            <a:ext cx="2603732" cy="203735"/>
          </a:xfrm>
          <a:prstGeom prst="rect">
            <a:avLst/>
          </a:prstGeom>
          <a:noFill/>
          <a:ln>
            <a:noFill/>
          </a:ln>
        </p:spPr>
        <p:txBody>
          <a:bodyPr anchorCtr="0" anchor="t" bIns="0" lIns="0" spcFirstLastPara="1" rIns="0" wrap="square" tIns="13725">
            <a:spAutoFit/>
          </a:bodyPr>
          <a:lstStyle/>
          <a:p>
            <a:pPr indent="2892"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QA &amp; INSPECTION CIRCLE KL 	</a:t>
            </a:r>
            <a:endParaRPr b="0" i="0" sz="1253" u="none" cap="none" strike="noStrike">
              <a:solidFill>
                <a:schemeClr val="dk1"/>
              </a:solidFill>
              <a:latin typeface="Arial"/>
              <a:ea typeface="Arial"/>
              <a:cs typeface="Arial"/>
              <a:sym typeface="Arial"/>
            </a:endParaRPr>
          </a:p>
        </p:txBody>
      </p:sp>
      <p:sp>
        <p:nvSpPr>
          <p:cNvPr id="206" name="Google Shape;206;p21"/>
          <p:cNvSpPr txBox="1"/>
          <p:nvPr/>
        </p:nvSpPr>
        <p:spPr>
          <a:xfrm>
            <a:off x="1867165" y="2490258"/>
            <a:ext cx="2004000" cy="448500"/>
          </a:xfrm>
          <a:prstGeom prst="rect">
            <a:avLst/>
          </a:prstGeom>
          <a:noFill/>
          <a:ln>
            <a:noFill/>
          </a:ln>
        </p:spPr>
        <p:txBody>
          <a:bodyPr anchorCtr="0" anchor="t" bIns="0" lIns="0" spcFirstLastPara="1" rIns="0" wrap="square" tIns="13725">
            <a:spAutoFit/>
          </a:bodyPr>
          <a:lstStyle/>
          <a:p>
            <a:pPr indent="-392688" lvl="0" marL="406429" marR="5786" rtl="0" algn="l">
              <a:lnSpc>
                <a:spcPct val="118200"/>
              </a:lnSpc>
              <a:spcBef>
                <a:spcPts val="0"/>
              </a:spcBef>
              <a:spcAft>
                <a:spcPts val="0"/>
              </a:spcAft>
              <a:buClr>
                <a:srgbClr val="000000"/>
              </a:buClr>
              <a:buSzPts val="1253"/>
              <a:buFont typeface="Arial"/>
              <a:buNone/>
            </a:pPr>
            <a:r>
              <a:rPr b="1" i="0" lang="en-US" sz="1253" u="none" cap="none" strike="noStrike">
                <a:solidFill>
                  <a:schemeClr val="dk1"/>
                </a:solidFill>
                <a:latin typeface="Arial"/>
                <a:ea typeface="Arial"/>
                <a:cs typeface="Arial"/>
                <a:sym typeface="Arial"/>
              </a:rPr>
              <a:t>5.	Drive test plots  </a:t>
            </a:r>
            <a:r>
              <a:rPr b="1" i="0" lang="en-US" sz="1253" u="none" cap="none" strike="noStrike">
                <a:solidFill>
                  <a:srgbClr val="00ADED"/>
                </a:solidFill>
                <a:latin typeface="Arial"/>
                <a:ea typeface="Arial"/>
                <a:cs typeface="Arial"/>
                <a:sym typeface="Arial"/>
              </a:rPr>
              <a:t>Predictio</a:t>
            </a:r>
            <a:r>
              <a:rPr b="1" i="0" lang="en-US" sz="1253" u="none" cap="none" strike="noStrike">
                <a:solidFill>
                  <a:srgbClr val="00ADED"/>
                </a:solidFill>
                <a:latin typeface="Arial"/>
                <a:ea typeface="Arial"/>
                <a:cs typeface="Arial"/>
                <a:sym typeface="Arial"/>
              </a:rPr>
              <a:t>n </a:t>
            </a:r>
            <a:r>
              <a:rPr b="1" i="0" lang="en-US" sz="1253" u="none" cap="none" strike="noStrike">
                <a:solidFill>
                  <a:srgbClr val="00ADED"/>
                </a:solidFill>
                <a:latin typeface="Arial"/>
                <a:ea typeface="Arial"/>
                <a:cs typeface="Arial"/>
                <a:sym typeface="Arial"/>
              </a:rPr>
              <a:t>Plot-RSRP</a:t>
            </a:r>
            <a:endParaRPr b="0" i="0" sz="1253" u="none" cap="none" strike="noStrike">
              <a:solidFill>
                <a:schemeClr val="dk1"/>
              </a:solidFill>
              <a:latin typeface="Arial"/>
              <a:ea typeface="Arial"/>
              <a:cs typeface="Arial"/>
              <a:sym typeface="Arial"/>
            </a:endParaRPr>
          </a:p>
        </p:txBody>
      </p:sp>
      <p:pic>
        <p:nvPicPr>
          <p:cNvPr id="207" name="Picture 206" descr="image.jpg"/>
          <p:cNvPicPr>
            <a:picLocks noChangeAspect="1"/>
          </p:cNvPicPr>
          <p:nvPr/>
        </p:nvPicPr>
        <p:blipFill>
          <a:blip r:embed="rId3"/>
          <a:stretch>
            <a:fillRect/>
          </a:stretch>
        </p:blipFill>
        <p:spPr>
          <a:xfrm>
            <a:off x="1979900" y="3707425"/>
            <a:ext cx="8440500" cy="702671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2"/>
          <p:cNvSpPr txBox="1"/>
          <p:nvPr>
            <p:ph idx="11" type="ftr"/>
          </p:nvPr>
        </p:nvSpPr>
        <p:spPr>
          <a:xfrm>
            <a:off x="2248781" y="14495318"/>
            <a:ext cx="1915019" cy="192810"/>
          </a:xfrm>
          <a:prstGeom prst="rect">
            <a:avLst/>
          </a:prstGeom>
          <a:noFill/>
          <a:ln>
            <a:noFill/>
          </a:ln>
        </p:spPr>
        <p:txBody>
          <a:bodyPr anchorCtr="0" anchor="t" bIns="0" lIns="0" spcFirstLastPara="1" rIns="0" wrap="square" tIns="0">
            <a:spAutoFit/>
          </a:bodyPr>
          <a:lstStyle/>
          <a:p>
            <a:pPr indent="0" lvl="0" marL="14464" rtl="0" algn="l">
              <a:lnSpc>
                <a:spcPct val="100000"/>
              </a:lnSpc>
              <a:spcBef>
                <a:spcPts val="0"/>
              </a:spcBef>
              <a:spcAft>
                <a:spcPts val="0"/>
              </a:spcAft>
              <a:buSzPts val="1400"/>
              <a:buNone/>
            </a:pPr>
            <a:r>
              <a:rPr lang="en-US"/>
              <a:t>QAIN-11/31(14)/1/2023-CM</a:t>
            </a:r>
            <a:endParaRPr/>
          </a:p>
        </p:txBody>
      </p:sp>
      <p:sp>
        <p:nvSpPr>
          <p:cNvPr id="213" name="Google Shape;213;p22"/>
          <p:cNvSpPr txBox="1"/>
          <p:nvPr/>
        </p:nvSpPr>
        <p:spPr>
          <a:xfrm>
            <a:off x="7238764" y="1574232"/>
            <a:ext cx="1833298" cy="408086"/>
          </a:xfrm>
          <a:prstGeom prst="rect">
            <a:avLst/>
          </a:prstGeom>
          <a:noFill/>
          <a:ln>
            <a:noFill/>
          </a:ln>
        </p:spPr>
        <p:txBody>
          <a:bodyPr anchorCtr="0" anchor="t" bIns="0" lIns="0" spcFirstLastPara="1" rIns="0" wrap="square" tIns="13725">
            <a:spAutoFit/>
          </a:bodyPr>
          <a:lstStyle/>
          <a:p>
            <a:pPr indent="701487"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4G PHASE IX.2  eNode-B A/T SCHEDULE</a:t>
            </a:r>
            <a:endParaRPr b="0" i="0" sz="1253" u="none" cap="none" strike="noStrike">
              <a:solidFill>
                <a:schemeClr val="dk1"/>
              </a:solidFill>
              <a:latin typeface="Arial"/>
              <a:ea typeface="Arial"/>
              <a:cs typeface="Arial"/>
              <a:sym typeface="Arial"/>
            </a:endParaRPr>
          </a:p>
        </p:txBody>
      </p:sp>
      <p:sp>
        <p:nvSpPr>
          <p:cNvPr id="214" name="Google Shape;214;p22"/>
          <p:cNvSpPr txBox="1"/>
          <p:nvPr/>
        </p:nvSpPr>
        <p:spPr>
          <a:xfrm>
            <a:off x="2119561" y="2490260"/>
            <a:ext cx="2003972" cy="221048"/>
          </a:xfrm>
          <a:prstGeom prst="rect">
            <a:avLst/>
          </a:prstGeom>
          <a:noFill/>
          <a:ln>
            <a:noFill/>
          </a:ln>
        </p:spPr>
        <p:txBody>
          <a:bodyPr anchorCtr="0" anchor="t" bIns="0" lIns="0" spcFirstLastPara="1" rIns="0" wrap="square" tIns="13725">
            <a:spAutoFit/>
          </a:bodyPr>
          <a:lstStyle/>
          <a:p>
            <a:pPr indent="-392688" lvl="0" marL="406429" marR="5786" rtl="0" algn="l">
              <a:lnSpc>
                <a:spcPct val="118200"/>
              </a:lnSpc>
              <a:spcBef>
                <a:spcPts val="0"/>
              </a:spcBef>
              <a:spcAft>
                <a:spcPts val="0"/>
              </a:spcAft>
              <a:buClr>
                <a:srgbClr val="000000"/>
              </a:buClr>
              <a:buSzPts val="1253"/>
              <a:buFont typeface="Arial"/>
              <a:buNone/>
            </a:pPr>
            <a:r>
              <a:rPr b="1" i="0" lang="en-US" sz="1253" u="none" cap="none" strike="noStrike">
                <a:solidFill>
                  <a:srgbClr val="00ADED"/>
                </a:solidFill>
                <a:latin typeface="Arial"/>
                <a:ea typeface="Arial"/>
                <a:cs typeface="Arial"/>
                <a:sym typeface="Arial"/>
              </a:rPr>
              <a:t>Prediction Plot-RSRQ</a:t>
            </a:r>
            <a:endParaRPr b="0" i="0" sz="1253" u="none" cap="none" strike="noStrike">
              <a:solidFill>
                <a:schemeClr val="dk1"/>
              </a:solidFill>
              <a:latin typeface="Arial"/>
              <a:ea typeface="Arial"/>
              <a:cs typeface="Arial"/>
              <a:sym typeface="Arial"/>
            </a:endParaRPr>
          </a:p>
        </p:txBody>
      </p:sp>
      <p:sp>
        <p:nvSpPr>
          <p:cNvPr id="215" name="Google Shape;215;p22"/>
          <p:cNvSpPr txBox="1"/>
          <p:nvPr/>
        </p:nvSpPr>
        <p:spPr>
          <a:xfrm>
            <a:off x="2040499" y="1530839"/>
            <a:ext cx="2603732" cy="203735"/>
          </a:xfrm>
          <a:prstGeom prst="rect">
            <a:avLst/>
          </a:prstGeom>
          <a:noFill/>
          <a:ln>
            <a:noFill/>
          </a:ln>
        </p:spPr>
        <p:txBody>
          <a:bodyPr anchorCtr="0" anchor="t" bIns="0" lIns="0" spcFirstLastPara="1" rIns="0" wrap="square" tIns="13725">
            <a:spAutoFit/>
          </a:bodyPr>
          <a:lstStyle/>
          <a:p>
            <a:pPr indent="2892"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QA &amp; INSPECTION CIRCLE KL 	</a:t>
            </a:r>
            <a:endParaRPr b="0" i="0" sz="1253" u="none" cap="none" strike="noStrike">
              <a:solidFill>
                <a:schemeClr val="dk1"/>
              </a:solidFill>
              <a:latin typeface="Arial"/>
              <a:ea typeface="Arial"/>
              <a:cs typeface="Arial"/>
              <a:sym typeface="Arial"/>
            </a:endParaRPr>
          </a:p>
        </p:txBody>
      </p:sp>
      <p:pic>
        <p:nvPicPr>
          <p:cNvPr id="216" name="Picture 215" descr="image.jpg"/>
          <p:cNvPicPr>
            <a:picLocks noChangeAspect="1"/>
          </p:cNvPicPr>
          <p:nvPr/>
        </p:nvPicPr>
        <p:blipFill>
          <a:blip r:embed="rId3"/>
          <a:stretch>
            <a:fillRect/>
          </a:stretch>
        </p:blipFill>
        <p:spPr>
          <a:xfrm>
            <a:off x="1979900" y="3707425"/>
            <a:ext cx="8440500" cy="195666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3"/>
          <p:cNvSpPr txBox="1"/>
          <p:nvPr>
            <p:ph idx="11" type="ftr"/>
          </p:nvPr>
        </p:nvSpPr>
        <p:spPr>
          <a:xfrm>
            <a:off x="2248781" y="14495318"/>
            <a:ext cx="1915019" cy="192810"/>
          </a:xfrm>
          <a:prstGeom prst="rect">
            <a:avLst/>
          </a:prstGeom>
          <a:noFill/>
          <a:ln>
            <a:noFill/>
          </a:ln>
        </p:spPr>
        <p:txBody>
          <a:bodyPr anchorCtr="0" anchor="t" bIns="0" lIns="0" spcFirstLastPara="1" rIns="0" wrap="square" tIns="0">
            <a:spAutoFit/>
          </a:bodyPr>
          <a:lstStyle/>
          <a:p>
            <a:pPr indent="0" lvl="0" marL="14464" rtl="0" algn="l">
              <a:lnSpc>
                <a:spcPct val="100000"/>
              </a:lnSpc>
              <a:spcBef>
                <a:spcPts val="0"/>
              </a:spcBef>
              <a:spcAft>
                <a:spcPts val="0"/>
              </a:spcAft>
              <a:buSzPts val="1400"/>
              <a:buNone/>
            </a:pPr>
            <a:r>
              <a:rPr lang="en-US"/>
              <a:t>QAIN-11/31(14)/1/2023-CM</a:t>
            </a:r>
            <a:endParaRPr/>
          </a:p>
        </p:txBody>
      </p:sp>
      <p:sp>
        <p:nvSpPr>
          <p:cNvPr id="222" name="Google Shape;222;p23"/>
          <p:cNvSpPr txBox="1"/>
          <p:nvPr/>
        </p:nvSpPr>
        <p:spPr>
          <a:xfrm>
            <a:off x="7238764" y="1574232"/>
            <a:ext cx="1833298" cy="408086"/>
          </a:xfrm>
          <a:prstGeom prst="rect">
            <a:avLst/>
          </a:prstGeom>
          <a:noFill/>
          <a:ln>
            <a:noFill/>
          </a:ln>
        </p:spPr>
        <p:txBody>
          <a:bodyPr anchorCtr="0" anchor="t" bIns="0" lIns="0" spcFirstLastPara="1" rIns="0" wrap="square" tIns="13725">
            <a:spAutoFit/>
          </a:bodyPr>
          <a:lstStyle/>
          <a:p>
            <a:pPr indent="701487"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4G PHASE IX.2  eNode-B A/T SCHEDULE</a:t>
            </a:r>
            <a:endParaRPr b="0" i="0" sz="1253" u="none" cap="none" strike="noStrike">
              <a:solidFill>
                <a:schemeClr val="dk1"/>
              </a:solidFill>
              <a:latin typeface="Arial"/>
              <a:ea typeface="Arial"/>
              <a:cs typeface="Arial"/>
              <a:sym typeface="Arial"/>
            </a:endParaRPr>
          </a:p>
        </p:txBody>
      </p:sp>
      <p:sp>
        <p:nvSpPr>
          <p:cNvPr id="223" name="Google Shape;223;p23"/>
          <p:cNvSpPr txBox="1"/>
          <p:nvPr/>
        </p:nvSpPr>
        <p:spPr>
          <a:xfrm>
            <a:off x="2119561" y="2490260"/>
            <a:ext cx="2003972" cy="221048"/>
          </a:xfrm>
          <a:prstGeom prst="rect">
            <a:avLst/>
          </a:prstGeom>
          <a:noFill/>
          <a:ln>
            <a:noFill/>
          </a:ln>
        </p:spPr>
        <p:txBody>
          <a:bodyPr anchorCtr="0" anchor="t" bIns="0" lIns="0" spcFirstLastPara="1" rIns="0" wrap="square" tIns="13725">
            <a:spAutoFit/>
          </a:bodyPr>
          <a:lstStyle/>
          <a:p>
            <a:pPr indent="-392688" lvl="0" marL="406429" marR="5786" rtl="0" algn="l">
              <a:lnSpc>
                <a:spcPct val="118200"/>
              </a:lnSpc>
              <a:spcBef>
                <a:spcPts val="0"/>
              </a:spcBef>
              <a:spcAft>
                <a:spcPts val="0"/>
              </a:spcAft>
              <a:buClr>
                <a:srgbClr val="000000"/>
              </a:buClr>
              <a:buSzPts val="1253"/>
              <a:buFont typeface="Arial"/>
              <a:buNone/>
            </a:pPr>
            <a:r>
              <a:rPr b="1" i="0" lang="en-US" sz="1253" u="none" cap="none" strike="noStrike">
                <a:solidFill>
                  <a:srgbClr val="00ADED"/>
                </a:solidFill>
                <a:latin typeface="Arial"/>
                <a:ea typeface="Arial"/>
                <a:cs typeface="Arial"/>
                <a:sym typeface="Arial"/>
              </a:rPr>
              <a:t>Prediction Plot-SINR</a:t>
            </a:r>
            <a:endParaRPr b="0" i="0" sz="1253" u="none" cap="none" strike="noStrike">
              <a:solidFill>
                <a:schemeClr val="dk1"/>
              </a:solidFill>
              <a:latin typeface="Arial"/>
              <a:ea typeface="Arial"/>
              <a:cs typeface="Arial"/>
              <a:sym typeface="Arial"/>
            </a:endParaRPr>
          </a:p>
        </p:txBody>
      </p:sp>
      <p:sp>
        <p:nvSpPr>
          <p:cNvPr id="224" name="Google Shape;224;p23"/>
          <p:cNvSpPr txBox="1"/>
          <p:nvPr/>
        </p:nvSpPr>
        <p:spPr>
          <a:xfrm>
            <a:off x="2040499" y="1530839"/>
            <a:ext cx="2603732" cy="203735"/>
          </a:xfrm>
          <a:prstGeom prst="rect">
            <a:avLst/>
          </a:prstGeom>
          <a:noFill/>
          <a:ln>
            <a:noFill/>
          </a:ln>
        </p:spPr>
        <p:txBody>
          <a:bodyPr anchorCtr="0" anchor="t" bIns="0" lIns="0" spcFirstLastPara="1" rIns="0" wrap="square" tIns="13725">
            <a:spAutoFit/>
          </a:bodyPr>
          <a:lstStyle/>
          <a:p>
            <a:pPr indent="2892"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QA &amp; INSPECTION CIRCLE KL 	</a:t>
            </a:r>
            <a:endParaRPr b="0" i="0" sz="1253" u="none" cap="none" strike="noStrike">
              <a:solidFill>
                <a:schemeClr val="dk1"/>
              </a:solidFill>
              <a:latin typeface="Arial"/>
              <a:ea typeface="Arial"/>
              <a:cs typeface="Arial"/>
              <a:sym typeface="Arial"/>
            </a:endParaRPr>
          </a:p>
        </p:txBody>
      </p:sp>
      <p:grpSp>
        <p:nvGrpSpPr>
          <p:cNvPr id="225" name="Google Shape;225;p23"/>
          <p:cNvGrpSpPr/>
          <p:nvPr/>
        </p:nvGrpSpPr>
        <p:grpSpPr>
          <a:xfrm>
            <a:off x="2249011" y="3358092"/>
            <a:ext cx="7081520" cy="7029450"/>
            <a:chOff x="868680" y="1981200"/>
            <a:chExt cx="6217920" cy="6172200"/>
          </a:xfrm>
        </p:grpSpPr>
        <p:pic>
          <p:nvPicPr>
            <p:cNvPr id="226" name="Google Shape;226;p23"/>
            <p:cNvPicPr preferRelativeResize="0"/>
            <p:nvPr/>
          </p:nvPicPr>
          <p:blipFill rotWithShape="1">
            <a:blip r:embed="rId3">
              <a:alphaModFix/>
            </a:blip>
            <a:srcRect b="0" l="0" r="0" t="0"/>
            <a:stretch/>
          </p:blipFill>
          <p:spPr>
            <a:xfrm>
              <a:off x="868680" y="1981200"/>
              <a:ext cx="6217920" cy="6172200"/>
            </a:xfrm>
            <a:prstGeom prst="rect">
              <a:avLst/>
            </a:prstGeom>
            <a:noFill/>
            <a:ln>
              <a:noFill/>
            </a:ln>
          </p:spPr>
        </p:pic>
        <p:pic>
          <p:nvPicPr>
            <p:cNvPr id="227" name="Google Shape;227;p23"/>
            <p:cNvPicPr preferRelativeResize="0"/>
            <p:nvPr/>
          </p:nvPicPr>
          <p:blipFill rotWithShape="1">
            <a:blip r:embed="rId4">
              <a:alphaModFix/>
            </a:blip>
            <a:srcRect b="0" l="0" r="0" t="0"/>
            <a:stretch/>
          </p:blipFill>
          <p:spPr>
            <a:xfrm>
              <a:off x="5727191" y="7418832"/>
              <a:ext cx="1359408" cy="734568"/>
            </a:xfrm>
            <a:prstGeom prst="rect">
              <a:avLst/>
            </a:prstGeom>
            <a:noFill/>
            <a:ln>
              <a:noFill/>
            </a:ln>
          </p:spPr>
        </p:pic>
        <p:pic>
          <p:nvPicPr>
            <p:cNvPr id="228" name="Google Shape;228;p23"/>
            <p:cNvPicPr preferRelativeResize="0"/>
            <p:nvPr/>
          </p:nvPicPr>
          <p:blipFill rotWithShape="1">
            <a:blip r:embed="rId5">
              <a:alphaModFix/>
            </a:blip>
            <a:srcRect b="0" l="0" r="0" t="0"/>
            <a:stretch/>
          </p:blipFill>
          <p:spPr>
            <a:xfrm>
              <a:off x="880872" y="2017776"/>
              <a:ext cx="1560576" cy="359664"/>
            </a:xfrm>
            <a:prstGeom prst="rect">
              <a:avLst/>
            </a:prstGeom>
            <a:noFill/>
            <a:ln>
              <a:noFill/>
            </a:ln>
          </p:spPr>
        </p:pic>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4"/>
          <p:cNvSpPr txBox="1"/>
          <p:nvPr>
            <p:ph idx="11" type="ftr"/>
          </p:nvPr>
        </p:nvSpPr>
        <p:spPr>
          <a:xfrm>
            <a:off x="2248781" y="14495318"/>
            <a:ext cx="1915019" cy="192810"/>
          </a:xfrm>
          <a:prstGeom prst="rect">
            <a:avLst/>
          </a:prstGeom>
          <a:noFill/>
          <a:ln>
            <a:noFill/>
          </a:ln>
        </p:spPr>
        <p:txBody>
          <a:bodyPr anchorCtr="0" anchor="t" bIns="0" lIns="0" spcFirstLastPara="1" rIns="0" wrap="square" tIns="0">
            <a:spAutoFit/>
          </a:bodyPr>
          <a:lstStyle/>
          <a:p>
            <a:pPr indent="0" lvl="0" marL="14464" rtl="0" algn="l">
              <a:lnSpc>
                <a:spcPct val="100000"/>
              </a:lnSpc>
              <a:spcBef>
                <a:spcPts val="0"/>
              </a:spcBef>
              <a:spcAft>
                <a:spcPts val="0"/>
              </a:spcAft>
              <a:buSzPts val="1400"/>
              <a:buNone/>
            </a:pPr>
            <a:r>
              <a:rPr lang="en-US"/>
              <a:t>QAIN-11/31(14)/1/2023-CM</a:t>
            </a:r>
            <a:endParaRPr/>
          </a:p>
        </p:txBody>
      </p:sp>
      <p:sp>
        <p:nvSpPr>
          <p:cNvPr id="234" name="Google Shape;234;p24"/>
          <p:cNvSpPr txBox="1"/>
          <p:nvPr/>
        </p:nvSpPr>
        <p:spPr>
          <a:xfrm>
            <a:off x="7238764" y="1574232"/>
            <a:ext cx="1833298" cy="408086"/>
          </a:xfrm>
          <a:prstGeom prst="rect">
            <a:avLst/>
          </a:prstGeom>
          <a:noFill/>
          <a:ln>
            <a:noFill/>
          </a:ln>
        </p:spPr>
        <p:txBody>
          <a:bodyPr anchorCtr="0" anchor="t" bIns="0" lIns="0" spcFirstLastPara="1" rIns="0" wrap="square" tIns="13725">
            <a:spAutoFit/>
          </a:bodyPr>
          <a:lstStyle/>
          <a:p>
            <a:pPr indent="701487"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4G PHASE IX.2  eNode-B A/T SCHEDULE</a:t>
            </a:r>
            <a:endParaRPr b="0" i="0" sz="1253" u="none" cap="none" strike="noStrike">
              <a:solidFill>
                <a:schemeClr val="dk1"/>
              </a:solidFill>
              <a:latin typeface="Arial"/>
              <a:ea typeface="Arial"/>
              <a:cs typeface="Arial"/>
              <a:sym typeface="Arial"/>
            </a:endParaRPr>
          </a:p>
        </p:txBody>
      </p:sp>
      <p:sp>
        <p:nvSpPr>
          <p:cNvPr id="235" name="Google Shape;235;p24"/>
          <p:cNvSpPr txBox="1"/>
          <p:nvPr/>
        </p:nvSpPr>
        <p:spPr>
          <a:xfrm>
            <a:off x="2119560" y="2490261"/>
            <a:ext cx="2437888" cy="221048"/>
          </a:xfrm>
          <a:prstGeom prst="rect">
            <a:avLst/>
          </a:prstGeom>
          <a:noFill/>
          <a:ln>
            <a:noFill/>
          </a:ln>
        </p:spPr>
        <p:txBody>
          <a:bodyPr anchorCtr="0" anchor="t" bIns="0" lIns="0" spcFirstLastPara="1" rIns="0" wrap="square" tIns="13725">
            <a:spAutoFit/>
          </a:bodyPr>
          <a:lstStyle/>
          <a:p>
            <a:pPr indent="-392688" lvl="0" marL="406429" marR="5786" rtl="0" algn="l">
              <a:lnSpc>
                <a:spcPct val="118200"/>
              </a:lnSpc>
              <a:spcBef>
                <a:spcPts val="0"/>
              </a:spcBef>
              <a:spcAft>
                <a:spcPts val="0"/>
              </a:spcAft>
              <a:buClr>
                <a:srgbClr val="000000"/>
              </a:buClr>
              <a:buSzPts val="1253"/>
              <a:buFont typeface="Arial"/>
              <a:buNone/>
            </a:pPr>
            <a:r>
              <a:rPr b="1" i="0" lang="en-US" sz="1253" u="none" cap="none" strike="noStrike">
                <a:solidFill>
                  <a:srgbClr val="00ADED"/>
                </a:solidFill>
                <a:latin typeface="Arial"/>
                <a:ea typeface="Arial"/>
                <a:cs typeface="Arial"/>
                <a:sym typeface="Arial"/>
              </a:rPr>
              <a:t>Prediction Plot-DL Throughput</a:t>
            </a:r>
            <a:endParaRPr b="0" i="0" sz="1253" u="none" cap="none" strike="noStrike">
              <a:solidFill>
                <a:schemeClr val="dk1"/>
              </a:solidFill>
              <a:latin typeface="Arial"/>
              <a:ea typeface="Arial"/>
              <a:cs typeface="Arial"/>
              <a:sym typeface="Arial"/>
            </a:endParaRPr>
          </a:p>
        </p:txBody>
      </p:sp>
      <p:sp>
        <p:nvSpPr>
          <p:cNvPr id="236" name="Google Shape;236;p24"/>
          <p:cNvSpPr txBox="1"/>
          <p:nvPr/>
        </p:nvSpPr>
        <p:spPr>
          <a:xfrm>
            <a:off x="2040499" y="1530839"/>
            <a:ext cx="2603732" cy="203735"/>
          </a:xfrm>
          <a:prstGeom prst="rect">
            <a:avLst/>
          </a:prstGeom>
          <a:noFill/>
          <a:ln>
            <a:noFill/>
          </a:ln>
        </p:spPr>
        <p:txBody>
          <a:bodyPr anchorCtr="0" anchor="t" bIns="0" lIns="0" spcFirstLastPara="1" rIns="0" wrap="square" tIns="13725">
            <a:spAutoFit/>
          </a:bodyPr>
          <a:lstStyle/>
          <a:p>
            <a:pPr indent="2892"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QA &amp; INSPECTION CIRCLE KL 	</a:t>
            </a:r>
            <a:endParaRPr b="0" i="0" sz="1253" u="none" cap="none" strike="noStrike">
              <a:solidFill>
                <a:schemeClr val="dk1"/>
              </a:solidFill>
              <a:latin typeface="Arial"/>
              <a:ea typeface="Arial"/>
              <a:cs typeface="Arial"/>
              <a:sym typeface="Arial"/>
            </a:endParaRPr>
          </a:p>
        </p:txBody>
      </p:sp>
      <p:grpSp>
        <p:nvGrpSpPr>
          <p:cNvPr id="237" name="Google Shape;237;p24"/>
          <p:cNvGrpSpPr/>
          <p:nvPr/>
        </p:nvGrpSpPr>
        <p:grpSpPr>
          <a:xfrm>
            <a:off x="2040733" y="3097742"/>
            <a:ext cx="7263130" cy="7800141"/>
            <a:chOff x="685800" y="1752600"/>
            <a:chExt cx="6377382" cy="6848904"/>
          </a:xfrm>
        </p:grpSpPr>
        <p:pic>
          <p:nvPicPr>
            <p:cNvPr id="238" name="Google Shape;238;p24"/>
            <p:cNvPicPr preferRelativeResize="0"/>
            <p:nvPr/>
          </p:nvPicPr>
          <p:blipFill rotWithShape="1">
            <a:blip r:embed="rId3">
              <a:alphaModFix/>
            </a:blip>
            <a:srcRect b="0" l="0" r="0" t="0"/>
            <a:stretch/>
          </p:blipFill>
          <p:spPr>
            <a:xfrm>
              <a:off x="685800" y="1752600"/>
              <a:ext cx="6377382" cy="6848904"/>
            </a:xfrm>
            <a:prstGeom prst="rect">
              <a:avLst/>
            </a:prstGeom>
            <a:noFill/>
            <a:ln>
              <a:noFill/>
            </a:ln>
          </p:spPr>
        </p:pic>
        <p:pic>
          <p:nvPicPr>
            <p:cNvPr id="239" name="Google Shape;239;p24"/>
            <p:cNvPicPr preferRelativeResize="0"/>
            <p:nvPr/>
          </p:nvPicPr>
          <p:blipFill rotWithShape="1">
            <a:blip r:embed="rId4">
              <a:alphaModFix/>
            </a:blip>
            <a:srcRect b="0" l="0" r="0" t="0"/>
            <a:stretch/>
          </p:blipFill>
          <p:spPr>
            <a:xfrm>
              <a:off x="5321808" y="8001000"/>
              <a:ext cx="1734312" cy="563880"/>
            </a:xfrm>
            <a:prstGeom prst="rect">
              <a:avLst/>
            </a:prstGeom>
            <a:noFill/>
            <a:ln>
              <a:noFill/>
            </a:ln>
          </p:spPr>
        </p:pic>
        <p:pic>
          <p:nvPicPr>
            <p:cNvPr id="240" name="Google Shape;240;p24"/>
            <p:cNvPicPr preferRelativeResize="0"/>
            <p:nvPr/>
          </p:nvPicPr>
          <p:blipFill rotWithShape="1">
            <a:blip r:embed="rId5">
              <a:alphaModFix/>
            </a:blip>
            <a:srcRect b="0" l="0" r="0" t="0"/>
            <a:stretch/>
          </p:blipFill>
          <p:spPr>
            <a:xfrm>
              <a:off x="701040" y="1755647"/>
              <a:ext cx="1563623" cy="362711"/>
            </a:xfrm>
            <a:prstGeom prst="rect">
              <a:avLst/>
            </a:prstGeom>
            <a:noFill/>
            <a:ln>
              <a:noFill/>
            </a:ln>
          </p:spPr>
        </p:pic>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44" name="Shape 244"/>
        <p:cNvGrpSpPr/>
        <p:nvPr/>
      </p:nvGrpSpPr>
      <p:grpSpPr>
        <a:xfrm>
          <a:off x="0" y="0"/>
          <a:ext cx="0" cy="0"/>
          <a:chOff x="0" y="0"/>
          <a:chExt cx="0" cy="0"/>
        </a:xfrm>
      </p:grpSpPr>
      <p:sp>
        <p:nvSpPr>
          <p:cNvPr id="245" name="Google Shape;245;p25"/>
          <p:cNvSpPr txBox="1"/>
          <p:nvPr/>
        </p:nvSpPr>
        <p:spPr>
          <a:xfrm>
            <a:off x="7238763" y="1574232"/>
            <a:ext cx="1836914" cy="408086"/>
          </a:xfrm>
          <a:prstGeom prst="rect">
            <a:avLst/>
          </a:prstGeom>
          <a:noFill/>
          <a:ln>
            <a:noFill/>
          </a:ln>
        </p:spPr>
        <p:txBody>
          <a:bodyPr anchorCtr="0" anchor="t" bIns="0" lIns="0" spcFirstLastPara="1" rIns="0" wrap="square" tIns="13725">
            <a:spAutoFit/>
          </a:bodyPr>
          <a:lstStyle/>
          <a:p>
            <a:pPr indent="705103"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4G PHASE IX.2  eNode-B A/T SCHEDULE</a:t>
            </a:r>
            <a:endParaRPr b="0" i="0" sz="1253" u="none" cap="none" strike="noStrike">
              <a:solidFill>
                <a:schemeClr val="dk1"/>
              </a:solidFill>
              <a:latin typeface="Arial"/>
              <a:ea typeface="Arial"/>
              <a:cs typeface="Arial"/>
              <a:sym typeface="Arial"/>
            </a:endParaRPr>
          </a:p>
        </p:txBody>
      </p:sp>
      <p:sp>
        <p:nvSpPr>
          <p:cNvPr id="246" name="Google Shape;246;p25"/>
          <p:cNvSpPr txBox="1"/>
          <p:nvPr/>
        </p:nvSpPr>
        <p:spPr>
          <a:xfrm>
            <a:off x="2307794" y="2170607"/>
            <a:ext cx="906163" cy="224984"/>
          </a:xfrm>
          <a:prstGeom prst="rect">
            <a:avLst/>
          </a:prstGeom>
          <a:noFill/>
          <a:ln>
            <a:noFill/>
          </a:ln>
        </p:spPr>
        <p:txBody>
          <a:bodyPr anchorCtr="0" anchor="t" bIns="0" lIns="0" spcFirstLastPara="1" rIns="0" wrap="square" tIns="14450">
            <a:spAutoFit/>
          </a:bodyPr>
          <a:lstStyle/>
          <a:p>
            <a:pPr indent="0" lvl="0" marL="14464" marR="0" rtl="0" algn="l">
              <a:lnSpc>
                <a:spcPct val="100000"/>
              </a:lnSpc>
              <a:spcBef>
                <a:spcPts val="0"/>
              </a:spcBef>
              <a:spcAft>
                <a:spcPts val="0"/>
              </a:spcAft>
              <a:buClr>
                <a:srgbClr val="000000"/>
              </a:buClr>
              <a:buSzPts val="1367"/>
              <a:buFont typeface="Arial"/>
              <a:buNone/>
            </a:pPr>
            <a:r>
              <a:rPr b="1" i="0" lang="en-US" sz="1367" u="none" cap="none" strike="noStrike">
                <a:solidFill>
                  <a:schemeClr val="dk1"/>
                </a:solidFill>
                <a:latin typeface="Arial"/>
                <a:ea typeface="Arial"/>
                <a:cs typeface="Arial"/>
                <a:sym typeface="Arial"/>
              </a:rPr>
              <a:t>Drive route:</a:t>
            </a:r>
            <a:endParaRPr b="0" i="0" sz="1367" u="none" cap="none" strike="noStrike">
              <a:solidFill>
                <a:schemeClr val="dk1"/>
              </a:solidFill>
              <a:latin typeface="Arial"/>
              <a:ea typeface="Arial"/>
              <a:cs typeface="Arial"/>
              <a:sym typeface="Arial"/>
            </a:endParaRPr>
          </a:p>
        </p:txBody>
      </p:sp>
      <p:sp>
        <p:nvSpPr>
          <p:cNvPr id="247" name="Google Shape;247;p25"/>
          <p:cNvSpPr txBox="1"/>
          <p:nvPr/>
        </p:nvSpPr>
        <p:spPr>
          <a:xfrm>
            <a:off x="2248781" y="11797217"/>
            <a:ext cx="1915019" cy="192810"/>
          </a:xfrm>
          <a:prstGeom prst="rect">
            <a:avLst/>
          </a:prstGeom>
          <a:noFill/>
          <a:ln>
            <a:noFill/>
          </a:ln>
        </p:spPr>
        <p:txBody>
          <a:bodyPr anchorCtr="0" anchor="t" bIns="0" lIns="0" spcFirstLastPara="1" rIns="0" wrap="square" tIns="0">
            <a:spAutoFit/>
          </a:bodyPr>
          <a:lstStyle/>
          <a:p>
            <a:pPr indent="0" lvl="0" marL="14464" marR="0" rtl="0" algn="l">
              <a:lnSpc>
                <a:spcPct val="1000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QAIN-11/31(14)/1/2023-CM</a:t>
            </a:r>
            <a:endParaRPr b="0" i="0" sz="1253" u="none" cap="none" strike="noStrike">
              <a:solidFill>
                <a:schemeClr val="dk1"/>
              </a:solidFill>
              <a:latin typeface="Arial"/>
              <a:ea typeface="Arial"/>
              <a:cs typeface="Arial"/>
              <a:sym typeface="Arial"/>
            </a:endParaRPr>
          </a:p>
        </p:txBody>
      </p:sp>
      <p:sp>
        <p:nvSpPr>
          <p:cNvPr id="248" name="Google Shape;248;p25"/>
          <p:cNvSpPr txBox="1"/>
          <p:nvPr/>
        </p:nvSpPr>
        <p:spPr>
          <a:xfrm>
            <a:off x="2040499" y="1530839"/>
            <a:ext cx="2603732" cy="203735"/>
          </a:xfrm>
          <a:prstGeom prst="rect">
            <a:avLst/>
          </a:prstGeom>
          <a:noFill/>
          <a:ln>
            <a:noFill/>
          </a:ln>
        </p:spPr>
        <p:txBody>
          <a:bodyPr anchorCtr="0" anchor="t" bIns="0" lIns="0" spcFirstLastPara="1" rIns="0" wrap="square" tIns="13725">
            <a:spAutoFit/>
          </a:bodyPr>
          <a:lstStyle/>
          <a:p>
            <a:pPr indent="2892"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QA &amp; INSPECTION CIRCLE KL 	</a:t>
            </a:r>
            <a:endParaRPr b="0" i="0" sz="1253" u="none" cap="none" strike="noStrike">
              <a:solidFill>
                <a:schemeClr val="dk1"/>
              </a:solidFill>
              <a:latin typeface="Arial"/>
              <a:ea typeface="Arial"/>
              <a:cs typeface="Arial"/>
              <a:sym typeface="Arial"/>
            </a:endParaRPr>
          </a:p>
        </p:txBody>
      </p:sp>
      <p:pic>
        <p:nvPicPr>
          <p:cNvPr descr="Picture" id="249" name="Google Shape;249;p25"/>
          <p:cNvPicPr preferRelativeResize="0"/>
          <p:nvPr/>
        </p:nvPicPr>
        <p:blipFill rotWithShape="1">
          <a:blip r:embed="rId3">
            <a:alphaModFix/>
          </a:blip>
          <a:srcRect b="0" l="0" r="0" t="0"/>
          <a:stretch/>
        </p:blipFill>
        <p:spPr>
          <a:xfrm>
            <a:off x="1346466" y="3217071"/>
            <a:ext cx="8678333" cy="722471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3" name="Shape 253"/>
        <p:cNvGrpSpPr/>
        <p:nvPr/>
      </p:nvGrpSpPr>
      <p:grpSpPr>
        <a:xfrm>
          <a:off x="0" y="0"/>
          <a:ext cx="0" cy="0"/>
          <a:chOff x="0" y="0"/>
          <a:chExt cx="0" cy="0"/>
        </a:xfrm>
      </p:grpSpPr>
      <p:sp>
        <p:nvSpPr>
          <p:cNvPr id="254" name="Google Shape;254;p26"/>
          <p:cNvSpPr txBox="1"/>
          <p:nvPr/>
        </p:nvSpPr>
        <p:spPr>
          <a:xfrm>
            <a:off x="7238763" y="1574232"/>
            <a:ext cx="1836914" cy="408086"/>
          </a:xfrm>
          <a:prstGeom prst="rect">
            <a:avLst/>
          </a:prstGeom>
          <a:noFill/>
          <a:ln>
            <a:noFill/>
          </a:ln>
        </p:spPr>
        <p:txBody>
          <a:bodyPr anchorCtr="0" anchor="t" bIns="0" lIns="0" spcFirstLastPara="1" rIns="0" wrap="square" tIns="13725">
            <a:spAutoFit/>
          </a:bodyPr>
          <a:lstStyle/>
          <a:p>
            <a:pPr indent="705103"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4G PHASE IX.2  eNode-B A/T SCHEDULE</a:t>
            </a:r>
            <a:endParaRPr b="0" i="0" sz="1253" u="none" cap="none" strike="noStrike">
              <a:solidFill>
                <a:schemeClr val="dk1"/>
              </a:solidFill>
              <a:latin typeface="Arial"/>
              <a:ea typeface="Arial"/>
              <a:cs typeface="Arial"/>
              <a:sym typeface="Arial"/>
            </a:endParaRPr>
          </a:p>
        </p:txBody>
      </p:sp>
      <p:sp>
        <p:nvSpPr>
          <p:cNvPr id="255" name="Google Shape;255;p26"/>
          <p:cNvSpPr txBox="1"/>
          <p:nvPr/>
        </p:nvSpPr>
        <p:spPr>
          <a:xfrm>
            <a:off x="2307791" y="2170607"/>
            <a:ext cx="1583796" cy="224984"/>
          </a:xfrm>
          <a:prstGeom prst="rect">
            <a:avLst/>
          </a:prstGeom>
          <a:noFill/>
          <a:ln>
            <a:noFill/>
          </a:ln>
        </p:spPr>
        <p:txBody>
          <a:bodyPr anchorCtr="0" anchor="t" bIns="0" lIns="0" spcFirstLastPara="1" rIns="0" wrap="square" tIns="14450">
            <a:spAutoFit/>
          </a:bodyPr>
          <a:lstStyle/>
          <a:p>
            <a:pPr indent="0" lvl="0" marL="14464" marR="0" rtl="0" algn="l">
              <a:lnSpc>
                <a:spcPct val="100000"/>
              </a:lnSpc>
              <a:spcBef>
                <a:spcPts val="0"/>
              </a:spcBef>
              <a:spcAft>
                <a:spcPts val="0"/>
              </a:spcAft>
              <a:buClr>
                <a:srgbClr val="000000"/>
              </a:buClr>
              <a:buSzPts val="1253"/>
              <a:buFont typeface="Arial"/>
              <a:buNone/>
            </a:pPr>
            <a:r>
              <a:rPr b="1" i="0" lang="en-US" sz="1253" u="none" cap="none" strike="noStrike">
                <a:solidFill>
                  <a:schemeClr val="dk1"/>
                </a:solidFill>
                <a:latin typeface="Arial"/>
                <a:ea typeface="Arial"/>
                <a:cs typeface="Arial"/>
                <a:sym typeface="Arial"/>
              </a:rPr>
              <a:t>E.  </a:t>
            </a:r>
            <a:r>
              <a:rPr b="1" i="0" lang="en-US" sz="1367" u="none" cap="none" strike="noStrike">
                <a:solidFill>
                  <a:schemeClr val="dk1"/>
                </a:solidFill>
                <a:latin typeface="Arial"/>
                <a:ea typeface="Arial"/>
                <a:cs typeface="Arial"/>
                <a:sym typeface="Arial"/>
              </a:rPr>
              <a:t>Serving PCI Plot</a:t>
            </a:r>
            <a:endParaRPr b="0" i="0" sz="1367" u="none" cap="none" strike="noStrike">
              <a:solidFill>
                <a:schemeClr val="dk1"/>
              </a:solidFill>
              <a:latin typeface="Arial"/>
              <a:ea typeface="Arial"/>
              <a:cs typeface="Arial"/>
              <a:sym typeface="Arial"/>
            </a:endParaRPr>
          </a:p>
        </p:txBody>
      </p:sp>
      <p:sp>
        <p:nvSpPr>
          <p:cNvPr id="256" name="Google Shape;256;p26"/>
          <p:cNvSpPr txBox="1"/>
          <p:nvPr/>
        </p:nvSpPr>
        <p:spPr>
          <a:xfrm>
            <a:off x="2248781" y="11797217"/>
            <a:ext cx="1915019" cy="192810"/>
          </a:xfrm>
          <a:prstGeom prst="rect">
            <a:avLst/>
          </a:prstGeom>
          <a:noFill/>
          <a:ln>
            <a:noFill/>
          </a:ln>
        </p:spPr>
        <p:txBody>
          <a:bodyPr anchorCtr="0" anchor="t" bIns="0" lIns="0" spcFirstLastPara="1" rIns="0" wrap="square" tIns="0">
            <a:spAutoFit/>
          </a:bodyPr>
          <a:lstStyle/>
          <a:p>
            <a:pPr indent="0" lvl="0" marL="14464" marR="0" rtl="0" algn="l">
              <a:lnSpc>
                <a:spcPct val="1000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QAIN-11/31(14)/1/2023-CM</a:t>
            </a:r>
            <a:endParaRPr b="0" i="0" sz="1253" u="none" cap="none" strike="noStrike">
              <a:solidFill>
                <a:schemeClr val="dk1"/>
              </a:solidFill>
              <a:latin typeface="Arial"/>
              <a:ea typeface="Arial"/>
              <a:cs typeface="Arial"/>
              <a:sym typeface="Arial"/>
            </a:endParaRPr>
          </a:p>
        </p:txBody>
      </p:sp>
      <p:sp>
        <p:nvSpPr>
          <p:cNvPr id="257" name="Google Shape;257;p26"/>
          <p:cNvSpPr txBox="1"/>
          <p:nvPr/>
        </p:nvSpPr>
        <p:spPr>
          <a:xfrm>
            <a:off x="2040499" y="1530839"/>
            <a:ext cx="2603732" cy="203735"/>
          </a:xfrm>
          <a:prstGeom prst="rect">
            <a:avLst/>
          </a:prstGeom>
          <a:noFill/>
          <a:ln>
            <a:noFill/>
          </a:ln>
        </p:spPr>
        <p:txBody>
          <a:bodyPr anchorCtr="0" anchor="t" bIns="0" lIns="0" spcFirstLastPara="1" rIns="0" wrap="square" tIns="13725">
            <a:spAutoFit/>
          </a:bodyPr>
          <a:lstStyle/>
          <a:p>
            <a:pPr indent="2892"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QA &amp; INSPECTION CIRCLE KL 	</a:t>
            </a:r>
            <a:endParaRPr b="0" i="0" sz="1253" u="none" cap="none" strike="noStrike">
              <a:solidFill>
                <a:schemeClr val="dk1"/>
              </a:solidFill>
              <a:latin typeface="Arial"/>
              <a:ea typeface="Arial"/>
              <a:cs typeface="Arial"/>
              <a:sym typeface="Arial"/>
            </a:endParaRPr>
          </a:p>
        </p:txBody>
      </p:sp>
      <p:sp>
        <p:nvSpPr>
          <p:cNvPr id="258" name="Google Shape;258;p26"/>
          <p:cNvSpPr txBox="1"/>
          <p:nvPr/>
        </p:nvSpPr>
        <p:spPr>
          <a:xfrm>
            <a:off x="1988662" y="3080386"/>
            <a:ext cx="1189325" cy="812274"/>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339"/>
              <a:buFont typeface="Arial"/>
              <a:buNone/>
            </a:pPr>
            <a:r>
              <a:rPr b="1" i="0" lang="en-US" sz="2339" u="none" cap="none" strike="noStrike">
                <a:solidFill>
                  <a:schemeClr val="dk1"/>
                </a:solidFill>
                <a:latin typeface="Calibri"/>
                <a:ea typeface="Calibri"/>
                <a:cs typeface="Calibri"/>
                <a:sym typeface="Calibri"/>
              </a:rPr>
              <a:t>200*200</a:t>
            </a:r>
            <a:endParaRPr b="0" i="0" sz="1400" u="none" cap="none" strike="noStrike">
              <a:solidFill>
                <a:srgbClr val="000000"/>
              </a:solidFill>
              <a:latin typeface="Arial"/>
              <a:ea typeface="Arial"/>
              <a:cs typeface="Arial"/>
              <a:sym typeface="Arial"/>
            </a:endParaRPr>
          </a:p>
        </p:txBody>
      </p:sp>
      <p:pic>
        <p:nvPicPr>
          <p:cNvPr descr="Picture" id="259" name="Google Shape;259;p26"/>
          <p:cNvPicPr preferRelativeResize="0"/>
          <p:nvPr/>
        </p:nvPicPr>
        <p:blipFill rotWithShape="1">
          <a:blip r:embed="rId3">
            <a:alphaModFix/>
          </a:blip>
          <a:srcRect b="0" l="0" r="0" t="0"/>
          <a:stretch/>
        </p:blipFill>
        <p:spPr>
          <a:xfrm>
            <a:off x="1346466" y="3217071"/>
            <a:ext cx="8678333" cy="722471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63" name="Shape 263"/>
        <p:cNvGrpSpPr/>
        <p:nvPr/>
      </p:nvGrpSpPr>
      <p:grpSpPr>
        <a:xfrm>
          <a:off x="0" y="0"/>
          <a:ext cx="0" cy="0"/>
          <a:chOff x="0" y="0"/>
          <a:chExt cx="0" cy="0"/>
        </a:xfrm>
      </p:grpSpPr>
      <p:sp>
        <p:nvSpPr>
          <p:cNvPr id="264" name="Google Shape;264;p27"/>
          <p:cNvSpPr txBox="1"/>
          <p:nvPr/>
        </p:nvSpPr>
        <p:spPr>
          <a:xfrm>
            <a:off x="7238764" y="1574232"/>
            <a:ext cx="1833298" cy="408086"/>
          </a:xfrm>
          <a:prstGeom prst="rect">
            <a:avLst/>
          </a:prstGeom>
          <a:noFill/>
          <a:ln>
            <a:noFill/>
          </a:ln>
        </p:spPr>
        <p:txBody>
          <a:bodyPr anchorCtr="0" anchor="t" bIns="0" lIns="0" spcFirstLastPara="1" rIns="0" wrap="square" tIns="13725">
            <a:spAutoFit/>
          </a:bodyPr>
          <a:lstStyle/>
          <a:p>
            <a:pPr indent="701487"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4G PHASE IX.2  eNode-B A/T SCHEDULE</a:t>
            </a:r>
            <a:endParaRPr b="0" i="0" sz="1253" u="none" cap="none" strike="noStrike">
              <a:solidFill>
                <a:schemeClr val="dk1"/>
              </a:solidFill>
              <a:latin typeface="Arial"/>
              <a:ea typeface="Arial"/>
              <a:cs typeface="Arial"/>
              <a:sym typeface="Arial"/>
            </a:endParaRPr>
          </a:p>
        </p:txBody>
      </p:sp>
      <p:sp>
        <p:nvSpPr>
          <p:cNvPr id="265" name="Google Shape;265;p27"/>
          <p:cNvSpPr txBox="1"/>
          <p:nvPr/>
        </p:nvSpPr>
        <p:spPr>
          <a:xfrm>
            <a:off x="2307794" y="2174079"/>
            <a:ext cx="1047909" cy="207415"/>
          </a:xfrm>
          <a:prstGeom prst="rect">
            <a:avLst/>
          </a:prstGeom>
          <a:noFill/>
          <a:ln>
            <a:noFill/>
          </a:ln>
        </p:spPr>
        <p:txBody>
          <a:bodyPr anchorCtr="0" anchor="t" bIns="0" lIns="0" spcFirstLastPara="1" rIns="0" wrap="square" tIns="14450">
            <a:spAutoFit/>
          </a:bodyPr>
          <a:lstStyle/>
          <a:p>
            <a:pPr indent="0" lvl="0" marL="14464" marR="0" rtl="0" algn="l">
              <a:lnSpc>
                <a:spcPct val="1000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A. </a:t>
            </a:r>
            <a:r>
              <a:rPr b="1" i="0" lang="en-US" sz="1253" u="none" cap="none" strike="noStrike">
                <a:solidFill>
                  <a:schemeClr val="dk1"/>
                </a:solidFill>
                <a:latin typeface="Arial"/>
                <a:ea typeface="Arial"/>
                <a:cs typeface="Arial"/>
                <a:sym typeface="Arial"/>
              </a:rPr>
              <a:t>RSRP Plot</a:t>
            </a:r>
            <a:endParaRPr b="0" i="0" sz="1253" u="none" cap="none" strike="noStrike">
              <a:solidFill>
                <a:schemeClr val="dk1"/>
              </a:solidFill>
              <a:latin typeface="Arial"/>
              <a:ea typeface="Arial"/>
              <a:cs typeface="Arial"/>
              <a:sym typeface="Arial"/>
            </a:endParaRPr>
          </a:p>
        </p:txBody>
      </p:sp>
      <p:sp>
        <p:nvSpPr>
          <p:cNvPr id="266" name="Google Shape;266;p27"/>
          <p:cNvSpPr txBox="1"/>
          <p:nvPr>
            <p:ph idx="11" type="ftr"/>
          </p:nvPr>
        </p:nvSpPr>
        <p:spPr>
          <a:xfrm>
            <a:off x="2248781" y="14495318"/>
            <a:ext cx="1915019" cy="192810"/>
          </a:xfrm>
          <a:prstGeom prst="rect">
            <a:avLst/>
          </a:prstGeom>
          <a:noFill/>
          <a:ln>
            <a:noFill/>
          </a:ln>
        </p:spPr>
        <p:txBody>
          <a:bodyPr anchorCtr="0" anchor="t" bIns="0" lIns="0" spcFirstLastPara="1" rIns="0" wrap="square" tIns="0">
            <a:spAutoFit/>
          </a:bodyPr>
          <a:lstStyle/>
          <a:p>
            <a:pPr indent="0" lvl="0" marL="14464" rtl="0" algn="l">
              <a:lnSpc>
                <a:spcPct val="100000"/>
              </a:lnSpc>
              <a:spcBef>
                <a:spcPts val="0"/>
              </a:spcBef>
              <a:spcAft>
                <a:spcPts val="0"/>
              </a:spcAft>
              <a:buSzPts val="1400"/>
              <a:buNone/>
            </a:pPr>
            <a:r>
              <a:rPr lang="en-US"/>
              <a:t>QAIN-11/31(14)/1/2023-CM</a:t>
            </a:r>
            <a:endParaRPr/>
          </a:p>
        </p:txBody>
      </p:sp>
      <p:sp>
        <p:nvSpPr>
          <p:cNvPr id="267" name="Google Shape;267;p27"/>
          <p:cNvSpPr txBox="1"/>
          <p:nvPr/>
        </p:nvSpPr>
        <p:spPr>
          <a:xfrm>
            <a:off x="2040499" y="1530839"/>
            <a:ext cx="2603732" cy="203735"/>
          </a:xfrm>
          <a:prstGeom prst="rect">
            <a:avLst/>
          </a:prstGeom>
          <a:noFill/>
          <a:ln>
            <a:noFill/>
          </a:ln>
        </p:spPr>
        <p:txBody>
          <a:bodyPr anchorCtr="0" anchor="t" bIns="0" lIns="0" spcFirstLastPara="1" rIns="0" wrap="square" tIns="13725">
            <a:spAutoFit/>
          </a:bodyPr>
          <a:lstStyle/>
          <a:p>
            <a:pPr indent="2892"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QA &amp; INSPECTION CIRCLE KL 	</a:t>
            </a:r>
            <a:endParaRPr b="0" i="0" sz="1253" u="none" cap="none" strike="noStrike">
              <a:solidFill>
                <a:schemeClr val="dk1"/>
              </a:solidFill>
              <a:latin typeface="Arial"/>
              <a:ea typeface="Arial"/>
              <a:cs typeface="Arial"/>
              <a:sym typeface="Arial"/>
            </a:endParaRPr>
          </a:p>
        </p:txBody>
      </p:sp>
      <p:sp>
        <p:nvSpPr>
          <p:cNvPr id="268" name="Google Shape;268;p27"/>
          <p:cNvSpPr txBox="1"/>
          <p:nvPr/>
        </p:nvSpPr>
        <p:spPr>
          <a:xfrm>
            <a:off x="1988662" y="3080386"/>
            <a:ext cx="1189325" cy="812274"/>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339"/>
              <a:buFont typeface="Arial"/>
              <a:buNone/>
            </a:pPr>
            <a:r>
              <a:rPr b="1" i="0" lang="en-US" sz="2339" u="none" cap="none" strike="noStrike">
                <a:solidFill>
                  <a:schemeClr val="dk1"/>
                </a:solidFill>
                <a:latin typeface="Calibri"/>
                <a:ea typeface="Calibri"/>
                <a:cs typeface="Calibri"/>
                <a:sym typeface="Calibri"/>
              </a:rPr>
              <a:t>200*200</a:t>
            </a:r>
            <a:endParaRPr b="0" i="0" sz="1400" u="none" cap="none" strike="noStrike">
              <a:solidFill>
                <a:srgbClr val="000000"/>
              </a:solidFill>
              <a:latin typeface="Arial"/>
              <a:ea typeface="Arial"/>
              <a:cs typeface="Arial"/>
              <a:sym typeface="Arial"/>
            </a:endParaRPr>
          </a:p>
        </p:txBody>
      </p:sp>
      <p:pic>
        <p:nvPicPr>
          <p:cNvPr descr="Picture" id="269" name="Google Shape;269;p27"/>
          <p:cNvPicPr preferRelativeResize="0"/>
          <p:nvPr/>
        </p:nvPicPr>
        <p:blipFill rotWithShape="1">
          <a:blip r:embed="rId3">
            <a:alphaModFix/>
          </a:blip>
          <a:srcRect b="0" l="0" r="0" t="0"/>
          <a:stretch/>
        </p:blipFill>
        <p:spPr>
          <a:xfrm>
            <a:off x="1346466" y="3217071"/>
            <a:ext cx="8678333" cy="722471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73" name="Shape 273"/>
        <p:cNvGrpSpPr/>
        <p:nvPr/>
      </p:nvGrpSpPr>
      <p:grpSpPr>
        <a:xfrm>
          <a:off x="0" y="0"/>
          <a:ext cx="0" cy="0"/>
          <a:chOff x="0" y="0"/>
          <a:chExt cx="0" cy="0"/>
        </a:xfrm>
      </p:grpSpPr>
      <p:sp>
        <p:nvSpPr>
          <p:cNvPr id="274" name="Google Shape;274;p28"/>
          <p:cNvSpPr txBox="1"/>
          <p:nvPr/>
        </p:nvSpPr>
        <p:spPr>
          <a:xfrm>
            <a:off x="7238764" y="1574232"/>
            <a:ext cx="1833298" cy="408086"/>
          </a:xfrm>
          <a:prstGeom prst="rect">
            <a:avLst/>
          </a:prstGeom>
          <a:noFill/>
          <a:ln>
            <a:noFill/>
          </a:ln>
        </p:spPr>
        <p:txBody>
          <a:bodyPr anchorCtr="0" anchor="t" bIns="0" lIns="0" spcFirstLastPara="1" rIns="0" wrap="square" tIns="13725">
            <a:spAutoFit/>
          </a:bodyPr>
          <a:lstStyle/>
          <a:p>
            <a:pPr indent="701487"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4G PHASE IX.2  eNode-B A/T SCHEDULE</a:t>
            </a:r>
            <a:endParaRPr b="0" i="0" sz="1253" u="none" cap="none" strike="noStrike">
              <a:solidFill>
                <a:schemeClr val="dk1"/>
              </a:solidFill>
              <a:latin typeface="Arial"/>
              <a:ea typeface="Arial"/>
              <a:cs typeface="Arial"/>
              <a:sym typeface="Arial"/>
            </a:endParaRPr>
          </a:p>
        </p:txBody>
      </p:sp>
      <p:sp>
        <p:nvSpPr>
          <p:cNvPr id="275" name="Google Shape;275;p28"/>
          <p:cNvSpPr txBox="1"/>
          <p:nvPr/>
        </p:nvSpPr>
        <p:spPr>
          <a:xfrm>
            <a:off x="2307792" y="2184493"/>
            <a:ext cx="1023320" cy="210379"/>
          </a:xfrm>
          <a:prstGeom prst="rect">
            <a:avLst/>
          </a:prstGeom>
          <a:noFill/>
          <a:ln>
            <a:noFill/>
          </a:ln>
        </p:spPr>
        <p:txBody>
          <a:bodyPr anchorCtr="0" anchor="t" bIns="0" lIns="0" spcFirstLastPara="1" rIns="0" wrap="square" tIns="0">
            <a:spAutoFit/>
          </a:bodyPr>
          <a:lstStyle/>
          <a:p>
            <a:pPr indent="0" lvl="0" marL="14464" marR="0" rtl="0" algn="l">
              <a:lnSpc>
                <a:spcPct val="100000"/>
              </a:lnSpc>
              <a:spcBef>
                <a:spcPts val="0"/>
              </a:spcBef>
              <a:spcAft>
                <a:spcPts val="0"/>
              </a:spcAft>
              <a:buClr>
                <a:srgbClr val="000000"/>
              </a:buClr>
              <a:buSzPts val="1367"/>
              <a:buFont typeface="Arial"/>
              <a:buNone/>
            </a:pPr>
            <a:r>
              <a:rPr b="0" i="0" lang="en-US" sz="1367" u="none" cap="none" strike="noStrike">
                <a:solidFill>
                  <a:schemeClr val="dk1"/>
                </a:solidFill>
                <a:latin typeface="Arial"/>
                <a:ea typeface="Arial"/>
                <a:cs typeface="Arial"/>
                <a:sym typeface="Arial"/>
              </a:rPr>
              <a:t>B. </a:t>
            </a:r>
            <a:r>
              <a:rPr b="1" i="0" lang="en-US" sz="1253" u="none" cap="none" strike="noStrike">
                <a:solidFill>
                  <a:schemeClr val="dk1"/>
                </a:solidFill>
                <a:latin typeface="Arial"/>
                <a:ea typeface="Arial"/>
                <a:cs typeface="Arial"/>
                <a:sym typeface="Arial"/>
              </a:rPr>
              <a:t>RSRQ Plot</a:t>
            </a:r>
            <a:endParaRPr b="0" i="0" sz="1253" u="none" cap="none" strike="noStrike">
              <a:solidFill>
                <a:schemeClr val="dk1"/>
              </a:solidFill>
              <a:latin typeface="Arial"/>
              <a:ea typeface="Arial"/>
              <a:cs typeface="Arial"/>
              <a:sym typeface="Arial"/>
            </a:endParaRPr>
          </a:p>
        </p:txBody>
      </p:sp>
      <p:sp>
        <p:nvSpPr>
          <p:cNvPr id="276" name="Google Shape;276;p28"/>
          <p:cNvSpPr txBox="1"/>
          <p:nvPr>
            <p:ph idx="11" type="ftr"/>
          </p:nvPr>
        </p:nvSpPr>
        <p:spPr>
          <a:xfrm>
            <a:off x="2248781" y="14495318"/>
            <a:ext cx="1915019" cy="192810"/>
          </a:xfrm>
          <a:prstGeom prst="rect">
            <a:avLst/>
          </a:prstGeom>
          <a:noFill/>
          <a:ln>
            <a:noFill/>
          </a:ln>
        </p:spPr>
        <p:txBody>
          <a:bodyPr anchorCtr="0" anchor="t" bIns="0" lIns="0" spcFirstLastPara="1" rIns="0" wrap="square" tIns="0">
            <a:spAutoFit/>
          </a:bodyPr>
          <a:lstStyle/>
          <a:p>
            <a:pPr indent="0" lvl="0" marL="14464" rtl="0" algn="l">
              <a:lnSpc>
                <a:spcPct val="100000"/>
              </a:lnSpc>
              <a:spcBef>
                <a:spcPts val="0"/>
              </a:spcBef>
              <a:spcAft>
                <a:spcPts val="0"/>
              </a:spcAft>
              <a:buSzPts val="1400"/>
              <a:buNone/>
            </a:pPr>
            <a:r>
              <a:rPr lang="en-US"/>
              <a:t>QAIN-11/31(14)/1/2023-CM</a:t>
            </a:r>
            <a:endParaRPr/>
          </a:p>
        </p:txBody>
      </p:sp>
      <p:sp>
        <p:nvSpPr>
          <p:cNvPr id="277" name="Google Shape;277;p28"/>
          <p:cNvSpPr txBox="1"/>
          <p:nvPr/>
        </p:nvSpPr>
        <p:spPr>
          <a:xfrm>
            <a:off x="2040499" y="1530839"/>
            <a:ext cx="2603732" cy="203735"/>
          </a:xfrm>
          <a:prstGeom prst="rect">
            <a:avLst/>
          </a:prstGeom>
          <a:noFill/>
          <a:ln>
            <a:noFill/>
          </a:ln>
        </p:spPr>
        <p:txBody>
          <a:bodyPr anchorCtr="0" anchor="t" bIns="0" lIns="0" spcFirstLastPara="1" rIns="0" wrap="square" tIns="13725">
            <a:spAutoFit/>
          </a:bodyPr>
          <a:lstStyle/>
          <a:p>
            <a:pPr indent="2892"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QA &amp; INSPECTION CIRCLE KL 	</a:t>
            </a:r>
            <a:endParaRPr b="0" i="0" sz="1253" u="none" cap="none" strike="noStrike">
              <a:solidFill>
                <a:schemeClr val="dk1"/>
              </a:solidFill>
              <a:latin typeface="Arial"/>
              <a:ea typeface="Arial"/>
              <a:cs typeface="Arial"/>
              <a:sym typeface="Arial"/>
            </a:endParaRPr>
          </a:p>
        </p:txBody>
      </p:sp>
      <p:graphicFrame>
        <p:nvGraphicFramePr>
          <p:cNvPr id="278" name="Google Shape;278;p28"/>
          <p:cNvGraphicFramePr/>
          <p:nvPr/>
        </p:nvGraphicFramePr>
        <p:xfrm>
          <a:off x="1400705" y="-45149030"/>
          <a:ext cx="3000000" cy="3000000"/>
        </p:xfrm>
        <a:graphic>
          <a:graphicData uri="http://schemas.openxmlformats.org/drawingml/2006/table">
            <a:tbl>
              <a:tblPr>
                <a:noFill/>
                <a:tableStyleId>{E4242843-AAB6-44C1-86A8-03E24E99F890}</a:tableStyleId>
              </a:tblPr>
              <a:tblGrid>
                <a:gridCol w="7965975"/>
              </a:tblGrid>
              <a:tr h="187550">
                <a:tc>
                  <a:txBody>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Calibri"/>
                        <a:ea typeface="Calibri"/>
                        <a:cs typeface="Calibri"/>
                        <a:sym typeface="Calibri"/>
                      </a:endParaRPr>
                    </a:p>
                  </a:txBody>
                  <a:tcPr marT="10075" marB="0" marR="10075" marL="10075" anchor="b"/>
                </a:tc>
              </a:tr>
            </a:tbl>
          </a:graphicData>
        </a:graphic>
      </p:graphicFrame>
      <p:pic>
        <p:nvPicPr>
          <p:cNvPr descr="_tmp_4cfomhuk_go0.jpg" id="279" name="Google Shape;279;p28"/>
          <p:cNvPicPr preferRelativeResize="0"/>
          <p:nvPr/>
        </p:nvPicPr>
        <p:blipFill rotWithShape="1">
          <a:blip r:embed="rId3">
            <a:alphaModFix/>
          </a:blip>
          <a:srcRect b="0" l="0" r="0" t="0"/>
          <a:stretch/>
        </p:blipFill>
        <p:spPr>
          <a:xfrm>
            <a:off x="1400704" y="52299129"/>
            <a:ext cx="8569854" cy="6508750"/>
          </a:xfrm>
          <a:prstGeom prst="rect">
            <a:avLst/>
          </a:prstGeom>
          <a:noFill/>
          <a:ln>
            <a:noFill/>
          </a:ln>
        </p:spPr>
      </p:pic>
      <p:graphicFrame>
        <p:nvGraphicFramePr>
          <p:cNvPr id="280" name="Google Shape;280;p28"/>
          <p:cNvGraphicFramePr/>
          <p:nvPr/>
        </p:nvGraphicFramePr>
        <p:xfrm>
          <a:off x="1400705" y="-45149030"/>
          <a:ext cx="3000000" cy="3000000"/>
        </p:xfrm>
        <a:graphic>
          <a:graphicData uri="http://schemas.openxmlformats.org/drawingml/2006/table">
            <a:tbl>
              <a:tblPr>
                <a:noFill/>
                <a:tableStyleId>{E4242843-AAB6-44C1-86A8-03E24E99F890}</a:tableStyleId>
              </a:tblPr>
              <a:tblGrid>
                <a:gridCol w="7965975"/>
              </a:tblGrid>
              <a:tr h="187550">
                <a:tc>
                  <a:txBody>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Calibri"/>
                        <a:ea typeface="Calibri"/>
                        <a:cs typeface="Calibri"/>
                        <a:sym typeface="Calibri"/>
                      </a:endParaRPr>
                    </a:p>
                  </a:txBody>
                  <a:tcPr marT="10075" marB="0" marR="10075" marL="10075" anchor="b"/>
                </a:tc>
              </a:tr>
            </a:tbl>
          </a:graphicData>
        </a:graphic>
      </p:graphicFrame>
      <p:pic>
        <p:nvPicPr>
          <p:cNvPr descr="_tmp_4cfomhuk_go0.jpg" id="281" name="Google Shape;281;p28"/>
          <p:cNvPicPr preferRelativeResize="0"/>
          <p:nvPr/>
        </p:nvPicPr>
        <p:blipFill rotWithShape="1">
          <a:blip r:embed="rId3">
            <a:alphaModFix/>
          </a:blip>
          <a:srcRect b="0" l="0" r="0" t="0"/>
          <a:stretch/>
        </p:blipFill>
        <p:spPr>
          <a:xfrm>
            <a:off x="1400704" y="52299129"/>
            <a:ext cx="8569854" cy="6508750"/>
          </a:xfrm>
          <a:prstGeom prst="rect">
            <a:avLst/>
          </a:prstGeom>
          <a:noFill/>
          <a:ln>
            <a:noFill/>
          </a:ln>
        </p:spPr>
      </p:pic>
      <p:sp>
        <p:nvSpPr>
          <p:cNvPr id="282" name="Google Shape;282;p28"/>
          <p:cNvSpPr txBox="1"/>
          <p:nvPr/>
        </p:nvSpPr>
        <p:spPr>
          <a:xfrm>
            <a:off x="1988662" y="3080386"/>
            <a:ext cx="1189325" cy="812274"/>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339"/>
              <a:buFont typeface="Arial"/>
              <a:buNone/>
            </a:pPr>
            <a:r>
              <a:rPr b="1" i="0" lang="en-US" sz="2339" u="none" cap="none" strike="noStrike">
                <a:solidFill>
                  <a:schemeClr val="dk1"/>
                </a:solidFill>
                <a:latin typeface="Calibri"/>
                <a:ea typeface="Calibri"/>
                <a:cs typeface="Calibri"/>
                <a:sym typeface="Calibri"/>
              </a:rPr>
              <a:t>200*200</a:t>
            </a:r>
            <a:endParaRPr b="0" i="0" sz="1400" u="none" cap="none" strike="noStrike">
              <a:solidFill>
                <a:srgbClr val="000000"/>
              </a:solidFill>
              <a:latin typeface="Arial"/>
              <a:ea typeface="Arial"/>
              <a:cs typeface="Arial"/>
              <a:sym typeface="Arial"/>
            </a:endParaRPr>
          </a:p>
        </p:txBody>
      </p:sp>
      <p:pic>
        <p:nvPicPr>
          <p:cNvPr descr="Picture" id="283" name="Google Shape;283;p28"/>
          <p:cNvPicPr preferRelativeResize="0"/>
          <p:nvPr/>
        </p:nvPicPr>
        <p:blipFill rotWithShape="1">
          <a:blip r:embed="rId4">
            <a:alphaModFix/>
          </a:blip>
          <a:srcRect b="0" l="0" r="0" t="0"/>
          <a:stretch/>
        </p:blipFill>
        <p:spPr>
          <a:xfrm>
            <a:off x="1346466" y="3217071"/>
            <a:ext cx="8678333" cy="722471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87" name="Shape 287"/>
        <p:cNvGrpSpPr/>
        <p:nvPr/>
      </p:nvGrpSpPr>
      <p:grpSpPr>
        <a:xfrm>
          <a:off x="0" y="0"/>
          <a:ext cx="0" cy="0"/>
          <a:chOff x="0" y="0"/>
          <a:chExt cx="0" cy="0"/>
        </a:xfrm>
      </p:grpSpPr>
      <p:sp>
        <p:nvSpPr>
          <p:cNvPr id="288" name="Google Shape;288;p29"/>
          <p:cNvSpPr txBox="1"/>
          <p:nvPr/>
        </p:nvSpPr>
        <p:spPr>
          <a:xfrm>
            <a:off x="7238763" y="1574232"/>
            <a:ext cx="1836914" cy="408086"/>
          </a:xfrm>
          <a:prstGeom prst="rect">
            <a:avLst/>
          </a:prstGeom>
          <a:noFill/>
          <a:ln>
            <a:noFill/>
          </a:ln>
        </p:spPr>
        <p:txBody>
          <a:bodyPr anchorCtr="0" anchor="t" bIns="0" lIns="0" spcFirstLastPara="1" rIns="0" wrap="square" tIns="13725">
            <a:spAutoFit/>
          </a:bodyPr>
          <a:lstStyle/>
          <a:p>
            <a:pPr indent="705103"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4G PHASE IX.2  eNode-B A/T SCHEDULE</a:t>
            </a:r>
            <a:endParaRPr b="0" i="0" sz="1253" u="none" cap="none" strike="noStrike">
              <a:solidFill>
                <a:schemeClr val="dk1"/>
              </a:solidFill>
              <a:latin typeface="Arial"/>
              <a:ea typeface="Arial"/>
              <a:cs typeface="Arial"/>
              <a:sym typeface="Arial"/>
            </a:endParaRPr>
          </a:p>
        </p:txBody>
      </p:sp>
      <p:sp>
        <p:nvSpPr>
          <p:cNvPr id="289" name="Google Shape;289;p29"/>
          <p:cNvSpPr txBox="1"/>
          <p:nvPr/>
        </p:nvSpPr>
        <p:spPr>
          <a:xfrm>
            <a:off x="2307791" y="2174078"/>
            <a:ext cx="1054418" cy="210379"/>
          </a:xfrm>
          <a:prstGeom prst="rect">
            <a:avLst/>
          </a:prstGeom>
          <a:noFill/>
          <a:ln>
            <a:noFill/>
          </a:ln>
        </p:spPr>
        <p:txBody>
          <a:bodyPr anchorCtr="0" anchor="t" bIns="0" lIns="0" spcFirstLastPara="1" rIns="0" wrap="square" tIns="0">
            <a:spAutoFit/>
          </a:bodyPr>
          <a:lstStyle/>
          <a:p>
            <a:pPr indent="0" lvl="0" marL="14464" marR="0" rtl="0" algn="l">
              <a:lnSpc>
                <a:spcPct val="100000"/>
              </a:lnSpc>
              <a:spcBef>
                <a:spcPts val="0"/>
              </a:spcBef>
              <a:spcAft>
                <a:spcPts val="0"/>
              </a:spcAft>
              <a:buClr>
                <a:srgbClr val="000000"/>
              </a:buClr>
              <a:buSzPts val="1367"/>
              <a:buFont typeface="Arial"/>
              <a:buNone/>
            </a:pPr>
            <a:r>
              <a:rPr b="0" i="0" lang="en-US" sz="1367" u="none" cap="none" strike="noStrike">
                <a:solidFill>
                  <a:schemeClr val="dk1"/>
                </a:solidFill>
                <a:latin typeface="Arial"/>
                <a:ea typeface="Arial"/>
                <a:cs typeface="Arial"/>
                <a:sym typeface="Arial"/>
              </a:rPr>
              <a:t>C.	</a:t>
            </a:r>
            <a:r>
              <a:rPr b="1" i="0" lang="en-US" sz="1253" u="none" cap="none" strike="noStrike">
                <a:solidFill>
                  <a:schemeClr val="dk1"/>
                </a:solidFill>
                <a:latin typeface="Arial"/>
                <a:ea typeface="Arial"/>
                <a:cs typeface="Arial"/>
                <a:sym typeface="Arial"/>
              </a:rPr>
              <a:t>SINR Plot</a:t>
            </a:r>
            <a:endParaRPr b="0" i="0" sz="1253" u="none" cap="none" strike="noStrike">
              <a:solidFill>
                <a:schemeClr val="dk1"/>
              </a:solidFill>
              <a:latin typeface="Arial"/>
              <a:ea typeface="Arial"/>
              <a:cs typeface="Arial"/>
              <a:sym typeface="Arial"/>
            </a:endParaRPr>
          </a:p>
        </p:txBody>
      </p:sp>
      <p:sp>
        <p:nvSpPr>
          <p:cNvPr id="290" name="Google Shape;290;p29"/>
          <p:cNvSpPr txBox="1"/>
          <p:nvPr/>
        </p:nvSpPr>
        <p:spPr>
          <a:xfrm>
            <a:off x="2248781" y="11797217"/>
            <a:ext cx="1915019" cy="192810"/>
          </a:xfrm>
          <a:prstGeom prst="rect">
            <a:avLst/>
          </a:prstGeom>
          <a:noFill/>
          <a:ln>
            <a:noFill/>
          </a:ln>
        </p:spPr>
        <p:txBody>
          <a:bodyPr anchorCtr="0" anchor="t" bIns="0" lIns="0" spcFirstLastPara="1" rIns="0" wrap="square" tIns="0">
            <a:spAutoFit/>
          </a:bodyPr>
          <a:lstStyle/>
          <a:p>
            <a:pPr indent="0" lvl="0" marL="14464" marR="0" rtl="0" algn="l">
              <a:lnSpc>
                <a:spcPct val="1000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QAIN-11/31(14)/1/2023-CM</a:t>
            </a:r>
            <a:endParaRPr b="0" i="0" sz="1253" u="none" cap="none" strike="noStrike">
              <a:solidFill>
                <a:schemeClr val="dk1"/>
              </a:solidFill>
              <a:latin typeface="Arial"/>
              <a:ea typeface="Arial"/>
              <a:cs typeface="Arial"/>
              <a:sym typeface="Arial"/>
            </a:endParaRPr>
          </a:p>
        </p:txBody>
      </p:sp>
      <p:sp>
        <p:nvSpPr>
          <p:cNvPr id="291" name="Google Shape;291;p29"/>
          <p:cNvSpPr txBox="1"/>
          <p:nvPr/>
        </p:nvSpPr>
        <p:spPr>
          <a:xfrm>
            <a:off x="2040499" y="1530839"/>
            <a:ext cx="2603732" cy="203735"/>
          </a:xfrm>
          <a:prstGeom prst="rect">
            <a:avLst/>
          </a:prstGeom>
          <a:noFill/>
          <a:ln>
            <a:noFill/>
          </a:ln>
        </p:spPr>
        <p:txBody>
          <a:bodyPr anchorCtr="0" anchor="t" bIns="0" lIns="0" spcFirstLastPara="1" rIns="0" wrap="square" tIns="13725">
            <a:spAutoFit/>
          </a:bodyPr>
          <a:lstStyle/>
          <a:p>
            <a:pPr indent="2892"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QA &amp; INSPECTION CIRCLE KL 	</a:t>
            </a:r>
            <a:endParaRPr b="0" i="0" sz="1253" u="none" cap="none" strike="noStrike">
              <a:solidFill>
                <a:schemeClr val="dk1"/>
              </a:solidFill>
              <a:latin typeface="Arial"/>
              <a:ea typeface="Arial"/>
              <a:cs typeface="Arial"/>
              <a:sym typeface="Arial"/>
            </a:endParaRPr>
          </a:p>
        </p:txBody>
      </p:sp>
      <p:sp>
        <p:nvSpPr>
          <p:cNvPr id="292" name="Google Shape;292;p29"/>
          <p:cNvSpPr txBox="1"/>
          <p:nvPr/>
        </p:nvSpPr>
        <p:spPr>
          <a:xfrm>
            <a:off x="2055589" y="2662070"/>
            <a:ext cx="1189325" cy="812274"/>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339"/>
              <a:buFont typeface="Arial"/>
              <a:buNone/>
            </a:pPr>
            <a:r>
              <a:rPr b="1" i="0" lang="en-US" sz="2339" u="none" cap="none" strike="noStrike">
                <a:solidFill>
                  <a:schemeClr val="dk1"/>
                </a:solidFill>
                <a:latin typeface="Calibri"/>
                <a:ea typeface="Calibri"/>
                <a:cs typeface="Calibri"/>
                <a:sym typeface="Calibri"/>
              </a:rPr>
              <a:t>200*200</a:t>
            </a:r>
            <a:endParaRPr b="0" i="0" sz="1400" u="none" cap="none" strike="noStrike">
              <a:solidFill>
                <a:srgbClr val="000000"/>
              </a:solidFill>
              <a:latin typeface="Arial"/>
              <a:ea typeface="Arial"/>
              <a:cs typeface="Arial"/>
              <a:sym typeface="Arial"/>
            </a:endParaRPr>
          </a:p>
        </p:txBody>
      </p:sp>
      <p:pic>
        <p:nvPicPr>
          <p:cNvPr descr="Picture" id="293" name="Google Shape;293;p29"/>
          <p:cNvPicPr preferRelativeResize="0"/>
          <p:nvPr/>
        </p:nvPicPr>
        <p:blipFill rotWithShape="1">
          <a:blip r:embed="rId3">
            <a:alphaModFix/>
          </a:blip>
          <a:srcRect b="0" l="0" r="0" t="0"/>
          <a:stretch/>
        </p:blipFill>
        <p:spPr>
          <a:xfrm>
            <a:off x="1346466" y="3217071"/>
            <a:ext cx="8678333" cy="722471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97" name="Shape 297"/>
        <p:cNvGrpSpPr/>
        <p:nvPr/>
      </p:nvGrpSpPr>
      <p:grpSpPr>
        <a:xfrm>
          <a:off x="0" y="0"/>
          <a:ext cx="0" cy="0"/>
          <a:chOff x="0" y="0"/>
          <a:chExt cx="0" cy="0"/>
        </a:xfrm>
      </p:grpSpPr>
      <p:sp>
        <p:nvSpPr>
          <p:cNvPr id="298" name="Google Shape;298;p30"/>
          <p:cNvSpPr txBox="1"/>
          <p:nvPr/>
        </p:nvSpPr>
        <p:spPr>
          <a:xfrm>
            <a:off x="7238763" y="1574232"/>
            <a:ext cx="1836914" cy="408086"/>
          </a:xfrm>
          <a:prstGeom prst="rect">
            <a:avLst/>
          </a:prstGeom>
          <a:noFill/>
          <a:ln>
            <a:noFill/>
          </a:ln>
        </p:spPr>
        <p:txBody>
          <a:bodyPr anchorCtr="0" anchor="t" bIns="0" lIns="0" spcFirstLastPara="1" rIns="0" wrap="square" tIns="13725">
            <a:spAutoFit/>
          </a:bodyPr>
          <a:lstStyle/>
          <a:p>
            <a:pPr indent="705103"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4G PHASE IX.2  eNode-B A/T SCHEDULE</a:t>
            </a:r>
            <a:endParaRPr b="0" i="0" sz="1253" u="none" cap="none" strike="noStrike">
              <a:solidFill>
                <a:schemeClr val="dk1"/>
              </a:solidFill>
              <a:latin typeface="Arial"/>
              <a:ea typeface="Arial"/>
              <a:cs typeface="Arial"/>
              <a:sym typeface="Arial"/>
            </a:endParaRPr>
          </a:p>
        </p:txBody>
      </p:sp>
      <p:sp>
        <p:nvSpPr>
          <p:cNvPr id="299" name="Google Shape;299;p30"/>
          <p:cNvSpPr txBox="1"/>
          <p:nvPr/>
        </p:nvSpPr>
        <p:spPr>
          <a:xfrm>
            <a:off x="2307792" y="2174078"/>
            <a:ext cx="1807986" cy="210379"/>
          </a:xfrm>
          <a:prstGeom prst="rect">
            <a:avLst/>
          </a:prstGeom>
          <a:noFill/>
          <a:ln>
            <a:noFill/>
          </a:ln>
        </p:spPr>
        <p:txBody>
          <a:bodyPr anchorCtr="0" anchor="t" bIns="0" lIns="0" spcFirstLastPara="1" rIns="0" wrap="square" tIns="0">
            <a:spAutoFit/>
          </a:bodyPr>
          <a:lstStyle/>
          <a:p>
            <a:pPr indent="0" lvl="0" marL="14464" marR="0" rtl="0" algn="l">
              <a:lnSpc>
                <a:spcPct val="100000"/>
              </a:lnSpc>
              <a:spcBef>
                <a:spcPts val="0"/>
              </a:spcBef>
              <a:spcAft>
                <a:spcPts val="0"/>
              </a:spcAft>
              <a:buClr>
                <a:srgbClr val="000000"/>
              </a:buClr>
              <a:buSzPts val="1367"/>
              <a:buFont typeface="Arial"/>
              <a:buNone/>
            </a:pPr>
            <a:r>
              <a:rPr b="0" i="0" lang="en-US" sz="1367" u="none" cap="none" strike="noStrike">
                <a:solidFill>
                  <a:schemeClr val="dk1"/>
                </a:solidFill>
                <a:latin typeface="Arial"/>
                <a:ea typeface="Arial"/>
                <a:cs typeface="Arial"/>
                <a:sym typeface="Arial"/>
              </a:rPr>
              <a:t>D.	</a:t>
            </a:r>
            <a:r>
              <a:rPr b="1" i="0" lang="en-US" sz="1253" u="none" cap="none" strike="noStrike">
                <a:solidFill>
                  <a:schemeClr val="dk1"/>
                </a:solidFill>
                <a:latin typeface="Arial"/>
                <a:ea typeface="Arial"/>
                <a:cs typeface="Arial"/>
                <a:sym typeface="Arial"/>
              </a:rPr>
              <a:t>DL Throughput plot</a:t>
            </a:r>
            <a:endParaRPr b="0" i="0" sz="1253" u="none" cap="none" strike="noStrike">
              <a:solidFill>
                <a:schemeClr val="dk1"/>
              </a:solidFill>
              <a:latin typeface="Arial"/>
              <a:ea typeface="Arial"/>
              <a:cs typeface="Arial"/>
              <a:sym typeface="Arial"/>
            </a:endParaRPr>
          </a:p>
        </p:txBody>
      </p:sp>
      <p:sp>
        <p:nvSpPr>
          <p:cNvPr id="300" name="Google Shape;300;p30"/>
          <p:cNvSpPr txBox="1"/>
          <p:nvPr/>
        </p:nvSpPr>
        <p:spPr>
          <a:xfrm>
            <a:off x="2248781" y="11797217"/>
            <a:ext cx="1915019" cy="192810"/>
          </a:xfrm>
          <a:prstGeom prst="rect">
            <a:avLst/>
          </a:prstGeom>
          <a:noFill/>
          <a:ln>
            <a:noFill/>
          </a:ln>
        </p:spPr>
        <p:txBody>
          <a:bodyPr anchorCtr="0" anchor="t" bIns="0" lIns="0" spcFirstLastPara="1" rIns="0" wrap="square" tIns="0">
            <a:spAutoFit/>
          </a:bodyPr>
          <a:lstStyle/>
          <a:p>
            <a:pPr indent="0" lvl="0" marL="14464" marR="0" rtl="0" algn="l">
              <a:lnSpc>
                <a:spcPct val="1000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QAIN-11/31(14)/1/2023-CM</a:t>
            </a:r>
            <a:endParaRPr b="0" i="0" sz="1253" u="none" cap="none" strike="noStrike">
              <a:solidFill>
                <a:schemeClr val="dk1"/>
              </a:solidFill>
              <a:latin typeface="Arial"/>
              <a:ea typeface="Arial"/>
              <a:cs typeface="Arial"/>
              <a:sym typeface="Arial"/>
            </a:endParaRPr>
          </a:p>
        </p:txBody>
      </p:sp>
      <p:sp>
        <p:nvSpPr>
          <p:cNvPr id="301" name="Google Shape;301;p30"/>
          <p:cNvSpPr txBox="1"/>
          <p:nvPr/>
        </p:nvSpPr>
        <p:spPr>
          <a:xfrm>
            <a:off x="2040499" y="1530839"/>
            <a:ext cx="2603732" cy="203735"/>
          </a:xfrm>
          <a:prstGeom prst="rect">
            <a:avLst/>
          </a:prstGeom>
          <a:noFill/>
          <a:ln>
            <a:noFill/>
          </a:ln>
        </p:spPr>
        <p:txBody>
          <a:bodyPr anchorCtr="0" anchor="t" bIns="0" lIns="0" spcFirstLastPara="1" rIns="0" wrap="square" tIns="13725">
            <a:spAutoFit/>
          </a:bodyPr>
          <a:lstStyle/>
          <a:p>
            <a:pPr indent="2892"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QA &amp; INSPECTION CIRCLE KL 	</a:t>
            </a:r>
            <a:endParaRPr b="0" i="0" sz="1253" u="none" cap="none" strike="noStrike">
              <a:solidFill>
                <a:schemeClr val="dk1"/>
              </a:solidFill>
              <a:latin typeface="Arial"/>
              <a:ea typeface="Arial"/>
              <a:cs typeface="Arial"/>
              <a:sym typeface="Arial"/>
            </a:endParaRPr>
          </a:p>
        </p:txBody>
      </p:sp>
      <p:sp>
        <p:nvSpPr>
          <p:cNvPr id="302" name="Google Shape;302;p30"/>
          <p:cNvSpPr txBox="1"/>
          <p:nvPr/>
        </p:nvSpPr>
        <p:spPr>
          <a:xfrm>
            <a:off x="2026036" y="2575897"/>
            <a:ext cx="1189325" cy="812274"/>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339"/>
              <a:buFont typeface="Arial"/>
              <a:buNone/>
            </a:pPr>
            <a:r>
              <a:rPr b="1" i="0" lang="en-US" sz="2339" u="none" cap="none" strike="noStrike">
                <a:solidFill>
                  <a:schemeClr val="dk1"/>
                </a:solidFill>
                <a:latin typeface="Calibri"/>
                <a:ea typeface="Calibri"/>
                <a:cs typeface="Calibri"/>
                <a:sym typeface="Calibri"/>
              </a:rPr>
              <a:t>200*200</a:t>
            </a:r>
            <a:endParaRPr b="0" i="0" sz="1400" u="none" cap="none" strike="noStrike">
              <a:solidFill>
                <a:srgbClr val="000000"/>
              </a:solidFill>
              <a:latin typeface="Arial"/>
              <a:ea typeface="Arial"/>
              <a:cs typeface="Arial"/>
              <a:sym typeface="Arial"/>
            </a:endParaRPr>
          </a:p>
        </p:txBody>
      </p:sp>
      <p:pic>
        <p:nvPicPr>
          <p:cNvPr descr="Picture" id="303" name="Google Shape;303;p30"/>
          <p:cNvPicPr preferRelativeResize="0"/>
          <p:nvPr/>
        </p:nvPicPr>
        <p:blipFill rotWithShape="1">
          <a:blip r:embed="rId3">
            <a:alphaModFix/>
          </a:blip>
          <a:srcRect b="0" l="0" r="0" t="0"/>
          <a:stretch/>
        </p:blipFill>
        <p:spPr>
          <a:xfrm>
            <a:off x="1276754" y="2581221"/>
            <a:ext cx="8678333" cy="722471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1"/>
          <p:cNvSpPr txBox="1"/>
          <p:nvPr/>
        </p:nvSpPr>
        <p:spPr>
          <a:xfrm>
            <a:off x="7238763" y="1574232"/>
            <a:ext cx="1836914" cy="408086"/>
          </a:xfrm>
          <a:prstGeom prst="rect">
            <a:avLst/>
          </a:prstGeom>
          <a:noFill/>
          <a:ln>
            <a:noFill/>
          </a:ln>
        </p:spPr>
        <p:txBody>
          <a:bodyPr anchorCtr="0" anchor="t" bIns="0" lIns="0" spcFirstLastPara="1" rIns="0" wrap="square" tIns="13725">
            <a:spAutoFit/>
          </a:bodyPr>
          <a:lstStyle/>
          <a:p>
            <a:pPr indent="705103"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4G PHASE IX.2  eNode-B A/T SCHEDULE</a:t>
            </a:r>
            <a:endParaRPr b="0" i="0" sz="1253" u="none" cap="none" strike="noStrike">
              <a:solidFill>
                <a:schemeClr val="dk1"/>
              </a:solidFill>
              <a:latin typeface="Arial"/>
              <a:ea typeface="Arial"/>
              <a:cs typeface="Arial"/>
              <a:sym typeface="Arial"/>
            </a:endParaRPr>
          </a:p>
        </p:txBody>
      </p:sp>
      <p:sp>
        <p:nvSpPr>
          <p:cNvPr id="309" name="Google Shape;309;p31"/>
          <p:cNvSpPr txBox="1"/>
          <p:nvPr/>
        </p:nvSpPr>
        <p:spPr>
          <a:xfrm>
            <a:off x="2248781" y="11797217"/>
            <a:ext cx="1915019" cy="192810"/>
          </a:xfrm>
          <a:prstGeom prst="rect">
            <a:avLst/>
          </a:prstGeom>
          <a:noFill/>
          <a:ln>
            <a:noFill/>
          </a:ln>
        </p:spPr>
        <p:txBody>
          <a:bodyPr anchorCtr="0" anchor="t" bIns="0" lIns="0" spcFirstLastPara="1" rIns="0" wrap="square" tIns="0">
            <a:spAutoFit/>
          </a:bodyPr>
          <a:lstStyle/>
          <a:p>
            <a:pPr indent="0" lvl="0" marL="14464" marR="0" rtl="0" algn="l">
              <a:lnSpc>
                <a:spcPct val="1000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QAIN-11/31(14)/1/2023-CM</a:t>
            </a:r>
            <a:endParaRPr b="0" i="0" sz="1253" u="none" cap="none" strike="noStrike">
              <a:solidFill>
                <a:schemeClr val="dk1"/>
              </a:solidFill>
              <a:latin typeface="Arial"/>
              <a:ea typeface="Arial"/>
              <a:cs typeface="Arial"/>
              <a:sym typeface="Arial"/>
            </a:endParaRPr>
          </a:p>
        </p:txBody>
      </p:sp>
      <p:sp>
        <p:nvSpPr>
          <p:cNvPr id="310" name="Google Shape;310;p31"/>
          <p:cNvSpPr txBox="1"/>
          <p:nvPr/>
        </p:nvSpPr>
        <p:spPr>
          <a:xfrm>
            <a:off x="2040499" y="1422036"/>
            <a:ext cx="2603732" cy="203735"/>
          </a:xfrm>
          <a:prstGeom prst="rect">
            <a:avLst/>
          </a:prstGeom>
          <a:noFill/>
          <a:ln>
            <a:noFill/>
          </a:ln>
        </p:spPr>
        <p:txBody>
          <a:bodyPr anchorCtr="0" anchor="t" bIns="0" lIns="0" spcFirstLastPara="1" rIns="0" wrap="square" tIns="13725">
            <a:spAutoFit/>
          </a:bodyPr>
          <a:lstStyle/>
          <a:p>
            <a:pPr indent="2892"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QA &amp; INSPECTION CIRCLE KL 	</a:t>
            </a:r>
            <a:endParaRPr b="0" i="0" sz="1253" u="none" cap="none" strike="noStrike">
              <a:solidFill>
                <a:schemeClr val="dk1"/>
              </a:solidFill>
              <a:latin typeface="Arial"/>
              <a:ea typeface="Arial"/>
              <a:cs typeface="Arial"/>
              <a:sym typeface="Arial"/>
            </a:endParaRPr>
          </a:p>
        </p:txBody>
      </p:sp>
      <p:sp>
        <p:nvSpPr>
          <p:cNvPr id="311" name="Google Shape;311;p31"/>
          <p:cNvSpPr txBox="1"/>
          <p:nvPr/>
        </p:nvSpPr>
        <p:spPr>
          <a:xfrm>
            <a:off x="2307792" y="2174078"/>
            <a:ext cx="1807986" cy="210379"/>
          </a:xfrm>
          <a:prstGeom prst="rect">
            <a:avLst/>
          </a:prstGeom>
          <a:noFill/>
          <a:ln>
            <a:noFill/>
          </a:ln>
        </p:spPr>
        <p:txBody>
          <a:bodyPr anchorCtr="0" anchor="t" bIns="0" lIns="0" spcFirstLastPara="1" rIns="0" wrap="square" tIns="0">
            <a:spAutoFit/>
          </a:bodyPr>
          <a:lstStyle/>
          <a:p>
            <a:pPr indent="0" lvl="0" marL="14464" marR="0" rtl="0" algn="l">
              <a:lnSpc>
                <a:spcPct val="100000"/>
              </a:lnSpc>
              <a:spcBef>
                <a:spcPts val="0"/>
              </a:spcBef>
              <a:spcAft>
                <a:spcPts val="0"/>
              </a:spcAft>
              <a:buClr>
                <a:srgbClr val="000000"/>
              </a:buClr>
              <a:buSzPts val="1367"/>
              <a:buFont typeface="Arial"/>
              <a:buNone/>
            </a:pPr>
            <a:r>
              <a:rPr b="0" i="0" lang="en-US" sz="1367" u="none" cap="none" strike="noStrike">
                <a:solidFill>
                  <a:schemeClr val="dk1"/>
                </a:solidFill>
                <a:latin typeface="Arial"/>
                <a:ea typeface="Arial"/>
                <a:cs typeface="Arial"/>
                <a:sym typeface="Arial"/>
              </a:rPr>
              <a:t>E.	</a:t>
            </a:r>
            <a:r>
              <a:rPr b="1" i="0" lang="en-US" sz="1253" u="none" cap="none" strike="noStrike">
                <a:solidFill>
                  <a:schemeClr val="dk1"/>
                </a:solidFill>
                <a:latin typeface="Arial"/>
                <a:ea typeface="Arial"/>
                <a:cs typeface="Arial"/>
                <a:sym typeface="Arial"/>
              </a:rPr>
              <a:t>Rank Indicator Plot</a:t>
            </a:r>
            <a:endParaRPr b="0" i="0" sz="1253" u="none" cap="none" strike="noStrike">
              <a:solidFill>
                <a:schemeClr val="dk1"/>
              </a:solidFill>
              <a:latin typeface="Arial"/>
              <a:ea typeface="Arial"/>
              <a:cs typeface="Arial"/>
              <a:sym typeface="Arial"/>
            </a:endParaRPr>
          </a:p>
        </p:txBody>
      </p:sp>
      <p:sp>
        <p:nvSpPr>
          <p:cNvPr id="312" name="Google Shape;312;p31"/>
          <p:cNvSpPr txBox="1"/>
          <p:nvPr/>
        </p:nvSpPr>
        <p:spPr>
          <a:xfrm>
            <a:off x="1988662" y="3080386"/>
            <a:ext cx="1189325" cy="812274"/>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339"/>
              <a:buFont typeface="Arial"/>
              <a:buNone/>
            </a:pPr>
            <a:r>
              <a:rPr b="1" i="0" lang="en-US" sz="2339" u="none" cap="none" strike="noStrike">
                <a:solidFill>
                  <a:schemeClr val="dk1"/>
                </a:solidFill>
                <a:latin typeface="Calibri"/>
                <a:ea typeface="Calibri"/>
                <a:cs typeface="Calibri"/>
                <a:sym typeface="Calibri"/>
              </a:rPr>
              <a:t>200*200</a:t>
            </a:r>
            <a:endParaRPr b="0" i="0" sz="1400" u="none" cap="none" strike="noStrike">
              <a:solidFill>
                <a:srgbClr val="000000"/>
              </a:solidFill>
              <a:latin typeface="Arial"/>
              <a:ea typeface="Arial"/>
              <a:cs typeface="Arial"/>
              <a:sym typeface="Arial"/>
            </a:endParaRPr>
          </a:p>
        </p:txBody>
      </p:sp>
      <p:pic>
        <p:nvPicPr>
          <p:cNvPr descr="Picture" id="313" name="Google Shape;313;p31"/>
          <p:cNvPicPr preferRelativeResize="0"/>
          <p:nvPr/>
        </p:nvPicPr>
        <p:blipFill rotWithShape="1">
          <a:blip r:embed="rId3">
            <a:alphaModFix/>
          </a:blip>
          <a:srcRect b="0" l="0" r="0" t="0"/>
          <a:stretch/>
        </p:blipFill>
        <p:spPr>
          <a:xfrm>
            <a:off x="1346466" y="3217071"/>
            <a:ext cx="8678333" cy="722471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2"/>
          <p:cNvSpPr txBox="1"/>
          <p:nvPr/>
        </p:nvSpPr>
        <p:spPr>
          <a:xfrm>
            <a:off x="7238763" y="1574232"/>
            <a:ext cx="1836914" cy="408086"/>
          </a:xfrm>
          <a:prstGeom prst="rect">
            <a:avLst/>
          </a:prstGeom>
          <a:noFill/>
          <a:ln>
            <a:noFill/>
          </a:ln>
        </p:spPr>
        <p:txBody>
          <a:bodyPr anchorCtr="0" anchor="t" bIns="0" lIns="0" spcFirstLastPara="1" rIns="0" wrap="square" tIns="13725">
            <a:spAutoFit/>
          </a:bodyPr>
          <a:lstStyle/>
          <a:p>
            <a:pPr indent="705103"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4G PHASE IX.2  eNode-B A/T SCHEDULE</a:t>
            </a:r>
            <a:endParaRPr b="0" i="0" sz="1400" u="none" cap="none" strike="noStrike">
              <a:solidFill>
                <a:srgbClr val="000000"/>
              </a:solidFill>
              <a:latin typeface="Arial"/>
              <a:ea typeface="Arial"/>
              <a:cs typeface="Arial"/>
              <a:sym typeface="Arial"/>
            </a:endParaRPr>
          </a:p>
        </p:txBody>
      </p:sp>
      <p:sp>
        <p:nvSpPr>
          <p:cNvPr id="319" name="Google Shape;319;p32"/>
          <p:cNvSpPr txBox="1"/>
          <p:nvPr/>
        </p:nvSpPr>
        <p:spPr>
          <a:xfrm>
            <a:off x="2248781" y="11797217"/>
            <a:ext cx="1915019" cy="192810"/>
          </a:xfrm>
          <a:prstGeom prst="rect">
            <a:avLst/>
          </a:prstGeom>
          <a:noFill/>
          <a:ln>
            <a:noFill/>
          </a:ln>
        </p:spPr>
        <p:txBody>
          <a:bodyPr anchorCtr="0" anchor="t" bIns="0" lIns="0" spcFirstLastPara="1" rIns="0" wrap="square" tIns="0">
            <a:spAutoFit/>
          </a:bodyPr>
          <a:lstStyle/>
          <a:p>
            <a:pPr indent="0" lvl="0" marL="14464" marR="0" rtl="0" algn="l">
              <a:lnSpc>
                <a:spcPct val="1000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QAIN-11/31(14)/1/2023-CM</a:t>
            </a:r>
            <a:endParaRPr b="0" i="0" sz="1253" u="none" cap="none" strike="noStrike">
              <a:solidFill>
                <a:schemeClr val="dk1"/>
              </a:solidFill>
              <a:latin typeface="Arial"/>
              <a:ea typeface="Arial"/>
              <a:cs typeface="Arial"/>
              <a:sym typeface="Arial"/>
            </a:endParaRPr>
          </a:p>
        </p:txBody>
      </p:sp>
      <p:sp>
        <p:nvSpPr>
          <p:cNvPr id="320" name="Google Shape;320;p32"/>
          <p:cNvSpPr txBox="1"/>
          <p:nvPr/>
        </p:nvSpPr>
        <p:spPr>
          <a:xfrm>
            <a:off x="2040499" y="1530839"/>
            <a:ext cx="2603732" cy="203735"/>
          </a:xfrm>
          <a:prstGeom prst="rect">
            <a:avLst/>
          </a:prstGeom>
          <a:noFill/>
          <a:ln>
            <a:noFill/>
          </a:ln>
        </p:spPr>
        <p:txBody>
          <a:bodyPr anchorCtr="0" anchor="t" bIns="0" lIns="0" spcFirstLastPara="1" rIns="0" wrap="square" tIns="13725">
            <a:spAutoFit/>
          </a:bodyPr>
          <a:lstStyle/>
          <a:p>
            <a:pPr indent="2892"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QA &amp; INSPECTION CIRCLE KL 	</a:t>
            </a:r>
            <a:endParaRPr b="0" i="0" sz="1253" u="none" cap="none" strike="noStrike">
              <a:solidFill>
                <a:schemeClr val="dk1"/>
              </a:solidFill>
              <a:latin typeface="Arial"/>
              <a:ea typeface="Arial"/>
              <a:cs typeface="Arial"/>
              <a:sym typeface="Arial"/>
            </a:endParaRPr>
          </a:p>
        </p:txBody>
      </p:sp>
      <p:sp>
        <p:nvSpPr>
          <p:cNvPr id="321" name="Google Shape;321;p32"/>
          <p:cNvSpPr txBox="1"/>
          <p:nvPr/>
        </p:nvSpPr>
        <p:spPr>
          <a:xfrm>
            <a:off x="2307792" y="2174078"/>
            <a:ext cx="1807986" cy="210379"/>
          </a:xfrm>
          <a:prstGeom prst="rect">
            <a:avLst/>
          </a:prstGeom>
          <a:noFill/>
          <a:ln>
            <a:noFill/>
          </a:ln>
        </p:spPr>
        <p:txBody>
          <a:bodyPr anchorCtr="0" anchor="t" bIns="0" lIns="0" spcFirstLastPara="1" rIns="0" wrap="square" tIns="0">
            <a:spAutoFit/>
          </a:bodyPr>
          <a:lstStyle/>
          <a:p>
            <a:pPr indent="0" lvl="0" marL="14464" marR="0" rtl="0" algn="l">
              <a:lnSpc>
                <a:spcPct val="100000"/>
              </a:lnSpc>
              <a:spcBef>
                <a:spcPts val="0"/>
              </a:spcBef>
              <a:spcAft>
                <a:spcPts val="0"/>
              </a:spcAft>
              <a:buClr>
                <a:srgbClr val="000000"/>
              </a:buClr>
              <a:buSzPts val="1367"/>
              <a:buFont typeface="Arial"/>
              <a:buNone/>
            </a:pPr>
            <a:r>
              <a:rPr b="0" i="0" lang="en-US" sz="1367" u="none" cap="none" strike="noStrike">
                <a:solidFill>
                  <a:schemeClr val="dk1"/>
                </a:solidFill>
                <a:latin typeface="Arial"/>
                <a:ea typeface="Arial"/>
                <a:cs typeface="Arial"/>
                <a:sym typeface="Arial"/>
              </a:rPr>
              <a:t>F.	</a:t>
            </a:r>
            <a:r>
              <a:rPr b="1" i="0" lang="en-US" sz="1253" u="none" cap="none" strike="noStrike">
                <a:solidFill>
                  <a:schemeClr val="dk1"/>
                </a:solidFill>
                <a:latin typeface="Arial"/>
                <a:ea typeface="Arial"/>
                <a:cs typeface="Arial"/>
                <a:sym typeface="Arial"/>
              </a:rPr>
              <a:t>Modulation Plot</a:t>
            </a:r>
            <a:endParaRPr b="0" i="0" sz="1253" u="none" cap="none" strike="noStrike">
              <a:solidFill>
                <a:schemeClr val="dk1"/>
              </a:solidFill>
              <a:latin typeface="Arial"/>
              <a:ea typeface="Arial"/>
              <a:cs typeface="Arial"/>
              <a:sym typeface="Arial"/>
            </a:endParaRPr>
          </a:p>
        </p:txBody>
      </p:sp>
      <p:sp>
        <p:nvSpPr>
          <p:cNvPr id="322" name="Google Shape;322;p32"/>
          <p:cNvSpPr txBox="1"/>
          <p:nvPr/>
        </p:nvSpPr>
        <p:spPr>
          <a:xfrm>
            <a:off x="1988662" y="3080386"/>
            <a:ext cx="1189325" cy="812274"/>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339"/>
              <a:buFont typeface="Arial"/>
              <a:buNone/>
            </a:pPr>
            <a:r>
              <a:rPr b="1" i="0" lang="en-US" sz="2339" u="none" cap="none" strike="noStrike">
                <a:solidFill>
                  <a:schemeClr val="dk1"/>
                </a:solidFill>
                <a:latin typeface="Calibri"/>
                <a:ea typeface="Calibri"/>
                <a:cs typeface="Calibri"/>
                <a:sym typeface="Calibri"/>
              </a:rPr>
              <a:t>200*200</a:t>
            </a:r>
            <a:endParaRPr b="0" i="0" sz="1400" u="none" cap="none" strike="noStrike">
              <a:solidFill>
                <a:srgbClr val="000000"/>
              </a:solidFill>
              <a:latin typeface="Arial"/>
              <a:ea typeface="Arial"/>
              <a:cs typeface="Arial"/>
              <a:sym typeface="Arial"/>
            </a:endParaRPr>
          </a:p>
        </p:txBody>
      </p:sp>
      <p:pic>
        <p:nvPicPr>
          <p:cNvPr descr="Picture" id="323" name="Google Shape;323;p32"/>
          <p:cNvPicPr preferRelativeResize="0"/>
          <p:nvPr/>
        </p:nvPicPr>
        <p:blipFill rotWithShape="1">
          <a:blip r:embed="rId3">
            <a:alphaModFix/>
          </a:blip>
          <a:srcRect b="0" l="0" r="0" t="0"/>
          <a:stretch/>
        </p:blipFill>
        <p:spPr>
          <a:xfrm>
            <a:off x="1448899" y="3033348"/>
            <a:ext cx="8678333" cy="722471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3"/>
          <p:cNvSpPr txBox="1"/>
          <p:nvPr/>
        </p:nvSpPr>
        <p:spPr>
          <a:xfrm>
            <a:off x="7238763" y="1574232"/>
            <a:ext cx="1836914" cy="408086"/>
          </a:xfrm>
          <a:prstGeom prst="rect">
            <a:avLst/>
          </a:prstGeom>
          <a:noFill/>
          <a:ln>
            <a:noFill/>
          </a:ln>
        </p:spPr>
        <p:txBody>
          <a:bodyPr anchorCtr="0" anchor="t" bIns="0" lIns="0" spcFirstLastPara="1" rIns="0" wrap="square" tIns="13725">
            <a:spAutoFit/>
          </a:bodyPr>
          <a:lstStyle/>
          <a:p>
            <a:pPr indent="705103"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4G PHASE IX.2  eNode-B A/T SCHEDULE</a:t>
            </a:r>
            <a:endParaRPr b="0" i="0" sz="1400" u="none" cap="none" strike="noStrike">
              <a:solidFill>
                <a:srgbClr val="000000"/>
              </a:solidFill>
              <a:latin typeface="Arial"/>
              <a:ea typeface="Arial"/>
              <a:cs typeface="Arial"/>
              <a:sym typeface="Arial"/>
            </a:endParaRPr>
          </a:p>
        </p:txBody>
      </p:sp>
      <p:sp>
        <p:nvSpPr>
          <p:cNvPr id="329" name="Google Shape;329;p33"/>
          <p:cNvSpPr txBox="1"/>
          <p:nvPr/>
        </p:nvSpPr>
        <p:spPr>
          <a:xfrm>
            <a:off x="2248781" y="11797217"/>
            <a:ext cx="1915019" cy="192810"/>
          </a:xfrm>
          <a:prstGeom prst="rect">
            <a:avLst/>
          </a:prstGeom>
          <a:noFill/>
          <a:ln>
            <a:noFill/>
          </a:ln>
        </p:spPr>
        <p:txBody>
          <a:bodyPr anchorCtr="0" anchor="t" bIns="0" lIns="0" spcFirstLastPara="1" rIns="0" wrap="square" tIns="0">
            <a:spAutoFit/>
          </a:bodyPr>
          <a:lstStyle/>
          <a:p>
            <a:pPr indent="0" lvl="0" marL="14464" marR="0" rtl="0" algn="l">
              <a:lnSpc>
                <a:spcPct val="1000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QAIN-11/31(14)/1/2023-CM</a:t>
            </a:r>
            <a:endParaRPr b="0" i="0" sz="1253" u="none" cap="none" strike="noStrike">
              <a:solidFill>
                <a:schemeClr val="dk1"/>
              </a:solidFill>
              <a:latin typeface="Arial"/>
              <a:ea typeface="Arial"/>
              <a:cs typeface="Arial"/>
              <a:sym typeface="Arial"/>
            </a:endParaRPr>
          </a:p>
        </p:txBody>
      </p:sp>
      <p:sp>
        <p:nvSpPr>
          <p:cNvPr id="330" name="Google Shape;330;p33"/>
          <p:cNvSpPr txBox="1"/>
          <p:nvPr/>
        </p:nvSpPr>
        <p:spPr>
          <a:xfrm>
            <a:off x="2040499" y="1530839"/>
            <a:ext cx="2603732" cy="203735"/>
          </a:xfrm>
          <a:prstGeom prst="rect">
            <a:avLst/>
          </a:prstGeom>
          <a:noFill/>
          <a:ln>
            <a:noFill/>
          </a:ln>
        </p:spPr>
        <p:txBody>
          <a:bodyPr anchorCtr="0" anchor="t" bIns="0" lIns="0" spcFirstLastPara="1" rIns="0" wrap="square" tIns="13725">
            <a:spAutoFit/>
          </a:bodyPr>
          <a:lstStyle/>
          <a:p>
            <a:pPr indent="2892"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QA &amp; INSPECTION CIRCLE KL 	</a:t>
            </a:r>
            <a:endParaRPr b="0" i="0" sz="1253" u="none" cap="none" strike="noStrike">
              <a:solidFill>
                <a:schemeClr val="dk1"/>
              </a:solidFill>
              <a:latin typeface="Arial"/>
              <a:ea typeface="Arial"/>
              <a:cs typeface="Arial"/>
              <a:sym typeface="Arial"/>
            </a:endParaRPr>
          </a:p>
        </p:txBody>
      </p:sp>
      <p:sp>
        <p:nvSpPr>
          <p:cNvPr id="331" name="Google Shape;331;p33"/>
          <p:cNvSpPr txBox="1"/>
          <p:nvPr/>
        </p:nvSpPr>
        <p:spPr>
          <a:xfrm>
            <a:off x="2561432" y="1101728"/>
            <a:ext cx="7550150" cy="45230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339"/>
              <a:buFont typeface="Arial"/>
              <a:buNone/>
            </a:pPr>
            <a:r>
              <a:rPr b="1" i="0" lang="en-US" sz="2339" u="none" cap="none" strike="noStrike">
                <a:solidFill>
                  <a:schemeClr val="dk1"/>
                </a:solidFill>
                <a:latin typeface="Calibri"/>
                <a:ea typeface="Calibri"/>
                <a:cs typeface="Calibri"/>
                <a:sym typeface="Calibri"/>
              </a:rPr>
              <a:t>Uplink Performance Data from Drive Results</a:t>
            </a:r>
            <a:endParaRPr b="1" i="0" sz="2339" u="none" cap="none" strike="noStrike">
              <a:solidFill>
                <a:schemeClr val="dk1"/>
              </a:solidFill>
              <a:latin typeface="Calibri"/>
              <a:ea typeface="Calibri"/>
              <a:cs typeface="Calibri"/>
              <a:sym typeface="Calibri"/>
            </a:endParaRPr>
          </a:p>
        </p:txBody>
      </p:sp>
      <p:graphicFrame>
        <p:nvGraphicFramePr>
          <p:cNvPr id="332" name="Google Shape;332;p33"/>
          <p:cNvGraphicFramePr/>
          <p:nvPr/>
        </p:nvGraphicFramePr>
        <p:xfrm>
          <a:off x="2040501" y="2005241"/>
          <a:ext cx="3000000" cy="3000000"/>
        </p:xfrm>
        <a:graphic>
          <a:graphicData uri="http://schemas.openxmlformats.org/drawingml/2006/table">
            <a:tbl>
              <a:tblPr>
                <a:noFill/>
                <a:tableStyleId>{4715F777-4F42-4612-BE10-C9BCD6FF47B2}</a:tableStyleId>
              </a:tblPr>
              <a:tblGrid>
                <a:gridCol w="2936175"/>
                <a:gridCol w="1510025"/>
                <a:gridCol w="1551975"/>
                <a:gridCol w="1551975"/>
              </a:tblGrid>
              <a:tr h="520700">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3">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Band 21</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xBody>
                    <a:bodyPr/>
                    <a:p/>
                  </a:txBody>
                </a:tc>
                <a:tc hMerge="1">
                  <a:txBody>
                    <a:bodyPr/>
                    <a:p/>
                  </a:txBody>
                </a:tc>
              </a:tr>
              <a:tr h="520700">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Up link</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Sector1</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Sector 2</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Sector3</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554875">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Avg Uplink throughput </a:t>
                      </a:r>
                      <a:endParaRPr sz="1400" u="none" cap="none" strike="noStrike"/>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8.49</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5.64</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7.11</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991675">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Maximum Uplink throughput</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12.06</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10.87</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11.36</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09800">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Modulation percentage</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Count/Percentage</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Count/Percentage</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Count/Percentage</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60350">
                <a:tc rowSpan="2">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64 QAM </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100</a:t>
                      </a:r>
                      <a:endParaRPr sz="1600" u="none" cap="none" strike="noStrike">
                        <a:latin typeface="Calibri"/>
                        <a:ea typeface="Calibri"/>
                        <a:cs typeface="Calibri"/>
                        <a:sym typeface="Calibri"/>
                      </a:endParaRPr>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91.53713299</a:t>
                      </a:r>
                      <a:endParaRPr sz="1600" u="none" cap="none" strike="noStrike">
                        <a:latin typeface="Calibri"/>
                        <a:ea typeface="Calibri"/>
                        <a:cs typeface="Calibri"/>
                        <a:sym typeface="Calibri"/>
                      </a:endParaRPr>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95.87628866</a:t>
                      </a:r>
                      <a:endParaRPr sz="1600" u="none" cap="none" strike="noStrike">
                        <a:latin typeface="Calibri"/>
                        <a:ea typeface="Calibri"/>
                        <a:cs typeface="Calibri"/>
                        <a:sym typeface="Calibri"/>
                      </a:endParaRPr>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982600">
                <a:tc vMerge="1">
                  <a:txBody>
                    <a:bodyPr/>
                    <a:p/>
                  </a:txBody>
                </a:tc>
                <a:tc>
                  <a:txBody>
                    <a:bodyPr/>
                    <a:lstStyle/>
                    <a:p>
                      <a:pPr indent="0" lvl="0" marL="0" marR="0" rtl="0" algn="l">
                        <a:lnSpc>
                          <a:spcPct val="100000"/>
                        </a:lnSpc>
                        <a:spcBef>
                          <a:spcPts val="0"/>
                        </a:spcBef>
                        <a:spcAft>
                          <a:spcPts val="0"/>
                        </a:spcAft>
                        <a:buClr>
                          <a:srgbClr val="000000"/>
                        </a:buClr>
                        <a:buSzPts val="1400"/>
                        <a:buFont typeface="Arial"/>
                        <a:buNone/>
                      </a:pPr>
                      <a:r>
                        <a:t>100</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91</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95</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47125">
                <a:tc rowSpan="2">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16 QAMCOLUM AT</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Calibri"/>
                        <a:buNone/>
                      </a:pPr>
                      <a:r>
                        <a:rPr lang="en-US" sz="1600" u="none" cap="none" strike="noStrike"/>
                        <a:t>0</a:t>
                      </a:r>
                      <a:endParaRPr b="0" i="0" sz="1600" u="none" cap="none" strike="noStrike">
                        <a:solidFill>
                          <a:srgbClr val="000000"/>
                        </a:solidFill>
                        <a:latin typeface="Calibri"/>
                        <a:ea typeface="Calibri"/>
                        <a:cs typeface="Calibri"/>
                        <a:sym typeface="Calibri"/>
                      </a:endParaRPr>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Calibri"/>
                        <a:buNone/>
                      </a:pPr>
                      <a:r>
                        <a:rPr lang="en-US" sz="1600" u="none" cap="none" strike="noStrike"/>
                        <a:t>7.772020725</a:t>
                      </a:r>
                      <a:endParaRPr b="0" i="0" sz="1600" u="none" cap="none" strike="noStrike">
                        <a:solidFill>
                          <a:srgbClr val="000000"/>
                        </a:solidFill>
                        <a:latin typeface="Calibri"/>
                        <a:ea typeface="Calibri"/>
                        <a:cs typeface="Calibri"/>
                        <a:sym typeface="Calibri"/>
                      </a:endParaRPr>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Calibri"/>
                        <a:buNone/>
                      </a:pPr>
                      <a:r>
                        <a:rPr lang="en-US" sz="1600" u="none" cap="none" strike="noStrike"/>
                        <a:t>3.951890034</a:t>
                      </a:r>
                      <a:endParaRPr b="0" i="0" sz="1600" u="none" cap="none" strike="noStrike">
                        <a:solidFill>
                          <a:srgbClr val="000000"/>
                        </a:solidFill>
                        <a:latin typeface="Calibri"/>
                        <a:ea typeface="Calibri"/>
                        <a:cs typeface="Calibri"/>
                        <a:sym typeface="Calibri"/>
                      </a:endParaRPr>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51525">
                <a:tc vMerge="1">
                  <a:txBody>
                    <a:bodyPr/>
                    <a:p/>
                  </a:txBody>
                </a:tc>
                <a:tc>
                  <a:txBody>
                    <a:bodyPr/>
                    <a:lstStyle/>
                    <a:p>
                      <a:pPr indent="0" lvl="0" marL="0" marR="0" rtl="0" algn="l">
                        <a:lnSpc>
                          <a:spcPct val="100000"/>
                        </a:lnSpc>
                        <a:spcBef>
                          <a:spcPts val="0"/>
                        </a:spcBef>
                        <a:spcAft>
                          <a:spcPts val="0"/>
                        </a:spcAft>
                        <a:buClr>
                          <a:srgbClr val="000000"/>
                        </a:buClr>
                        <a:buSzPts val="1400"/>
                        <a:buFont typeface="Arial"/>
                        <a:buNone/>
                      </a:pPr>
                      <a:r>
                        <a:t>0</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8</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4</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94900">
                <a:tc rowSpan="2">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QPSK </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0</a:t>
                      </a:r>
                      <a:endParaRPr sz="1600" u="none" cap="none" strike="noStrike">
                        <a:latin typeface="Calibri"/>
                        <a:ea typeface="Calibri"/>
                        <a:cs typeface="Calibri"/>
                        <a:sym typeface="Calibri"/>
                      </a:endParaRPr>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Calibri"/>
                        <a:buNone/>
                      </a:pPr>
                      <a:r>
                        <a:rPr lang="en-US" sz="1600" u="none" cap="none" strike="noStrike"/>
                        <a:t>0.690846287</a:t>
                      </a:r>
                      <a:endParaRPr b="0" i="0" sz="1600" u="none" cap="none" strike="noStrike">
                        <a:solidFill>
                          <a:srgbClr val="000000"/>
                        </a:solidFill>
                        <a:latin typeface="Calibri"/>
                        <a:ea typeface="Calibri"/>
                        <a:cs typeface="Calibri"/>
                        <a:sym typeface="Calibri"/>
                      </a:endParaRPr>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Calibri"/>
                        <a:buNone/>
                      </a:pPr>
                      <a:r>
                        <a:t/>
                      </a:r>
                      <a:endParaRPr sz="1600" u="none" cap="none" strike="noStrike">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600"/>
                        <a:buFont typeface="Calibri"/>
                        <a:buNone/>
                      </a:pPr>
                      <a:r>
                        <a:rPr lang="en-US" sz="1600" u="none" cap="none" strike="noStrike"/>
                        <a:t>0.171821306</a:t>
                      </a:r>
                      <a:endParaRPr b="0" i="0" sz="1600" u="none" cap="none" strike="noStrike">
                        <a:solidFill>
                          <a:srgbClr val="000000"/>
                        </a:solidFill>
                        <a:latin typeface="Calibri"/>
                        <a:ea typeface="Calibri"/>
                        <a:cs typeface="Calibri"/>
                        <a:sym typeface="Calibri"/>
                      </a:endParaRPr>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138300">
                <a:tc vMerge="1">
                  <a:txBody>
                    <a:bodyPr/>
                    <a:p/>
                  </a:txBody>
                </a:tc>
                <a:tc>
                  <a:txBody>
                    <a:bodyPr/>
                    <a:lstStyle/>
                    <a:p>
                      <a:pPr indent="0" lvl="0" marL="0" marR="0" rtl="0" algn="l">
                        <a:lnSpc>
                          <a:spcPct val="100000"/>
                        </a:lnSpc>
                        <a:spcBef>
                          <a:spcPts val="0"/>
                        </a:spcBef>
                        <a:spcAft>
                          <a:spcPts val="0"/>
                        </a:spcAft>
                        <a:buClr>
                          <a:srgbClr val="000000"/>
                        </a:buClr>
                        <a:buSzPts val="1400"/>
                        <a:buFont typeface="Arial"/>
                        <a:buNone/>
                      </a:pPr>
                      <a:r>
                        <a:t>0</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1</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0</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982600">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TA advance Value of location where test conducted COLUM AW</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77</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73</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74</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47975">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Avg PUSCH Trans Power</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32.73838154</a:t>
                      </a:r>
                      <a:endParaRPr sz="1600" u="none" cap="none" strike="noStrike">
                        <a:latin typeface="Calibri"/>
                        <a:ea typeface="Calibri"/>
                        <a:cs typeface="Calibri"/>
                        <a:sym typeface="Calibri"/>
                      </a:endParaRPr>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25.00432628</a:t>
                      </a:r>
                      <a:endParaRPr sz="1600" u="none" cap="none" strike="noStrike">
                        <a:latin typeface="Calibri"/>
                        <a:ea typeface="Calibri"/>
                        <a:cs typeface="Calibri"/>
                        <a:sym typeface="Calibri"/>
                      </a:endParaRPr>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28.51565597</a:t>
                      </a:r>
                      <a:endParaRPr sz="1600" u="none" cap="none" strike="noStrike">
                        <a:latin typeface="Calibri"/>
                        <a:ea typeface="Calibri"/>
                        <a:cs typeface="Calibri"/>
                        <a:sym typeface="Calibri"/>
                      </a:endParaRPr>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27225">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Ping/Latency Test (ms) COLUM AY</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77.61</a:t>
                      </a:r>
                      <a:endParaRPr b="0" i="0" sz="1600" u="none" cap="none" strike="noStrike">
                        <a:solidFill>
                          <a:srgbClr val="000000"/>
                        </a:solidFill>
                        <a:latin typeface="Calibri"/>
                        <a:ea typeface="Calibri"/>
                        <a:cs typeface="Calibri"/>
                        <a:sym typeface="Calibri"/>
                      </a:endParaRPr>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74.995</a:t>
                      </a:r>
                      <a:endParaRPr b="0" i="0" sz="1600" u="none" cap="none" strike="noStrike">
                        <a:solidFill>
                          <a:srgbClr val="000000"/>
                        </a:solidFill>
                        <a:latin typeface="Calibri"/>
                        <a:ea typeface="Calibri"/>
                        <a:cs typeface="Calibri"/>
                        <a:sym typeface="Calibri"/>
                      </a:endParaRPr>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65.38</a:t>
                      </a:r>
                      <a:endParaRPr b="0" i="0" sz="1600" u="none" cap="none" strike="noStrike">
                        <a:solidFill>
                          <a:srgbClr val="000000"/>
                        </a:solidFill>
                        <a:latin typeface="Calibri"/>
                        <a:ea typeface="Calibri"/>
                        <a:cs typeface="Calibri"/>
                        <a:sym typeface="Calibri"/>
                      </a:endParaRPr>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graphicFrame>
        <p:nvGraphicFramePr>
          <p:cNvPr id="337" name="Google Shape;337;p34"/>
          <p:cNvGraphicFramePr/>
          <p:nvPr/>
        </p:nvGraphicFramePr>
        <p:xfrm>
          <a:off x="1647032" y="1080295"/>
          <a:ext cx="3000000" cy="3000000"/>
        </p:xfrm>
        <a:graphic>
          <a:graphicData uri="http://schemas.openxmlformats.org/drawingml/2006/table">
            <a:tbl>
              <a:tblPr>
                <a:noFill/>
                <a:tableStyleId>{4715F777-4F42-4612-BE10-C9BCD6FF47B2}</a:tableStyleId>
              </a:tblPr>
              <a:tblGrid>
                <a:gridCol w="2936175"/>
                <a:gridCol w="1510025"/>
                <a:gridCol w="1551975"/>
                <a:gridCol w="1551975"/>
              </a:tblGrid>
              <a:tr h="520700">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3">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Band 21</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xBody>
                    <a:bodyPr/>
                    <a:p/>
                  </a:txBody>
                </a:tc>
                <a:tc hMerge="1">
                  <a:txBody>
                    <a:bodyPr/>
                    <a:p/>
                  </a:txBody>
                </a:tc>
              </a:tr>
              <a:tr h="520700">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Up link</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Sector1</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Sector 2</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Sector3</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554875">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Avg Uplink throughput </a:t>
                      </a:r>
                      <a:endParaRPr sz="1400" u="none" cap="none" strike="noStrike"/>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8.49</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5.64</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7.11</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991675">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Maximum Uplink throughput</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12.06</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10.87</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11.36</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09800">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Modulation percentage</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Count/Percentage</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Count/Percentage</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Count/Percentage</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60350">
                <a:tc rowSpan="2">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64 QAM </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100</a:t>
                      </a:r>
                      <a:endParaRPr sz="1600" u="none" cap="none" strike="noStrike">
                        <a:latin typeface="Calibri"/>
                        <a:ea typeface="Calibri"/>
                        <a:cs typeface="Calibri"/>
                        <a:sym typeface="Calibri"/>
                      </a:endParaRPr>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91.53713299</a:t>
                      </a:r>
                      <a:endParaRPr sz="1600" u="none" cap="none" strike="noStrike">
                        <a:latin typeface="Calibri"/>
                        <a:ea typeface="Calibri"/>
                        <a:cs typeface="Calibri"/>
                        <a:sym typeface="Calibri"/>
                      </a:endParaRPr>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95.87628866</a:t>
                      </a:r>
                      <a:endParaRPr sz="1600" u="none" cap="none" strike="noStrike">
                        <a:latin typeface="Calibri"/>
                        <a:ea typeface="Calibri"/>
                        <a:cs typeface="Calibri"/>
                        <a:sym typeface="Calibri"/>
                      </a:endParaRPr>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982600">
                <a:tc vMerge="1">
                  <a:txBody>
                    <a:bodyPr/>
                    <a:p/>
                  </a:txBody>
                </a:tc>
                <a:tc>
                  <a:txBody>
                    <a:bodyPr/>
                    <a:lstStyle/>
                    <a:p>
                      <a:pPr indent="0" lvl="0" marL="0" marR="0" rtl="0" algn="l">
                        <a:lnSpc>
                          <a:spcPct val="100000"/>
                        </a:lnSpc>
                        <a:spcBef>
                          <a:spcPts val="0"/>
                        </a:spcBef>
                        <a:spcAft>
                          <a:spcPts val="0"/>
                        </a:spcAft>
                        <a:buClr>
                          <a:srgbClr val="000000"/>
                        </a:buClr>
                        <a:buSzPts val="1400"/>
                        <a:buFont typeface="Arial"/>
                        <a:buNone/>
                      </a:pPr>
                      <a:r>
                        <a:t>100</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91</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95</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47125">
                <a:tc rowSpan="2">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16 QAMCOLUM AT</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Calibri"/>
                        <a:buNone/>
                      </a:pPr>
                      <a:r>
                        <a:rPr lang="en-US" sz="1600" u="none" cap="none" strike="noStrike"/>
                        <a:t>0</a:t>
                      </a:r>
                      <a:endParaRPr b="0" i="0" sz="1600" u="none" cap="none" strike="noStrike">
                        <a:solidFill>
                          <a:srgbClr val="000000"/>
                        </a:solidFill>
                        <a:latin typeface="Calibri"/>
                        <a:ea typeface="Calibri"/>
                        <a:cs typeface="Calibri"/>
                        <a:sym typeface="Calibri"/>
                      </a:endParaRPr>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Calibri"/>
                        <a:buNone/>
                      </a:pPr>
                      <a:r>
                        <a:rPr lang="en-US" sz="1600" u="none" cap="none" strike="noStrike"/>
                        <a:t>7.772020725</a:t>
                      </a:r>
                      <a:endParaRPr b="0" i="0" sz="1600" u="none" cap="none" strike="noStrike">
                        <a:solidFill>
                          <a:srgbClr val="000000"/>
                        </a:solidFill>
                        <a:latin typeface="Calibri"/>
                        <a:ea typeface="Calibri"/>
                        <a:cs typeface="Calibri"/>
                        <a:sym typeface="Calibri"/>
                      </a:endParaRPr>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Calibri"/>
                        <a:buNone/>
                      </a:pPr>
                      <a:r>
                        <a:rPr lang="en-US" sz="1600" u="none" cap="none" strike="noStrike"/>
                        <a:t>3.951890034</a:t>
                      </a:r>
                      <a:endParaRPr b="0" i="0" sz="1600" u="none" cap="none" strike="noStrike">
                        <a:solidFill>
                          <a:srgbClr val="000000"/>
                        </a:solidFill>
                        <a:latin typeface="Calibri"/>
                        <a:ea typeface="Calibri"/>
                        <a:cs typeface="Calibri"/>
                        <a:sym typeface="Calibri"/>
                      </a:endParaRPr>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51525">
                <a:tc vMerge="1">
                  <a:txBody>
                    <a:bodyPr/>
                    <a:p/>
                  </a:txBody>
                </a:tc>
                <a:tc>
                  <a:txBody>
                    <a:bodyPr/>
                    <a:lstStyle/>
                    <a:p>
                      <a:pPr indent="0" lvl="0" marL="0" marR="0" rtl="0" algn="l">
                        <a:lnSpc>
                          <a:spcPct val="100000"/>
                        </a:lnSpc>
                        <a:spcBef>
                          <a:spcPts val="0"/>
                        </a:spcBef>
                        <a:spcAft>
                          <a:spcPts val="0"/>
                        </a:spcAft>
                        <a:buClr>
                          <a:srgbClr val="000000"/>
                        </a:buClr>
                        <a:buSzPts val="1400"/>
                        <a:buFont typeface="Arial"/>
                        <a:buNone/>
                      </a:pPr>
                      <a:r>
                        <a:t>0</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8</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4</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94900">
                <a:tc rowSpan="2">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QPSK </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0</a:t>
                      </a:r>
                      <a:endParaRPr sz="1600" u="none" cap="none" strike="noStrike">
                        <a:latin typeface="Calibri"/>
                        <a:ea typeface="Calibri"/>
                        <a:cs typeface="Calibri"/>
                        <a:sym typeface="Calibri"/>
                      </a:endParaRPr>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Calibri"/>
                        <a:buNone/>
                      </a:pPr>
                      <a:r>
                        <a:rPr lang="en-US" sz="1600" u="none" cap="none" strike="noStrike"/>
                        <a:t>0.690846287</a:t>
                      </a:r>
                      <a:endParaRPr b="0" i="0" sz="1600" u="none" cap="none" strike="noStrike">
                        <a:solidFill>
                          <a:srgbClr val="000000"/>
                        </a:solidFill>
                        <a:latin typeface="Calibri"/>
                        <a:ea typeface="Calibri"/>
                        <a:cs typeface="Calibri"/>
                        <a:sym typeface="Calibri"/>
                      </a:endParaRPr>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Calibri"/>
                        <a:buNone/>
                      </a:pPr>
                      <a:r>
                        <a:t/>
                      </a:r>
                      <a:endParaRPr sz="1600" u="none" cap="none" strike="noStrike">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600"/>
                        <a:buFont typeface="Calibri"/>
                        <a:buNone/>
                      </a:pPr>
                      <a:r>
                        <a:rPr lang="en-US" sz="1600" u="none" cap="none" strike="noStrike"/>
                        <a:t>0.171821306</a:t>
                      </a:r>
                      <a:endParaRPr b="0" i="0" sz="1600" u="none" cap="none" strike="noStrike">
                        <a:solidFill>
                          <a:srgbClr val="000000"/>
                        </a:solidFill>
                        <a:latin typeface="Calibri"/>
                        <a:ea typeface="Calibri"/>
                        <a:cs typeface="Calibri"/>
                        <a:sym typeface="Calibri"/>
                      </a:endParaRPr>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138300">
                <a:tc vMerge="1">
                  <a:txBody>
                    <a:bodyPr/>
                    <a:p/>
                  </a:txBody>
                </a:tc>
                <a:tc>
                  <a:txBody>
                    <a:bodyPr/>
                    <a:lstStyle/>
                    <a:p>
                      <a:pPr indent="0" lvl="0" marL="0" marR="0" rtl="0" algn="l">
                        <a:lnSpc>
                          <a:spcPct val="100000"/>
                        </a:lnSpc>
                        <a:spcBef>
                          <a:spcPts val="0"/>
                        </a:spcBef>
                        <a:spcAft>
                          <a:spcPts val="0"/>
                        </a:spcAft>
                        <a:buClr>
                          <a:srgbClr val="000000"/>
                        </a:buClr>
                        <a:buSzPts val="1400"/>
                        <a:buFont typeface="Arial"/>
                        <a:buNone/>
                      </a:pPr>
                      <a:r>
                        <a:t>0</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1</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0</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982600">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TA advance Value of location where test conducted COLUM AW</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77</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73</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74</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47975">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Avg PUSCH Trans Power</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32.73838154</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25.00432628</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28.51565597</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27225">
                <a:tc>
                  <a:txBody>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Ping/Latency Test (ms) COLUM AY</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77</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74</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71</a:t>
                      </a:r>
                      <a:endParaRPr sz="1400" u="none" cap="none" strike="noStrike"/>
                    </a:p>
                  </a:txBody>
                  <a:tcPr marT="7225" marB="0" marR="7225" marL="72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5"/>
          <p:cNvSpPr txBox="1"/>
          <p:nvPr/>
        </p:nvSpPr>
        <p:spPr>
          <a:xfrm>
            <a:off x="1937593" y="1846625"/>
            <a:ext cx="1359691" cy="181268"/>
          </a:xfrm>
          <a:prstGeom prst="rect">
            <a:avLst/>
          </a:prstGeom>
          <a:noFill/>
          <a:ln>
            <a:noFill/>
          </a:ln>
        </p:spPr>
        <p:txBody>
          <a:bodyPr anchorCtr="0" anchor="t" bIns="0" lIns="0" spcFirstLastPara="1" rIns="0" wrap="square" tIns="0">
            <a:spAutoFit/>
          </a:bodyPr>
          <a:lstStyle/>
          <a:p>
            <a:pPr indent="0" lvl="0" marL="13597" marR="0" rtl="0" algn="l">
              <a:lnSpc>
                <a:spcPct val="100000"/>
              </a:lnSpc>
              <a:spcBef>
                <a:spcPts val="0"/>
              </a:spcBef>
              <a:spcAft>
                <a:spcPts val="0"/>
              </a:spcAft>
              <a:buClr>
                <a:srgbClr val="000000"/>
              </a:buClr>
              <a:buSzPts val="1178"/>
              <a:buFont typeface="Arial"/>
              <a:buNone/>
            </a:pPr>
            <a:r>
              <a:rPr b="0" i="0" lang="en-US" sz="1178" u="none" cap="none" strike="noStrike">
                <a:solidFill>
                  <a:schemeClr val="dk1"/>
                </a:solidFill>
                <a:latin typeface="Arial"/>
                <a:ea typeface="Arial"/>
                <a:cs typeface="Arial"/>
                <a:sym typeface="Arial"/>
              </a:rPr>
              <a:t>6.</a:t>
            </a:r>
            <a:r>
              <a:rPr b="0" i="0" lang="en-US" sz="1178" u="none" cap="none" strike="noStrike">
                <a:solidFill>
                  <a:schemeClr val="dk1"/>
                </a:solidFill>
                <a:latin typeface="Times New Roman"/>
                <a:ea typeface="Times New Roman"/>
                <a:cs typeface="Times New Roman"/>
                <a:sym typeface="Times New Roman"/>
              </a:rPr>
              <a:t> </a:t>
            </a:r>
            <a:r>
              <a:rPr b="1" i="0" lang="en-US" sz="1071" u="none" cap="none" strike="noStrike">
                <a:solidFill>
                  <a:schemeClr val="dk1"/>
                </a:solidFill>
                <a:latin typeface="Arial"/>
                <a:ea typeface="Arial"/>
                <a:cs typeface="Arial"/>
                <a:sym typeface="Arial"/>
              </a:rPr>
              <a:t>Events</a:t>
            </a:r>
            <a:r>
              <a:rPr b="1" i="0" lang="en-US" sz="1071" u="none" cap="none" strike="noStrike">
                <a:solidFill>
                  <a:schemeClr val="dk1"/>
                </a:solidFill>
                <a:latin typeface="Times New Roman"/>
                <a:ea typeface="Times New Roman"/>
                <a:cs typeface="Times New Roman"/>
                <a:sym typeface="Times New Roman"/>
              </a:rPr>
              <a:t> </a:t>
            </a:r>
            <a:r>
              <a:rPr b="1" i="0" lang="en-US" sz="1071" u="none" cap="none" strike="noStrike">
                <a:solidFill>
                  <a:schemeClr val="dk1"/>
                </a:solidFill>
                <a:latin typeface="Arial"/>
                <a:ea typeface="Arial"/>
                <a:cs typeface="Arial"/>
                <a:sym typeface="Arial"/>
              </a:rPr>
              <a:t>Based</a:t>
            </a:r>
            <a:r>
              <a:rPr b="1" i="0" lang="en-US" sz="1071" u="none" cap="none" strike="noStrike">
                <a:solidFill>
                  <a:schemeClr val="dk1"/>
                </a:solidFill>
                <a:latin typeface="Times New Roman"/>
                <a:ea typeface="Times New Roman"/>
                <a:cs typeface="Times New Roman"/>
                <a:sym typeface="Times New Roman"/>
              </a:rPr>
              <a:t> </a:t>
            </a:r>
            <a:r>
              <a:rPr b="1" i="0" lang="en-US" sz="1071" u="none" cap="none" strike="noStrike">
                <a:solidFill>
                  <a:schemeClr val="dk1"/>
                </a:solidFill>
                <a:latin typeface="Arial"/>
                <a:ea typeface="Arial"/>
                <a:cs typeface="Arial"/>
                <a:sym typeface="Arial"/>
              </a:rPr>
              <a:t>KPIs</a:t>
            </a:r>
            <a:endParaRPr b="0" i="0" sz="1071" u="none" cap="none" strike="noStrike">
              <a:solidFill>
                <a:schemeClr val="dk1"/>
              </a:solidFill>
              <a:latin typeface="Arial"/>
              <a:ea typeface="Arial"/>
              <a:cs typeface="Arial"/>
              <a:sym typeface="Arial"/>
            </a:endParaRPr>
          </a:p>
        </p:txBody>
      </p:sp>
      <p:graphicFrame>
        <p:nvGraphicFramePr>
          <p:cNvPr id="343" name="Google Shape;343;p35"/>
          <p:cNvGraphicFramePr/>
          <p:nvPr/>
        </p:nvGraphicFramePr>
        <p:xfrm>
          <a:off x="1937594" y="2171508"/>
          <a:ext cx="3000000" cy="3000000"/>
        </p:xfrm>
        <a:graphic>
          <a:graphicData uri="http://schemas.openxmlformats.org/drawingml/2006/table">
            <a:tbl>
              <a:tblPr>
                <a:noFill/>
                <a:tableStyleId>{4715F777-4F42-4612-BE10-C9BCD6FF47B2}</a:tableStyleId>
              </a:tblPr>
              <a:tblGrid>
                <a:gridCol w="2371000"/>
                <a:gridCol w="948025"/>
                <a:gridCol w="948025"/>
                <a:gridCol w="895675"/>
                <a:gridCol w="2376600"/>
              </a:tblGrid>
              <a:tr h="339475">
                <a:tc>
                  <a:txBody>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chemeClr val="dk1"/>
                        </a:solidFill>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8732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Sector 1</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8891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Sector 2</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6827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Sector 3</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5088"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Comments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11850">
                <a:tc>
                  <a:txBody>
                    <a:bodyPr/>
                    <a:lstStyle/>
                    <a:p>
                      <a:pPr indent="0" lvl="0" marL="43497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MOC/MTC Voice LTE</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6830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7941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5877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623888" lvl="0" marL="903288" marR="0" rtl="0" algn="l">
                        <a:lnSpc>
                          <a:spcPct val="82142"/>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5-MO/MT Successful Calls-All Passed</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40075">
                <a:tc>
                  <a:txBody>
                    <a:bodyPr/>
                    <a:lstStyle/>
                    <a:p>
                      <a:pPr indent="0" lvl="0" marL="32067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Call Setup Time – VoLTE</a:t>
                      </a:r>
                      <a:endParaRPr sz="1400" u="none" cap="none" strike="noStrike"/>
                    </a:p>
                    <a:p>
                      <a:pPr indent="0" lvl="0" marL="320675" marR="0" rtl="0" algn="l">
                        <a:lnSpc>
                          <a:spcPct val="100000"/>
                        </a:lnSpc>
                        <a:spcBef>
                          <a:spcPts val="0"/>
                        </a:spcBef>
                        <a:spcAft>
                          <a:spcPts val="0"/>
                        </a:spcAft>
                        <a:buClr>
                          <a:srgbClr val="000000"/>
                        </a:buClr>
                        <a:buSzPts val="1400"/>
                        <a:buFont typeface="Calibri"/>
                        <a:buNone/>
                      </a:pPr>
                      <a:r>
                        <a:t/>
                      </a:r>
                      <a:endParaRPr b="0" i="0" sz="1400" u="none" cap="none" strike="noStrike">
                        <a:solidFill>
                          <a:schemeClr val="dk1"/>
                        </a:solidFill>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2</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2</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1.5</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590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All OK</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94200">
                <a:tc>
                  <a:txBody>
                    <a:bodyPr/>
                    <a:lstStyle/>
                    <a:p>
                      <a:pPr indent="0" lvl="0" marL="11430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CSFB to WCDMA/GSM Success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4131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5401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2067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28613" marR="0" rtl="0" algn="ctr">
                        <a:lnSpc>
                          <a:spcPct val="104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5-CSFB Call Initiated and All are Successfully at GSM Network-All OK</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9475">
                <a:tc>
                  <a:txBody>
                    <a:bodyPr/>
                    <a:lstStyle/>
                    <a:p>
                      <a:pPr indent="0" lvl="0" marL="38735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SMS MO Success LTE</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4131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5401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2067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04838"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5 SMS MO-All OK</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9475">
                <a:tc>
                  <a:txBody>
                    <a:bodyPr/>
                    <a:lstStyle/>
                    <a:p>
                      <a:pPr indent="0" lvl="0" marL="39687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SMS MT Success LTE</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4131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5401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2067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17538"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5 SMS MT-All OK</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9475">
                <a:tc>
                  <a:txBody>
                    <a:bodyPr/>
                    <a:lstStyle/>
                    <a:p>
                      <a:pPr indent="0" lvl="0" marL="350838"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SMS MO Success Volte</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4131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5401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2067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04838"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5 SMS MO-All OK</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9475">
                <a:tc>
                  <a:txBody>
                    <a:bodyPr/>
                    <a:lstStyle/>
                    <a:p>
                      <a:pPr indent="0" lvl="0" marL="36195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SMS MT Success Volte</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4131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5401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2067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17538"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5 SMS MT-All OK</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9475">
                <a:tc>
                  <a:txBody>
                    <a:bodyPr/>
                    <a:lstStyle/>
                    <a:p>
                      <a:pPr indent="0" lvl="0" marL="48895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OTP TESTING LTE</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4131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5401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2067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1436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1 OTP MO-All OK</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9475">
                <a:tc>
                  <a:txBody>
                    <a:bodyPr/>
                    <a:lstStyle/>
                    <a:p>
                      <a:pPr indent="0" lvl="0" marL="45561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OTP TESTING Volte</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4131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5401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2067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2230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1 OTP MT-All OK</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9475">
                <a:tc>
                  <a:txBody>
                    <a:bodyPr/>
                    <a:lstStyle/>
                    <a:p>
                      <a:pPr indent="0" lvl="0" marL="57626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Attach Success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938"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100</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0797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100</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9847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100</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590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All OK</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36200">
                <a:tc>
                  <a:txBody>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chemeClr val="dk1"/>
                        </a:solidFill>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74638"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Sector 1</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8892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Sector 2</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68288"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Sector 3</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chemeClr val="dk1"/>
                        </a:solidFill>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36200">
                <a:tc>
                  <a:txBody>
                    <a:bodyPr/>
                    <a:lstStyle/>
                    <a:p>
                      <a:pPr indent="0" lvl="0" marL="15081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Intra eNB Handover - Sector1</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20663"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5401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2067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590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All OK</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36200">
                <a:tc>
                  <a:txBody>
                    <a:bodyPr/>
                    <a:lstStyle/>
                    <a:p>
                      <a:pPr indent="0" lvl="0" marL="18097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Intra eNB Handover - Sector2</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4131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8895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2067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590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All OK</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36200">
                <a:tc>
                  <a:txBody>
                    <a:bodyPr/>
                    <a:lstStyle/>
                    <a:p>
                      <a:pPr indent="0" lvl="0" marL="18097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Intra eNB Handover - Sector3</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4131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5401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6672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590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All OK</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36200">
                <a:tc>
                  <a:txBody>
                    <a:bodyPr/>
                    <a:lstStyle/>
                    <a:p>
                      <a:pPr indent="0" lvl="0" marL="12700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Inter eNB Handover (Intra Freq)</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20688"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2227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0005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590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All OK</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36200">
                <a:tc>
                  <a:txBody>
                    <a:bodyPr/>
                    <a:lstStyle/>
                    <a:p>
                      <a:pPr indent="0" lvl="0" marL="12700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Inter eNB Handover (Inter Freq)</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20688"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0640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8417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590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All OK</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36200">
                <a:tc>
                  <a:txBody>
                    <a:bodyPr/>
                    <a:lstStyle/>
                    <a:p>
                      <a:pPr indent="0" lvl="0" marL="12700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Intra eNB Handover (Inter Freq)</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20688"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NA</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2227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NA</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8417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NA</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590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All OK</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36200">
                <a:tc>
                  <a:txBody>
                    <a:bodyPr/>
                    <a:lstStyle/>
                    <a:p>
                      <a:pPr indent="0" lvl="0" marL="12700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Intra eNB Handover (Inter Freq)</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5877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69888"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38138"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590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All OK</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09475">
                <a:tc>
                  <a:txBody>
                    <a:bodyPr/>
                    <a:lstStyle/>
                    <a:p>
                      <a:pPr indent="0" lvl="0" marL="34607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SRVCC to 2G Handover</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14338"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NA</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14338"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NA</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95288"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NA</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590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All OK</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09475">
                <a:tc>
                  <a:txBody>
                    <a:bodyPr/>
                    <a:lstStyle/>
                    <a:p>
                      <a:pPr indent="0" lvl="0" marL="34607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SRVCC to 3G Handover</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14338"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NA</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14338"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NA</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95288"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NA</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3815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Still Under Development</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36200">
                <a:tc>
                  <a:txBody>
                    <a:bodyPr/>
                    <a:lstStyle/>
                    <a:p>
                      <a:pPr indent="0" lvl="0" marL="25082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IRAT Handover for Data 2G</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4131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5401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2067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590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All OK</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36200">
                <a:tc>
                  <a:txBody>
                    <a:bodyPr/>
                    <a:lstStyle/>
                    <a:p>
                      <a:pPr indent="0" lvl="0" marL="22066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IRAT Handover for Data 3G</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20688"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NA</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588"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NA</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175"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NA</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541338"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Wherever applicable</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344" name="Google Shape;344;p35"/>
          <p:cNvSpPr txBox="1"/>
          <p:nvPr/>
        </p:nvSpPr>
        <p:spPr>
          <a:xfrm>
            <a:off x="2040499" y="1530839"/>
            <a:ext cx="2603732" cy="203735"/>
          </a:xfrm>
          <a:prstGeom prst="rect">
            <a:avLst/>
          </a:prstGeom>
          <a:noFill/>
          <a:ln>
            <a:noFill/>
          </a:ln>
        </p:spPr>
        <p:txBody>
          <a:bodyPr anchorCtr="0" anchor="t" bIns="0" lIns="0" spcFirstLastPara="1" rIns="0" wrap="square" tIns="13725">
            <a:spAutoFit/>
          </a:bodyPr>
          <a:lstStyle/>
          <a:p>
            <a:pPr indent="2892"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QA &amp; INSPECTION CIRCLE KL 	</a:t>
            </a:r>
            <a:endParaRPr b="0" i="0" sz="1253" u="none" cap="none" strike="noStrike">
              <a:solidFill>
                <a:schemeClr val="dk1"/>
              </a:solidFill>
              <a:latin typeface="Arial"/>
              <a:ea typeface="Arial"/>
              <a:cs typeface="Arial"/>
              <a:sym typeface="Arial"/>
            </a:endParaRPr>
          </a:p>
        </p:txBody>
      </p:sp>
      <p:sp>
        <p:nvSpPr>
          <p:cNvPr id="345" name="Google Shape;345;p35"/>
          <p:cNvSpPr txBox="1"/>
          <p:nvPr/>
        </p:nvSpPr>
        <p:spPr>
          <a:xfrm>
            <a:off x="7238763" y="1574232"/>
            <a:ext cx="1836914" cy="408086"/>
          </a:xfrm>
          <a:prstGeom prst="rect">
            <a:avLst/>
          </a:prstGeom>
          <a:noFill/>
          <a:ln>
            <a:noFill/>
          </a:ln>
        </p:spPr>
        <p:txBody>
          <a:bodyPr anchorCtr="0" anchor="t" bIns="0" lIns="0" spcFirstLastPara="1" rIns="0" wrap="square" tIns="13725">
            <a:spAutoFit/>
          </a:bodyPr>
          <a:lstStyle/>
          <a:p>
            <a:pPr indent="705103"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4G PHASE IX.2  eNode-B A/T SCHEDULE</a:t>
            </a:r>
            <a:endParaRPr b="0" i="0" sz="1400" u="none" cap="none" strike="noStrike">
              <a:solidFill>
                <a:srgbClr val="000000"/>
              </a:solidFill>
              <a:latin typeface="Arial"/>
              <a:ea typeface="Arial"/>
              <a:cs typeface="Arial"/>
              <a:sym typeface="Arial"/>
            </a:endParaRPr>
          </a:p>
        </p:txBody>
      </p:sp>
      <p:sp>
        <p:nvSpPr>
          <p:cNvPr id="346" name="Google Shape;346;p35"/>
          <p:cNvSpPr txBox="1"/>
          <p:nvPr/>
        </p:nvSpPr>
        <p:spPr>
          <a:xfrm>
            <a:off x="2248781" y="11797217"/>
            <a:ext cx="1915019" cy="192810"/>
          </a:xfrm>
          <a:prstGeom prst="rect">
            <a:avLst/>
          </a:prstGeom>
          <a:noFill/>
          <a:ln>
            <a:noFill/>
          </a:ln>
        </p:spPr>
        <p:txBody>
          <a:bodyPr anchorCtr="0" anchor="t" bIns="0" lIns="0" spcFirstLastPara="1" rIns="0" wrap="square" tIns="0">
            <a:spAutoFit/>
          </a:bodyPr>
          <a:lstStyle/>
          <a:p>
            <a:pPr indent="0" lvl="0" marL="14464" marR="0" rtl="0" algn="l">
              <a:lnSpc>
                <a:spcPct val="1000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QAIN-11/31(14)/1/2023-CM</a:t>
            </a:r>
            <a:endParaRPr b="0" i="0" sz="1253" u="none" cap="none" strike="noStrike">
              <a:solidFill>
                <a:schemeClr val="dk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36"/>
          <p:cNvSpPr txBox="1"/>
          <p:nvPr/>
        </p:nvSpPr>
        <p:spPr>
          <a:xfrm>
            <a:off x="3046131" y="6690060"/>
            <a:ext cx="4979870" cy="323743"/>
          </a:xfrm>
          <a:prstGeom prst="rect">
            <a:avLst/>
          </a:prstGeom>
          <a:noFill/>
          <a:ln>
            <a:noFill/>
          </a:ln>
        </p:spPr>
        <p:txBody>
          <a:bodyPr anchorCtr="0" anchor="t" bIns="0" lIns="0" spcFirstLastPara="1" rIns="0" wrap="square" tIns="0">
            <a:spAutoFit/>
          </a:bodyPr>
          <a:lstStyle/>
          <a:p>
            <a:pPr indent="-1581150" lvl="0" marL="1592263" marR="0" rtl="0" algn="l">
              <a:lnSpc>
                <a:spcPct val="118767"/>
              </a:lnSpc>
              <a:spcBef>
                <a:spcPts val="0"/>
              </a:spcBef>
              <a:spcAft>
                <a:spcPts val="0"/>
              </a:spcAft>
              <a:buClr>
                <a:srgbClr val="000000"/>
              </a:buClr>
              <a:buSzPts val="1071"/>
              <a:buFont typeface="Arial"/>
              <a:buNone/>
            </a:pPr>
            <a:r>
              <a:rPr b="1" i="0" lang="en-US" sz="1071" u="none" cap="none" strike="noStrike">
                <a:solidFill>
                  <a:schemeClr val="dk1"/>
                </a:solidFill>
                <a:latin typeface="Arial"/>
                <a:ea typeface="Arial"/>
                <a:cs typeface="Arial"/>
                <a:sym typeface="Arial"/>
              </a:rPr>
              <a:t>The</a:t>
            </a:r>
            <a:r>
              <a:rPr b="1" i="0" lang="en-US" sz="1071" u="none" cap="none" strike="noStrike">
                <a:solidFill>
                  <a:schemeClr val="dk1"/>
                </a:solidFill>
                <a:latin typeface="Times New Roman"/>
                <a:ea typeface="Times New Roman"/>
                <a:cs typeface="Times New Roman"/>
                <a:sym typeface="Times New Roman"/>
              </a:rPr>
              <a:t> </a:t>
            </a:r>
            <a:r>
              <a:rPr b="1" i="0" lang="en-US" sz="1071" u="none" cap="none" strike="noStrike">
                <a:solidFill>
                  <a:schemeClr val="dk1"/>
                </a:solidFill>
                <a:latin typeface="Arial"/>
                <a:ea typeface="Arial"/>
                <a:cs typeface="Arial"/>
                <a:sym typeface="Arial"/>
              </a:rPr>
              <a:t>report</a:t>
            </a:r>
            <a:r>
              <a:rPr b="1" i="0" lang="en-US" sz="1071" u="none" cap="none" strike="noStrike">
                <a:solidFill>
                  <a:schemeClr val="dk1"/>
                </a:solidFill>
                <a:latin typeface="Times New Roman"/>
                <a:ea typeface="Times New Roman"/>
                <a:cs typeface="Times New Roman"/>
                <a:sym typeface="Times New Roman"/>
              </a:rPr>
              <a:t> </a:t>
            </a:r>
            <a:r>
              <a:rPr b="1" i="0" lang="en-US" sz="1071" u="none" cap="none" strike="noStrike">
                <a:solidFill>
                  <a:schemeClr val="dk1"/>
                </a:solidFill>
                <a:latin typeface="Arial"/>
                <a:ea typeface="Arial"/>
                <a:cs typeface="Arial"/>
                <a:sym typeface="Arial"/>
              </a:rPr>
              <a:t>confirms</a:t>
            </a:r>
            <a:r>
              <a:rPr b="1" i="0" lang="en-US" sz="1071" u="none" cap="none" strike="noStrike">
                <a:solidFill>
                  <a:schemeClr val="dk1"/>
                </a:solidFill>
                <a:latin typeface="Times New Roman"/>
                <a:ea typeface="Times New Roman"/>
                <a:cs typeface="Times New Roman"/>
                <a:sym typeface="Times New Roman"/>
              </a:rPr>
              <a:t> </a:t>
            </a:r>
            <a:r>
              <a:rPr b="1" i="0" lang="en-US" sz="1071" u="none" cap="none" strike="noStrike">
                <a:solidFill>
                  <a:schemeClr val="dk1"/>
                </a:solidFill>
                <a:latin typeface="Arial"/>
                <a:ea typeface="Arial"/>
                <a:cs typeface="Arial"/>
                <a:sym typeface="Arial"/>
              </a:rPr>
              <a:t>that</a:t>
            </a:r>
            <a:r>
              <a:rPr b="1" i="0" lang="en-US" sz="1071" u="none" cap="none" strike="noStrike">
                <a:solidFill>
                  <a:schemeClr val="dk1"/>
                </a:solidFill>
                <a:latin typeface="Times New Roman"/>
                <a:ea typeface="Times New Roman"/>
                <a:cs typeface="Times New Roman"/>
                <a:sym typeface="Times New Roman"/>
              </a:rPr>
              <a:t> </a:t>
            </a:r>
            <a:r>
              <a:rPr b="1" i="0" lang="en-US" sz="1071" u="none" cap="none" strike="noStrike">
                <a:solidFill>
                  <a:schemeClr val="dk1"/>
                </a:solidFill>
                <a:latin typeface="Arial"/>
                <a:ea typeface="Arial"/>
                <a:cs typeface="Arial"/>
                <a:sym typeface="Arial"/>
              </a:rPr>
              <a:t>Successful</a:t>
            </a:r>
            <a:r>
              <a:rPr b="1" i="0" lang="en-US" sz="1071" u="none" cap="none" strike="noStrike">
                <a:solidFill>
                  <a:schemeClr val="dk1"/>
                </a:solidFill>
                <a:latin typeface="Times New Roman"/>
                <a:ea typeface="Times New Roman"/>
                <a:cs typeface="Times New Roman"/>
                <a:sym typeface="Times New Roman"/>
              </a:rPr>
              <a:t> </a:t>
            </a:r>
            <a:r>
              <a:rPr b="1" i="0" lang="en-US" sz="1071" u="none" cap="none" strike="noStrike">
                <a:solidFill>
                  <a:schemeClr val="dk1"/>
                </a:solidFill>
                <a:latin typeface="Arial"/>
                <a:ea typeface="Arial"/>
                <a:cs typeface="Arial"/>
                <a:sym typeface="Arial"/>
              </a:rPr>
              <a:t>bidder/Installer</a:t>
            </a:r>
            <a:r>
              <a:rPr b="1" i="0" lang="en-US" sz="1071" u="none" cap="none" strike="noStrike">
                <a:solidFill>
                  <a:schemeClr val="dk1"/>
                </a:solidFill>
                <a:latin typeface="Times New Roman"/>
                <a:ea typeface="Times New Roman"/>
                <a:cs typeface="Times New Roman"/>
                <a:sym typeface="Times New Roman"/>
              </a:rPr>
              <a:t> </a:t>
            </a:r>
            <a:r>
              <a:rPr b="1" i="0" lang="en-US" sz="1071" u="none" cap="none" strike="noStrike">
                <a:solidFill>
                  <a:schemeClr val="dk1"/>
                </a:solidFill>
                <a:latin typeface="Arial"/>
                <a:ea typeface="Arial"/>
                <a:cs typeface="Arial"/>
                <a:sym typeface="Arial"/>
              </a:rPr>
              <a:t>has</a:t>
            </a:r>
            <a:r>
              <a:rPr b="1" i="0" lang="en-US" sz="1071" u="none" cap="none" strike="noStrike">
                <a:solidFill>
                  <a:schemeClr val="dk1"/>
                </a:solidFill>
                <a:latin typeface="Times New Roman"/>
                <a:ea typeface="Times New Roman"/>
                <a:cs typeface="Times New Roman"/>
                <a:sym typeface="Times New Roman"/>
              </a:rPr>
              <a:t> </a:t>
            </a:r>
            <a:r>
              <a:rPr b="1" i="0" lang="en-US" sz="1071" u="none" cap="none" strike="noStrike">
                <a:solidFill>
                  <a:schemeClr val="dk1"/>
                </a:solidFill>
                <a:latin typeface="Arial"/>
                <a:ea typeface="Arial"/>
                <a:cs typeface="Arial"/>
                <a:sym typeface="Arial"/>
              </a:rPr>
              <a:t>passed</a:t>
            </a:r>
            <a:r>
              <a:rPr b="1" i="0" lang="en-US" sz="1071" u="none" cap="none" strike="noStrike">
                <a:solidFill>
                  <a:schemeClr val="dk1"/>
                </a:solidFill>
                <a:latin typeface="Times New Roman"/>
                <a:ea typeface="Times New Roman"/>
                <a:cs typeface="Times New Roman"/>
                <a:sym typeface="Times New Roman"/>
              </a:rPr>
              <a:t> </a:t>
            </a:r>
            <a:r>
              <a:rPr b="1" i="0" lang="en-US" sz="1071" u="none" cap="none" strike="noStrike">
                <a:solidFill>
                  <a:schemeClr val="dk1"/>
                </a:solidFill>
                <a:latin typeface="Arial"/>
                <a:ea typeface="Arial"/>
                <a:cs typeface="Arial"/>
                <a:sym typeface="Arial"/>
              </a:rPr>
              <a:t>these</a:t>
            </a:r>
            <a:r>
              <a:rPr b="1" i="0" lang="en-US" sz="1071" u="none" cap="none" strike="noStrike">
                <a:solidFill>
                  <a:schemeClr val="dk1"/>
                </a:solidFill>
                <a:latin typeface="Times New Roman"/>
                <a:ea typeface="Times New Roman"/>
                <a:cs typeface="Times New Roman"/>
                <a:sym typeface="Times New Roman"/>
              </a:rPr>
              <a:t> </a:t>
            </a:r>
            <a:r>
              <a:rPr b="1" i="0" lang="en-US" sz="1071" u="none" cap="none" strike="noStrike">
                <a:solidFill>
                  <a:schemeClr val="dk1"/>
                </a:solidFill>
                <a:latin typeface="Arial"/>
                <a:ea typeface="Arial"/>
                <a:cs typeface="Arial"/>
                <a:sym typeface="Arial"/>
              </a:rPr>
              <a:t>new</a:t>
            </a:r>
            <a:r>
              <a:rPr b="1" i="0" lang="en-US" sz="1071" u="none" cap="none" strike="noStrike">
                <a:solidFill>
                  <a:schemeClr val="dk1"/>
                </a:solidFill>
                <a:latin typeface="Times New Roman"/>
                <a:ea typeface="Times New Roman"/>
                <a:cs typeface="Times New Roman"/>
                <a:sym typeface="Times New Roman"/>
              </a:rPr>
              <a:t> </a:t>
            </a:r>
            <a:r>
              <a:rPr b="1" i="0" lang="en-US" sz="1071" u="none" cap="none" strike="noStrike">
                <a:solidFill>
                  <a:schemeClr val="dk1"/>
                </a:solidFill>
                <a:latin typeface="Arial"/>
                <a:ea typeface="Arial"/>
                <a:cs typeface="Arial"/>
                <a:sym typeface="Arial"/>
              </a:rPr>
              <a:t>site</a:t>
            </a:r>
            <a:r>
              <a:rPr b="1" i="0" lang="en-US" sz="1071" u="none" cap="none" strike="noStrike">
                <a:solidFill>
                  <a:schemeClr val="dk1"/>
                </a:solidFill>
                <a:latin typeface="Times New Roman"/>
                <a:ea typeface="Times New Roman"/>
                <a:cs typeface="Times New Roman"/>
                <a:sym typeface="Times New Roman"/>
              </a:rPr>
              <a:t> </a:t>
            </a:r>
            <a:r>
              <a:rPr b="1" i="0" lang="en-US" sz="1071" u="none" cap="none" strike="noStrike">
                <a:solidFill>
                  <a:schemeClr val="dk1"/>
                </a:solidFill>
                <a:latin typeface="Arial"/>
                <a:ea typeface="Arial"/>
                <a:cs typeface="Arial"/>
                <a:sym typeface="Arial"/>
              </a:rPr>
              <a:t>Acceptance</a:t>
            </a:r>
            <a:r>
              <a:rPr b="1" i="0" lang="en-US" sz="1071" u="none" cap="none" strike="noStrike">
                <a:solidFill>
                  <a:schemeClr val="dk1"/>
                </a:solidFill>
                <a:latin typeface="Times New Roman"/>
                <a:ea typeface="Times New Roman"/>
                <a:cs typeface="Times New Roman"/>
                <a:sym typeface="Times New Roman"/>
              </a:rPr>
              <a:t>  </a:t>
            </a:r>
            <a:r>
              <a:rPr b="1" i="0" lang="en-US" sz="1071" u="none" cap="none" strike="noStrike">
                <a:solidFill>
                  <a:schemeClr val="dk1"/>
                </a:solidFill>
                <a:latin typeface="Arial"/>
                <a:ea typeface="Arial"/>
                <a:cs typeface="Arial"/>
                <a:sym typeface="Arial"/>
              </a:rPr>
              <a:t>Test</a:t>
            </a:r>
            <a:r>
              <a:rPr b="1" i="0" lang="en-US" sz="1071" u="none" cap="none" strike="noStrike">
                <a:solidFill>
                  <a:schemeClr val="dk1"/>
                </a:solidFill>
                <a:latin typeface="Times New Roman"/>
                <a:ea typeface="Times New Roman"/>
                <a:cs typeface="Times New Roman"/>
                <a:sym typeface="Times New Roman"/>
              </a:rPr>
              <a:t> </a:t>
            </a:r>
            <a:r>
              <a:rPr b="1" i="0" lang="en-US" sz="1071" u="none" cap="none" strike="noStrike">
                <a:solidFill>
                  <a:schemeClr val="dk1"/>
                </a:solidFill>
                <a:latin typeface="Arial"/>
                <a:ea typeface="Arial"/>
                <a:cs typeface="Arial"/>
                <a:sym typeface="Arial"/>
              </a:rPr>
              <a:t>criteria.</a:t>
            </a:r>
            <a:endParaRPr b="0" i="0" sz="1071" u="none" cap="none" strike="noStrike">
              <a:solidFill>
                <a:schemeClr val="dk1"/>
              </a:solidFill>
              <a:latin typeface="Arial"/>
              <a:ea typeface="Arial"/>
              <a:cs typeface="Arial"/>
              <a:sym typeface="Arial"/>
            </a:endParaRPr>
          </a:p>
        </p:txBody>
      </p:sp>
      <p:sp>
        <p:nvSpPr>
          <p:cNvPr id="352" name="Google Shape;352;p36"/>
          <p:cNvSpPr txBox="1"/>
          <p:nvPr/>
        </p:nvSpPr>
        <p:spPr>
          <a:xfrm>
            <a:off x="8157220" y="10063616"/>
            <a:ext cx="1368189" cy="164789"/>
          </a:xfrm>
          <a:prstGeom prst="rect">
            <a:avLst/>
          </a:prstGeom>
          <a:noFill/>
          <a:ln>
            <a:noFill/>
          </a:ln>
        </p:spPr>
        <p:txBody>
          <a:bodyPr anchorCtr="0" anchor="t" bIns="0" lIns="0" spcFirstLastPara="1" rIns="0" wrap="square" tIns="0">
            <a:spAutoFit/>
          </a:bodyPr>
          <a:lstStyle/>
          <a:p>
            <a:pPr indent="0" lvl="0" marL="13597" marR="0" rtl="0" algn="l">
              <a:lnSpc>
                <a:spcPct val="100000"/>
              </a:lnSpc>
              <a:spcBef>
                <a:spcPts val="0"/>
              </a:spcBef>
              <a:spcAft>
                <a:spcPts val="0"/>
              </a:spcAft>
              <a:buClr>
                <a:srgbClr val="000000"/>
              </a:buClr>
              <a:buSzPts val="1071"/>
              <a:buFont typeface="Arial"/>
              <a:buNone/>
            </a:pPr>
            <a:r>
              <a:rPr b="1" i="0" lang="en-US" sz="1071" u="none" cap="none" strike="noStrike">
                <a:solidFill>
                  <a:schemeClr val="dk1"/>
                </a:solidFill>
                <a:latin typeface="Arial"/>
                <a:ea typeface="Arial"/>
                <a:cs typeface="Arial"/>
                <a:sym typeface="Arial"/>
              </a:rPr>
              <a:t>Authorized</a:t>
            </a:r>
            <a:r>
              <a:rPr b="1" i="0" lang="en-US" sz="1071" u="none" cap="none" strike="noStrike">
                <a:solidFill>
                  <a:schemeClr val="dk1"/>
                </a:solidFill>
                <a:latin typeface="Times New Roman"/>
                <a:ea typeface="Times New Roman"/>
                <a:cs typeface="Times New Roman"/>
                <a:sym typeface="Times New Roman"/>
              </a:rPr>
              <a:t> </a:t>
            </a:r>
            <a:r>
              <a:rPr b="1" i="0" lang="en-US" sz="1071" u="none" cap="none" strike="noStrike">
                <a:solidFill>
                  <a:schemeClr val="dk1"/>
                </a:solidFill>
                <a:latin typeface="Arial"/>
                <a:ea typeface="Arial"/>
                <a:cs typeface="Arial"/>
                <a:sym typeface="Arial"/>
              </a:rPr>
              <a:t>Signatory</a:t>
            </a:r>
            <a:endParaRPr b="0" i="0" sz="1071" u="none" cap="none" strike="noStrike">
              <a:solidFill>
                <a:schemeClr val="dk1"/>
              </a:solidFill>
              <a:latin typeface="Arial"/>
              <a:ea typeface="Arial"/>
              <a:cs typeface="Arial"/>
              <a:sym typeface="Arial"/>
            </a:endParaRPr>
          </a:p>
        </p:txBody>
      </p:sp>
      <p:sp>
        <p:nvSpPr>
          <p:cNvPr id="353" name="Google Shape;353;p36"/>
          <p:cNvSpPr/>
          <p:nvPr/>
        </p:nvSpPr>
        <p:spPr>
          <a:xfrm>
            <a:off x="6287298" y="8498446"/>
            <a:ext cx="1500759" cy="0"/>
          </a:xfrm>
          <a:custGeom>
            <a:rect b="b" l="l" r="r" t="t"/>
            <a:pathLst>
              <a:path extrusionOk="0" h="120000" w="1401445">
                <a:moveTo>
                  <a:pt x="0" y="0"/>
                </a:moveTo>
                <a:lnTo>
                  <a:pt x="1401439" y="0"/>
                </a:lnTo>
              </a:path>
            </a:pathLst>
          </a:custGeom>
          <a:noFill/>
          <a:ln cap="flat" cmpd="sng" w="113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927"/>
              <a:buFont typeface="Arial"/>
              <a:buNone/>
            </a:pPr>
            <a:r>
              <a:t/>
            </a:r>
            <a:endParaRPr b="0" i="0" sz="1927" u="none" cap="none" strike="noStrike">
              <a:solidFill>
                <a:schemeClr val="dk1"/>
              </a:solidFill>
              <a:latin typeface="Calibri"/>
              <a:ea typeface="Calibri"/>
              <a:cs typeface="Calibri"/>
              <a:sym typeface="Calibri"/>
            </a:endParaRPr>
          </a:p>
        </p:txBody>
      </p:sp>
      <p:graphicFrame>
        <p:nvGraphicFramePr>
          <p:cNvPr id="354" name="Google Shape;354;p36"/>
          <p:cNvGraphicFramePr/>
          <p:nvPr/>
        </p:nvGraphicFramePr>
        <p:xfrm>
          <a:off x="2571939" y="2079866"/>
          <a:ext cx="3000000" cy="3000000"/>
        </p:xfrm>
        <a:graphic>
          <a:graphicData uri="http://schemas.openxmlformats.org/drawingml/2006/table">
            <a:tbl>
              <a:tblPr>
                <a:noFill/>
                <a:tableStyleId>{4715F777-4F42-4612-BE10-C9BCD6FF47B2}</a:tableStyleId>
              </a:tblPr>
              <a:tblGrid>
                <a:gridCol w="2434275"/>
                <a:gridCol w="1072700"/>
                <a:gridCol w="1067175"/>
                <a:gridCol w="1070875"/>
                <a:gridCol w="1659650"/>
              </a:tblGrid>
              <a:tr h="625175">
                <a:tc>
                  <a:txBody>
                    <a:bodyPr/>
                    <a:lstStyle/>
                    <a:p>
                      <a:pPr indent="0" lvl="0" marL="32861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2G to 4G Cell Reselection</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1116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0957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14338"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5722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All OK</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25175">
                <a:tc>
                  <a:txBody>
                    <a:bodyPr/>
                    <a:lstStyle/>
                    <a:p>
                      <a:pPr indent="0" lvl="0" marL="32861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3G to 4G Cell Reselection</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90538"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NA</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8101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NA</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8260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NA</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5722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All OK</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25175">
                <a:tc>
                  <a:txBody>
                    <a:bodyPr/>
                    <a:lstStyle/>
                    <a:p>
                      <a:pPr indent="0" lvl="0" marL="32861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4G to 3G Cell Reselection</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90538"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NA</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8101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NA</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8260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NA</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5722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All OK</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25175">
                <a:tc>
                  <a:txBody>
                    <a:bodyPr/>
                    <a:lstStyle/>
                    <a:p>
                      <a:pPr indent="0" lvl="0" marL="32861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4G to 2G Cell Reselection</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1116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0957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14338"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5722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All OK</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25175">
                <a:tc>
                  <a:txBody>
                    <a:bodyPr/>
                    <a:lstStyle/>
                    <a:p>
                      <a:pPr indent="0" lvl="0" marL="32861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4G to 4G Cell Reselection</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1116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0957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14338"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5722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All OK</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20875">
                <a:tc>
                  <a:txBody>
                    <a:bodyPr/>
                    <a:lstStyle/>
                    <a:p>
                      <a:pPr indent="0" lvl="0" marL="649288"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FTP Download</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1116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0957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14338"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5722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All OK</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635950">
                <a:tc>
                  <a:txBody>
                    <a:bodyPr/>
                    <a:lstStyle/>
                    <a:p>
                      <a:pPr indent="-739775" lvl="0" marL="871538" marR="0" rtl="0" algn="l">
                        <a:lnSpc>
                          <a:spcPct val="82142"/>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DL Average &amp; Peak Throughput (Mbps)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15/27</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15.73/27</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13/26</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5722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All OK</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25975">
                <a:tc>
                  <a:txBody>
                    <a:bodyPr/>
                    <a:lstStyle/>
                    <a:p>
                      <a:pPr indent="0" lvl="0" marL="73660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FTP Upload</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11163"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0640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41275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PASS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5722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All OK</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65425">
                <a:tc>
                  <a:txBody>
                    <a:bodyPr/>
                    <a:lstStyle/>
                    <a:p>
                      <a:pPr indent="-739775" lvl="0" marL="871538" marR="0" rtl="0" algn="l">
                        <a:lnSpc>
                          <a:spcPct val="82142"/>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UL Average &amp; Peak Throughput (Mbps)</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8_12</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5_10</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7_11</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57225"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All OK</a:t>
                      </a:r>
                      <a:endParaRPr sz="14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355" name="Google Shape;355;p36"/>
          <p:cNvSpPr txBox="1"/>
          <p:nvPr/>
        </p:nvSpPr>
        <p:spPr>
          <a:xfrm>
            <a:off x="2040499" y="1530839"/>
            <a:ext cx="2603732" cy="203735"/>
          </a:xfrm>
          <a:prstGeom prst="rect">
            <a:avLst/>
          </a:prstGeom>
          <a:noFill/>
          <a:ln>
            <a:noFill/>
          </a:ln>
        </p:spPr>
        <p:txBody>
          <a:bodyPr anchorCtr="0" anchor="t" bIns="0" lIns="0" spcFirstLastPara="1" rIns="0" wrap="square" tIns="13725">
            <a:spAutoFit/>
          </a:bodyPr>
          <a:lstStyle/>
          <a:p>
            <a:pPr indent="2892"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QA &amp; INSPECTION CIRCLE KL 	</a:t>
            </a:r>
            <a:endParaRPr b="0" i="0" sz="1253" u="none" cap="none" strike="noStrike">
              <a:solidFill>
                <a:schemeClr val="dk1"/>
              </a:solidFill>
              <a:latin typeface="Arial"/>
              <a:ea typeface="Arial"/>
              <a:cs typeface="Arial"/>
              <a:sym typeface="Arial"/>
            </a:endParaRPr>
          </a:p>
        </p:txBody>
      </p:sp>
      <p:sp>
        <p:nvSpPr>
          <p:cNvPr id="356" name="Google Shape;356;p36"/>
          <p:cNvSpPr txBox="1"/>
          <p:nvPr/>
        </p:nvSpPr>
        <p:spPr>
          <a:xfrm>
            <a:off x="7238763" y="1574232"/>
            <a:ext cx="1836914" cy="408086"/>
          </a:xfrm>
          <a:prstGeom prst="rect">
            <a:avLst/>
          </a:prstGeom>
          <a:noFill/>
          <a:ln>
            <a:noFill/>
          </a:ln>
        </p:spPr>
        <p:txBody>
          <a:bodyPr anchorCtr="0" anchor="t" bIns="0" lIns="0" spcFirstLastPara="1" rIns="0" wrap="square" tIns="13725">
            <a:spAutoFit/>
          </a:bodyPr>
          <a:lstStyle/>
          <a:p>
            <a:pPr indent="705103" lvl="0" marL="14464" marR="5786" rtl="0" algn="l">
              <a:lnSpc>
                <a:spcPct val="1055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4G PHASE IX.2  eNode-B A/T SCHEDULE</a:t>
            </a:r>
            <a:endParaRPr b="0" i="0" sz="1400" u="none" cap="none" strike="noStrike">
              <a:solidFill>
                <a:srgbClr val="000000"/>
              </a:solidFill>
              <a:latin typeface="Arial"/>
              <a:ea typeface="Arial"/>
              <a:cs typeface="Arial"/>
              <a:sym typeface="Arial"/>
            </a:endParaRPr>
          </a:p>
        </p:txBody>
      </p:sp>
      <p:sp>
        <p:nvSpPr>
          <p:cNvPr id="357" name="Google Shape;357;p36"/>
          <p:cNvSpPr txBox="1"/>
          <p:nvPr/>
        </p:nvSpPr>
        <p:spPr>
          <a:xfrm>
            <a:off x="2248781" y="11797217"/>
            <a:ext cx="1915019" cy="192810"/>
          </a:xfrm>
          <a:prstGeom prst="rect">
            <a:avLst/>
          </a:prstGeom>
          <a:noFill/>
          <a:ln>
            <a:noFill/>
          </a:ln>
        </p:spPr>
        <p:txBody>
          <a:bodyPr anchorCtr="0" anchor="t" bIns="0" lIns="0" spcFirstLastPara="1" rIns="0" wrap="square" tIns="0">
            <a:spAutoFit/>
          </a:bodyPr>
          <a:lstStyle/>
          <a:p>
            <a:pPr indent="0" lvl="0" marL="14464" marR="0" rtl="0" algn="l">
              <a:lnSpc>
                <a:spcPct val="100000"/>
              </a:lnSpc>
              <a:spcBef>
                <a:spcPts val="0"/>
              </a:spcBef>
              <a:spcAft>
                <a:spcPts val="0"/>
              </a:spcAft>
              <a:buClr>
                <a:srgbClr val="000000"/>
              </a:buClr>
              <a:buSzPts val="1253"/>
              <a:buFont typeface="Arial"/>
              <a:buNone/>
            </a:pPr>
            <a:r>
              <a:rPr b="0" i="0" lang="en-US" sz="1253" u="none" cap="none" strike="noStrike">
                <a:solidFill>
                  <a:schemeClr val="dk1"/>
                </a:solidFill>
                <a:latin typeface="Arial"/>
                <a:ea typeface="Arial"/>
                <a:cs typeface="Arial"/>
                <a:sym typeface="Arial"/>
              </a:rPr>
              <a:t>QAIN-11/31(14)/1/2023-CM</a:t>
            </a:r>
            <a:endParaRPr b="0" i="0" sz="1253"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