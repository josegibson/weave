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y="10058400" cx="7772400"/>
  <p:notesSz cx="7772400" cy="10058400"/>
  <p:embeddedFontLst>
    <p:embeddedFont>
      <p:font typeface="Helvetica Neue"/>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BDFD955-5028-4EC1-B6FB-75A9DF07899A}">
  <a:tblStyle styleId="{FBDFD955-5028-4EC1-B6FB-75A9DF07899A}"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D2C2C31C-BB3A-4677-B747-F5C60967CC61}"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35CDC5D1-381B-486F-B248-BD003D0397AE}" styleName="Table_2">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font" Target="fonts/HelveticaNeue-regular.fntdata"/><Relationship Id="rId36" Type="http://schemas.openxmlformats.org/officeDocument/2006/relationships/font" Target="fonts/HelveticaNeue-bold.fntdata"/><Relationship Id="rId37" Type="http://schemas.openxmlformats.org/officeDocument/2006/relationships/font" Target="fonts/HelveticaNeue-italic.fntdata"/><Relationship Id="rId38" Type="http://schemas.openxmlformats.org/officeDocument/2006/relationships/font" Target="fonts/HelveticaNeue-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368675" cy="5048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4402138" y="0"/>
            <a:ext cx="3368675" cy="504825"/>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2574925" y="1257300"/>
            <a:ext cx="2622550" cy="33940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77875" y="4840288"/>
            <a:ext cx="6216650" cy="3960812"/>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9553575"/>
            <a:ext cx="3368675" cy="50482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4402138" y="9553575"/>
            <a:ext cx="3368675" cy="504825"/>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1:notes"/>
          <p:cNvSpPr txBox="1"/>
          <p:nvPr>
            <p:ph idx="1" type="body"/>
          </p:nvPr>
        </p:nvSpPr>
        <p:spPr>
          <a:xfrm>
            <a:off x="777875" y="4840288"/>
            <a:ext cx="6216650" cy="39608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 name="Google Shape;45;p1:notes"/>
          <p:cNvSpPr/>
          <p:nvPr>
            <p:ph idx="2" type="sldImg"/>
          </p:nvPr>
        </p:nvSpPr>
        <p:spPr>
          <a:xfrm>
            <a:off x="2574925" y="1257300"/>
            <a:ext cx="2622550" cy="3394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2:notes"/>
          <p:cNvSpPr txBox="1"/>
          <p:nvPr>
            <p:ph idx="1" type="body"/>
          </p:nvPr>
        </p:nvSpPr>
        <p:spPr>
          <a:xfrm>
            <a:off x="777875" y="4840288"/>
            <a:ext cx="6216650" cy="39608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 name="Google Shape;54;p2:notes"/>
          <p:cNvSpPr/>
          <p:nvPr>
            <p:ph idx="2" type="sldImg"/>
          </p:nvPr>
        </p:nvSpPr>
        <p:spPr>
          <a:xfrm>
            <a:off x="2574925" y="1257300"/>
            <a:ext cx="2622550" cy="3394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3:notes"/>
          <p:cNvSpPr txBox="1"/>
          <p:nvPr>
            <p:ph idx="1" type="body"/>
          </p:nvPr>
        </p:nvSpPr>
        <p:spPr>
          <a:xfrm>
            <a:off x="777875" y="4840288"/>
            <a:ext cx="6216650" cy="39608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 name="Google Shape;64;p3:notes"/>
          <p:cNvSpPr/>
          <p:nvPr>
            <p:ph idx="2" type="sldImg"/>
          </p:nvPr>
        </p:nvSpPr>
        <p:spPr>
          <a:xfrm>
            <a:off x="2574925" y="1257300"/>
            <a:ext cx="2622550" cy="3394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4:notes"/>
          <p:cNvSpPr txBox="1"/>
          <p:nvPr>
            <p:ph idx="1" type="body"/>
          </p:nvPr>
        </p:nvSpPr>
        <p:spPr>
          <a:xfrm>
            <a:off x="777875" y="4840288"/>
            <a:ext cx="6216650" cy="39608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 name="Google Shape;75;p4:notes"/>
          <p:cNvSpPr/>
          <p:nvPr>
            <p:ph idx="2" type="sldImg"/>
          </p:nvPr>
        </p:nvSpPr>
        <p:spPr>
          <a:xfrm>
            <a:off x="2574925" y="1257300"/>
            <a:ext cx="2622550" cy="3394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5:notes"/>
          <p:cNvSpPr txBox="1"/>
          <p:nvPr>
            <p:ph idx="1" type="body"/>
          </p:nvPr>
        </p:nvSpPr>
        <p:spPr>
          <a:xfrm>
            <a:off x="777875" y="4840288"/>
            <a:ext cx="6216650" cy="39608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 name="Google Shape;84;p5:notes"/>
          <p:cNvSpPr/>
          <p:nvPr>
            <p:ph idx="2" type="sldImg"/>
          </p:nvPr>
        </p:nvSpPr>
        <p:spPr>
          <a:xfrm>
            <a:off x="2574925" y="1257300"/>
            <a:ext cx="2622550" cy="3394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6:notes"/>
          <p:cNvSpPr txBox="1"/>
          <p:nvPr>
            <p:ph idx="1" type="body"/>
          </p:nvPr>
        </p:nvSpPr>
        <p:spPr>
          <a:xfrm>
            <a:off x="777875" y="4840288"/>
            <a:ext cx="6216650" cy="39608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p6:notes"/>
          <p:cNvSpPr/>
          <p:nvPr>
            <p:ph idx="2" type="sldImg"/>
          </p:nvPr>
        </p:nvSpPr>
        <p:spPr>
          <a:xfrm>
            <a:off x="2574925" y="1257300"/>
            <a:ext cx="2622550" cy="3394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7:notes"/>
          <p:cNvSpPr txBox="1"/>
          <p:nvPr>
            <p:ph idx="1" type="body"/>
          </p:nvPr>
        </p:nvSpPr>
        <p:spPr>
          <a:xfrm>
            <a:off x="777875" y="4840288"/>
            <a:ext cx="6216650" cy="39608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p7:notes"/>
          <p:cNvSpPr/>
          <p:nvPr>
            <p:ph idx="2" type="sldImg"/>
          </p:nvPr>
        </p:nvSpPr>
        <p:spPr>
          <a:xfrm>
            <a:off x="2574925" y="1257300"/>
            <a:ext cx="2622550" cy="3394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8:notes"/>
          <p:cNvSpPr txBox="1"/>
          <p:nvPr>
            <p:ph idx="1" type="body"/>
          </p:nvPr>
        </p:nvSpPr>
        <p:spPr>
          <a:xfrm>
            <a:off x="777875" y="4840288"/>
            <a:ext cx="6216650" cy="39608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p8:notes"/>
          <p:cNvSpPr/>
          <p:nvPr>
            <p:ph idx="2" type="sldImg"/>
          </p:nvPr>
        </p:nvSpPr>
        <p:spPr>
          <a:xfrm>
            <a:off x="2574925" y="1257300"/>
            <a:ext cx="2622550" cy="3394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9:notes"/>
          <p:cNvSpPr txBox="1"/>
          <p:nvPr>
            <p:ph idx="1" type="body"/>
          </p:nvPr>
        </p:nvSpPr>
        <p:spPr>
          <a:xfrm>
            <a:off x="777875" y="4840288"/>
            <a:ext cx="6216650" cy="39608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9:notes"/>
          <p:cNvSpPr/>
          <p:nvPr>
            <p:ph idx="2" type="sldImg"/>
          </p:nvPr>
        </p:nvSpPr>
        <p:spPr>
          <a:xfrm>
            <a:off x="2574925" y="1257300"/>
            <a:ext cx="2622550" cy="3394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0:notes"/>
          <p:cNvSpPr txBox="1"/>
          <p:nvPr>
            <p:ph idx="1" type="body"/>
          </p:nvPr>
        </p:nvSpPr>
        <p:spPr>
          <a:xfrm>
            <a:off x="777875" y="4840288"/>
            <a:ext cx="6216650" cy="39608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10:notes"/>
          <p:cNvSpPr/>
          <p:nvPr>
            <p:ph idx="2" type="sldImg"/>
          </p:nvPr>
        </p:nvSpPr>
        <p:spPr>
          <a:xfrm>
            <a:off x="2574925" y="1257300"/>
            <a:ext cx="2622550" cy="3394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1:notes"/>
          <p:cNvSpPr txBox="1"/>
          <p:nvPr>
            <p:ph idx="1" type="body"/>
          </p:nvPr>
        </p:nvSpPr>
        <p:spPr>
          <a:xfrm>
            <a:off x="777875" y="4840288"/>
            <a:ext cx="6216650" cy="39608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11:notes"/>
          <p:cNvSpPr/>
          <p:nvPr>
            <p:ph idx="2" type="sldImg"/>
          </p:nvPr>
        </p:nvSpPr>
        <p:spPr>
          <a:xfrm>
            <a:off x="2574925" y="1257300"/>
            <a:ext cx="2622550" cy="3394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2:notes"/>
          <p:cNvSpPr txBox="1"/>
          <p:nvPr>
            <p:ph idx="1" type="body"/>
          </p:nvPr>
        </p:nvSpPr>
        <p:spPr>
          <a:xfrm>
            <a:off x="777875" y="4840288"/>
            <a:ext cx="6216650" cy="39608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12:notes"/>
          <p:cNvSpPr/>
          <p:nvPr>
            <p:ph idx="2" type="sldImg"/>
          </p:nvPr>
        </p:nvSpPr>
        <p:spPr>
          <a:xfrm>
            <a:off x="2574925" y="1257300"/>
            <a:ext cx="2622550" cy="3394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3:notes"/>
          <p:cNvSpPr txBox="1"/>
          <p:nvPr>
            <p:ph idx="1" type="body"/>
          </p:nvPr>
        </p:nvSpPr>
        <p:spPr>
          <a:xfrm>
            <a:off x="777875" y="4840288"/>
            <a:ext cx="6216650" cy="39608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p13:notes"/>
          <p:cNvSpPr/>
          <p:nvPr>
            <p:ph idx="2" type="sldImg"/>
          </p:nvPr>
        </p:nvSpPr>
        <p:spPr>
          <a:xfrm>
            <a:off x="2574925" y="1257300"/>
            <a:ext cx="2622550" cy="3394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4:notes"/>
          <p:cNvSpPr txBox="1"/>
          <p:nvPr>
            <p:ph idx="1" type="body"/>
          </p:nvPr>
        </p:nvSpPr>
        <p:spPr>
          <a:xfrm>
            <a:off x="777875" y="4840288"/>
            <a:ext cx="6216650" cy="39608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p14:notes"/>
          <p:cNvSpPr/>
          <p:nvPr>
            <p:ph idx="2" type="sldImg"/>
          </p:nvPr>
        </p:nvSpPr>
        <p:spPr>
          <a:xfrm>
            <a:off x="2574925" y="1257300"/>
            <a:ext cx="2622550" cy="3394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5:notes"/>
          <p:cNvSpPr txBox="1"/>
          <p:nvPr>
            <p:ph idx="1" type="body"/>
          </p:nvPr>
        </p:nvSpPr>
        <p:spPr>
          <a:xfrm>
            <a:off x="777875" y="4840288"/>
            <a:ext cx="6216650" cy="39608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p15:notes"/>
          <p:cNvSpPr/>
          <p:nvPr>
            <p:ph idx="2" type="sldImg"/>
          </p:nvPr>
        </p:nvSpPr>
        <p:spPr>
          <a:xfrm>
            <a:off x="2574925" y="1257300"/>
            <a:ext cx="2622550" cy="3394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6:notes"/>
          <p:cNvSpPr txBox="1"/>
          <p:nvPr>
            <p:ph idx="1" type="body"/>
          </p:nvPr>
        </p:nvSpPr>
        <p:spPr>
          <a:xfrm>
            <a:off x="777875" y="4840288"/>
            <a:ext cx="6216650" cy="39608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p16:notes"/>
          <p:cNvSpPr/>
          <p:nvPr>
            <p:ph idx="2" type="sldImg"/>
          </p:nvPr>
        </p:nvSpPr>
        <p:spPr>
          <a:xfrm>
            <a:off x="2574925" y="1257300"/>
            <a:ext cx="2622550" cy="3394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7:notes"/>
          <p:cNvSpPr txBox="1"/>
          <p:nvPr>
            <p:ph idx="1" type="body"/>
          </p:nvPr>
        </p:nvSpPr>
        <p:spPr>
          <a:xfrm>
            <a:off x="777875" y="4840288"/>
            <a:ext cx="6216650" cy="39608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p17:notes"/>
          <p:cNvSpPr/>
          <p:nvPr>
            <p:ph idx="2" type="sldImg"/>
          </p:nvPr>
        </p:nvSpPr>
        <p:spPr>
          <a:xfrm>
            <a:off x="2574925" y="1257300"/>
            <a:ext cx="2622550" cy="3394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8:notes"/>
          <p:cNvSpPr txBox="1"/>
          <p:nvPr>
            <p:ph idx="1" type="body"/>
          </p:nvPr>
        </p:nvSpPr>
        <p:spPr>
          <a:xfrm>
            <a:off x="777875" y="4840288"/>
            <a:ext cx="6216650" cy="39608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18:notes"/>
          <p:cNvSpPr/>
          <p:nvPr>
            <p:ph idx="2" type="sldImg"/>
          </p:nvPr>
        </p:nvSpPr>
        <p:spPr>
          <a:xfrm>
            <a:off x="2574925" y="1257300"/>
            <a:ext cx="2622550" cy="3394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9:notes"/>
          <p:cNvSpPr txBox="1"/>
          <p:nvPr>
            <p:ph idx="1" type="body"/>
          </p:nvPr>
        </p:nvSpPr>
        <p:spPr>
          <a:xfrm>
            <a:off x="777875" y="4840288"/>
            <a:ext cx="6216650" cy="39608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p19:notes"/>
          <p:cNvSpPr/>
          <p:nvPr>
            <p:ph idx="2" type="sldImg"/>
          </p:nvPr>
        </p:nvSpPr>
        <p:spPr>
          <a:xfrm>
            <a:off x="2574925" y="1257300"/>
            <a:ext cx="2622550" cy="3394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0:notes"/>
          <p:cNvSpPr txBox="1"/>
          <p:nvPr>
            <p:ph idx="1" type="body"/>
          </p:nvPr>
        </p:nvSpPr>
        <p:spPr>
          <a:xfrm>
            <a:off x="777875" y="4840288"/>
            <a:ext cx="6216650" cy="39608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4" name="Google Shape;264;p20:notes"/>
          <p:cNvSpPr/>
          <p:nvPr>
            <p:ph idx="2" type="sldImg"/>
          </p:nvPr>
        </p:nvSpPr>
        <p:spPr>
          <a:xfrm>
            <a:off x="2574925" y="1257300"/>
            <a:ext cx="2622550" cy="3394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21:notes"/>
          <p:cNvSpPr txBox="1"/>
          <p:nvPr>
            <p:ph idx="1" type="body"/>
          </p:nvPr>
        </p:nvSpPr>
        <p:spPr>
          <a:xfrm>
            <a:off x="777875" y="4840288"/>
            <a:ext cx="6216650" cy="39608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 name="Google Shape;274;p21:notes"/>
          <p:cNvSpPr/>
          <p:nvPr>
            <p:ph idx="2" type="sldImg"/>
          </p:nvPr>
        </p:nvSpPr>
        <p:spPr>
          <a:xfrm>
            <a:off x="2574925" y="1257300"/>
            <a:ext cx="2622550" cy="3394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22:notes"/>
          <p:cNvSpPr txBox="1"/>
          <p:nvPr>
            <p:ph idx="1" type="body"/>
          </p:nvPr>
        </p:nvSpPr>
        <p:spPr>
          <a:xfrm>
            <a:off x="777875" y="4840288"/>
            <a:ext cx="6216650" cy="39608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p22:notes"/>
          <p:cNvSpPr/>
          <p:nvPr>
            <p:ph idx="2" type="sldImg"/>
          </p:nvPr>
        </p:nvSpPr>
        <p:spPr>
          <a:xfrm>
            <a:off x="2574925" y="1257300"/>
            <a:ext cx="2622550" cy="3394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23:notes"/>
          <p:cNvSpPr txBox="1"/>
          <p:nvPr>
            <p:ph idx="1" type="body"/>
          </p:nvPr>
        </p:nvSpPr>
        <p:spPr>
          <a:xfrm>
            <a:off x="777875" y="4840288"/>
            <a:ext cx="6216650" cy="39608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8" name="Google Shape;298;p23:notes"/>
          <p:cNvSpPr/>
          <p:nvPr>
            <p:ph idx="2" type="sldImg"/>
          </p:nvPr>
        </p:nvSpPr>
        <p:spPr>
          <a:xfrm>
            <a:off x="2574925" y="1257300"/>
            <a:ext cx="2622550" cy="3394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24:notes"/>
          <p:cNvSpPr txBox="1"/>
          <p:nvPr>
            <p:ph idx="1" type="body"/>
          </p:nvPr>
        </p:nvSpPr>
        <p:spPr>
          <a:xfrm>
            <a:off x="777875" y="4840288"/>
            <a:ext cx="6216650" cy="39608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7" name="Google Shape;307;p24:notes"/>
          <p:cNvSpPr/>
          <p:nvPr>
            <p:ph idx="2" type="sldImg"/>
          </p:nvPr>
        </p:nvSpPr>
        <p:spPr>
          <a:xfrm>
            <a:off x="2574925" y="1257300"/>
            <a:ext cx="2622550" cy="3394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25:notes"/>
          <p:cNvSpPr txBox="1"/>
          <p:nvPr>
            <p:ph idx="1" type="body"/>
          </p:nvPr>
        </p:nvSpPr>
        <p:spPr>
          <a:xfrm>
            <a:off x="777875" y="4840288"/>
            <a:ext cx="6216650" cy="39608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6" name="Google Shape;316;p25:notes"/>
          <p:cNvSpPr/>
          <p:nvPr>
            <p:ph idx="2" type="sldImg"/>
          </p:nvPr>
        </p:nvSpPr>
        <p:spPr>
          <a:xfrm>
            <a:off x="2574925" y="1257300"/>
            <a:ext cx="2622550" cy="3394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26:notes"/>
          <p:cNvSpPr txBox="1"/>
          <p:nvPr>
            <p:ph idx="1" type="body"/>
          </p:nvPr>
        </p:nvSpPr>
        <p:spPr>
          <a:xfrm>
            <a:off x="777875" y="4840288"/>
            <a:ext cx="6216650" cy="39608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6" name="Google Shape;326;p26:notes"/>
          <p:cNvSpPr/>
          <p:nvPr>
            <p:ph idx="2" type="sldImg"/>
          </p:nvPr>
        </p:nvSpPr>
        <p:spPr>
          <a:xfrm>
            <a:off x="2574925" y="1257300"/>
            <a:ext cx="2622550" cy="3394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27:notes"/>
          <p:cNvSpPr txBox="1"/>
          <p:nvPr>
            <p:ph idx="1" type="body"/>
          </p:nvPr>
        </p:nvSpPr>
        <p:spPr>
          <a:xfrm>
            <a:off x="-2147483648" y="-2147483648"/>
            <a:ext cx="0" cy="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5" name="Google Shape;335;p27:notes"/>
          <p:cNvSpPr/>
          <p:nvPr>
            <p:ph idx="2" type="sldImg"/>
          </p:nvPr>
        </p:nvSpPr>
        <p:spPr>
          <a:xfrm>
            <a:off x="2574925" y="1257300"/>
            <a:ext cx="2622550" cy="3394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28:notes"/>
          <p:cNvSpPr txBox="1"/>
          <p:nvPr>
            <p:ph idx="1" type="body"/>
          </p:nvPr>
        </p:nvSpPr>
        <p:spPr>
          <a:xfrm>
            <a:off x="-2147483648" y="-2147483648"/>
            <a:ext cx="0" cy="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4" name="Google Shape;344;p28:notes"/>
          <p:cNvSpPr/>
          <p:nvPr>
            <p:ph idx="2" type="sldImg"/>
          </p:nvPr>
        </p:nvSpPr>
        <p:spPr>
          <a:xfrm>
            <a:off x="2574925" y="1257300"/>
            <a:ext cx="2622550" cy="3394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obj">
  <p:cSld name="OBJECT">
    <p:spTree>
      <p:nvGrpSpPr>
        <p:cNvPr id="15" name="Shape 15"/>
        <p:cNvGrpSpPr/>
        <p:nvPr/>
      </p:nvGrpSpPr>
      <p:grpSpPr>
        <a:xfrm>
          <a:off x="0" y="0"/>
          <a:ext cx="0" cy="0"/>
          <a:chOff x="0" y="0"/>
          <a:chExt cx="0" cy="0"/>
        </a:xfrm>
      </p:grpSpPr>
      <p:sp>
        <p:nvSpPr>
          <p:cNvPr id="16" name="Google Shape;16;p2"/>
          <p:cNvSpPr txBox="1"/>
          <p:nvPr>
            <p:ph idx="11" type="ftr"/>
          </p:nvPr>
        </p:nvSpPr>
        <p:spPr>
          <a:xfrm>
            <a:off x="868476" y="9083316"/>
            <a:ext cx="1681480" cy="18224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1100">
                <a:solidFill>
                  <a:schemeClr val="dk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0" type="dt"/>
          </p:nvPr>
        </p:nvSpPr>
        <p:spPr>
          <a:xfrm>
            <a:off x="388620" y="9354312"/>
            <a:ext cx="1787652" cy="50292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2" type="sldNum"/>
          </p:nvPr>
        </p:nvSpPr>
        <p:spPr>
          <a:xfrm>
            <a:off x="5596128" y="9354312"/>
            <a:ext cx="1787652" cy="50292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b="0" i="0" sz="1800" u="none" cap="none" strike="noStrike">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9" name="Shape 19"/>
        <p:cNvGrpSpPr/>
        <p:nvPr/>
      </p:nvGrpSpPr>
      <p:grpSpPr>
        <a:xfrm>
          <a:off x="0" y="0"/>
          <a:ext cx="0" cy="0"/>
          <a:chOff x="0" y="0"/>
          <a:chExt cx="0" cy="0"/>
        </a:xfrm>
      </p:grpSpPr>
      <p:sp>
        <p:nvSpPr>
          <p:cNvPr id="20" name="Google Shape;20;p3"/>
          <p:cNvSpPr txBox="1"/>
          <p:nvPr>
            <p:ph type="ctrTitle"/>
          </p:nvPr>
        </p:nvSpPr>
        <p:spPr>
          <a:xfrm>
            <a:off x="582930" y="3118104"/>
            <a:ext cx="6606540" cy="211226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 type="subTitle"/>
          </p:nvPr>
        </p:nvSpPr>
        <p:spPr>
          <a:xfrm>
            <a:off x="1165860" y="5632704"/>
            <a:ext cx="5440680" cy="25146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
          <p:cNvSpPr txBox="1"/>
          <p:nvPr>
            <p:ph idx="11" type="ftr"/>
          </p:nvPr>
        </p:nvSpPr>
        <p:spPr>
          <a:xfrm>
            <a:off x="868476" y="9083316"/>
            <a:ext cx="1681480" cy="18224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1100">
                <a:solidFill>
                  <a:schemeClr val="dk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
          <p:cNvSpPr txBox="1"/>
          <p:nvPr>
            <p:ph idx="10" type="dt"/>
          </p:nvPr>
        </p:nvSpPr>
        <p:spPr>
          <a:xfrm>
            <a:off x="388620" y="9354312"/>
            <a:ext cx="1787652" cy="50292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2" type="sldNum"/>
          </p:nvPr>
        </p:nvSpPr>
        <p:spPr>
          <a:xfrm>
            <a:off x="5596128" y="9354312"/>
            <a:ext cx="1787652" cy="50292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5" name="Shape 25"/>
        <p:cNvGrpSpPr/>
        <p:nvPr/>
      </p:nvGrpSpPr>
      <p:grpSpPr>
        <a:xfrm>
          <a:off x="0" y="0"/>
          <a:ext cx="0" cy="0"/>
          <a:chOff x="0" y="0"/>
          <a:chExt cx="0" cy="0"/>
        </a:xfrm>
      </p:grpSpPr>
      <p:sp>
        <p:nvSpPr>
          <p:cNvPr id="26" name="Google Shape;26;p4"/>
          <p:cNvSpPr txBox="1"/>
          <p:nvPr>
            <p:ph type="title"/>
          </p:nvPr>
        </p:nvSpPr>
        <p:spPr>
          <a:xfrm>
            <a:off x="388620" y="402336"/>
            <a:ext cx="6995160" cy="160934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idx="1" type="body"/>
          </p:nvPr>
        </p:nvSpPr>
        <p:spPr>
          <a:xfrm>
            <a:off x="388620" y="2313432"/>
            <a:ext cx="6995160" cy="6638544"/>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8" name="Google Shape;28;p4"/>
          <p:cNvSpPr txBox="1"/>
          <p:nvPr>
            <p:ph idx="11" type="ftr"/>
          </p:nvPr>
        </p:nvSpPr>
        <p:spPr>
          <a:xfrm>
            <a:off x="868476" y="9083316"/>
            <a:ext cx="1681480" cy="18224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1100">
                <a:solidFill>
                  <a:schemeClr val="dk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0" type="dt"/>
          </p:nvPr>
        </p:nvSpPr>
        <p:spPr>
          <a:xfrm>
            <a:off x="388620" y="9354312"/>
            <a:ext cx="1787652" cy="50292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2" type="sldNum"/>
          </p:nvPr>
        </p:nvSpPr>
        <p:spPr>
          <a:xfrm>
            <a:off x="5596128" y="9354312"/>
            <a:ext cx="1787652" cy="50292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1" name="Shape 31"/>
        <p:cNvGrpSpPr/>
        <p:nvPr/>
      </p:nvGrpSpPr>
      <p:grpSpPr>
        <a:xfrm>
          <a:off x="0" y="0"/>
          <a:ext cx="0" cy="0"/>
          <a:chOff x="0" y="0"/>
          <a:chExt cx="0" cy="0"/>
        </a:xfrm>
      </p:grpSpPr>
      <p:sp>
        <p:nvSpPr>
          <p:cNvPr id="32" name="Google Shape;32;p5"/>
          <p:cNvSpPr txBox="1"/>
          <p:nvPr>
            <p:ph type="title"/>
          </p:nvPr>
        </p:nvSpPr>
        <p:spPr>
          <a:xfrm>
            <a:off x="388620" y="402336"/>
            <a:ext cx="6995160" cy="160934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idx="1" type="body"/>
          </p:nvPr>
        </p:nvSpPr>
        <p:spPr>
          <a:xfrm>
            <a:off x="388620" y="2313432"/>
            <a:ext cx="3380994" cy="6638544"/>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4" name="Google Shape;34;p5"/>
          <p:cNvSpPr txBox="1"/>
          <p:nvPr>
            <p:ph idx="2" type="body"/>
          </p:nvPr>
        </p:nvSpPr>
        <p:spPr>
          <a:xfrm>
            <a:off x="4002786" y="2313432"/>
            <a:ext cx="3380994" cy="6638544"/>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5" name="Google Shape;35;p5"/>
          <p:cNvSpPr txBox="1"/>
          <p:nvPr>
            <p:ph idx="11" type="ftr"/>
          </p:nvPr>
        </p:nvSpPr>
        <p:spPr>
          <a:xfrm>
            <a:off x="868476" y="9083316"/>
            <a:ext cx="1681480" cy="18224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1100">
                <a:solidFill>
                  <a:schemeClr val="dk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
          <p:cNvSpPr txBox="1"/>
          <p:nvPr>
            <p:ph idx="10" type="dt"/>
          </p:nvPr>
        </p:nvSpPr>
        <p:spPr>
          <a:xfrm>
            <a:off x="388620" y="9354312"/>
            <a:ext cx="1787652" cy="50292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5"/>
          <p:cNvSpPr txBox="1"/>
          <p:nvPr>
            <p:ph idx="12" type="sldNum"/>
          </p:nvPr>
        </p:nvSpPr>
        <p:spPr>
          <a:xfrm>
            <a:off x="5596128" y="9354312"/>
            <a:ext cx="1787652" cy="50292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8" name="Shape 38"/>
        <p:cNvGrpSpPr/>
        <p:nvPr/>
      </p:nvGrpSpPr>
      <p:grpSpPr>
        <a:xfrm>
          <a:off x="0" y="0"/>
          <a:ext cx="0" cy="0"/>
          <a:chOff x="0" y="0"/>
          <a:chExt cx="0" cy="0"/>
        </a:xfrm>
      </p:grpSpPr>
      <p:sp>
        <p:nvSpPr>
          <p:cNvPr id="39" name="Google Shape;39;p6"/>
          <p:cNvSpPr txBox="1"/>
          <p:nvPr>
            <p:ph type="title"/>
          </p:nvPr>
        </p:nvSpPr>
        <p:spPr>
          <a:xfrm>
            <a:off x="388620" y="402336"/>
            <a:ext cx="6995160" cy="160934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6"/>
          <p:cNvSpPr txBox="1"/>
          <p:nvPr>
            <p:ph idx="11" type="ftr"/>
          </p:nvPr>
        </p:nvSpPr>
        <p:spPr>
          <a:xfrm>
            <a:off x="868476" y="9083316"/>
            <a:ext cx="1681480" cy="18224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1100">
                <a:solidFill>
                  <a:schemeClr val="dk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6"/>
          <p:cNvSpPr txBox="1"/>
          <p:nvPr>
            <p:ph idx="10" type="dt"/>
          </p:nvPr>
        </p:nvSpPr>
        <p:spPr>
          <a:xfrm>
            <a:off x="388620" y="9354312"/>
            <a:ext cx="1787652" cy="50292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p:nvPr>
            <p:ph idx="12" type="sldNum"/>
          </p:nvPr>
        </p:nvSpPr>
        <p:spPr>
          <a:xfrm>
            <a:off x="5596128" y="9354312"/>
            <a:ext cx="1787652" cy="50292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388620" y="402336"/>
            <a:ext cx="6995160" cy="1609344"/>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1800" u="none" cap="none" strike="noStrike">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388620" y="2313432"/>
            <a:ext cx="6995160" cy="6638544"/>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1800" u="none" cap="none" strike="noStrike">
                <a:latin typeface="Calibri"/>
                <a:ea typeface="Calibri"/>
                <a:cs typeface="Calibri"/>
                <a:sym typeface="Calibri"/>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12" name="Google Shape;12;p1"/>
          <p:cNvSpPr txBox="1"/>
          <p:nvPr>
            <p:ph idx="11" type="ftr"/>
          </p:nvPr>
        </p:nvSpPr>
        <p:spPr>
          <a:xfrm>
            <a:off x="868476" y="9083316"/>
            <a:ext cx="1681480" cy="182245"/>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0" type="dt"/>
          </p:nvPr>
        </p:nvSpPr>
        <p:spPr>
          <a:xfrm>
            <a:off x="388620" y="9354312"/>
            <a:ext cx="1787652" cy="50292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18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5596128" y="9354312"/>
            <a:ext cx="1787652" cy="502920"/>
          </a:xfrm>
          <a:prstGeom prst="rect">
            <a:avLst/>
          </a:prstGeom>
          <a:noFill/>
          <a:ln>
            <a:noFill/>
          </a:ln>
        </p:spPr>
        <p:txBody>
          <a:bodyPr anchorCtr="0" anchor="t" bIns="0" lIns="0" spcFirstLastPara="1" rIns="0" wrap="square" tIns="0">
            <a:spAutoFit/>
          </a:bodyPr>
          <a:lstStyle>
            <a:lvl1pPr indent="0" lvl="0" marL="0" marR="0" rtl="0" algn="r">
              <a:spcBef>
                <a:spcPts val="0"/>
              </a:spcBef>
              <a:buNone/>
              <a:defRPr b="0" i="0" sz="1800" u="none" cap="none" strike="noStrike">
                <a:solidFill>
                  <a:srgbClr val="888888"/>
                </a:solidFill>
                <a:latin typeface="Calibri"/>
                <a:ea typeface="Calibri"/>
                <a:cs typeface="Calibri"/>
                <a:sym typeface="Calibri"/>
              </a:defRPr>
            </a:lvl1pPr>
            <a:lvl2pPr indent="0" lvl="1" marL="0" marR="0" rtl="0" algn="r">
              <a:spcBef>
                <a:spcPts val="0"/>
              </a:spcBef>
              <a:buNone/>
              <a:defRPr b="0" i="0" sz="1800" u="none" cap="none" strike="noStrike">
                <a:solidFill>
                  <a:srgbClr val="888888"/>
                </a:solidFill>
                <a:latin typeface="Calibri"/>
                <a:ea typeface="Calibri"/>
                <a:cs typeface="Calibri"/>
                <a:sym typeface="Calibri"/>
              </a:defRPr>
            </a:lvl2pPr>
            <a:lvl3pPr indent="0" lvl="2" marL="0" marR="0" rtl="0" algn="r">
              <a:spcBef>
                <a:spcPts val="0"/>
              </a:spcBef>
              <a:buNone/>
              <a:defRPr b="0" i="0" sz="1800" u="none" cap="none" strike="noStrike">
                <a:solidFill>
                  <a:srgbClr val="888888"/>
                </a:solidFill>
                <a:latin typeface="Calibri"/>
                <a:ea typeface="Calibri"/>
                <a:cs typeface="Calibri"/>
                <a:sym typeface="Calibri"/>
              </a:defRPr>
            </a:lvl3pPr>
            <a:lvl4pPr indent="0" lvl="3" marL="0" marR="0" rtl="0" algn="r">
              <a:spcBef>
                <a:spcPts val="0"/>
              </a:spcBef>
              <a:buNone/>
              <a:defRPr b="0" i="0" sz="1800" u="none" cap="none" strike="noStrike">
                <a:solidFill>
                  <a:srgbClr val="888888"/>
                </a:solidFill>
                <a:latin typeface="Calibri"/>
                <a:ea typeface="Calibri"/>
                <a:cs typeface="Calibri"/>
                <a:sym typeface="Calibri"/>
              </a:defRPr>
            </a:lvl4pPr>
            <a:lvl5pPr indent="0" lvl="4" marL="0" marR="0" rtl="0" algn="r">
              <a:spcBef>
                <a:spcPts val="0"/>
              </a:spcBef>
              <a:buNone/>
              <a:defRPr b="0" i="0" sz="1800" u="none" cap="none" strike="noStrike">
                <a:solidFill>
                  <a:srgbClr val="888888"/>
                </a:solidFill>
                <a:latin typeface="Calibri"/>
                <a:ea typeface="Calibri"/>
                <a:cs typeface="Calibri"/>
                <a:sym typeface="Calibri"/>
              </a:defRPr>
            </a:lvl5pPr>
            <a:lvl6pPr indent="0" lvl="5" marL="0" marR="0" rtl="0" algn="r">
              <a:spcBef>
                <a:spcPts val="0"/>
              </a:spcBef>
              <a:buNone/>
              <a:defRPr b="0" i="0" sz="1800" u="none" cap="none" strike="noStrike">
                <a:solidFill>
                  <a:srgbClr val="888888"/>
                </a:solidFill>
                <a:latin typeface="Calibri"/>
                <a:ea typeface="Calibri"/>
                <a:cs typeface="Calibri"/>
                <a:sym typeface="Calibri"/>
              </a:defRPr>
            </a:lvl6pPr>
            <a:lvl7pPr indent="0" lvl="6" marL="0" marR="0" rtl="0" algn="r">
              <a:spcBef>
                <a:spcPts val="0"/>
              </a:spcBef>
              <a:buNone/>
              <a:defRPr b="0" i="0" sz="1800" u="none" cap="none" strike="noStrike">
                <a:solidFill>
                  <a:srgbClr val="888888"/>
                </a:solidFill>
                <a:latin typeface="Calibri"/>
                <a:ea typeface="Calibri"/>
                <a:cs typeface="Calibri"/>
                <a:sym typeface="Calibri"/>
              </a:defRPr>
            </a:lvl7pPr>
            <a:lvl8pPr indent="0" lvl="7" marL="0" marR="0" rtl="0" algn="r">
              <a:spcBef>
                <a:spcPts val="0"/>
              </a:spcBef>
              <a:buNone/>
              <a:defRPr b="0" i="0" sz="1800" u="none" cap="none" strike="noStrike">
                <a:solidFill>
                  <a:srgbClr val="888888"/>
                </a:solidFill>
                <a:latin typeface="Calibri"/>
                <a:ea typeface="Calibri"/>
                <a:cs typeface="Calibri"/>
                <a:sym typeface="Calibri"/>
              </a:defRPr>
            </a:lvl8pPr>
            <a:lvl9pPr indent="0" lvl="8" marL="0" marR="0" rtl="0" algn="r">
              <a:spcBef>
                <a:spcPts val="0"/>
              </a:spcBef>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5.png"/><Relationship Id="rId4" Type="http://schemas.openxmlformats.org/officeDocument/2006/relationships/image" Target="../media/image14.jpg"/><Relationship Id="rId5" Type="http://schemas.openxmlformats.org/officeDocument/2006/relationships/image" Target="../media/image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jpg"/><Relationship Id="rId4" Type="http://schemas.openxmlformats.org/officeDocument/2006/relationships/image" Target="../media/image3.jpg"/><Relationship Id="rId5" Type="http://schemas.openxmlformats.org/officeDocument/2006/relationships/image" Target="../media/image16.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9.jpg"/><Relationship Id="rId4" Type="http://schemas.openxmlformats.org/officeDocument/2006/relationships/image" Target="../media/image3.jpg"/><Relationship Id="rId5" Type="http://schemas.openxmlformats.org/officeDocument/2006/relationships/image" Target="../media/image1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8.jpg"/><Relationship Id="rId4" Type="http://schemas.openxmlformats.org/officeDocument/2006/relationships/image" Target="../media/image10.jpg"/><Relationship Id="rId5" Type="http://schemas.openxmlformats.org/officeDocument/2006/relationships/image" Target="../media/image3.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7.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6.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1.jpg"/><Relationship Id="rId4" Type="http://schemas.openxmlformats.org/officeDocument/2006/relationships/image" Target="../media/image18.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4.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7.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0.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9.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 name="Shape 46"/>
        <p:cNvGrpSpPr/>
        <p:nvPr/>
      </p:nvGrpSpPr>
      <p:grpSpPr>
        <a:xfrm>
          <a:off x="0" y="0"/>
          <a:ext cx="0" cy="0"/>
          <a:chOff x="0" y="0"/>
          <a:chExt cx="0" cy="0"/>
        </a:xfrm>
      </p:grpSpPr>
      <p:grpSp>
        <p:nvGrpSpPr>
          <p:cNvPr id="47" name="Google Shape;47;p7"/>
          <p:cNvGrpSpPr/>
          <p:nvPr/>
        </p:nvGrpSpPr>
        <p:grpSpPr>
          <a:xfrm>
            <a:off x="1257300" y="1141094"/>
            <a:ext cx="5398135" cy="7573645"/>
            <a:chOff x="1257300" y="1141094"/>
            <a:chExt cx="5398135" cy="7573645"/>
          </a:xfrm>
        </p:grpSpPr>
        <p:sp>
          <p:nvSpPr>
            <p:cNvPr id="48" name="Google Shape;48;p7"/>
            <p:cNvSpPr/>
            <p:nvPr/>
          </p:nvSpPr>
          <p:spPr>
            <a:xfrm>
              <a:off x="1257300" y="1141094"/>
              <a:ext cx="5398135" cy="7573645"/>
            </a:xfrm>
            <a:custGeom>
              <a:rect b="b" l="l" r="r" t="t"/>
              <a:pathLst>
                <a:path extrusionOk="0" h="7573645" w="5398134">
                  <a:moveTo>
                    <a:pt x="5398122" y="0"/>
                  </a:moveTo>
                  <a:lnTo>
                    <a:pt x="5373370" y="0"/>
                  </a:lnTo>
                  <a:lnTo>
                    <a:pt x="5373370" y="635"/>
                  </a:lnTo>
                  <a:lnTo>
                    <a:pt x="5373370" y="24765"/>
                  </a:lnTo>
                  <a:lnTo>
                    <a:pt x="5373370" y="7548245"/>
                  </a:lnTo>
                  <a:lnTo>
                    <a:pt x="24130" y="7548245"/>
                  </a:lnTo>
                  <a:lnTo>
                    <a:pt x="24130" y="24765"/>
                  </a:lnTo>
                  <a:lnTo>
                    <a:pt x="5373370" y="24765"/>
                  </a:lnTo>
                  <a:lnTo>
                    <a:pt x="5373370" y="635"/>
                  </a:lnTo>
                  <a:lnTo>
                    <a:pt x="0" y="635"/>
                  </a:lnTo>
                  <a:lnTo>
                    <a:pt x="0" y="24765"/>
                  </a:lnTo>
                  <a:lnTo>
                    <a:pt x="0" y="7548245"/>
                  </a:lnTo>
                  <a:lnTo>
                    <a:pt x="0" y="7572375"/>
                  </a:lnTo>
                  <a:lnTo>
                    <a:pt x="0" y="7573645"/>
                  </a:lnTo>
                  <a:lnTo>
                    <a:pt x="5373370" y="7573645"/>
                  </a:lnTo>
                  <a:lnTo>
                    <a:pt x="5373370" y="7572375"/>
                  </a:lnTo>
                  <a:lnTo>
                    <a:pt x="5398122" y="7572375"/>
                  </a:lnTo>
                  <a:lnTo>
                    <a:pt x="5398122"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49" name="Google Shape;49;p7"/>
            <p:cNvPicPr preferRelativeResize="0"/>
            <p:nvPr/>
          </p:nvPicPr>
          <p:blipFill rotWithShape="1">
            <a:blip r:embed="rId3">
              <a:alphaModFix/>
            </a:blip>
            <a:srcRect b="0" l="0" r="0" t="0"/>
            <a:stretch/>
          </p:blipFill>
          <p:spPr>
            <a:xfrm>
              <a:off x="3107054" y="1218564"/>
              <a:ext cx="1670685" cy="1085215"/>
            </a:xfrm>
            <a:prstGeom prst="rect">
              <a:avLst/>
            </a:prstGeom>
            <a:noFill/>
            <a:ln>
              <a:noFill/>
            </a:ln>
          </p:spPr>
        </p:pic>
      </p:grpSp>
      <p:sp>
        <p:nvSpPr>
          <p:cNvPr id="50" name="Google Shape;50;p7"/>
          <p:cNvSpPr txBox="1"/>
          <p:nvPr/>
        </p:nvSpPr>
        <p:spPr>
          <a:xfrm>
            <a:off x="2057400" y="2299792"/>
            <a:ext cx="4191000" cy="289823"/>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US" sz="1700">
                <a:solidFill>
                  <a:schemeClr val="dk1"/>
                </a:solidFill>
                <a:latin typeface="Cambria"/>
                <a:ea typeface="Cambria"/>
                <a:cs typeface="Cambria"/>
                <a:sym typeface="Cambria"/>
              </a:rPr>
              <a:t>QA &amp; INSPECTION CIRCLE,</a:t>
            </a:r>
            <a:r>
              <a:rPr lang="en-US" sz="1800">
                <a:solidFill>
                  <a:schemeClr val="dk1"/>
                </a:solidFill>
                <a:latin typeface="Calibri"/>
                <a:ea typeface="Calibri"/>
                <a:cs typeface="Calibri"/>
                <a:sym typeface="Calibri"/>
              </a:rPr>
              <a:t> </a:t>
            </a:r>
            <a:r>
              <a:rPr b="1" lang="en-US" sz="1700">
                <a:solidFill>
                  <a:schemeClr val="dk1"/>
                </a:solidFill>
                <a:latin typeface="Cambria"/>
                <a:ea typeface="Cambria"/>
                <a:cs typeface="Cambria"/>
                <a:sym typeface="Cambria"/>
              </a:rPr>
              <a:t>KERALA</a:t>
            </a:r>
            <a:endParaRPr b="1" sz="1700">
              <a:solidFill>
                <a:schemeClr val="dk1"/>
              </a:solidFill>
              <a:latin typeface="Cambria"/>
              <a:ea typeface="Cambria"/>
              <a:cs typeface="Cambria"/>
              <a:sym typeface="Cambria"/>
            </a:endParaRPr>
          </a:p>
        </p:txBody>
      </p:sp>
      <p:graphicFrame>
        <p:nvGraphicFramePr>
          <p:cNvPr id="51" name="Google Shape;51;p7"/>
          <p:cNvGraphicFramePr/>
          <p:nvPr/>
        </p:nvGraphicFramePr>
        <p:xfrm>
          <a:off x="1716722" y="2809875"/>
          <a:ext cx="3000000" cy="3000000"/>
        </p:xfrm>
        <a:graphic>
          <a:graphicData uri="http://schemas.openxmlformats.org/drawingml/2006/table">
            <a:tbl>
              <a:tblPr bandRow="1" firstRow="1">
                <a:noFill/>
                <a:tableStyleId>{FBDFD955-5028-4EC1-B6FB-75A9DF07899A}</a:tableStyleId>
              </a:tblPr>
              <a:tblGrid>
                <a:gridCol w="4338950"/>
              </a:tblGrid>
              <a:tr h="707400">
                <a:tc>
                  <a:txBody>
                    <a:bodyPr/>
                    <a:lstStyle/>
                    <a:p>
                      <a:pPr indent="0" lvl="0" marL="400685" marR="0" rtl="0" algn="l">
                        <a:lnSpc>
                          <a:spcPct val="113571"/>
                        </a:lnSpc>
                        <a:spcBef>
                          <a:spcPts val="0"/>
                        </a:spcBef>
                        <a:spcAft>
                          <a:spcPts val="0"/>
                        </a:spcAft>
                        <a:buNone/>
                      </a:pPr>
                      <a:r>
                        <a:rPr b="1" lang="en-US" sz="1400" u="none" cap="none" strike="noStrike">
                          <a:latin typeface="Times New Roman"/>
                          <a:ea typeface="Times New Roman"/>
                          <a:cs typeface="Times New Roman"/>
                          <a:sym typeface="Times New Roman"/>
                        </a:rPr>
                        <a:t>ACCEPTANCE TEST SCHEDULE</a:t>
                      </a:r>
                      <a:endParaRPr sz="1400" u="none" cap="none" strike="noStrike">
                        <a:latin typeface="Times New Roman"/>
                        <a:ea typeface="Times New Roman"/>
                        <a:cs typeface="Times New Roman"/>
                        <a:sym typeface="Times New Roman"/>
                      </a:endParaRPr>
                    </a:p>
                    <a:p>
                      <a:pPr indent="0" lvl="0" marL="0" marR="0" rtl="0" algn="l">
                        <a:lnSpc>
                          <a:spcPct val="100000"/>
                        </a:lnSpc>
                        <a:spcBef>
                          <a:spcPts val="150"/>
                        </a:spcBef>
                        <a:spcAft>
                          <a:spcPts val="0"/>
                        </a:spcAft>
                        <a:buNone/>
                      </a:pPr>
                      <a:r>
                        <a:t/>
                      </a:r>
                      <a:endParaRPr sz="1400" u="none" cap="none" strike="noStrike">
                        <a:latin typeface="Times New Roman"/>
                        <a:ea typeface="Times New Roman"/>
                        <a:cs typeface="Times New Roman"/>
                        <a:sym typeface="Times New Roman"/>
                      </a:endParaRPr>
                    </a:p>
                    <a:p>
                      <a:pPr indent="0" lvl="0" marL="100965" marR="0" rtl="0" algn="l">
                        <a:lnSpc>
                          <a:spcPct val="100000"/>
                        </a:lnSpc>
                        <a:spcBef>
                          <a:spcPts val="0"/>
                        </a:spcBef>
                        <a:spcAft>
                          <a:spcPts val="0"/>
                        </a:spcAft>
                        <a:buNone/>
                      </a:pPr>
                      <a:r>
                        <a:rPr b="1" lang="en-US" sz="1200" u="none" cap="none" strike="noStrike">
                          <a:latin typeface="Times New Roman"/>
                          <a:ea typeface="Times New Roman"/>
                          <a:cs typeface="Times New Roman"/>
                          <a:sym typeface="Times New Roman"/>
                        </a:rPr>
                        <a:t>4G Phase IX.2 – eNode-B:  </a:t>
                      </a:r>
                      <a:r>
                        <a:rPr b="1" lang="en-US" sz="1200" u="none" cap="none" strike="noStrike">
                          <a:latin typeface="Arial"/>
                          <a:ea typeface="Arial"/>
                          <a:cs typeface="Arial"/>
                          <a:sym typeface="Arial"/>
                        </a:rPr>
                        <a:t>RP-01287-CHORUKKALA</a:t>
                      </a:r>
                      <a:endParaRPr b="1" sz="1200" u="none" cap="none" strike="noStrike">
                        <a:latin typeface="Arial"/>
                        <a:ea typeface="Arial"/>
                        <a:cs typeface="Arial"/>
                        <a:sym typeface="Arial"/>
                      </a:endParaRPr>
                    </a:p>
                    <a:p>
                      <a:pPr indent="0" lvl="0" marL="102235" marR="0" rtl="0" algn="l">
                        <a:lnSpc>
                          <a:spcPct val="100000"/>
                        </a:lnSpc>
                        <a:spcBef>
                          <a:spcPts val="5"/>
                        </a:spcBef>
                        <a:spcAft>
                          <a:spcPts val="0"/>
                        </a:spcAft>
                        <a:buNone/>
                      </a:pPr>
                      <a:r>
                        <a:t/>
                      </a:r>
                      <a:endParaRPr b="1" sz="12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tcPr>
                </a:tc>
              </a:tr>
              <a:tr h="3375025">
                <a:tc>
                  <a:txBody>
                    <a:bodyPr/>
                    <a:lstStyle/>
                    <a:p>
                      <a:pPr indent="0" lvl="0" marL="99060" marR="0" rtl="0" algn="l">
                        <a:lnSpc>
                          <a:spcPct val="100000"/>
                        </a:lnSpc>
                        <a:spcBef>
                          <a:spcPts val="0"/>
                        </a:spcBef>
                        <a:spcAft>
                          <a:spcPts val="0"/>
                        </a:spcAft>
                        <a:buNone/>
                      </a:pPr>
                      <a:r>
                        <a:rPr lang="en-US" sz="1100" u="none" cap="none" strike="noStrike">
                          <a:latin typeface="Times New Roman"/>
                          <a:ea typeface="Times New Roman"/>
                          <a:cs typeface="Times New Roman"/>
                          <a:sym typeface="Times New Roman"/>
                        </a:rPr>
                        <a:t>Document No	QAIN-11/31(14)/1/2024-CM</a:t>
                      </a:r>
                      <a:endParaRPr sz="1100" u="none" cap="none" strike="noStrike">
                        <a:latin typeface="Times New Roman"/>
                        <a:ea typeface="Times New Roman"/>
                        <a:cs typeface="Times New Roman"/>
                        <a:sym typeface="Times New Roman"/>
                      </a:endParaRPr>
                    </a:p>
                    <a:p>
                      <a:pPr indent="0" lvl="0" marL="99060" marR="0" rtl="0" algn="l">
                        <a:lnSpc>
                          <a:spcPct val="100000"/>
                        </a:lnSpc>
                        <a:spcBef>
                          <a:spcPts val="480"/>
                        </a:spcBef>
                        <a:spcAft>
                          <a:spcPts val="0"/>
                        </a:spcAft>
                        <a:buNone/>
                      </a:pPr>
                      <a:r>
                        <a:rPr lang="en-US" sz="1100" u="none" cap="none" strike="noStrike">
                          <a:latin typeface="Times New Roman"/>
                          <a:ea typeface="Times New Roman"/>
                          <a:cs typeface="Times New Roman"/>
                          <a:sym typeface="Times New Roman"/>
                        </a:rPr>
                        <a:t>No of Pages	29</a:t>
                      </a:r>
                      <a:endParaRPr sz="1100" u="none" cap="none" strike="noStrike">
                        <a:latin typeface="Times New Roman"/>
                        <a:ea typeface="Times New Roman"/>
                        <a:cs typeface="Times New Roman"/>
                        <a:sym typeface="Times New Roman"/>
                      </a:endParaRPr>
                    </a:p>
                    <a:p>
                      <a:pPr indent="0" lvl="0" marL="99060" marR="0" rtl="0" algn="l">
                        <a:lnSpc>
                          <a:spcPct val="100000"/>
                        </a:lnSpc>
                        <a:spcBef>
                          <a:spcPts val="550"/>
                        </a:spcBef>
                        <a:spcAft>
                          <a:spcPts val="0"/>
                        </a:spcAft>
                        <a:buNone/>
                      </a:pPr>
                      <a:r>
                        <a:rPr lang="en-US" sz="1100" u="none" cap="none" strike="noStrike">
                          <a:latin typeface="Times New Roman"/>
                          <a:ea typeface="Times New Roman"/>
                          <a:cs typeface="Times New Roman"/>
                          <a:sym typeface="Times New Roman"/>
                        </a:rPr>
                        <a:t>Issue No.	1</a:t>
                      </a:r>
                      <a:endParaRPr sz="1100" u="none" cap="none" strike="noStrike">
                        <a:latin typeface="Times New Roman"/>
                        <a:ea typeface="Times New Roman"/>
                        <a:cs typeface="Times New Roman"/>
                        <a:sym typeface="Times New Roman"/>
                      </a:endParaRPr>
                    </a:p>
                    <a:p>
                      <a:pPr indent="0" lvl="0" marL="99060" marR="0" rtl="0" algn="l">
                        <a:lnSpc>
                          <a:spcPct val="100000"/>
                        </a:lnSpc>
                        <a:spcBef>
                          <a:spcPts val="600"/>
                        </a:spcBef>
                        <a:spcAft>
                          <a:spcPts val="0"/>
                        </a:spcAft>
                        <a:buNone/>
                      </a:pPr>
                      <a:r>
                        <a:rPr lang="en-US" sz="1100" u="none" cap="none" strike="noStrike">
                          <a:latin typeface="Times New Roman"/>
                          <a:ea typeface="Times New Roman"/>
                          <a:cs typeface="Times New Roman"/>
                          <a:sym typeface="Times New Roman"/>
                        </a:rPr>
                        <a:t>Issued By:	QA &amp; Inspection, Kerala</a:t>
                      </a:r>
                      <a:endParaRPr sz="1100" u="none" cap="none" strike="noStrike">
                        <a:latin typeface="Times New Roman"/>
                        <a:ea typeface="Times New Roman"/>
                        <a:cs typeface="Times New Roman"/>
                        <a:sym typeface="Times New Roman"/>
                      </a:endParaRPr>
                    </a:p>
                    <a:p>
                      <a:pPr indent="0" lvl="0" marL="99060" marR="695960" rtl="0" algn="l">
                        <a:lnSpc>
                          <a:spcPct val="147300"/>
                        </a:lnSpc>
                        <a:spcBef>
                          <a:spcPts val="0"/>
                        </a:spcBef>
                        <a:spcAft>
                          <a:spcPts val="0"/>
                        </a:spcAft>
                        <a:buNone/>
                      </a:pPr>
                      <a:r>
                        <a:rPr lang="en-US" sz="1100" u="none" cap="none" strike="noStrike">
                          <a:latin typeface="Times New Roman"/>
                          <a:ea typeface="Times New Roman"/>
                          <a:cs typeface="Times New Roman"/>
                          <a:sym typeface="Times New Roman"/>
                        </a:rPr>
                        <a:t>Approved By:	CGM, QA &amp; Inspection Circle Date of Issue:</a:t>
                      </a:r>
                      <a:endParaRPr sz="1100" u="none" cap="none" strike="noStrike">
                        <a:latin typeface="Times New Roman"/>
                        <a:ea typeface="Times New Roman"/>
                        <a:cs typeface="Times New Roman"/>
                        <a:sym typeface="Times New Roman"/>
                      </a:endParaRPr>
                    </a:p>
                    <a:p>
                      <a:pPr indent="0" lvl="0" marL="99060" marR="0" rtl="0" algn="l">
                        <a:lnSpc>
                          <a:spcPct val="100000"/>
                        </a:lnSpc>
                        <a:spcBef>
                          <a:spcPts val="530"/>
                        </a:spcBef>
                        <a:spcAft>
                          <a:spcPts val="0"/>
                        </a:spcAft>
                        <a:buNone/>
                      </a:pPr>
                      <a:r>
                        <a:rPr b="1" lang="en-US" sz="1100" u="none" cap="none" strike="noStrike">
                          <a:latin typeface="Times New Roman"/>
                          <a:ea typeface="Times New Roman"/>
                          <a:cs typeface="Times New Roman"/>
                          <a:sym typeface="Times New Roman"/>
                        </a:rPr>
                        <a:t>Amendment No (If Any)</a:t>
                      </a:r>
                      <a:endParaRPr sz="1100" u="none" cap="none" strike="noStrike">
                        <a:latin typeface="Times New Roman"/>
                        <a:ea typeface="Times New Roman"/>
                        <a:cs typeface="Times New Roman"/>
                        <a:sym typeface="Times New Roman"/>
                      </a:endParaRPr>
                    </a:p>
                    <a:p>
                      <a:pPr indent="0" lvl="0" marL="0" marR="0" rtl="0" algn="l">
                        <a:lnSpc>
                          <a:spcPct val="100000"/>
                        </a:lnSpc>
                        <a:spcBef>
                          <a:spcPts val="250"/>
                        </a:spcBef>
                        <a:spcAft>
                          <a:spcPts val="0"/>
                        </a:spcAft>
                        <a:buNone/>
                      </a:pPr>
                      <a:r>
                        <a:t/>
                      </a:r>
                      <a:endParaRPr sz="1100" u="none" cap="none" strike="noStrike">
                        <a:latin typeface="Times New Roman"/>
                        <a:ea typeface="Times New Roman"/>
                        <a:cs typeface="Times New Roman"/>
                        <a:sym typeface="Times New Roman"/>
                      </a:endParaRPr>
                    </a:p>
                    <a:p>
                      <a:pPr indent="0" lvl="0" marL="99060" marR="0" rtl="0" algn="l">
                        <a:lnSpc>
                          <a:spcPct val="100000"/>
                        </a:lnSpc>
                        <a:spcBef>
                          <a:spcPts val="0"/>
                        </a:spcBef>
                        <a:spcAft>
                          <a:spcPts val="0"/>
                        </a:spcAft>
                        <a:buNone/>
                      </a:pPr>
                      <a:r>
                        <a:rPr lang="en-US" sz="1100" u="none" cap="none" strike="noStrike">
                          <a:latin typeface="Times New Roman"/>
                          <a:ea typeface="Times New Roman"/>
                          <a:cs typeface="Times New Roman"/>
                          <a:sym typeface="Times New Roman"/>
                        </a:rPr>
                        <a:t>No of Pages:</a:t>
                      </a:r>
                      <a:endParaRPr sz="1100" u="none" cap="none" strike="noStrike">
                        <a:latin typeface="Times New Roman"/>
                        <a:ea typeface="Times New Roman"/>
                        <a:cs typeface="Times New Roman"/>
                        <a:sym typeface="Times New Roman"/>
                      </a:endParaRPr>
                    </a:p>
                    <a:p>
                      <a:pPr indent="0" lvl="0" marL="0" marR="0" rtl="0" algn="l">
                        <a:lnSpc>
                          <a:spcPct val="100000"/>
                        </a:lnSpc>
                        <a:spcBef>
                          <a:spcPts val="245"/>
                        </a:spcBef>
                        <a:spcAft>
                          <a:spcPts val="0"/>
                        </a:spcAft>
                        <a:buNone/>
                      </a:pPr>
                      <a:r>
                        <a:t/>
                      </a:r>
                      <a:endParaRPr sz="1100" u="none" cap="none" strike="noStrike">
                        <a:latin typeface="Times New Roman"/>
                        <a:ea typeface="Times New Roman"/>
                        <a:cs typeface="Times New Roman"/>
                        <a:sym typeface="Times New Roman"/>
                      </a:endParaRPr>
                    </a:p>
                    <a:p>
                      <a:pPr indent="0" lvl="0" marL="99060" marR="0" rtl="0" algn="l">
                        <a:lnSpc>
                          <a:spcPct val="100000"/>
                        </a:lnSpc>
                        <a:spcBef>
                          <a:spcPts val="0"/>
                        </a:spcBef>
                        <a:spcAft>
                          <a:spcPts val="0"/>
                        </a:spcAft>
                        <a:buNone/>
                      </a:pPr>
                      <a:r>
                        <a:rPr lang="en-US" sz="1100" u="none" cap="none" strike="noStrike">
                          <a:latin typeface="Times New Roman"/>
                          <a:ea typeface="Times New Roman"/>
                          <a:cs typeface="Times New Roman"/>
                          <a:sym typeface="Times New Roman"/>
                        </a:rPr>
                        <a:t>Issued by:</a:t>
                      </a:r>
                      <a:endParaRPr sz="1100" u="none" cap="none" strike="noStrike">
                        <a:latin typeface="Times New Roman"/>
                        <a:ea typeface="Times New Roman"/>
                        <a:cs typeface="Times New Roman"/>
                        <a:sym typeface="Times New Roman"/>
                      </a:endParaRPr>
                    </a:p>
                    <a:p>
                      <a:pPr indent="0" lvl="0" marL="99060" marR="0" rtl="0" algn="l">
                        <a:lnSpc>
                          <a:spcPct val="100000"/>
                        </a:lnSpc>
                        <a:spcBef>
                          <a:spcPts val="575"/>
                        </a:spcBef>
                        <a:spcAft>
                          <a:spcPts val="0"/>
                        </a:spcAft>
                        <a:buNone/>
                      </a:pPr>
                      <a:r>
                        <a:rPr lang="en-US" sz="1100" u="none" cap="none" strike="noStrike">
                          <a:latin typeface="Times New Roman"/>
                          <a:ea typeface="Times New Roman"/>
                          <a:cs typeface="Times New Roman"/>
                          <a:sym typeface="Times New Roman"/>
                        </a:rPr>
                        <a:t>Date of Issue:</a:t>
                      </a:r>
                      <a:endParaRPr sz="11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l">
                        <a:lnSpc>
                          <a:spcPct val="100000"/>
                        </a:lnSpc>
                        <a:spcBef>
                          <a:spcPts val="10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ctr">
                        <a:lnSpc>
                          <a:spcPct val="100000"/>
                        </a:lnSpc>
                        <a:spcBef>
                          <a:spcPts val="5"/>
                        </a:spcBef>
                        <a:spcAft>
                          <a:spcPts val="0"/>
                        </a:spcAft>
                        <a:buNone/>
                      </a:pPr>
                      <a:r>
                        <a:rPr b="1" lang="en-US" sz="1400" u="none" cap="none" strike="noStrike">
                          <a:solidFill>
                            <a:srgbClr val="FF0000"/>
                          </a:solidFill>
                          <a:latin typeface="Times New Roman"/>
                          <a:ea typeface="Times New Roman"/>
                          <a:cs typeface="Times New Roman"/>
                          <a:sym typeface="Times New Roman"/>
                        </a:rPr>
                        <a:t>Restricted use by BSNL Employees only</a:t>
                      </a:r>
                      <a:endParaRPr sz="1400" u="none" cap="none" strike="noStrike">
                        <a:latin typeface="Times New Roman"/>
                        <a:ea typeface="Times New Roman"/>
                        <a:cs typeface="Times New Roman"/>
                        <a:sym typeface="Times New Roman"/>
                      </a:endParaRPr>
                    </a:p>
                  </a:txBody>
                  <a:tcPr marT="844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B cap="flat" cmpd="sng" w="9525">
                      <a:solidFill>
                        <a:srgbClr val="000000"/>
                      </a:solidFill>
                      <a:prstDash val="solid"/>
                      <a:round/>
                      <a:headEnd len="sm" w="sm" type="none"/>
                      <a:tailEnd len="sm" w="sm" type="none"/>
                    </a:lnB>
                  </a:tcPr>
                </a:tc>
              </a:tr>
              <a:tr h="356225">
                <a:tc>
                  <a:txBody>
                    <a:bodyPr/>
                    <a:lstStyle/>
                    <a:p>
                      <a:pPr indent="0" lvl="0" marL="0" marR="0" rtl="0" algn="ctr">
                        <a:lnSpc>
                          <a:spcPct val="115000"/>
                        </a:lnSpc>
                        <a:spcBef>
                          <a:spcPts val="0"/>
                        </a:spcBef>
                        <a:spcAft>
                          <a:spcPts val="0"/>
                        </a:spcAft>
                        <a:buNone/>
                      </a:pPr>
                      <a:r>
                        <a:rPr b="1" lang="en-US" sz="1200" u="none" cap="none" strike="noStrike">
                          <a:latin typeface="Times New Roman"/>
                          <a:ea typeface="Times New Roman"/>
                          <a:cs typeface="Times New Roman"/>
                          <a:sym typeface="Times New Roman"/>
                        </a:rPr>
                        <a:t>“FIX IT RIGHT AT THE FIRST INSTANCE”</a:t>
                      </a:r>
                      <a:endParaRPr sz="1200" u="none" cap="none" strike="noStrike">
                        <a:latin typeface="Times New Roman"/>
                        <a:ea typeface="Times New Roman"/>
                        <a:cs typeface="Times New Roman"/>
                        <a:sym typeface="Times New Roman"/>
                      </a:endParaRPr>
                    </a:p>
                  </a:txBody>
                  <a:tcPr marT="0" marB="0" marR="0" marL="0">
                    <a:lnL cap="flat" cmpd="sng" w="9525">
                      <a:solidFill>
                        <a:srgbClr val="0000FF"/>
                      </a:solidFill>
                      <a:prstDash val="solid"/>
                      <a:round/>
                      <a:headEnd len="sm" w="sm" type="none"/>
                      <a:tailEnd len="sm" w="sm" type="none"/>
                    </a:lnL>
                    <a:lnR cap="flat" cmpd="sng" w="9525">
                      <a:solidFill>
                        <a:srgbClr val="0000FF"/>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FF"/>
                      </a:solidFill>
                      <a:prstDash val="solid"/>
                      <a:round/>
                      <a:headEnd len="sm" w="sm" type="none"/>
                      <a:tailEnd len="sm" w="sm" type="none"/>
                    </a:lnB>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8"/>
          <p:cNvSpPr txBox="1"/>
          <p:nvPr/>
        </p:nvSpPr>
        <p:spPr>
          <a:xfrm>
            <a:off x="868476" y="9083316"/>
            <a:ext cx="1681480" cy="182245"/>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lang="en-US" sz="1100">
                <a:solidFill>
                  <a:schemeClr val="dk1"/>
                </a:solidFill>
                <a:latin typeface="Arial"/>
                <a:ea typeface="Arial"/>
                <a:cs typeface="Arial"/>
                <a:sym typeface="Arial"/>
              </a:rPr>
              <a:t>QAIN-11/31(14)/1/2024-CM</a:t>
            </a:r>
            <a:endParaRPr sz="1100">
              <a:solidFill>
                <a:schemeClr val="dk1"/>
              </a:solidFill>
              <a:latin typeface="Arial"/>
              <a:ea typeface="Arial"/>
              <a:cs typeface="Arial"/>
              <a:sym typeface="Arial"/>
            </a:endParaRPr>
          </a:p>
        </p:txBody>
      </p:sp>
      <p:sp>
        <p:nvSpPr>
          <p:cNvPr id="57" name="Google Shape;57;p8"/>
          <p:cNvSpPr txBox="1"/>
          <p:nvPr/>
        </p:nvSpPr>
        <p:spPr>
          <a:xfrm>
            <a:off x="685596" y="376781"/>
            <a:ext cx="2286204" cy="370999"/>
          </a:xfrm>
          <a:prstGeom prst="rect">
            <a:avLst/>
          </a:prstGeom>
          <a:noFill/>
          <a:ln>
            <a:noFill/>
          </a:ln>
        </p:spPr>
        <p:txBody>
          <a:bodyPr anchorCtr="0" anchor="t" bIns="0" lIns="0" spcFirstLastPara="1" rIns="0" wrap="square" tIns="12050">
            <a:spAutoFit/>
          </a:bodyPr>
          <a:lstStyle/>
          <a:p>
            <a:pPr indent="254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QA &amp; INSPECTION CIRCLE KL 	</a:t>
            </a:r>
            <a:endParaRPr sz="1100">
              <a:solidFill>
                <a:schemeClr val="dk1"/>
              </a:solidFill>
              <a:latin typeface="Arial"/>
              <a:ea typeface="Arial"/>
              <a:cs typeface="Arial"/>
              <a:sym typeface="Arial"/>
            </a:endParaRPr>
          </a:p>
        </p:txBody>
      </p:sp>
      <p:sp>
        <p:nvSpPr>
          <p:cNvPr id="58" name="Google Shape;58;p8"/>
          <p:cNvSpPr txBox="1"/>
          <p:nvPr/>
        </p:nvSpPr>
        <p:spPr>
          <a:xfrm>
            <a:off x="5249926" y="414883"/>
            <a:ext cx="1609725" cy="379095"/>
          </a:xfrm>
          <a:prstGeom prst="rect">
            <a:avLst/>
          </a:prstGeom>
          <a:noFill/>
          <a:ln>
            <a:noFill/>
          </a:ln>
        </p:spPr>
        <p:txBody>
          <a:bodyPr anchorCtr="0" anchor="t" bIns="0" lIns="0" spcFirstLastPara="1" rIns="0" wrap="square" tIns="12050">
            <a:spAutoFit/>
          </a:bodyPr>
          <a:lstStyle/>
          <a:p>
            <a:pPr indent="61595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4G PHASE IX.2  eNode-B A/T SCHEDULE</a:t>
            </a:r>
            <a:endParaRPr sz="1100">
              <a:solidFill>
                <a:schemeClr val="dk1"/>
              </a:solidFill>
              <a:latin typeface="Arial"/>
              <a:ea typeface="Arial"/>
              <a:cs typeface="Arial"/>
              <a:sym typeface="Arial"/>
            </a:endParaRPr>
          </a:p>
        </p:txBody>
      </p:sp>
      <p:sp>
        <p:nvSpPr>
          <p:cNvPr id="59" name="Google Shape;59;p8"/>
          <p:cNvSpPr txBox="1"/>
          <p:nvPr/>
        </p:nvSpPr>
        <p:spPr>
          <a:xfrm>
            <a:off x="868476" y="938530"/>
            <a:ext cx="5836920" cy="577850"/>
          </a:xfrm>
          <a:prstGeom prst="rect">
            <a:avLst/>
          </a:prstGeom>
          <a:noFill/>
          <a:ln>
            <a:noFill/>
          </a:ln>
        </p:spPr>
        <p:txBody>
          <a:bodyPr anchorCtr="0" anchor="t" bIns="0" lIns="0" spcFirstLastPara="1" rIns="0" wrap="square" tIns="12700">
            <a:spAutoFit/>
          </a:bodyPr>
          <a:lstStyle/>
          <a:p>
            <a:pPr indent="0" lvl="0" marL="12700" marR="0" rtl="0" algn="l">
              <a:lnSpc>
                <a:spcPct val="117916"/>
              </a:lnSpc>
              <a:spcBef>
                <a:spcPts val="0"/>
              </a:spcBef>
              <a:spcAft>
                <a:spcPts val="0"/>
              </a:spcAft>
              <a:buNone/>
            </a:pPr>
            <a:r>
              <a:rPr lang="en-US" sz="1200">
                <a:solidFill>
                  <a:schemeClr val="dk1"/>
                </a:solidFill>
                <a:latin typeface="Arial"/>
                <a:ea typeface="Arial"/>
                <a:cs typeface="Arial"/>
                <a:sym typeface="Arial"/>
              </a:rPr>
              <a:t>1.	Details of eNode-B: Cross check with planning document from Local Craft Terminal</a:t>
            </a:r>
            <a:endParaRPr sz="1200">
              <a:solidFill>
                <a:schemeClr val="dk1"/>
              </a:solidFill>
              <a:latin typeface="Arial"/>
              <a:ea typeface="Arial"/>
              <a:cs typeface="Arial"/>
              <a:sym typeface="Arial"/>
            </a:endParaRPr>
          </a:p>
          <a:p>
            <a:pPr indent="0" lvl="0" marL="299085" marR="0" rtl="0" algn="l">
              <a:lnSpc>
                <a:spcPct val="117916"/>
              </a:lnSpc>
              <a:spcBef>
                <a:spcPts val="0"/>
              </a:spcBef>
              <a:spcAft>
                <a:spcPts val="0"/>
              </a:spcAft>
              <a:buNone/>
            </a:pPr>
            <a:r>
              <a:rPr lang="en-US" sz="1200">
                <a:solidFill>
                  <a:schemeClr val="dk1"/>
                </a:solidFill>
                <a:latin typeface="Arial"/>
                <a:ea typeface="Arial"/>
                <a:cs typeface="Arial"/>
                <a:sym typeface="Arial"/>
              </a:rPr>
              <a:t>/EMS/DTT kit/Engg. Handset/Physical verification.</a:t>
            </a:r>
            <a:endParaRPr sz="1200">
              <a:solidFill>
                <a:schemeClr val="dk1"/>
              </a:solidFill>
              <a:latin typeface="Arial"/>
              <a:ea typeface="Arial"/>
              <a:cs typeface="Arial"/>
              <a:sym typeface="Arial"/>
            </a:endParaRPr>
          </a:p>
          <a:p>
            <a:pPr indent="0" lvl="0" marL="271780" marR="0" rtl="0" algn="l">
              <a:lnSpc>
                <a:spcPct val="100000"/>
              </a:lnSpc>
              <a:spcBef>
                <a:spcPts val="195"/>
              </a:spcBef>
              <a:spcAft>
                <a:spcPts val="0"/>
              </a:spcAft>
              <a:buNone/>
            </a:pPr>
            <a:r>
              <a:rPr lang="en-US" sz="1100">
                <a:solidFill>
                  <a:schemeClr val="dk1"/>
                </a:solidFill>
                <a:latin typeface="Arial"/>
                <a:ea typeface="Arial"/>
                <a:cs typeface="Arial"/>
                <a:sym typeface="Arial"/>
              </a:rPr>
              <a:t>Type of site: (BSNL/NBSNL/IP): ----NBSNL------------</a:t>
            </a:r>
            <a:endParaRPr sz="1100">
              <a:solidFill>
                <a:schemeClr val="dk1"/>
              </a:solidFill>
              <a:latin typeface="Arial"/>
              <a:ea typeface="Arial"/>
              <a:cs typeface="Arial"/>
              <a:sym typeface="Arial"/>
            </a:endParaRPr>
          </a:p>
        </p:txBody>
      </p:sp>
      <p:graphicFrame>
        <p:nvGraphicFramePr>
          <p:cNvPr id="60" name="Google Shape;60;p8"/>
          <p:cNvGraphicFramePr/>
          <p:nvPr/>
        </p:nvGraphicFramePr>
        <p:xfrm>
          <a:off x="868476" y="1792171"/>
          <a:ext cx="3000000" cy="3000000"/>
        </p:xfrm>
        <a:graphic>
          <a:graphicData uri="http://schemas.openxmlformats.org/drawingml/2006/table">
            <a:tbl>
              <a:tblPr>
                <a:noFill/>
                <a:tableStyleId>{D2C2C31C-BB3A-4677-B747-F5C60967CC61}</a:tableStyleId>
              </a:tblPr>
              <a:tblGrid>
                <a:gridCol w="731725"/>
                <a:gridCol w="1447800"/>
                <a:gridCol w="1269400"/>
                <a:gridCol w="1245200"/>
                <a:gridCol w="685800"/>
                <a:gridCol w="794125"/>
              </a:tblGrid>
              <a:tr h="139700">
                <a:tc>
                  <a:txBody>
                    <a:bodyPr/>
                    <a:lstStyle/>
                    <a:p>
                      <a:pPr indent="0" lvl="0" marL="0" marR="0" rtl="0" algn="ctr">
                        <a:spcBef>
                          <a:spcPts val="0"/>
                        </a:spcBef>
                        <a:spcAft>
                          <a:spcPts val="0"/>
                        </a:spcAft>
                        <a:buNone/>
                      </a:pPr>
                      <a:r>
                        <a:rPr b="1" i="0" lang="en-US" sz="1000" u="none" cap="none" strike="noStrike">
                          <a:solidFill>
                            <a:srgbClr val="000000"/>
                          </a:solidFill>
                          <a:latin typeface="Times New Roman"/>
                          <a:ea typeface="Times New Roman"/>
                          <a:cs typeface="Times New Roman"/>
                          <a:sym typeface="Times New Roman"/>
                        </a:rPr>
                        <a:t>Lat/Long</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US" sz="900" u="none" cap="none" strike="noStrike">
                          <a:latin typeface="Arial"/>
                          <a:ea typeface="Arial"/>
                          <a:cs typeface="Arial"/>
                          <a:sym typeface="Arial"/>
                        </a:rPr>
                        <a:t>12.04003191/</a:t>
                      </a:r>
                      <a:endParaRPr/>
                    </a:p>
                    <a:p>
                      <a:pPr indent="0" lvl="0" marL="0" marR="0" rtl="0" algn="ctr">
                        <a:lnSpc>
                          <a:spcPct val="100000"/>
                        </a:lnSpc>
                        <a:spcBef>
                          <a:spcPts val="490"/>
                        </a:spcBef>
                        <a:spcAft>
                          <a:spcPts val="0"/>
                        </a:spcAft>
                        <a:buNone/>
                      </a:pPr>
                      <a:r>
                        <a:rPr lang="en-US" sz="900" u="none" cap="none" strike="noStrike">
                          <a:latin typeface="Arial"/>
                          <a:ea typeface="Arial"/>
                          <a:cs typeface="Arial"/>
                          <a:sym typeface="Arial"/>
                        </a:rPr>
                        <a:t>75.41092776</a:t>
                      </a:r>
                      <a:endParaRPr sz="900" u="none" cap="none" strike="noStrike">
                        <a:latin typeface="Arial"/>
                        <a:ea typeface="Arial"/>
                        <a:cs typeface="Arial"/>
                        <a:sym typeface="Arial"/>
                      </a:endParaRPr>
                    </a:p>
                  </a:txBody>
                  <a:tcPr marT="622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1" i="0" lang="en-US" sz="1000" u="none" cap="none" strike="noStrike">
                          <a:solidFill>
                            <a:srgbClr val="000000"/>
                          </a:solidFill>
                          <a:latin typeface="Times New Roman"/>
                          <a:ea typeface="Times New Roman"/>
                          <a:cs typeface="Times New Roman"/>
                          <a:sym typeface="Times New Roman"/>
                        </a:rPr>
                        <a:t>Equipment type:  (Macro/Micro/Pico)</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US" sz="1100" u="none" cap="none" strike="noStrike">
                          <a:latin typeface="Arial"/>
                          <a:ea typeface="Arial"/>
                          <a:cs typeface="Arial"/>
                          <a:sym typeface="Arial"/>
                        </a:rPr>
                        <a:t>Micro</a:t>
                      </a:r>
                      <a:endParaRPr sz="1100" u="none" cap="none" strike="noStrike">
                        <a:latin typeface="Arial"/>
                        <a:ea typeface="Arial"/>
                        <a:cs typeface="Arial"/>
                        <a:sym typeface="Arial"/>
                      </a:endParaRPr>
                    </a:p>
                  </a:txBody>
                  <a:tcPr marT="1460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1" i="0" lang="en-US" sz="1000" u="none" cap="none" strike="noStrike">
                          <a:solidFill>
                            <a:srgbClr val="000000"/>
                          </a:solidFill>
                          <a:latin typeface="Times New Roman"/>
                          <a:ea typeface="Times New Roman"/>
                          <a:cs typeface="Times New Roman"/>
                          <a:sym typeface="Times New Roman"/>
                        </a:rPr>
                        <a:t>Config: (TDD/FDD)</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i="0" lang="en-US" sz="1000" u="none" cap="none" strike="noStrike">
                          <a:solidFill>
                            <a:srgbClr val="000000"/>
                          </a:solidFill>
                          <a:latin typeface="Times New Roman"/>
                          <a:ea typeface="Times New Roman"/>
                          <a:cs typeface="Times New Roman"/>
                          <a:sym typeface="Times New Roman"/>
                        </a:rPr>
                        <a:t> </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855775">
                <a:tc>
                  <a:txBody>
                    <a:bodyPr/>
                    <a:lstStyle/>
                    <a:p>
                      <a:pPr indent="0" lvl="0" marL="0" marR="0" rtl="0" algn="ctr">
                        <a:spcBef>
                          <a:spcPts val="0"/>
                        </a:spcBef>
                        <a:spcAft>
                          <a:spcPts val="0"/>
                        </a:spcAft>
                        <a:buNone/>
                      </a:pPr>
                      <a:r>
                        <a:rPr b="1" i="0" lang="en-US" sz="1000" u="none" cap="none" strike="noStrike">
                          <a:solidFill>
                            <a:srgbClr val="000000"/>
                          </a:solidFill>
                          <a:latin typeface="Times New Roman"/>
                          <a:ea typeface="Times New Roman"/>
                          <a:cs typeface="Times New Roman"/>
                          <a:sym typeface="Times New Roman"/>
                        </a:rPr>
                        <a:t>Project name</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lang="en-US" sz="1100" u="none" cap="none" strike="noStrike">
                          <a:latin typeface="Arial"/>
                          <a:ea typeface="Arial"/>
                          <a:cs typeface="Arial"/>
                          <a:sym typeface="Arial"/>
                        </a:rPr>
                        <a:t>BSNL</a:t>
                      </a:r>
                      <a:endParaRPr sz="1100" u="none" cap="none" strike="noStrike">
                        <a:latin typeface="Arial"/>
                        <a:ea typeface="Arial"/>
                        <a:cs typeface="Arial"/>
                        <a:sym typeface="Arial"/>
                      </a:endParaRPr>
                    </a:p>
                  </a:txBody>
                  <a:tcPr marT="235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1" i="0" lang="en-US" sz="1000" u="none" cap="none" strike="noStrike">
                          <a:solidFill>
                            <a:srgbClr val="000000"/>
                          </a:solidFill>
                          <a:latin typeface="Times New Roman"/>
                          <a:ea typeface="Times New Roman"/>
                          <a:cs typeface="Times New Roman"/>
                          <a:sym typeface="Times New Roman"/>
                        </a:rPr>
                        <a:t>Site name</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152400" lvl="0" marL="106679" marR="586105" rtl="0" algn="l">
                        <a:lnSpc>
                          <a:spcPct val="100000"/>
                        </a:lnSpc>
                        <a:spcBef>
                          <a:spcPts val="815"/>
                        </a:spcBef>
                        <a:spcAft>
                          <a:spcPts val="0"/>
                        </a:spcAft>
                        <a:buNone/>
                      </a:pPr>
                      <a:r>
                        <a:t>RP-00553- MAYYIL</a:t>
                      </a:r>
                      <a:endParaRPr b="1" sz="900"/>
                    </a:p>
                  </a:txBody>
                  <a:tcPr marT="10350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t/>
                      </a:r>
                      <a:endParaRPr b="1" i="0" sz="1000" u="none" cap="none" strike="noStrike">
                        <a:solidFill>
                          <a:srgbClr val="000000"/>
                        </a:solidFill>
                        <a:latin typeface="Times New Roman"/>
                        <a:ea typeface="Times New Roman"/>
                        <a:cs typeface="Times New Roman"/>
                        <a:sym typeface="Times New Roman"/>
                      </a:endParaRPr>
                    </a:p>
                    <a:p>
                      <a:pPr indent="0" lvl="0" marL="0" marR="0" rtl="0" algn="ctr">
                        <a:spcBef>
                          <a:spcPts val="0"/>
                        </a:spcBef>
                        <a:spcAft>
                          <a:spcPts val="0"/>
                        </a:spcAft>
                        <a:buNone/>
                      </a:pPr>
                      <a:r>
                        <a:rPr b="1" i="0" lang="en-US" sz="1000" u="none" cap="none" strike="noStrike">
                          <a:solidFill>
                            <a:srgbClr val="000000"/>
                          </a:solidFill>
                          <a:latin typeface="Times New Roman"/>
                          <a:ea typeface="Times New Roman"/>
                          <a:cs typeface="Times New Roman"/>
                          <a:sym typeface="Times New Roman"/>
                        </a:rPr>
                        <a:t>Site ID</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7620" marR="0" rtl="0" algn="ctr">
                        <a:lnSpc>
                          <a:spcPct val="100000"/>
                        </a:lnSpc>
                        <a:spcBef>
                          <a:spcPts val="0"/>
                        </a:spcBef>
                        <a:spcAft>
                          <a:spcPts val="0"/>
                        </a:spcAft>
                        <a:buNone/>
                      </a:pPr>
                      <a:r>
                        <a:rPr lang="en-US" sz="1100" u="none" cap="none" strike="noStrike">
                          <a:latin typeface="Arial"/>
                          <a:ea typeface="Arial"/>
                          <a:cs typeface="Arial"/>
                          <a:sym typeface="Arial"/>
                        </a:rPr>
                        <a:t>RP-01287</a:t>
                      </a:r>
                      <a:endParaRPr sz="1100" u="none" cap="none" strike="noStrike">
                        <a:latin typeface="Arial"/>
                        <a:ea typeface="Arial"/>
                        <a:cs typeface="Arial"/>
                        <a:sym typeface="Arial"/>
                      </a:endParaRPr>
                    </a:p>
                  </a:txBody>
                  <a:tcPr marT="235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309350">
                <a:tc>
                  <a:txBody>
                    <a:bodyPr/>
                    <a:lstStyle/>
                    <a:p>
                      <a:pPr indent="0" lvl="0" marL="0" marR="0" rtl="0" algn="ctr">
                        <a:spcBef>
                          <a:spcPts val="0"/>
                        </a:spcBef>
                        <a:spcAft>
                          <a:spcPts val="0"/>
                        </a:spcAft>
                        <a:buNone/>
                      </a:pPr>
                      <a:r>
                        <a:rPr b="1" i="0" lang="en-US" sz="1000" u="none" cap="none" strike="noStrike">
                          <a:solidFill>
                            <a:srgbClr val="000000"/>
                          </a:solidFill>
                          <a:latin typeface="Times New Roman"/>
                          <a:ea typeface="Times New Roman"/>
                          <a:cs typeface="Times New Roman"/>
                          <a:sym typeface="Times New Roman"/>
                        </a:rPr>
                        <a:t>BA</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635" marR="0" rtl="0" algn="ctr">
                        <a:lnSpc>
                          <a:spcPct val="100000"/>
                        </a:lnSpc>
                        <a:spcBef>
                          <a:spcPts val="0"/>
                        </a:spcBef>
                        <a:spcAft>
                          <a:spcPts val="0"/>
                        </a:spcAft>
                        <a:buNone/>
                      </a:pPr>
                      <a:r>
                        <a:rPr lang="en-US" sz="1100" u="none" cap="none" strike="noStrike">
                          <a:latin typeface="Arial"/>
                          <a:ea typeface="Arial"/>
                          <a:cs typeface="Arial"/>
                          <a:sym typeface="Arial"/>
                        </a:rPr>
                        <a:t>KNR</a:t>
                      </a:r>
                      <a:endParaRPr sz="1100" u="none" cap="none" strike="noStrike">
                        <a:latin typeface="Arial"/>
                        <a:ea typeface="Arial"/>
                        <a:cs typeface="Arial"/>
                        <a:sym typeface="Arial"/>
                      </a:endParaRPr>
                    </a:p>
                  </a:txBody>
                  <a:tcPr marT="1403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1" i="0" lang="en-US" sz="1000" u="none" cap="none" strike="noStrike">
                          <a:solidFill>
                            <a:srgbClr val="000000"/>
                          </a:solidFill>
                          <a:latin typeface="Times New Roman"/>
                          <a:ea typeface="Times New Roman"/>
                          <a:cs typeface="Times New Roman"/>
                          <a:sym typeface="Times New Roman"/>
                        </a:rPr>
                        <a:t>SDCA / OA</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4445" marR="0" rtl="0" algn="ctr">
                        <a:lnSpc>
                          <a:spcPct val="100000"/>
                        </a:lnSpc>
                        <a:spcBef>
                          <a:spcPts val="0"/>
                        </a:spcBef>
                        <a:spcAft>
                          <a:spcPts val="0"/>
                        </a:spcAft>
                        <a:buNone/>
                      </a:pPr>
                      <a:r>
                        <a:rPr lang="en-US" sz="1100" u="none" cap="none" strike="noStrike">
                          <a:latin typeface="Arial"/>
                          <a:ea typeface="Arial"/>
                          <a:cs typeface="Arial"/>
                          <a:sym typeface="Arial"/>
                        </a:rPr>
                        <a:t>KANNUR</a:t>
                      </a:r>
                      <a:endParaRPr sz="1100" u="none" cap="none" strike="noStrike">
                        <a:latin typeface="Arial"/>
                        <a:ea typeface="Arial"/>
                        <a:cs typeface="Arial"/>
                        <a:sym typeface="Arial"/>
                      </a:endParaRPr>
                    </a:p>
                  </a:txBody>
                  <a:tcPr marT="1403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1" i="0" lang="en-US" sz="1000" u="none" cap="none" strike="noStrike">
                          <a:solidFill>
                            <a:srgbClr val="000000"/>
                          </a:solidFill>
                          <a:latin typeface="Times New Roman"/>
                          <a:ea typeface="Times New Roman"/>
                          <a:cs typeface="Times New Roman"/>
                          <a:sym typeface="Times New Roman"/>
                        </a:rPr>
                        <a:t>Cell Ids</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7620" marR="0" rtl="0" algn="ctr">
                        <a:lnSpc>
                          <a:spcPct val="100000"/>
                        </a:lnSpc>
                        <a:spcBef>
                          <a:spcPts val="0"/>
                        </a:spcBef>
                        <a:spcAft>
                          <a:spcPts val="0"/>
                        </a:spcAft>
                        <a:buNone/>
                      </a:pPr>
                      <a:r>
                        <a:rPr lang="en-US" sz="1100" u="none" cap="none" strike="noStrike">
                          <a:latin typeface="Arial"/>
                          <a:ea typeface="Arial"/>
                          <a:cs typeface="Arial"/>
                          <a:sym typeface="Arial"/>
                        </a:rPr>
                        <a:t>674971-</a:t>
                      </a:r>
                      <a:endParaRPr sz="1100" u="none" cap="none" strike="noStrike">
                        <a:latin typeface="Arial"/>
                        <a:ea typeface="Arial"/>
                        <a:cs typeface="Arial"/>
                        <a:sym typeface="Arial"/>
                      </a:endParaRPr>
                    </a:p>
                    <a:p>
                      <a:pPr indent="0" lvl="0" marL="1270" marR="0" rtl="0" algn="ctr">
                        <a:lnSpc>
                          <a:spcPct val="100000"/>
                        </a:lnSpc>
                        <a:spcBef>
                          <a:spcPts val="0"/>
                        </a:spcBef>
                        <a:spcAft>
                          <a:spcPts val="0"/>
                        </a:spcAft>
                        <a:buNone/>
                      </a:pPr>
                      <a:r>
                        <a:rPr lang="en-US" sz="1100" u="none" cap="none" strike="noStrike">
                          <a:latin typeface="Arial"/>
                          <a:ea typeface="Arial"/>
                          <a:cs typeface="Arial"/>
                          <a:sym typeface="Arial"/>
                        </a:rPr>
                        <a:t>0/1/2</a:t>
                      </a:r>
                      <a:endParaRPr sz="1100" u="none" cap="none" strike="noStrike">
                        <a:latin typeface="Arial"/>
                        <a:ea typeface="Arial"/>
                        <a:cs typeface="Arial"/>
                        <a:sym typeface="Arial"/>
                      </a:endParaRPr>
                    </a:p>
                  </a:txBody>
                  <a:tcPr marT="565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307300">
                <a:tc>
                  <a:txBody>
                    <a:bodyPr/>
                    <a:lstStyle/>
                    <a:p>
                      <a:pPr indent="0" lvl="0" marL="0" marR="0" rtl="0" algn="ctr">
                        <a:spcBef>
                          <a:spcPts val="0"/>
                        </a:spcBef>
                        <a:spcAft>
                          <a:spcPts val="0"/>
                        </a:spcAft>
                        <a:buNone/>
                      </a:pPr>
                      <a:r>
                        <a:rPr b="1" i="0" lang="en-US" sz="1000" u="none" cap="none" strike="noStrike">
                          <a:solidFill>
                            <a:srgbClr val="000000"/>
                          </a:solidFill>
                          <a:latin typeface="Times New Roman"/>
                          <a:ea typeface="Times New Roman"/>
                          <a:cs typeface="Times New Roman"/>
                          <a:sym typeface="Times New Roman"/>
                        </a:rPr>
                        <a:t>Circle name</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US" sz="1100" u="none" cap="none" strike="noStrike">
                          <a:latin typeface="Arial"/>
                          <a:ea typeface="Arial"/>
                          <a:cs typeface="Arial"/>
                          <a:sym typeface="Arial"/>
                        </a:rPr>
                        <a:t>KERALA</a:t>
                      </a:r>
                      <a:endParaRPr sz="1100" u="none" cap="none" strike="noStrike">
                        <a:latin typeface="Arial"/>
                        <a:ea typeface="Arial"/>
                        <a:cs typeface="Arial"/>
                        <a:sym typeface="Arial"/>
                      </a:endParaRPr>
                    </a:p>
                  </a:txBody>
                  <a:tcPr marT="838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1" i="0" lang="en-US" sz="1000" u="none" cap="none" strike="noStrike">
                          <a:solidFill>
                            <a:srgbClr val="000000"/>
                          </a:solidFill>
                          <a:latin typeface="Times New Roman"/>
                          <a:ea typeface="Times New Roman"/>
                          <a:cs typeface="Times New Roman"/>
                          <a:sym typeface="Times New Roman"/>
                        </a:rPr>
                        <a:t>Vendor name</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635" marR="0" rtl="0" algn="ctr">
                        <a:lnSpc>
                          <a:spcPct val="100000"/>
                        </a:lnSpc>
                        <a:spcBef>
                          <a:spcPts val="0"/>
                        </a:spcBef>
                        <a:spcAft>
                          <a:spcPts val="0"/>
                        </a:spcAft>
                        <a:buNone/>
                      </a:pPr>
                      <a:r>
                        <a:rPr lang="en-US" sz="1100" u="none" cap="none" strike="noStrike">
                          <a:latin typeface="Arial"/>
                          <a:ea typeface="Arial"/>
                          <a:cs typeface="Arial"/>
                          <a:sym typeface="Arial"/>
                        </a:rPr>
                        <a:t>ZENTIX</a:t>
                      </a:r>
                      <a:endParaRPr sz="1100" u="none" cap="none" strike="noStrike">
                        <a:latin typeface="Arial"/>
                        <a:ea typeface="Arial"/>
                        <a:cs typeface="Arial"/>
                        <a:sym typeface="Arial"/>
                      </a:endParaRPr>
                    </a:p>
                  </a:txBody>
                  <a:tcPr marT="838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1" i="0" lang="en-US" sz="1000" u="none" cap="none" strike="noStrike">
                          <a:solidFill>
                            <a:srgbClr val="000000"/>
                          </a:solidFill>
                          <a:latin typeface="Times New Roman"/>
                          <a:ea typeface="Times New Roman"/>
                          <a:cs typeface="Times New Roman"/>
                          <a:sym typeface="Times New Roman"/>
                        </a:rPr>
                        <a:t>MIMO Config</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1905" marR="0" rtl="0" algn="ctr">
                        <a:lnSpc>
                          <a:spcPct val="100000"/>
                        </a:lnSpc>
                        <a:spcBef>
                          <a:spcPts val="0"/>
                        </a:spcBef>
                        <a:spcAft>
                          <a:spcPts val="0"/>
                        </a:spcAft>
                        <a:buNone/>
                      </a:pPr>
                      <a:r>
                        <a:rPr lang="en-US" sz="1100" u="none" cap="none" strike="noStrike">
                          <a:latin typeface="Arial"/>
                          <a:ea typeface="Arial"/>
                          <a:cs typeface="Arial"/>
                          <a:sym typeface="Arial"/>
                        </a:rPr>
                        <a:t>2*2</a:t>
                      </a:r>
                      <a:endParaRPr sz="1100" u="none" cap="none" strike="noStrike">
                        <a:latin typeface="Arial"/>
                        <a:ea typeface="Arial"/>
                        <a:cs typeface="Arial"/>
                        <a:sym typeface="Arial"/>
                      </a:endParaRPr>
                    </a:p>
                  </a:txBody>
                  <a:tcPr marT="838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447450">
                <a:tc>
                  <a:txBody>
                    <a:bodyPr/>
                    <a:lstStyle/>
                    <a:p>
                      <a:pPr indent="0" lvl="0" marL="0" marR="0" rtl="0" algn="ctr">
                        <a:spcBef>
                          <a:spcPts val="0"/>
                        </a:spcBef>
                        <a:spcAft>
                          <a:spcPts val="0"/>
                        </a:spcAft>
                        <a:buNone/>
                      </a:pPr>
                      <a:r>
                        <a:rPr b="1" i="0" lang="en-US" sz="1000" u="none" cap="none" strike="noStrike">
                          <a:solidFill>
                            <a:srgbClr val="000000"/>
                          </a:solidFill>
                          <a:latin typeface="Times New Roman"/>
                          <a:ea typeface="Times New Roman"/>
                          <a:cs typeface="Times New Roman"/>
                          <a:sym typeface="Times New Roman"/>
                        </a:rPr>
                        <a:t>On Air Date</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US" sz="1100" u="none" cap="none" strike="noStrike">
                          <a:latin typeface="Calibri"/>
                          <a:ea typeface="Calibri"/>
                          <a:cs typeface="Calibri"/>
                          <a:sym typeface="Calibri"/>
                        </a:rPr>
                        <a:t>27-12-2024</a:t>
                      </a:r>
                      <a:endParaRPr sz="1100" u="none" cap="none" strike="noStrike">
                        <a:latin typeface="Calibri"/>
                        <a:ea typeface="Calibri"/>
                        <a:cs typeface="Calibri"/>
                        <a:sym typeface="Calibri"/>
                      </a:endParaRPr>
                    </a:p>
                  </a:txBody>
                  <a:tcPr marT="1339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1" i="0" lang="en-US" sz="1000" u="none" cap="none" strike="noStrike">
                          <a:solidFill>
                            <a:srgbClr val="000000"/>
                          </a:solidFill>
                          <a:latin typeface="Times New Roman"/>
                          <a:ea typeface="Times New Roman"/>
                          <a:cs typeface="Times New Roman"/>
                          <a:sym typeface="Times New Roman"/>
                        </a:rPr>
                        <a:t>A/T Date</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30480" marR="0" rtl="0" algn="ctr">
                        <a:lnSpc>
                          <a:spcPct val="100000"/>
                        </a:lnSpc>
                        <a:spcBef>
                          <a:spcPts val="0"/>
                        </a:spcBef>
                        <a:spcAft>
                          <a:spcPts val="0"/>
                        </a:spcAft>
                        <a:buNone/>
                      </a:pPr>
                      <a:r>
                        <a:rPr lang="en-US" sz="1100" u="none" cap="none" strike="noStrike">
                          <a:latin typeface="Calibri"/>
                          <a:ea typeface="Calibri"/>
                          <a:cs typeface="Calibri"/>
                          <a:sym typeface="Calibri"/>
                        </a:rPr>
                        <a:t>-</a:t>
                      </a:r>
                      <a:endParaRPr sz="1100" u="none" cap="none" strike="noStrike">
                        <a:latin typeface="Calibri"/>
                        <a:ea typeface="Calibri"/>
                        <a:cs typeface="Calibri"/>
                        <a:sym typeface="Calibri"/>
                      </a:endParaRPr>
                    </a:p>
                  </a:txBody>
                  <a:tcPr marT="1339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1" i="0" lang="en-US" sz="1000" u="none" cap="none" strike="noStrike">
                          <a:solidFill>
                            <a:srgbClr val="000000"/>
                          </a:solidFill>
                          <a:latin typeface="Times New Roman"/>
                          <a:ea typeface="Times New Roman"/>
                          <a:cs typeface="Times New Roman"/>
                          <a:sym typeface="Times New Roman"/>
                        </a:rPr>
                        <a:t> </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610325">
                <a:tc>
                  <a:txBody>
                    <a:bodyPr/>
                    <a:lstStyle/>
                    <a:p>
                      <a:pPr indent="0" lvl="0" marL="0" marR="0" rtl="0" algn="ctr">
                        <a:spcBef>
                          <a:spcPts val="0"/>
                        </a:spcBef>
                        <a:spcAft>
                          <a:spcPts val="0"/>
                        </a:spcAft>
                        <a:buNone/>
                      </a:pPr>
                      <a:r>
                        <a:rPr b="1" i="0" lang="en-US" sz="1000" u="none" cap="none" strike="noStrike">
                          <a:solidFill>
                            <a:srgbClr val="000000"/>
                          </a:solidFill>
                          <a:latin typeface="Times New Roman"/>
                          <a:ea typeface="Times New Roman"/>
                          <a:cs typeface="Times New Roman"/>
                          <a:sym typeface="Times New Roman"/>
                        </a:rPr>
                        <a:t>Site type :(ID/OD)</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lang="en-US" sz="1100" u="none" cap="none" strike="noStrike">
                          <a:latin typeface="Arial"/>
                          <a:ea typeface="Arial"/>
                          <a:cs typeface="Arial"/>
                          <a:sym typeface="Arial"/>
                        </a:rPr>
                        <a:t>Outdoor</a:t>
                      </a:r>
                      <a:endParaRPr sz="1100" u="none" cap="none" strike="noStrike">
                        <a:latin typeface="Arial"/>
                        <a:ea typeface="Arial"/>
                        <a:cs typeface="Arial"/>
                        <a:sym typeface="Arial"/>
                      </a:endParaRPr>
                    </a:p>
                  </a:txBody>
                  <a:tcPr marT="914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1" i="0" lang="en-US" sz="1000" u="none" cap="none" strike="noStrike">
                          <a:solidFill>
                            <a:srgbClr val="000000"/>
                          </a:solidFill>
                          <a:latin typeface="Times New Roman"/>
                          <a:ea typeface="Times New Roman"/>
                          <a:cs typeface="Times New Roman"/>
                          <a:sym typeface="Times New Roman"/>
                        </a:rPr>
                        <a:t>Site Category:  (RTT/RTP/GBT)</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1270" marR="0" rtl="0" algn="ctr">
                        <a:lnSpc>
                          <a:spcPct val="100000"/>
                        </a:lnSpc>
                        <a:spcBef>
                          <a:spcPts val="0"/>
                        </a:spcBef>
                        <a:spcAft>
                          <a:spcPts val="0"/>
                        </a:spcAft>
                        <a:buNone/>
                      </a:pPr>
                      <a:r>
                        <a:rPr lang="en-US" sz="1100" u="none" cap="none" strike="noStrike">
                          <a:latin typeface="Arial"/>
                          <a:ea typeface="Arial"/>
                          <a:cs typeface="Arial"/>
                          <a:sym typeface="Arial"/>
                        </a:rPr>
                        <a:t>GBT</a:t>
                      </a:r>
                      <a:endParaRPr sz="1100" u="none" cap="none" strike="noStrike">
                        <a:latin typeface="Arial"/>
                        <a:ea typeface="Arial"/>
                        <a:cs typeface="Arial"/>
                        <a:sym typeface="Arial"/>
                      </a:endParaRPr>
                    </a:p>
                  </a:txBody>
                  <a:tcPr marT="914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1" i="0" lang="en-US" sz="1000" u="none" cap="none" strike="noStrike">
                          <a:solidFill>
                            <a:srgbClr val="000000"/>
                          </a:solidFill>
                          <a:latin typeface="Times New Roman"/>
                          <a:ea typeface="Times New Roman"/>
                          <a:cs typeface="Times New Roman"/>
                          <a:sym typeface="Times New Roman"/>
                        </a:rPr>
                        <a:t>Transmission type:  (MW/Fiber/VSAT)</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1200" u="none" cap="none" strike="noStrike">
                        <a:latin typeface="Times New Roman"/>
                        <a:ea typeface="Times New Roman"/>
                        <a:cs typeface="Times New Roman"/>
                        <a:sym typeface="Times New Roman"/>
                      </a:endParaRPr>
                    </a:p>
                    <a:p>
                      <a:pPr indent="0" lvl="0" marL="1905" marR="0" rtl="0" algn="ctr">
                        <a:lnSpc>
                          <a:spcPct val="100000"/>
                        </a:lnSpc>
                        <a:spcBef>
                          <a:spcPts val="0"/>
                        </a:spcBef>
                        <a:spcAft>
                          <a:spcPts val="0"/>
                        </a:spcAft>
                        <a:buNone/>
                      </a:pPr>
                      <a:r>
                        <a:rPr lang="en-US" sz="1200" u="none" cap="none" strike="noStrike">
                          <a:latin typeface="Arial"/>
                          <a:ea typeface="Arial"/>
                          <a:cs typeface="Arial"/>
                          <a:sym typeface="Arial"/>
                        </a:rPr>
                        <a:t>OFC (Fiber)</a:t>
                      </a:r>
                      <a:endParaRPr sz="1200" u="none" cap="none" strike="noStrike">
                        <a:latin typeface="Arial"/>
                        <a:ea typeface="Arial"/>
                        <a:cs typeface="Arial"/>
                        <a:sym typeface="Arial"/>
                      </a:endParaRPr>
                    </a:p>
                  </a:txBody>
                  <a:tcPr marT="273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800475">
                <a:tc>
                  <a:txBody>
                    <a:bodyPr/>
                    <a:lstStyle/>
                    <a:p>
                      <a:pPr indent="0" lvl="0" marL="0" marR="0" rtl="0" algn="ctr">
                        <a:spcBef>
                          <a:spcPts val="0"/>
                        </a:spcBef>
                        <a:spcAft>
                          <a:spcPts val="0"/>
                        </a:spcAft>
                        <a:buNone/>
                      </a:pPr>
                      <a:r>
                        <a:rPr b="1" i="0" lang="en-US" sz="1000" u="none" cap="none" strike="noStrike">
                          <a:solidFill>
                            <a:srgbClr val="000000"/>
                          </a:solidFill>
                          <a:latin typeface="Times New Roman"/>
                          <a:ea typeface="Times New Roman"/>
                          <a:cs typeface="Times New Roman"/>
                          <a:sym typeface="Times New Roman"/>
                        </a:rPr>
                        <a:t>Antenna type /Port  (Single Band / Dual  Band) (4 / 6 / 8 / 10  Port)</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l">
                        <a:lnSpc>
                          <a:spcPct val="100000"/>
                        </a:lnSpc>
                        <a:spcBef>
                          <a:spcPts val="17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ctr">
                        <a:lnSpc>
                          <a:spcPct val="100000"/>
                        </a:lnSpc>
                        <a:spcBef>
                          <a:spcPts val="5"/>
                        </a:spcBef>
                        <a:spcAft>
                          <a:spcPts val="0"/>
                        </a:spcAft>
                        <a:buNone/>
                      </a:pPr>
                      <a:r>
                        <a:rPr lang="en-US" sz="1100" u="none" cap="none" strike="noStrike">
                          <a:latin typeface="Arial"/>
                          <a:ea typeface="Arial"/>
                          <a:cs typeface="Arial"/>
                          <a:sym typeface="Arial"/>
                        </a:rPr>
                        <a:t>Dual Band</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1" i="0" lang="en-US" sz="1000" u="none" cap="none" strike="noStrike">
                          <a:solidFill>
                            <a:srgbClr val="000000"/>
                          </a:solidFill>
                          <a:latin typeface="Times New Roman"/>
                          <a:ea typeface="Times New Roman"/>
                          <a:cs typeface="Times New Roman"/>
                          <a:sym typeface="Times New Roman"/>
                        </a:rPr>
                        <a:t>CPRI length</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l">
                        <a:lnSpc>
                          <a:spcPct val="100000"/>
                        </a:lnSpc>
                        <a:spcBef>
                          <a:spcPts val="170"/>
                        </a:spcBef>
                        <a:spcAft>
                          <a:spcPts val="0"/>
                        </a:spcAft>
                        <a:buNone/>
                      </a:pPr>
                      <a:r>
                        <a:t/>
                      </a:r>
                      <a:endParaRPr sz="1100" u="none" cap="none" strike="noStrike">
                        <a:latin typeface="Times New Roman"/>
                        <a:ea typeface="Times New Roman"/>
                        <a:cs typeface="Times New Roman"/>
                        <a:sym typeface="Times New Roman"/>
                      </a:endParaRPr>
                    </a:p>
                    <a:p>
                      <a:pPr indent="0" lvl="0" marL="6350" marR="0" rtl="0" algn="ctr">
                        <a:lnSpc>
                          <a:spcPct val="100000"/>
                        </a:lnSpc>
                        <a:spcBef>
                          <a:spcPts val="5"/>
                        </a:spcBef>
                        <a:spcAft>
                          <a:spcPts val="0"/>
                        </a:spcAft>
                        <a:buNone/>
                      </a:pPr>
                      <a:r>
                        <a:rPr lang="en-US" sz="1100" u="none" cap="none" strike="noStrike">
                          <a:latin typeface="Arial"/>
                          <a:ea typeface="Arial"/>
                          <a:cs typeface="Arial"/>
                          <a:sym typeface="Arial"/>
                        </a:rPr>
                        <a:t>60m</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i="0" lang="en-US" sz="1000" u="none" cap="none" strike="noStrike">
                          <a:solidFill>
                            <a:srgbClr val="000000"/>
                          </a:solidFill>
                          <a:latin typeface="Times New Roman"/>
                          <a:ea typeface="Times New Roman"/>
                          <a:cs typeface="Times New Roman"/>
                          <a:sym typeface="Times New Roman"/>
                        </a:rPr>
                        <a:t> </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i="0" lang="en-US" sz="1000" u="none" cap="none" strike="noStrike">
                          <a:solidFill>
                            <a:srgbClr val="000000"/>
                          </a:solidFill>
                          <a:latin typeface="Times New Roman"/>
                          <a:ea typeface="Times New Roman"/>
                          <a:cs typeface="Times New Roman"/>
                          <a:sym typeface="Times New Roman"/>
                        </a:rPr>
                        <a:t> </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761850">
                <a:tc>
                  <a:txBody>
                    <a:bodyPr/>
                    <a:lstStyle/>
                    <a:p>
                      <a:pPr indent="0" lvl="0" marL="0" marR="0" rtl="0" algn="ctr">
                        <a:spcBef>
                          <a:spcPts val="0"/>
                        </a:spcBef>
                        <a:spcAft>
                          <a:spcPts val="0"/>
                        </a:spcAft>
                        <a:buNone/>
                      </a:pPr>
                      <a:r>
                        <a:rPr b="1" i="0" lang="en-US" sz="1000" u="none" cap="none" strike="noStrike">
                          <a:solidFill>
                            <a:srgbClr val="000000"/>
                          </a:solidFill>
                          <a:latin typeface="Times New Roman"/>
                          <a:ea typeface="Times New Roman"/>
                          <a:cs typeface="Times New Roman"/>
                          <a:sym typeface="Times New Roman"/>
                        </a:rPr>
                        <a:t>eNode –B: CAT  (A/B/C/D/E/ any  other)</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l">
                        <a:lnSpc>
                          <a:spcPct val="100000"/>
                        </a:lnSpc>
                        <a:spcBef>
                          <a:spcPts val="434"/>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lang="en-US" sz="1100" u="none" cap="none" strike="noStrike">
                          <a:latin typeface="Arial"/>
                          <a:ea typeface="Arial"/>
                          <a:cs typeface="Arial"/>
                          <a:sym typeface="Arial"/>
                        </a:rPr>
                        <a:t>CAT-D</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1" i="0" lang="en-US" sz="1000" u="none" cap="none" strike="noStrike">
                          <a:solidFill>
                            <a:srgbClr val="000000"/>
                          </a:solidFill>
                          <a:latin typeface="Times New Roman"/>
                          <a:ea typeface="Times New Roman"/>
                          <a:cs typeface="Times New Roman"/>
                          <a:sym typeface="Times New Roman"/>
                        </a:rPr>
                        <a:t>Bandwidth (5MHz/  10MHz /20MHz etc.)</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l">
                        <a:lnSpc>
                          <a:spcPct val="100000"/>
                        </a:lnSpc>
                        <a:spcBef>
                          <a:spcPts val="434"/>
                        </a:spcBef>
                        <a:spcAft>
                          <a:spcPts val="0"/>
                        </a:spcAft>
                        <a:buNone/>
                      </a:pPr>
                      <a:r>
                        <a:t/>
                      </a:r>
                      <a:endParaRPr sz="1100" u="none" cap="none" strike="noStrike">
                        <a:latin typeface="Times New Roman"/>
                        <a:ea typeface="Times New Roman"/>
                        <a:cs typeface="Times New Roman"/>
                        <a:sym typeface="Times New Roman"/>
                      </a:endParaRPr>
                    </a:p>
                    <a:p>
                      <a:pPr indent="0" lvl="0" marL="3175" marR="0" rtl="0" algn="ctr">
                        <a:lnSpc>
                          <a:spcPct val="100000"/>
                        </a:lnSpc>
                        <a:spcBef>
                          <a:spcPts val="0"/>
                        </a:spcBef>
                        <a:spcAft>
                          <a:spcPts val="0"/>
                        </a:spcAft>
                        <a:buNone/>
                      </a:pPr>
                      <a:r>
                        <a:rPr lang="en-US" sz="1100" u="none" cap="none" strike="noStrike">
                          <a:latin typeface="Arial"/>
                          <a:ea typeface="Arial"/>
                          <a:cs typeface="Arial"/>
                          <a:sym typeface="Arial"/>
                        </a:rPr>
                        <a:t>10Mhz</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i="0" lang="en-US" sz="1000" u="none" cap="none" strike="noStrike">
                          <a:solidFill>
                            <a:srgbClr val="000000"/>
                          </a:solidFill>
                          <a:latin typeface="Times New Roman"/>
                          <a:ea typeface="Times New Roman"/>
                          <a:cs typeface="Times New Roman"/>
                          <a:sym typeface="Times New Roman"/>
                        </a:rPr>
                        <a:t> </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i="0" lang="en-US" sz="1000" u="none" cap="none" strike="noStrike">
                          <a:solidFill>
                            <a:srgbClr val="000000"/>
                          </a:solidFill>
                          <a:latin typeface="Times New Roman"/>
                          <a:ea typeface="Times New Roman"/>
                          <a:cs typeface="Times New Roman"/>
                          <a:sym typeface="Times New Roman"/>
                        </a:rPr>
                        <a:t> </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913350">
                <a:tc>
                  <a:txBody>
                    <a:bodyPr/>
                    <a:lstStyle/>
                    <a:p>
                      <a:pPr indent="0" lvl="0" marL="0" marR="0" rtl="0" algn="ctr">
                        <a:spcBef>
                          <a:spcPts val="0"/>
                        </a:spcBef>
                        <a:spcAft>
                          <a:spcPts val="0"/>
                        </a:spcAft>
                        <a:buNone/>
                      </a:pPr>
                      <a:r>
                        <a:rPr b="1" i="0" lang="en-US" sz="1000" u="none" cap="none" strike="noStrike">
                          <a:solidFill>
                            <a:srgbClr val="000000"/>
                          </a:solidFill>
                          <a:latin typeface="Times New Roman"/>
                          <a:ea typeface="Times New Roman"/>
                          <a:cs typeface="Times New Roman"/>
                          <a:sym typeface="Times New Roman"/>
                        </a:rPr>
                        <a:t>Sector (Antenna  detailsfor the  Installed 4G site)</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1" i="0" lang="en-US" sz="1000" u="none" cap="none" strike="noStrike">
                          <a:solidFill>
                            <a:srgbClr val="000000"/>
                          </a:solidFill>
                          <a:latin typeface="Times New Roman"/>
                          <a:ea typeface="Times New Roman"/>
                          <a:cs typeface="Times New Roman"/>
                          <a:sym typeface="Times New Roman"/>
                        </a:rPr>
                        <a:t>Mechanical Tilt in degree</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1" i="0" lang="en-US" sz="1000" u="none" cap="none" strike="noStrike">
                          <a:solidFill>
                            <a:srgbClr val="000000"/>
                          </a:solidFill>
                          <a:latin typeface="Times New Roman"/>
                          <a:ea typeface="Times New Roman"/>
                          <a:cs typeface="Times New Roman"/>
                          <a:sym typeface="Times New Roman"/>
                        </a:rPr>
                        <a:t>  E-Tilt</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1" i="0" lang="en-US" sz="1000" u="none" cap="none" strike="noStrike">
                          <a:solidFill>
                            <a:srgbClr val="000000"/>
                          </a:solidFill>
                          <a:latin typeface="Times New Roman"/>
                          <a:ea typeface="Times New Roman"/>
                          <a:cs typeface="Times New Roman"/>
                          <a:sym typeface="Times New Roman"/>
                        </a:rPr>
                        <a:t>Height</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1" i="0" lang="en-US" sz="1000" u="none" cap="none" strike="noStrike">
                          <a:solidFill>
                            <a:srgbClr val="000000"/>
                          </a:solidFill>
                          <a:latin typeface="Times New Roman"/>
                          <a:ea typeface="Times New Roman"/>
                          <a:cs typeface="Times New Roman"/>
                          <a:sym typeface="Times New Roman"/>
                        </a:rPr>
                        <a:t>Azimuth</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1" i="0" lang="en-US" sz="1000" u="none" cap="none" strike="noStrike">
                          <a:solidFill>
                            <a:srgbClr val="000000"/>
                          </a:solidFill>
                          <a:latin typeface="Times New Roman"/>
                          <a:ea typeface="Times New Roman"/>
                          <a:cs typeface="Times New Roman"/>
                          <a:sym typeface="Times New Roman"/>
                        </a:rPr>
                        <a:t> </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56800">
                <a:tc>
                  <a:txBody>
                    <a:bodyPr/>
                    <a:lstStyle/>
                    <a:p>
                      <a:pPr indent="0" lvl="0" marL="0" marR="0" rtl="0" algn="ctr">
                        <a:spcBef>
                          <a:spcPts val="0"/>
                        </a:spcBef>
                        <a:spcAft>
                          <a:spcPts val="0"/>
                        </a:spcAft>
                        <a:buNone/>
                      </a:pPr>
                      <a:r>
                        <a:rPr b="0" i="0" lang="en-US" sz="1000" u="none" cap="none" strike="noStrike">
                          <a:solidFill>
                            <a:srgbClr val="000000"/>
                          </a:solidFill>
                          <a:latin typeface="Times New Roman"/>
                          <a:ea typeface="Times New Roman"/>
                          <a:cs typeface="Times New Roman"/>
                          <a:sym typeface="Times New Roman"/>
                        </a:rPr>
                        <a:t>Sec 1</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lang="en-US" sz="1100" u="none" cap="none" strike="noStrike">
                          <a:latin typeface="Arial"/>
                          <a:ea typeface="Arial"/>
                          <a:cs typeface="Arial"/>
                          <a:sym typeface="Arial"/>
                        </a:rPr>
                        <a:t>2</a:t>
                      </a:r>
                      <a:endParaRPr sz="1100" u="none" cap="none" strike="noStrike">
                        <a:latin typeface="Arial"/>
                        <a:ea typeface="Arial"/>
                        <a:cs typeface="Arial"/>
                        <a:sym typeface="Arial"/>
                      </a:endParaRPr>
                    </a:p>
                  </a:txBody>
                  <a:tcPr marT="25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lang="en-US" sz="1100" u="none" cap="none" strike="noStrike">
                          <a:latin typeface="Arial"/>
                          <a:ea typeface="Arial"/>
                          <a:cs typeface="Arial"/>
                          <a:sym typeface="Arial"/>
                        </a:rPr>
                        <a:t>2</a:t>
                      </a:r>
                      <a:endParaRPr sz="1100" u="none" cap="none" strike="noStrike">
                        <a:latin typeface="Arial"/>
                        <a:ea typeface="Arial"/>
                        <a:cs typeface="Arial"/>
                        <a:sym typeface="Arial"/>
                      </a:endParaRPr>
                    </a:p>
                  </a:txBody>
                  <a:tcPr marT="25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6350" marR="0" rtl="0" algn="ctr">
                        <a:lnSpc>
                          <a:spcPct val="100000"/>
                        </a:lnSpc>
                        <a:spcBef>
                          <a:spcPts val="0"/>
                        </a:spcBef>
                        <a:spcAft>
                          <a:spcPts val="0"/>
                        </a:spcAft>
                        <a:buNone/>
                      </a:pPr>
                      <a:r>
                        <a:rPr lang="en-US" sz="1100" u="none" cap="none" strike="noStrike">
                          <a:latin typeface="Arial"/>
                          <a:ea typeface="Arial"/>
                          <a:cs typeface="Arial"/>
                          <a:sym typeface="Arial"/>
                        </a:rPr>
                        <a:t>50M</a:t>
                      </a:r>
                      <a:endParaRPr sz="1100" u="none" cap="none" strike="noStrike">
                        <a:latin typeface="Arial"/>
                        <a:ea typeface="Arial"/>
                        <a:cs typeface="Arial"/>
                        <a:sym typeface="Arial"/>
                      </a:endParaRPr>
                    </a:p>
                  </a:txBody>
                  <a:tcPr marT="1092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1905" marR="0" rtl="0" algn="ctr">
                        <a:lnSpc>
                          <a:spcPct val="100000"/>
                        </a:lnSpc>
                        <a:spcBef>
                          <a:spcPts val="0"/>
                        </a:spcBef>
                        <a:spcAft>
                          <a:spcPts val="0"/>
                        </a:spcAft>
                        <a:buNone/>
                      </a:pPr>
                      <a:r>
                        <a:rPr lang="en-US" sz="1100" u="none" cap="none" strike="noStrike">
                          <a:latin typeface="Arial"/>
                          <a:ea typeface="Arial"/>
                          <a:cs typeface="Arial"/>
                          <a:sym typeface="Arial"/>
                        </a:rPr>
                        <a:t>330</a:t>
                      </a:r>
                      <a:endParaRPr sz="1100" u="none" cap="none" strike="noStrike">
                        <a:latin typeface="Arial"/>
                        <a:ea typeface="Arial"/>
                        <a:cs typeface="Arial"/>
                        <a:sym typeface="Arial"/>
                      </a:endParaRPr>
                    </a:p>
                  </a:txBody>
                  <a:tcPr marT="1092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i="0" lang="en-US" sz="1000" u="none" cap="none" strike="noStrike">
                          <a:solidFill>
                            <a:srgbClr val="000000"/>
                          </a:solidFill>
                          <a:latin typeface="Times New Roman"/>
                          <a:ea typeface="Times New Roman"/>
                          <a:cs typeface="Times New Roman"/>
                          <a:sym typeface="Times New Roman"/>
                        </a:rPr>
                        <a:t> </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56800">
                <a:tc>
                  <a:txBody>
                    <a:bodyPr/>
                    <a:lstStyle/>
                    <a:p>
                      <a:pPr indent="0" lvl="0" marL="0" marR="0" rtl="0" algn="ctr">
                        <a:spcBef>
                          <a:spcPts val="0"/>
                        </a:spcBef>
                        <a:spcAft>
                          <a:spcPts val="0"/>
                        </a:spcAft>
                        <a:buNone/>
                      </a:pPr>
                      <a:r>
                        <a:rPr b="0" i="0" lang="en-US" sz="1000" u="none" cap="none" strike="noStrike">
                          <a:solidFill>
                            <a:srgbClr val="000000"/>
                          </a:solidFill>
                          <a:latin typeface="Times New Roman"/>
                          <a:ea typeface="Times New Roman"/>
                          <a:cs typeface="Times New Roman"/>
                          <a:sym typeface="Times New Roman"/>
                        </a:rPr>
                        <a:t>Sec 2</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lang="en-US" sz="1100" u="none" cap="none" strike="noStrike">
                          <a:latin typeface="Arial"/>
                          <a:ea typeface="Arial"/>
                          <a:cs typeface="Arial"/>
                          <a:sym typeface="Arial"/>
                        </a:rPr>
                        <a:t>2</a:t>
                      </a:r>
                      <a:endParaRPr sz="1100" u="none" cap="none" strike="noStrike">
                        <a:latin typeface="Arial"/>
                        <a:ea typeface="Arial"/>
                        <a:cs typeface="Arial"/>
                        <a:sym typeface="Arial"/>
                      </a:endParaRPr>
                    </a:p>
                  </a:txBody>
                  <a:tcPr marT="25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lang="en-US" sz="1100" u="none" cap="none" strike="noStrike">
                          <a:latin typeface="Arial"/>
                          <a:ea typeface="Arial"/>
                          <a:cs typeface="Arial"/>
                          <a:sym typeface="Arial"/>
                        </a:rPr>
                        <a:t>2</a:t>
                      </a:r>
                      <a:endParaRPr sz="1100" u="none" cap="none" strike="noStrike">
                        <a:latin typeface="Arial"/>
                        <a:ea typeface="Arial"/>
                        <a:cs typeface="Arial"/>
                        <a:sym typeface="Arial"/>
                      </a:endParaRPr>
                    </a:p>
                  </a:txBody>
                  <a:tcPr marT="25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6350" marR="0" rtl="0" algn="ctr">
                        <a:lnSpc>
                          <a:spcPct val="100000"/>
                        </a:lnSpc>
                        <a:spcBef>
                          <a:spcPts val="0"/>
                        </a:spcBef>
                        <a:spcAft>
                          <a:spcPts val="0"/>
                        </a:spcAft>
                        <a:buNone/>
                      </a:pPr>
                      <a:r>
                        <a:rPr lang="en-US" sz="1100" u="none" cap="none" strike="noStrike">
                          <a:latin typeface="Arial"/>
                          <a:ea typeface="Arial"/>
                          <a:cs typeface="Arial"/>
                          <a:sym typeface="Arial"/>
                        </a:rPr>
                        <a:t>50M</a:t>
                      </a:r>
                      <a:endParaRPr sz="1100" u="none" cap="none" strike="noStrike">
                        <a:latin typeface="Arial"/>
                        <a:ea typeface="Arial"/>
                        <a:cs typeface="Arial"/>
                        <a:sym typeface="Arial"/>
                      </a:endParaRPr>
                    </a:p>
                  </a:txBody>
                  <a:tcPr marT="1098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1905" marR="0" rtl="0" algn="ctr">
                        <a:lnSpc>
                          <a:spcPct val="100000"/>
                        </a:lnSpc>
                        <a:spcBef>
                          <a:spcPts val="0"/>
                        </a:spcBef>
                        <a:spcAft>
                          <a:spcPts val="0"/>
                        </a:spcAft>
                        <a:buNone/>
                      </a:pPr>
                      <a:r>
                        <a:rPr lang="en-US" sz="1100" u="none" cap="none" strike="noStrike">
                          <a:latin typeface="Arial"/>
                          <a:ea typeface="Arial"/>
                          <a:cs typeface="Arial"/>
                          <a:sym typeface="Arial"/>
                        </a:rPr>
                        <a:t>80</a:t>
                      </a:r>
                      <a:endParaRPr sz="1100" u="none" cap="none" strike="noStrike">
                        <a:latin typeface="Arial"/>
                        <a:ea typeface="Arial"/>
                        <a:cs typeface="Arial"/>
                        <a:sym typeface="Arial"/>
                      </a:endParaRPr>
                    </a:p>
                  </a:txBody>
                  <a:tcPr marT="1098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i="0" lang="en-US" sz="1000" u="none" cap="none" strike="noStrike">
                          <a:solidFill>
                            <a:srgbClr val="000000"/>
                          </a:solidFill>
                          <a:latin typeface="Times New Roman"/>
                          <a:ea typeface="Times New Roman"/>
                          <a:cs typeface="Times New Roman"/>
                          <a:sym typeface="Times New Roman"/>
                        </a:rPr>
                        <a:t> </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56800">
                <a:tc>
                  <a:txBody>
                    <a:bodyPr/>
                    <a:lstStyle/>
                    <a:p>
                      <a:pPr indent="0" lvl="0" marL="0" marR="0" rtl="0" algn="ctr">
                        <a:spcBef>
                          <a:spcPts val="0"/>
                        </a:spcBef>
                        <a:spcAft>
                          <a:spcPts val="0"/>
                        </a:spcAft>
                        <a:buNone/>
                      </a:pPr>
                      <a:r>
                        <a:rPr b="0" i="0" lang="en-US" sz="1000" u="none" cap="none" strike="noStrike">
                          <a:solidFill>
                            <a:srgbClr val="000000"/>
                          </a:solidFill>
                          <a:latin typeface="Times New Roman"/>
                          <a:ea typeface="Times New Roman"/>
                          <a:cs typeface="Times New Roman"/>
                          <a:sym typeface="Times New Roman"/>
                        </a:rPr>
                        <a:t>Sec 3</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ctr">
                        <a:lnSpc>
                          <a:spcPct val="117272"/>
                        </a:lnSpc>
                        <a:spcBef>
                          <a:spcPts val="0"/>
                        </a:spcBef>
                        <a:spcAft>
                          <a:spcPts val="0"/>
                        </a:spcAft>
                        <a:buNone/>
                      </a:pPr>
                      <a:r>
                        <a:rPr lang="en-US" sz="1100" u="none" cap="none" strike="noStrike">
                          <a:latin typeface="Arial"/>
                          <a:ea typeface="Arial"/>
                          <a:cs typeface="Arial"/>
                          <a:sym typeface="Arial"/>
                        </a:rPr>
                        <a:t>2</a:t>
                      </a:r>
                      <a:endParaRPr sz="1100" u="none" cap="none" strike="noStrike">
                        <a:latin typeface="Arial"/>
                        <a:ea typeface="Arial"/>
                        <a:cs typeface="Arial"/>
                        <a:sym typeface="Arial"/>
                      </a:endParaRPr>
                    </a:p>
                  </a:txBody>
                  <a:tcPr marT="25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ctr">
                        <a:lnSpc>
                          <a:spcPct val="117272"/>
                        </a:lnSpc>
                        <a:spcBef>
                          <a:spcPts val="0"/>
                        </a:spcBef>
                        <a:spcAft>
                          <a:spcPts val="0"/>
                        </a:spcAft>
                        <a:buNone/>
                      </a:pPr>
                      <a:r>
                        <a:rPr lang="en-US" sz="1100" u="none" cap="none" strike="noStrike">
                          <a:latin typeface="Arial"/>
                          <a:ea typeface="Arial"/>
                          <a:cs typeface="Arial"/>
                          <a:sym typeface="Arial"/>
                        </a:rPr>
                        <a:t>2</a:t>
                      </a:r>
                      <a:endParaRPr sz="1100" u="none" cap="none" strike="noStrike">
                        <a:latin typeface="Arial"/>
                        <a:ea typeface="Arial"/>
                        <a:cs typeface="Arial"/>
                        <a:sym typeface="Arial"/>
                      </a:endParaRPr>
                    </a:p>
                  </a:txBody>
                  <a:tcPr marT="25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6350" marR="0" rtl="0" algn="ctr">
                        <a:lnSpc>
                          <a:spcPct val="100000"/>
                        </a:lnSpc>
                        <a:spcBef>
                          <a:spcPts val="0"/>
                        </a:spcBef>
                        <a:spcAft>
                          <a:spcPts val="0"/>
                        </a:spcAft>
                        <a:buNone/>
                      </a:pPr>
                      <a:r>
                        <a:rPr lang="en-US" sz="1100" u="none" cap="none" strike="noStrike">
                          <a:latin typeface="Arial"/>
                          <a:ea typeface="Arial"/>
                          <a:cs typeface="Arial"/>
                          <a:sym typeface="Arial"/>
                        </a:rPr>
                        <a:t>50M</a:t>
                      </a:r>
                      <a:endParaRPr sz="1100" u="none" cap="none" strike="noStrike">
                        <a:latin typeface="Arial"/>
                        <a:ea typeface="Arial"/>
                        <a:cs typeface="Arial"/>
                        <a:sym typeface="Arial"/>
                      </a:endParaRPr>
                    </a:p>
                  </a:txBody>
                  <a:tcPr marT="857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1905" marR="0" rtl="0" algn="ctr">
                        <a:lnSpc>
                          <a:spcPct val="100000"/>
                        </a:lnSpc>
                        <a:spcBef>
                          <a:spcPts val="0"/>
                        </a:spcBef>
                        <a:spcAft>
                          <a:spcPts val="0"/>
                        </a:spcAft>
                        <a:buNone/>
                      </a:pPr>
                      <a:r>
                        <a:rPr lang="en-US" sz="1100" u="none" cap="none" strike="noStrike">
                          <a:latin typeface="Arial"/>
                          <a:ea typeface="Arial"/>
                          <a:cs typeface="Arial"/>
                          <a:sym typeface="Arial"/>
                        </a:rPr>
                        <a:t>255</a:t>
                      </a:r>
                      <a:endParaRPr sz="1100" u="none" cap="none" strike="noStrike">
                        <a:latin typeface="Arial"/>
                        <a:ea typeface="Arial"/>
                        <a:cs typeface="Arial"/>
                        <a:sym typeface="Arial"/>
                      </a:endParaRPr>
                    </a:p>
                  </a:txBody>
                  <a:tcPr marT="857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i="0" lang="en-US" sz="1000" u="none" cap="none" strike="noStrike">
                          <a:solidFill>
                            <a:srgbClr val="000000"/>
                          </a:solidFill>
                          <a:latin typeface="Times New Roman"/>
                          <a:ea typeface="Times New Roman"/>
                          <a:cs typeface="Times New Roman"/>
                          <a:sym typeface="Times New Roman"/>
                        </a:rPr>
                        <a:t> </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bl>
          </a:graphicData>
        </a:graphic>
      </p:graphicFrame>
      <p:sp>
        <p:nvSpPr>
          <p:cNvPr id="61" name="Google Shape;61;p8"/>
          <p:cNvSpPr txBox="1"/>
          <p:nvPr/>
        </p:nvSpPr>
        <p:spPr>
          <a:xfrm>
            <a:off x="1981200" y="678720"/>
            <a:ext cx="3154045" cy="20827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US" sz="1100">
                <a:solidFill>
                  <a:schemeClr val="dk1"/>
                </a:solidFill>
                <a:latin typeface="Arial"/>
                <a:ea typeface="Arial"/>
                <a:cs typeface="Arial"/>
                <a:sym typeface="Arial"/>
              </a:rPr>
              <a:t>ACCEPATNCE TEST SCHEDULE FOR </a:t>
            </a:r>
            <a:r>
              <a:rPr b="1" lang="en-US" sz="1200">
                <a:solidFill>
                  <a:schemeClr val="dk1"/>
                </a:solidFill>
                <a:latin typeface="Arial"/>
                <a:ea typeface="Arial"/>
                <a:cs typeface="Arial"/>
                <a:sym typeface="Arial"/>
              </a:rPr>
              <a:t>eNode-B</a:t>
            </a:r>
            <a:endParaRPr sz="1200">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9"/>
          <p:cNvSpPr txBox="1"/>
          <p:nvPr>
            <p:ph idx="11" type="ftr"/>
          </p:nvPr>
        </p:nvSpPr>
        <p:spPr>
          <a:xfrm>
            <a:off x="868476" y="9083316"/>
            <a:ext cx="1681480" cy="182245"/>
          </a:xfrm>
          <a:prstGeom prst="rect">
            <a:avLst/>
          </a:prstGeom>
          <a:noFill/>
          <a:ln>
            <a:noFill/>
          </a:ln>
        </p:spPr>
        <p:txBody>
          <a:bodyPr anchorCtr="0" anchor="t" bIns="0" lIns="0" spcFirstLastPara="1" rIns="0" wrap="square" tIns="0">
            <a:spAutoFit/>
          </a:bodyPr>
          <a:lstStyle/>
          <a:p>
            <a:pPr indent="0" lvl="0" marL="12700" rtl="0" algn="l">
              <a:lnSpc>
                <a:spcPct val="100000"/>
              </a:lnSpc>
              <a:spcBef>
                <a:spcPts val="0"/>
              </a:spcBef>
              <a:spcAft>
                <a:spcPts val="0"/>
              </a:spcAft>
              <a:buNone/>
            </a:pPr>
            <a:r>
              <a:rPr lang="en-US"/>
              <a:t>QAIN-11/31(14)/1/2023-CM</a:t>
            </a:r>
            <a:endParaRPr/>
          </a:p>
        </p:txBody>
      </p:sp>
      <p:sp>
        <p:nvSpPr>
          <p:cNvPr id="67" name="Google Shape;67;p9"/>
          <p:cNvSpPr txBox="1"/>
          <p:nvPr/>
        </p:nvSpPr>
        <p:spPr>
          <a:xfrm>
            <a:off x="5249926" y="414883"/>
            <a:ext cx="1609725" cy="379095"/>
          </a:xfrm>
          <a:prstGeom prst="rect">
            <a:avLst/>
          </a:prstGeom>
          <a:noFill/>
          <a:ln>
            <a:noFill/>
          </a:ln>
        </p:spPr>
        <p:txBody>
          <a:bodyPr anchorCtr="0" anchor="t" bIns="0" lIns="0" spcFirstLastPara="1" rIns="0" wrap="square" tIns="12050">
            <a:spAutoFit/>
          </a:bodyPr>
          <a:lstStyle/>
          <a:p>
            <a:pPr indent="61595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4G PHASE IX.2  eNode-B A/T SCHEDULE</a:t>
            </a:r>
            <a:endParaRPr sz="1100">
              <a:solidFill>
                <a:schemeClr val="dk1"/>
              </a:solidFill>
              <a:latin typeface="Arial"/>
              <a:ea typeface="Arial"/>
              <a:cs typeface="Arial"/>
              <a:sym typeface="Arial"/>
            </a:endParaRPr>
          </a:p>
        </p:txBody>
      </p:sp>
      <p:sp>
        <p:nvSpPr>
          <p:cNvPr id="68" name="Google Shape;68;p9"/>
          <p:cNvSpPr txBox="1"/>
          <p:nvPr/>
        </p:nvSpPr>
        <p:spPr>
          <a:xfrm>
            <a:off x="685596" y="376781"/>
            <a:ext cx="2286204" cy="370999"/>
          </a:xfrm>
          <a:prstGeom prst="rect">
            <a:avLst/>
          </a:prstGeom>
          <a:noFill/>
          <a:ln>
            <a:noFill/>
          </a:ln>
        </p:spPr>
        <p:txBody>
          <a:bodyPr anchorCtr="0" anchor="t" bIns="0" lIns="0" spcFirstLastPara="1" rIns="0" wrap="square" tIns="12050">
            <a:spAutoFit/>
          </a:bodyPr>
          <a:lstStyle/>
          <a:p>
            <a:pPr indent="254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QA &amp; INSPECTION CIRCLE KL 	</a:t>
            </a:r>
            <a:endParaRPr sz="1100">
              <a:solidFill>
                <a:schemeClr val="dk1"/>
              </a:solidFill>
              <a:latin typeface="Arial"/>
              <a:ea typeface="Arial"/>
              <a:cs typeface="Arial"/>
              <a:sym typeface="Arial"/>
            </a:endParaRPr>
          </a:p>
        </p:txBody>
      </p:sp>
      <p:graphicFrame>
        <p:nvGraphicFramePr>
          <p:cNvPr id="69" name="Google Shape;69;p9"/>
          <p:cNvGraphicFramePr/>
          <p:nvPr/>
        </p:nvGraphicFramePr>
        <p:xfrm>
          <a:off x="890613" y="990600"/>
          <a:ext cx="3000000" cy="3000000"/>
        </p:xfrm>
        <a:graphic>
          <a:graphicData uri="http://schemas.openxmlformats.org/drawingml/2006/table">
            <a:tbl>
              <a:tblPr>
                <a:noFill/>
                <a:tableStyleId>{D2C2C31C-BB3A-4677-B747-F5C60967CC61}</a:tableStyleId>
              </a:tblPr>
              <a:tblGrid>
                <a:gridCol w="1881550"/>
                <a:gridCol w="1472150"/>
                <a:gridCol w="351925"/>
                <a:gridCol w="848775"/>
                <a:gridCol w="311650"/>
                <a:gridCol w="1102975"/>
              </a:tblGrid>
              <a:tr h="337275">
                <a:tc>
                  <a:txBody>
                    <a:bodyPr/>
                    <a:lstStyle/>
                    <a:p>
                      <a:pPr indent="0" lvl="0" marL="0" marR="0" rtl="0" algn="ctr">
                        <a:spcBef>
                          <a:spcPts val="0"/>
                        </a:spcBef>
                        <a:spcAft>
                          <a:spcPts val="0"/>
                        </a:spcAft>
                        <a:buNone/>
                      </a:pPr>
                      <a:r>
                        <a:rPr b="1" i="0" lang="en-US" sz="1100" u="none" cap="none" strike="noStrike">
                          <a:solidFill>
                            <a:srgbClr val="000000"/>
                          </a:solidFill>
                          <a:latin typeface="Arial"/>
                          <a:ea typeface="Arial"/>
                          <a:cs typeface="Arial"/>
                          <a:sym typeface="Arial"/>
                        </a:rPr>
                        <a:t>Site ID(IP):</a:t>
                      </a:r>
                      <a:endParaRPr/>
                    </a:p>
                  </a:txBody>
                  <a:tcPr marT="6350" marB="0" marR="6350" marL="63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marR="0" rtl="0" algn="ctr">
                        <a:spcBef>
                          <a:spcPts val="0"/>
                        </a:spcBef>
                        <a:spcAft>
                          <a:spcPts val="0"/>
                        </a:spcAft>
                        <a:buNone/>
                      </a:pPr>
                      <a:r>
                        <a:rPr b="1" i="0" lang="en-US" sz="1100" u="none" cap="none" strike="noStrike">
                          <a:solidFill>
                            <a:srgbClr val="000000"/>
                          </a:solidFill>
                          <a:latin typeface="Arial"/>
                          <a:ea typeface="Arial"/>
                          <a:cs typeface="Arial"/>
                          <a:sym typeface="Arial"/>
                        </a:rPr>
                        <a:t>Site Name</a:t>
                      </a:r>
                      <a:endParaRPr/>
                    </a:p>
                  </a:txBody>
                  <a:tcPr marT="6350" marB="0" marR="6350" marL="63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xBody>
                    <a:bodyPr/>
                    <a:p/>
                  </a:txBody>
                </a:tc>
                <a:tc gridSpan="2">
                  <a:txBody>
                    <a:bodyPr/>
                    <a:lstStyle/>
                    <a:p>
                      <a:pPr indent="0" lvl="0" marL="0" marR="0" rtl="0" algn="ctr">
                        <a:spcBef>
                          <a:spcPts val="0"/>
                        </a:spcBef>
                        <a:spcAft>
                          <a:spcPts val="0"/>
                        </a:spcAft>
                        <a:buNone/>
                      </a:pPr>
                      <a:r>
                        <a:rPr b="1" i="0" lang="en-US" sz="1100" u="none" cap="none" strike="noStrike">
                          <a:solidFill>
                            <a:srgbClr val="000000"/>
                          </a:solidFill>
                          <a:latin typeface="Arial"/>
                          <a:ea typeface="Arial"/>
                          <a:cs typeface="Arial"/>
                          <a:sym typeface="Arial"/>
                        </a:rPr>
                        <a:t>MME</a:t>
                      </a:r>
                      <a:endParaRPr/>
                    </a:p>
                  </a:txBody>
                  <a:tcPr marT="6350" marB="0" marR="6350" marL="63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rPr b="1" i="0" lang="en-US" sz="1100" u="none" cap="none" strike="noStrike">
                          <a:solidFill>
                            <a:srgbClr val="000000"/>
                          </a:solidFill>
                          <a:latin typeface="Arial"/>
                          <a:ea typeface="Arial"/>
                          <a:cs typeface="Arial"/>
                          <a:sym typeface="Arial"/>
                        </a:rPr>
                        <a:t>SGW</a:t>
                      </a:r>
                      <a:endParaRPr/>
                    </a:p>
                  </a:txBody>
                  <a:tcPr marT="6350" marB="0" marR="6350" marL="63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09400">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lang="en-US" sz="1100" u="none" cap="none" strike="noStrike">
                          <a:latin typeface="Arial"/>
                          <a:ea typeface="Arial"/>
                          <a:cs typeface="Arial"/>
                          <a:sym typeface="Arial"/>
                        </a:rPr>
                        <a:t>RP-01287</a:t>
                      </a:r>
                      <a:endParaRPr sz="1100" u="none" cap="none" strike="noStrike">
                        <a:latin typeface="Arial"/>
                        <a:ea typeface="Arial"/>
                        <a:cs typeface="Arial"/>
                        <a:sym typeface="Arial"/>
                      </a:endParaRPr>
                    </a:p>
                  </a:txBody>
                  <a:tcPr marT="216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375920" marR="0" rtl="0" algn="l">
                        <a:lnSpc>
                          <a:spcPct val="100000"/>
                        </a:lnSpc>
                        <a:spcBef>
                          <a:spcPts val="5"/>
                        </a:spcBef>
                        <a:spcAft>
                          <a:spcPts val="0"/>
                        </a:spcAft>
                        <a:buNone/>
                      </a:pPr>
                      <a:r>
                        <a:rPr lang="en-US" sz="1100" u="none" cap="none" strike="noStrike">
                          <a:latin typeface="Arial"/>
                          <a:ea typeface="Arial"/>
                          <a:cs typeface="Arial"/>
                          <a:sym typeface="Arial"/>
                        </a:rPr>
                        <a:t>RP-01287-CHORUKKALA</a:t>
                      </a:r>
                      <a:endParaRPr sz="1100" u="none" cap="none" strike="noStrike">
                        <a:latin typeface="Arial"/>
                        <a:ea typeface="Arial"/>
                        <a:cs typeface="Arial"/>
                        <a:sym typeface="Arial"/>
                      </a:endParaRPr>
                    </a:p>
                  </a:txBody>
                  <a:tcPr marT="241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368300" marR="0" rtl="0" algn="l">
                        <a:lnSpc>
                          <a:spcPct val="100000"/>
                        </a:lnSpc>
                        <a:spcBef>
                          <a:spcPts val="0"/>
                        </a:spcBef>
                        <a:spcAft>
                          <a:spcPts val="0"/>
                        </a:spcAft>
                        <a:buNone/>
                      </a:pPr>
                      <a:r>
                        <a:rPr lang="en-US" sz="1000" u="none" cap="none" strike="noStrike">
                          <a:latin typeface="Arial"/>
                          <a:ea typeface="Arial"/>
                          <a:cs typeface="Arial"/>
                          <a:sym typeface="Arial"/>
                        </a:rPr>
                        <a:t>10.62.43.100</a:t>
                      </a:r>
                      <a:endParaRPr sz="1000" u="none" cap="none" strike="noStrike">
                        <a:latin typeface="Arial"/>
                        <a:ea typeface="Arial"/>
                        <a:cs typeface="Arial"/>
                        <a:sym typeface="Arial"/>
                      </a:endParaRPr>
                    </a:p>
                  </a:txBody>
                  <a:tcPr marT="216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xBody>
                    <a:bodyPr/>
                    <a:p/>
                  </a:txBody>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2540" marR="0" rtl="0" algn="ctr">
                        <a:lnSpc>
                          <a:spcPct val="100000"/>
                        </a:lnSpc>
                        <a:spcBef>
                          <a:spcPts val="0"/>
                        </a:spcBef>
                        <a:spcAft>
                          <a:spcPts val="0"/>
                        </a:spcAft>
                        <a:buNone/>
                      </a:pPr>
                      <a:r>
                        <a:rPr lang="en-US" sz="1100" u="none" cap="none" strike="noStrike">
                          <a:latin typeface="Arial"/>
                          <a:ea typeface="Arial"/>
                          <a:cs typeface="Arial"/>
                          <a:sym typeface="Arial"/>
                        </a:rPr>
                        <a:t>117.231.204.210</a:t>
                      </a:r>
                      <a:endParaRPr sz="1100" u="none" cap="none" strike="noStrike">
                        <a:latin typeface="Arial"/>
                        <a:ea typeface="Arial"/>
                        <a:cs typeface="Arial"/>
                        <a:sym typeface="Arial"/>
                      </a:endParaRPr>
                    </a:p>
                  </a:txBody>
                  <a:tcPr marT="216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05925">
                <a:tc>
                  <a:txBody>
                    <a:bodyPr/>
                    <a:lstStyle/>
                    <a:p>
                      <a:pPr indent="0" lvl="0" marL="0" marR="0" rtl="0" algn="ctr">
                        <a:spcBef>
                          <a:spcPts val="0"/>
                        </a:spcBef>
                        <a:spcAft>
                          <a:spcPts val="0"/>
                        </a:spcAft>
                        <a:buNone/>
                      </a:pPr>
                      <a:r>
                        <a:rPr b="1" i="0" lang="en-US" sz="1100" u="none" cap="none" strike="noStrike">
                          <a:solidFill>
                            <a:srgbClr val="000000"/>
                          </a:solidFill>
                          <a:latin typeface="Arial"/>
                          <a:ea typeface="Arial"/>
                          <a:cs typeface="Arial"/>
                          <a:sym typeface="Arial"/>
                        </a:rPr>
                        <a:t>SACFA ID (New site)</a:t>
                      </a:r>
                      <a:endParaRPr/>
                    </a:p>
                  </a:txBody>
                  <a:tcPr marT="6350" marB="0" marR="6350" marL="63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marR="0" rtl="0" algn="ctr">
                        <a:spcBef>
                          <a:spcPts val="0"/>
                        </a:spcBef>
                        <a:spcAft>
                          <a:spcPts val="0"/>
                        </a:spcAft>
                        <a:buNone/>
                      </a:pPr>
                      <a:r>
                        <a:rPr b="0" i="0" lang="en-US" sz="1100" u="none" cap="none" strike="noStrike">
                          <a:solidFill>
                            <a:srgbClr val="000000"/>
                          </a:solidFill>
                          <a:latin typeface="Arial"/>
                          <a:ea typeface="Arial"/>
                          <a:cs typeface="Arial"/>
                          <a:sym typeface="Arial"/>
                        </a:rPr>
                        <a:t> </a:t>
                      </a:r>
                      <a:endParaRPr/>
                    </a:p>
                  </a:txBody>
                  <a:tcPr marT="6350" marB="0" marR="6350" marL="63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xBody>
                    <a:bodyPr/>
                    <a:p/>
                  </a:txBody>
                </a:tc>
                <a:tc gridSpan="3">
                  <a:txBody>
                    <a:bodyPr/>
                    <a:lstStyle/>
                    <a:p>
                      <a:pPr indent="0" lvl="0" marL="0" marR="0" rtl="0" algn="ctr">
                        <a:spcBef>
                          <a:spcPts val="0"/>
                        </a:spcBef>
                        <a:spcAft>
                          <a:spcPts val="0"/>
                        </a:spcAft>
                        <a:buNone/>
                      </a:pPr>
                      <a:r>
                        <a:rPr b="0" i="0" lang="en-US" sz="1100" u="none" cap="none" strike="noStrike">
                          <a:solidFill>
                            <a:srgbClr val="000000"/>
                          </a:solidFill>
                          <a:latin typeface="Arial"/>
                          <a:ea typeface="Arial"/>
                          <a:cs typeface="Arial"/>
                          <a:sym typeface="Arial"/>
                        </a:rPr>
                        <a:t> </a:t>
                      </a:r>
                      <a:endParaRPr/>
                    </a:p>
                  </a:txBody>
                  <a:tcPr marT="6350" marB="0" marR="6350" marL="63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xBody>
                    <a:bodyPr/>
                    <a:p/>
                  </a:txBody>
                </a:tc>
                <a:tc hMerge="1">
                  <a:txBody>
                    <a:bodyPr/>
                    <a:p/>
                  </a:txBody>
                </a:tc>
              </a:tr>
              <a:tr h="350800">
                <a:tc rowSpan="6">
                  <a:txBody>
                    <a:bodyPr/>
                    <a:lstStyle/>
                    <a:p>
                      <a:pPr indent="0" lvl="0" marL="0" marR="0" rtl="0" algn="ctr">
                        <a:spcBef>
                          <a:spcPts val="0"/>
                        </a:spcBef>
                        <a:spcAft>
                          <a:spcPts val="0"/>
                        </a:spcAft>
                        <a:buNone/>
                      </a:pPr>
                      <a:r>
                        <a:rPr b="1" i="0" lang="en-US" sz="1100" u="none" cap="none" strike="noStrike">
                          <a:solidFill>
                            <a:srgbClr val="000000"/>
                          </a:solidFill>
                          <a:latin typeface="Arial"/>
                          <a:ea typeface="Arial"/>
                          <a:cs typeface="Arial"/>
                          <a:sym typeface="Arial"/>
                        </a:rPr>
                        <a:t>Equipment  configuration</a:t>
                      </a:r>
                      <a:endParaRPr/>
                    </a:p>
                  </a:txBody>
                  <a:tcPr marT="6350" marB="0" marR="6350" marL="63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5">
                  <a:txBody>
                    <a:bodyPr/>
                    <a:lstStyle/>
                    <a:p>
                      <a:pPr indent="0" lvl="0" marL="0" marR="0" rtl="0" algn="ctr">
                        <a:spcBef>
                          <a:spcPts val="0"/>
                        </a:spcBef>
                        <a:spcAft>
                          <a:spcPts val="0"/>
                        </a:spcAft>
                        <a:buNone/>
                      </a:pPr>
                      <a:r>
                        <a:rPr b="0" i="0" lang="en-US" sz="1100" u="none" cap="none" strike="noStrike">
                          <a:solidFill>
                            <a:srgbClr val="000000"/>
                          </a:solidFill>
                          <a:latin typeface="Arial"/>
                          <a:ea typeface="Arial"/>
                          <a:cs typeface="Arial"/>
                          <a:sym typeface="Arial"/>
                        </a:rPr>
                        <a:t>No. of racks (ODC): Mention (Indoor/Outdoor) and Rack/ODC  No. of sectors: 3</a:t>
                      </a:r>
                      <a:endParaRPr/>
                    </a:p>
                  </a:txBody>
                  <a:tcPr marT="6350" marB="0" marR="6350" marL="1143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xBody>
                    <a:bodyPr/>
                    <a:p/>
                  </a:txBody>
                </a:tc>
                <a:tc hMerge="1">
                  <a:txBody>
                    <a:bodyPr/>
                    <a:p/>
                  </a:txBody>
                </a:tc>
                <a:tc hMerge="1">
                  <a:txBody>
                    <a:bodyPr/>
                    <a:p/>
                  </a:txBody>
                </a:tc>
                <a:tc hMerge="1">
                  <a:txBody>
                    <a:bodyPr/>
                    <a:p/>
                  </a:txBody>
                </a:tc>
              </a:tr>
              <a:tr h="178400">
                <a:tc vMerge="1">
                  <a:txBody>
                    <a:bodyPr/>
                    <a:p/>
                  </a:txBody>
                </a:tc>
                <a:tc gridSpan="5">
                  <a:txBody>
                    <a:bodyPr/>
                    <a:lstStyle/>
                    <a:p>
                      <a:pPr indent="0" lvl="0" marL="0" marR="0" rtl="0" algn="ctr">
                        <a:spcBef>
                          <a:spcPts val="0"/>
                        </a:spcBef>
                        <a:spcAft>
                          <a:spcPts val="0"/>
                        </a:spcAft>
                        <a:buNone/>
                      </a:pPr>
                      <a:r>
                        <a:rPr b="0" i="0" lang="en-US" sz="1100" u="none" cap="none" strike="noStrike">
                          <a:solidFill>
                            <a:srgbClr val="000000"/>
                          </a:solidFill>
                          <a:latin typeface="Arial"/>
                          <a:ea typeface="Arial"/>
                          <a:cs typeface="Arial"/>
                          <a:sym typeface="Arial"/>
                        </a:rPr>
                        <a:t>No. of carrier/ sector: Single</a:t>
                      </a:r>
                      <a:endParaRPr/>
                    </a:p>
                  </a:txBody>
                  <a:tcPr marT="6350" marB="0" marR="6350" marL="1143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xBody>
                    <a:bodyPr/>
                    <a:p/>
                  </a:txBody>
                </a:tc>
                <a:tc hMerge="1">
                  <a:txBody>
                    <a:bodyPr/>
                    <a:p/>
                  </a:txBody>
                </a:tc>
                <a:tc hMerge="1">
                  <a:txBody>
                    <a:bodyPr/>
                    <a:p/>
                  </a:txBody>
                </a:tc>
                <a:tc hMerge="1">
                  <a:txBody>
                    <a:bodyPr/>
                    <a:p/>
                  </a:txBody>
                </a:tc>
              </a:tr>
              <a:tr h="244800">
                <a:tc vMerge="1">
                  <a:txBody>
                    <a:bodyPr/>
                    <a:p/>
                  </a:txBody>
                </a:tc>
                <a:tc gridSpan="5">
                  <a:txBody>
                    <a:bodyPr/>
                    <a:lstStyle/>
                    <a:p>
                      <a:pPr indent="0" lvl="0" marL="0" marR="0" rtl="0" algn="ctr">
                        <a:spcBef>
                          <a:spcPts val="0"/>
                        </a:spcBef>
                        <a:spcAft>
                          <a:spcPts val="0"/>
                        </a:spcAft>
                        <a:buNone/>
                      </a:pPr>
                      <a:r>
                        <a:rPr b="0" i="0" lang="en-US" sz="1100" u="none" cap="none" strike="noStrike">
                          <a:solidFill>
                            <a:srgbClr val="000000"/>
                          </a:solidFill>
                          <a:latin typeface="Arial"/>
                          <a:ea typeface="Arial"/>
                          <a:cs typeface="Arial"/>
                          <a:sym typeface="Arial"/>
                        </a:rPr>
                        <a:t>No. of carrier/ sector: 2</a:t>
                      </a:r>
                      <a:endParaRPr/>
                    </a:p>
                  </a:txBody>
                  <a:tcPr marT="6350" marB="0" marR="6350" marL="1143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xBody>
                    <a:bodyPr/>
                    <a:p/>
                  </a:txBody>
                </a:tc>
                <a:tc hMerge="1">
                  <a:txBody>
                    <a:bodyPr/>
                    <a:p/>
                  </a:txBody>
                </a:tc>
                <a:tc hMerge="1">
                  <a:txBody>
                    <a:bodyPr/>
                    <a:p/>
                  </a:txBody>
                </a:tc>
                <a:tc hMerge="1">
                  <a:txBody>
                    <a:bodyPr/>
                    <a:p/>
                  </a:txBody>
                </a:tc>
              </a:tr>
              <a:tr h="244800">
                <a:tc vMerge="1">
                  <a:txBody>
                    <a:bodyPr/>
                    <a:p/>
                  </a:txBody>
                </a:tc>
                <a:tc gridSpan="5">
                  <a:txBody>
                    <a:bodyPr/>
                    <a:lstStyle/>
                    <a:p>
                      <a:pPr indent="0" lvl="0" marL="0" marR="0" rtl="0" algn="ctr">
                        <a:spcBef>
                          <a:spcPts val="0"/>
                        </a:spcBef>
                        <a:spcAft>
                          <a:spcPts val="0"/>
                        </a:spcAft>
                        <a:buNone/>
                      </a:pPr>
                      <a:r>
                        <a:rPr b="0" i="0" lang="en-US" sz="1100" u="none" cap="none" strike="noStrike">
                          <a:solidFill>
                            <a:srgbClr val="000000"/>
                          </a:solidFill>
                          <a:latin typeface="Arial"/>
                          <a:ea typeface="Arial"/>
                          <a:cs typeface="Arial"/>
                          <a:sym typeface="Arial"/>
                        </a:rPr>
                        <a:t>No. of Antenna per sector: Single</a:t>
                      </a:r>
                      <a:endParaRPr/>
                    </a:p>
                  </a:txBody>
                  <a:tcPr marT="6350" marB="0" marR="6350" marL="1143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xBody>
                    <a:bodyPr/>
                    <a:p/>
                  </a:txBody>
                </a:tc>
                <a:tc hMerge="1">
                  <a:txBody>
                    <a:bodyPr/>
                    <a:p/>
                  </a:txBody>
                </a:tc>
                <a:tc hMerge="1">
                  <a:txBody>
                    <a:bodyPr/>
                    <a:p/>
                  </a:txBody>
                </a:tc>
                <a:tc hMerge="1">
                  <a:txBody>
                    <a:bodyPr/>
                    <a:p/>
                  </a:txBody>
                </a:tc>
              </a:tr>
              <a:tr h="244800">
                <a:tc vMerge="1">
                  <a:txBody>
                    <a:bodyPr/>
                    <a:p/>
                  </a:txBody>
                </a:tc>
                <a:tc gridSpan="5">
                  <a:txBody>
                    <a:bodyPr/>
                    <a:lstStyle/>
                    <a:p>
                      <a:pPr indent="0" lvl="0" marL="0" marR="0" rtl="0" algn="ctr">
                        <a:spcBef>
                          <a:spcPts val="0"/>
                        </a:spcBef>
                        <a:spcAft>
                          <a:spcPts val="0"/>
                        </a:spcAft>
                        <a:buNone/>
                      </a:pPr>
                      <a:r>
                        <a:rPr b="0" i="0" lang="en-US" sz="1100" u="none" cap="none" strike="noStrike">
                          <a:solidFill>
                            <a:srgbClr val="000000"/>
                          </a:solidFill>
                          <a:latin typeface="Arial"/>
                          <a:ea typeface="Arial"/>
                          <a:cs typeface="Arial"/>
                          <a:sym typeface="Arial"/>
                        </a:rPr>
                        <a:t>MME Location: Kerala</a:t>
                      </a:r>
                      <a:endParaRPr/>
                    </a:p>
                  </a:txBody>
                  <a:tcPr marT="6350" marB="0" marR="6350" marL="1143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xBody>
                    <a:bodyPr/>
                    <a:p/>
                  </a:txBody>
                </a:tc>
                <a:tc hMerge="1">
                  <a:txBody>
                    <a:bodyPr/>
                    <a:p/>
                  </a:txBody>
                </a:tc>
                <a:tc hMerge="1">
                  <a:txBody>
                    <a:bodyPr/>
                    <a:p/>
                  </a:txBody>
                </a:tc>
                <a:tc hMerge="1">
                  <a:txBody>
                    <a:bodyPr/>
                    <a:p/>
                  </a:txBody>
                </a:tc>
              </a:tr>
              <a:tr h="244800">
                <a:tc vMerge="1">
                  <a:txBody>
                    <a:bodyPr/>
                    <a:p/>
                  </a:txBody>
                </a:tc>
                <a:tc gridSpan="5">
                  <a:txBody>
                    <a:bodyPr/>
                    <a:lstStyle/>
                    <a:p>
                      <a:pPr indent="0" lvl="0" marL="0" marR="0" rtl="0" algn="ctr">
                        <a:spcBef>
                          <a:spcPts val="0"/>
                        </a:spcBef>
                        <a:spcAft>
                          <a:spcPts val="0"/>
                        </a:spcAft>
                        <a:buNone/>
                      </a:pPr>
                      <a:r>
                        <a:rPr b="0" i="0" lang="en-US" sz="1100" u="none" cap="none" strike="noStrike">
                          <a:solidFill>
                            <a:srgbClr val="000000"/>
                          </a:solidFill>
                          <a:latin typeface="Arial"/>
                          <a:ea typeface="Arial"/>
                          <a:cs typeface="Arial"/>
                          <a:sym typeface="Arial"/>
                        </a:rPr>
                        <a:t>SGW Location: Kerala</a:t>
                      </a:r>
                      <a:endParaRPr/>
                    </a:p>
                  </a:txBody>
                  <a:tcPr marT="6350" marB="0" marR="6350" marL="1143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xBody>
                    <a:bodyPr/>
                    <a:p/>
                  </a:txBody>
                </a:tc>
                <a:tc hMerge="1">
                  <a:txBody>
                    <a:bodyPr/>
                    <a:p/>
                  </a:txBody>
                </a:tc>
                <a:tc hMerge="1">
                  <a:txBody>
                    <a:bodyPr/>
                    <a:p/>
                  </a:txBody>
                </a:tc>
                <a:tc hMerge="1">
                  <a:txBody>
                    <a:bodyPr/>
                    <a:p/>
                  </a:txBody>
                </a:tc>
              </a:tr>
              <a:tr h="281150">
                <a:tc>
                  <a:txBody>
                    <a:bodyPr/>
                    <a:lstStyle/>
                    <a:p>
                      <a:pPr indent="0" lvl="0" marL="0" marR="0" rtl="0" algn="ctr">
                        <a:spcBef>
                          <a:spcPts val="0"/>
                        </a:spcBef>
                        <a:spcAft>
                          <a:spcPts val="0"/>
                        </a:spcAft>
                        <a:buNone/>
                      </a:pPr>
                      <a:r>
                        <a:t/>
                      </a:r>
                      <a:endParaRPr b="1" i="0" sz="1100" u="none" cap="none" strike="noStrike">
                        <a:solidFill>
                          <a:srgbClr val="000000"/>
                        </a:solidFill>
                        <a:latin typeface="Arial"/>
                        <a:ea typeface="Arial"/>
                        <a:cs typeface="Arial"/>
                        <a:sym typeface="Arial"/>
                      </a:endParaRPr>
                    </a:p>
                    <a:p>
                      <a:pPr indent="0" lvl="0" marL="0" marR="0" rtl="0" algn="ctr">
                        <a:spcBef>
                          <a:spcPts val="0"/>
                        </a:spcBef>
                        <a:spcAft>
                          <a:spcPts val="0"/>
                        </a:spcAft>
                        <a:buNone/>
                      </a:pPr>
                      <a:r>
                        <a:rPr b="1" i="0" lang="en-US" sz="1100" u="none" cap="none" strike="noStrike">
                          <a:solidFill>
                            <a:srgbClr val="000000"/>
                          </a:solidFill>
                          <a:latin typeface="Arial"/>
                          <a:ea typeface="Arial"/>
                          <a:cs typeface="Arial"/>
                          <a:sym typeface="Arial"/>
                        </a:rPr>
                        <a:t>Sector No.</a:t>
                      </a:r>
                      <a:endParaRPr/>
                    </a:p>
                  </a:txBody>
                  <a:tcPr marT="6350" marB="0" marR="6350" marL="63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1" i="0" lang="en-US" sz="1100" u="none" cap="none" strike="noStrike">
                          <a:solidFill>
                            <a:srgbClr val="000000"/>
                          </a:solidFill>
                          <a:latin typeface="Arial"/>
                          <a:ea typeface="Arial"/>
                          <a:cs typeface="Arial"/>
                          <a:sym typeface="Arial"/>
                        </a:rPr>
                        <a:t>Cell ID/PCI</a:t>
                      </a:r>
                      <a:endParaRPr/>
                    </a:p>
                  </a:txBody>
                  <a:tcPr marT="6350" marB="0" marR="6350" marL="63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marR="0" rtl="0" algn="ctr">
                        <a:spcBef>
                          <a:spcPts val="0"/>
                        </a:spcBef>
                        <a:spcAft>
                          <a:spcPts val="0"/>
                        </a:spcAft>
                        <a:buNone/>
                      </a:pPr>
                      <a:r>
                        <a:rPr b="1" i="0" lang="en-US" sz="1100" u="none" cap="none" strike="noStrike">
                          <a:solidFill>
                            <a:srgbClr val="000000"/>
                          </a:solidFill>
                          <a:latin typeface="Arial"/>
                          <a:ea typeface="Arial"/>
                          <a:cs typeface="Arial"/>
                          <a:sym typeface="Arial"/>
                        </a:rPr>
                        <a:t>EARFCN</a:t>
                      </a:r>
                      <a:endParaRPr/>
                    </a:p>
                  </a:txBody>
                  <a:tcPr marT="6350" marB="0" marR="6350" marL="63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xBody>
                    <a:bodyPr/>
                    <a:p/>
                  </a:txBody>
                </a:tc>
                <a:tc gridSpan="2">
                  <a:txBody>
                    <a:bodyPr/>
                    <a:lstStyle/>
                    <a:p>
                      <a:pPr indent="0" lvl="0" marL="0" marR="0" rtl="0" algn="ctr">
                        <a:spcBef>
                          <a:spcPts val="0"/>
                        </a:spcBef>
                        <a:spcAft>
                          <a:spcPts val="0"/>
                        </a:spcAft>
                        <a:buNone/>
                      </a:pPr>
                      <a:r>
                        <a:rPr b="1" i="0" lang="en-US" sz="1100" u="none" cap="none" strike="noStrike">
                          <a:solidFill>
                            <a:srgbClr val="000000"/>
                          </a:solidFill>
                          <a:latin typeface="Arial"/>
                          <a:ea typeface="Arial"/>
                          <a:cs typeface="Arial"/>
                          <a:sym typeface="Arial"/>
                        </a:rPr>
                        <a:t>TAC</a:t>
                      </a:r>
                      <a:endParaRPr/>
                    </a:p>
                  </a:txBody>
                  <a:tcPr marT="6350" marB="0" marR="6350" marL="63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xBody>
                    <a:bodyPr/>
                    <a:p/>
                  </a:txBody>
                </a:tc>
              </a:tr>
              <a:tr h="408275">
                <a:tc>
                  <a:txBody>
                    <a:bodyPr/>
                    <a:lstStyle/>
                    <a:p>
                      <a:pPr indent="0" lvl="0" marL="0" marR="0" rtl="0" algn="ctr">
                        <a:spcBef>
                          <a:spcPts val="0"/>
                        </a:spcBef>
                        <a:spcAft>
                          <a:spcPts val="0"/>
                        </a:spcAft>
                        <a:buNone/>
                      </a:pPr>
                      <a:r>
                        <a:rPr b="0" i="0" lang="en-US" sz="1100" u="none" cap="none" strike="noStrike">
                          <a:solidFill>
                            <a:srgbClr val="000000"/>
                          </a:solidFill>
                          <a:latin typeface="Arial"/>
                          <a:ea typeface="Arial"/>
                          <a:cs typeface="Arial"/>
                          <a:sym typeface="Arial"/>
                        </a:rPr>
                        <a:t>1</a:t>
                      </a:r>
                      <a:endParaRPr/>
                    </a:p>
                  </a:txBody>
                  <a:tcPr marT="6350" marB="0" marR="6350" marL="63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540" marR="0" rtl="0" algn="ctr">
                        <a:lnSpc>
                          <a:spcPct val="100000"/>
                        </a:lnSpc>
                        <a:spcBef>
                          <a:spcPts val="0"/>
                        </a:spcBef>
                        <a:spcAft>
                          <a:spcPts val="0"/>
                        </a:spcAft>
                        <a:buNone/>
                      </a:pPr>
                      <a:r>
                        <a:rPr lang="en-US" sz="1100" u="none" cap="none" strike="noStrike">
                          <a:latin typeface="Arial"/>
                          <a:ea typeface="Arial"/>
                          <a:cs typeface="Arial"/>
                          <a:sym typeface="Arial"/>
                        </a:rPr>
                        <a:t>37</a:t>
                      </a:r>
                      <a:endParaRPr sz="1100" u="none" cap="none" strike="noStrike">
                        <a:latin typeface="Arial"/>
                        <a:ea typeface="Arial"/>
                        <a:cs typeface="Arial"/>
                        <a:sym typeface="Arial"/>
                      </a:endParaRPr>
                    </a:p>
                  </a:txBody>
                  <a:tcPr marT="1270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marR="0" rtl="0" algn="ctr">
                        <a:lnSpc>
                          <a:spcPct val="100000"/>
                        </a:lnSpc>
                        <a:spcBef>
                          <a:spcPts val="0"/>
                        </a:spcBef>
                        <a:spcAft>
                          <a:spcPts val="0"/>
                        </a:spcAft>
                        <a:buNone/>
                      </a:pPr>
                      <a:r>
                        <a:rPr lang="en-US" sz="1100" u="none" cap="none" strike="noStrike">
                          <a:latin typeface="Arial"/>
                          <a:ea typeface="Arial"/>
                          <a:cs typeface="Arial"/>
                          <a:sym typeface="Arial"/>
                        </a:rPr>
                        <a:t>515</a:t>
                      </a:r>
                      <a:endParaRPr sz="1100" u="none" cap="none" strike="noStrike">
                        <a:latin typeface="Arial"/>
                        <a:ea typeface="Arial"/>
                        <a:cs typeface="Arial"/>
                        <a:sym typeface="Arial"/>
                      </a:endParaRPr>
                    </a:p>
                  </a:txBody>
                  <a:tcPr marT="1270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xBody>
                    <a:bodyPr/>
                    <a:p/>
                  </a:txBody>
                </a:tc>
                <a:tc gridSpan="2">
                  <a:txBody>
                    <a:bodyPr/>
                    <a:lstStyle/>
                    <a:p>
                      <a:pPr indent="0" lvl="0" marL="3175" marR="0" rtl="0" algn="ctr">
                        <a:lnSpc>
                          <a:spcPct val="100000"/>
                        </a:lnSpc>
                        <a:spcBef>
                          <a:spcPts val="0"/>
                        </a:spcBef>
                        <a:spcAft>
                          <a:spcPts val="0"/>
                        </a:spcAft>
                        <a:buNone/>
                      </a:pPr>
                      <a:r>
                        <a:rPr lang="en-US" sz="1100" u="none" cap="none" strike="noStrike">
                          <a:latin typeface="Arial"/>
                          <a:ea typeface="Arial"/>
                          <a:cs typeface="Arial"/>
                          <a:sym typeface="Arial"/>
                        </a:rPr>
                        <a:t>31743</a:t>
                      </a:r>
                      <a:endParaRPr sz="1100" u="none" cap="none" strike="noStrike">
                        <a:latin typeface="Arial"/>
                        <a:ea typeface="Arial"/>
                        <a:cs typeface="Arial"/>
                        <a:sym typeface="Arial"/>
                      </a:endParaRPr>
                    </a:p>
                  </a:txBody>
                  <a:tcPr marT="1270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xBody>
                    <a:bodyPr/>
                    <a:p/>
                  </a:txBody>
                </a:tc>
              </a:tr>
              <a:tr h="408275">
                <a:tc>
                  <a:txBody>
                    <a:bodyPr/>
                    <a:lstStyle/>
                    <a:p>
                      <a:pPr indent="0" lvl="0" marL="0" marR="0" rtl="0" algn="ctr">
                        <a:spcBef>
                          <a:spcPts val="0"/>
                        </a:spcBef>
                        <a:spcAft>
                          <a:spcPts val="0"/>
                        </a:spcAft>
                        <a:buNone/>
                      </a:pPr>
                      <a:r>
                        <a:rPr b="0" i="0" lang="en-US" sz="1100" u="none" cap="none" strike="noStrike">
                          <a:solidFill>
                            <a:srgbClr val="000000"/>
                          </a:solidFill>
                          <a:latin typeface="Arial"/>
                          <a:ea typeface="Arial"/>
                          <a:cs typeface="Arial"/>
                          <a:sym typeface="Arial"/>
                        </a:rPr>
                        <a:t>2</a:t>
                      </a:r>
                      <a:endParaRPr/>
                    </a:p>
                  </a:txBody>
                  <a:tcPr marT="6350" marB="0" marR="6350" marL="63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2540" marR="0" rtl="0" algn="ctr">
                        <a:lnSpc>
                          <a:spcPct val="100000"/>
                        </a:lnSpc>
                        <a:spcBef>
                          <a:spcPts val="5"/>
                        </a:spcBef>
                        <a:spcAft>
                          <a:spcPts val="0"/>
                        </a:spcAft>
                        <a:buNone/>
                      </a:pPr>
                      <a:r>
                        <a:rPr lang="en-US" sz="1100" u="none" cap="none" strike="noStrike">
                          <a:latin typeface="Arial"/>
                          <a:ea typeface="Arial"/>
                          <a:cs typeface="Arial"/>
                          <a:sym typeface="Arial"/>
                        </a:rPr>
                        <a:t>36</a:t>
                      </a:r>
                      <a:endParaRPr sz="1100" u="none" cap="none" strike="noStrike">
                        <a:latin typeface="Arial"/>
                        <a:ea typeface="Arial"/>
                        <a:cs typeface="Arial"/>
                        <a:sym typeface="Arial"/>
                      </a:endParaRPr>
                    </a:p>
                  </a:txBody>
                  <a:tcPr marT="50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ctr">
                        <a:lnSpc>
                          <a:spcPct val="100000"/>
                        </a:lnSpc>
                        <a:spcBef>
                          <a:spcPts val="5"/>
                        </a:spcBef>
                        <a:spcAft>
                          <a:spcPts val="0"/>
                        </a:spcAft>
                        <a:buNone/>
                      </a:pPr>
                      <a:r>
                        <a:rPr lang="en-US" sz="1100" u="none" cap="none" strike="noStrike">
                          <a:latin typeface="Arial"/>
                          <a:ea typeface="Arial"/>
                          <a:cs typeface="Arial"/>
                          <a:sym typeface="Arial"/>
                        </a:rPr>
                        <a:t>515</a:t>
                      </a:r>
                      <a:endParaRPr sz="1100" u="none" cap="none" strike="noStrike">
                        <a:latin typeface="Arial"/>
                        <a:ea typeface="Arial"/>
                        <a:cs typeface="Arial"/>
                        <a:sym typeface="Arial"/>
                      </a:endParaRPr>
                    </a:p>
                  </a:txBody>
                  <a:tcPr marT="50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3175" marR="0" rtl="0" algn="ctr">
                        <a:lnSpc>
                          <a:spcPct val="100000"/>
                        </a:lnSpc>
                        <a:spcBef>
                          <a:spcPts val="5"/>
                        </a:spcBef>
                        <a:spcAft>
                          <a:spcPts val="0"/>
                        </a:spcAft>
                        <a:buNone/>
                      </a:pPr>
                      <a:r>
                        <a:rPr lang="en-US" sz="1100" u="none" cap="none" strike="noStrike">
                          <a:latin typeface="Arial"/>
                          <a:ea typeface="Arial"/>
                          <a:cs typeface="Arial"/>
                          <a:sym typeface="Arial"/>
                        </a:rPr>
                        <a:t>31743</a:t>
                      </a:r>
                      <a:endParaRPr sz="1100" u="none" cap="none" strike="noStrike">
                        <a:latin typeface="Arial"/>
                        <a:ea typeface="Arial"/>
                        <a:cs typeface="Arial"/>
                        <a:sym typeface="Arial"/>
                      </a:endParaRPr>
                    </a:p>
                  </a:txBody>
                  <a:tcPr marT="50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xBody>
                    <a:bodyPr/>
                    <a:p/>
                  </a:txBody>
                </a:tc>
              </a:tr>
              <a:tr h="300450">
                <a:tc>
                  <a:txBody>
                    <a:bodyPr/>
                    <a:lstStyle/>
                    <a:p>
                      <a:pPr indent="0" lvl="0" marL="0" marR="0" rtl="0" algn="ctr">
                        <a:spcBef>
                          <a:spcPts val="0"/>
                        </a:spcBef>
                        <a:spcAft>
                          <a:spcPts val="0"/>
                        </a:spcAft>
                        <a:buNone/>
                      </a:pPr>
                      <a:r>
                        <a:rPr b="0" i="0" lang="en-US" sz="1100" u="none" cap="none" strike="noStrike">
                          <a:solidFill>
                            <a:srgbClr val="000000"/>
                          </a:solidFill>
                          <a:latin typeface="Arial"/>
                          <a:ea typeface="Arial"/>
                          <a:cs typeface="Arial"/>
                          <a:sym typeface="Arial"/>
                        </a:rPr>
                        <a:t>3</a:t>
                      </a:r>
                      <a:endParaRPr/>
                    </a:p>
                  </a:txBody>
                  <a:tcPr marT="6350" marB="0" marR="6350" marL="63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2540" marR="0" rtl="0" algn="ctr">
                        <a:lnSpc>
                          <a:spcPct val="100000"/>
                        </a:lnSpc>
                        <a:spcBef>
                          <a:spcPts val="0"/>
                        </a:spcBef>
                        <a:spcAft>
                          <a:spcPts val="0"/>
                        </a:spcAft>
                        <a:buNone/>
                      </a:pPr>
                      <a:r>
                        <a:rPr lang="en-US" sz="1100" u="none" cap="none" strike="noStrike">
                          <a:latin typeface="Arial"/>
                          <a:ea typeface="Arial"/>
                          <a:cs typeface="Arial"/>
                          <a:sym typeface="Arial"/>
                        </a:rPr>
                        <a:t>38</a:t>
                      </a:r>
                      <a:endParaRPr sz="1100" u="none" cap="none" strike="noStrike">
                        <a:latin typeface="Arial"/>
                        <a:ea typeface="Arial"/>
                        <a:cs typeface="Arial"/>
                        <a:sym typeface="Arial"/>
                      </a:endParaRPr>
                    </a:p>
                  </a:txBody>
                  <a:tcPr marT="57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lang="en-US" sz="1100" u="none" cap="none" strike="noStrike">
                          <a:latin typeface="Arial"/>
                          <a:ea typeface="Arial"/>
                          <a:cs typeface="Arial"/>
                          <a:sym typeface="Arial"/>
                        </a:rPr>
                        <a:t>515</a:t>
                      </a:r>
                      <a:endParaRPr sz="1100" u="none" cap="none" strike="noStrike">
                        <a:latin typeface="Arial"/>
                        <a:ea typeface="Arial"/>
                        <a:cs typeface="Arial"/>
                        <a:sym typeface="Arial"/>
                      </a:endParaRPr>
                    </a:p>
                  </a:txBody>
                  <a:tcPr marT="57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3175" marR="0" rtl="0" algn="ctr">
                        <a:lnSpc>
                          <a:spcPct val="100000"/>
                        </a:lnSpc>
                        <a:spcBef>
                          <a:spcPts val="0"/>
                        </a:spcBef>
                        <a:spcAft>
                          <a:spcPts val="0"/>
                        </a:spcAft>
                        <a:buNone/>
                      </a:pPr>
                      <a:r>
                        <a:rPr lang="en-US" sz="1100" u="none" cap="none" strike="noStrike">
                          <a:latin typeface="Arial"/>
                          <a:ea typeface="Arial"/>
                          <a:cs typeface="Arial"/>
                          <a:sym typeface="Arial"/>
                        </a:rPr>
                        <a:t>31743</a:t>
                      </a:r>
                      <a:endParaRPr sz="1100" u="none" cap="none" strike="noStrike">
                        <a:latin typeface="Arial"/>
                        <a:ea typeface="Arial"/>
                        <a:cs typeface="Arial"/>
                        <a:sym typeface="Arial"/>
                      </a:endParaRPr>
                    </a:p>
                  </a:txBody>
                  <a:tcPr marT="57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xBody>
                    <a:bodyPr/>
                    <a:p/>
                  </a:txBody>
                </a:tc>
              </a:tr>
            </a:tbl>
          </a:graphicData>
        </a:graphic>
      </p:graphicFrame>
      <p:sp>
        <p:nvSpPr>
          <p:cNvPr id="70" name="Google Shape;70;p9"/>
          <p:cNvSpPr txBox="1"/>
          <p:nvPr/>
        </p:nvSpPr>
        <p:spPr>
          <a:xfrm>
            <a:off x="1077595" y="5411332"/>
            <a:ext cx="3788410" cy="382270"/>
          </a:xfrm>
          <a:prstGeom prst="rect">
            <a:avLst/>
          </a:prstGeom>
          <a:noFill/>
          <a:ln>
            <a:noFill/>
          </a:ln>
        </p:spPr>
        <p:txBody>
          <a:bodyPr anchorCtr="0" anchor="t" bIns="0" lIns="0" spcFirstLastPara="1" rIns="0" wrap="square" tIns="26025">
            <a:spAutoFit/>
          </a:bodyPr>
          <a:lstStyle/>
          <a:p>
            <a:pPr indent="-287019" lvl="0" marL="299085" marR="5080" rtl="0" algn="l">
              <a:lnSpc>
                <a:spcPct val="114166"/>
              </a:lnSpc>
              <a:spcBef>
                <a:spcPts val="0"/>
              </a:spcBef>
              <a:spcAft>
                <a:spcPts val="0"/>
              </a:spcAft>
              <a:buNone/>
            </a:pPr>
            <a:r>
              <a:rPr lang="en-US" sz="1200">
                <a:solidFill>
                  <a:schemeClr val="dk1"/>
                </a:solidFill>
                <a:latin typeface="Arial"/>
                <a:ea typeface="Arial"/>
                <a:cs typeface="Arial"/>
                <a:sym typeface="Arial"/>
              </a:rPr>
              <a:t>2.	Infrastructure provided by:	BSNL Capacity/Rating	(Please tick appropriate box)</a:t>
            </a:r>
            <a:endParaRPr sz="1200">
              <a:solidFill>
                <a:schemeClr val="dk1"/>
              </a:solidFill>
              <a:latin typeface="Arial"/>
              <a:ea typeface="Arial"/>
              <a:cs typeface="Arial"/>
              <a:sym typeface="Arial"/>
            </a:endParaRPr>
          </a:p>
        </p:txBody>
      </p:sp>
      <p:graphicFrame>
        <p:nvGraphicFramePr>
          <p:cNvPr id="71" name="Google Shape;71;p9"/>
          <p:cNvGraphicFramePr/>
          <p:nvPr/>
        </p:nvGraphicFramePr>
        <p:xfrm>
          <a:off x="1624330" y="6002364"/>
          <a:ext cx="3000000" cy="3000000"/>
        </p:xfrm>
        <a:graphic>
          <a:graphicData uri="http://schemas.openxmlformats.org/drawingml/2006/table">
            <a:tbl>
              <a:tblPr bandRow="1" firstRow="1">
                <a:noFill/>
                <a:tableStyleId>{FBDFD955-5028-4EC1-B6FB-75A9DF07899A}</a:tableStyleId>
              </a:tblPr>
              <a:tblGrid>
                <a:gridCol w="2159000"/>
                <a:gridCol w="1082675"/>
              </a:tblGrid>
              <a:tr h="237500">
                <a:tc>
                  <a:txBody>
                    <a:bodyPr/>
                    <a:lstStyle/>
                    <a:p>
                      <a:pPr indent="0" lvl="0" marL="225425" marR="0" rtl="0" algn="l">
                        <a:lnSpc>
                          <a:spcPct val="115909"/>
                        </a:lnSpc>
                        <a:spcBef>
                          <a:spcPts val="0"/>
                        </a:spcBef>
                        <a:spcAft>
                          <a:spcPts val="0"/>
                        </a:spcAft>
                        <a:buNone/>
                      </a:pPr>
                      <a:r>
                        <a:rPr lang="en-US" sz="1000" u="none" cap="none" strike="noStrike">
                          <a:latin typeface="Arial"/>
                          <a:ea typeface="Arial"/>
                          <a:cs typeface="Arial"/>
                          <a:sym typeface="Arial"/>
                        </a:rPr>
                        <a:t>I.	</a:t>
                      </a:r>
                      <a:r>
                        <a:rPr lang="en-US" sz="1100" u="none" cap="none" strike="noStrike">
                          <a:latin typeface="Arial"/>
                          <a:ea typeface="Arial"/>
                          <a:cs typeface="Arial"/>
                          <a:sym typeface="Arial"/>
                        </a:rPr>
                        <a:t>Power plant</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1000" u="none" cap="none" strike="noStrike">
                          <a:latin typeface="Arial"/>
                          <a:ea typeface="Arial"/>
                          <a:cs typeface="Arial"/>
                          <a:sym typeface="Arial"/>
                        </a:rPr>
                        <a:t>DELTA</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7500">
                <a:tc>
                  <a:txBody>
                    <a:bodyPr/>
                    <a:lstStyle/>
                    <a:p>
                      <a:pPr indent="0" lvl="0" marL="188595" marR="0" rtl="0" algn="l">
                        <a:lnSpc>
                          <a:spcPct val="115909"/>
                        </a:lnSpc>
                        <a:spcBef>
                          <a:spcPts val="0"/>
                        </a:spcBef>
                        <a:spcAft>
                          <a:spcPts val="0"/>
                        </a:spcAft>
                        <a:buNone/>
                      </a:pPr>
                      <a:r>
                        <a:rPr lang="en-US" sz="1000" u="none" cap="none" strike="noStrike">
                          <a:latin typeface="Arial"/>
                          <a:ea typeface="Arial"/>
                          <a:cs typeface="Arial"/>
                          <a:sym typeface="Arial"/>
                        </a:rPr>
                        <a:t>II.	</a:t>
                      </a:r>
                      <a:r>
                        <a:rPr lang="en-US" sz="1100" u="none" cap="none" strike="noStrike">
                          <a:latin typeface="Arial"/>
                          <a:ea typeface="Arial"/>
                          <a:cs typeface="Arial"/>
                          <a:sym typeface="Arial"/>
                        </a:rPr>
                        <a:t>Battery</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1000" u="none" cap="none" strike="noStrike">
                          <a:latin typeface="Arial"/>
                          <a:ea typeface="Arial"/>
                          <a:cs typeface="Arial"/>
                          <a:sym typeface="Arial"/>
                        </a:rPr>
                        <a:t>VRLA</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7500">
                <a:tc>
                  <a:txBody>
                    <a:bodyPr/>
                    <a:lstStyle/>
                    <a:p>
                      <a:pPr indent="0" lvl="0" marL="154940" marR="0" rtl="0" algn="l">
                        <a:lnSpc>
                          <a:spcPct val="115909"/>
                        </a:lnSpc>
                        <a:spcBef>
                          <a:spcPts val="0"/>
                        </a:spcBef>
                        <a:spcAft>
                          <a:spcPts val="0"/>
                        </a:spcAft>
                        <a:buNone/>
                      </a:pPr>
                      <a:r>
                        <a:rPr lang="en-US" sz="1000" u="none" cap="none" strike="noStrike">
                          <a:latin typeface="Arial"/>
                          <a:ea typeface="Arial"/>
                          <a:cs typeface="Arial"/>
                          <a:sym typeface="Arial"/>
                        </a:rPr>
                        <a:t>III.	</a:t>
                      </a:r>
                      <a:r>
                        <a:rPr lang="en-US" sz="1100" u="none" cap="none" strike="noStrike">
                          <a:latin typeface="Arial"/>
                          <a:ea typeface="Arial"/>
                          <a:cs typeface="Arial"/>
                          <a:sym typeface="Arial"/>
                        </a:rPr>
                        <a:t>Engine Alternator</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1000" u="none" cap="none" strike="noStrike">
                          <a:latin typeface="Arial"/>
                          <a:ea typeface="Arial"/>
                          <a:cs typeface="Arial"/>
                          <a:sym typeface="Arial"/>
                        </a:rPr>
                        <a:t>NA</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7500">
                <a:tc>
                  <a:txBody>
                    <a:bodyPr/>
                    <a:lstStyle/>
                    <a:p>
                      <a:pPr indent="0" lvl="0" marL="139700" marR="0" rtl="0" algn="l">
                        <a:lnSpc>
                          <a:spcPct val="115909"/>
                        </a:lnSpc>
                        <a:spcBef>
                          <a:spcPts val="0"/>
                        </a:spcBef>
                        <a:spcAft>
                          <a:spcPts val="0"/>
                        </a:spcAft>
                        <a:buNone/>
                      </a:pPr>
                      <a:r>
                        <a:rPr lang="en-US" sz="1000" u="none" cap="none" strike="noStrike">
                          <a:latin typeface="Arial"/>
                          <a:ea typeface="Arial"/>
                          <a:cs typeface="Arial"/>
                          <a:sym typeface="Arial"/>
                        </a:rPr>
                        <a:t>IV.	</a:t>
                      </a:r>
                      <a:r>
                        <a:rPr lang="en-US" sz="1100" u="none" cap="none" strike="noStrike">
                          <a:latin typeface="Arial"/>
                          <a:ea typeface="Arial"/>
                          <a:cs typeface="Arial"/>
                          <a:sym typeface="Arial"/>
                        </a:rPr>
                        <a:t>Air-conditioning</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1000" u="none" cap="none" strike="noStrike">
                          <a:latin typeface="Arial"/>
                          <a:ea typeface="Arial"/>
                          <a:cs typeface="Arial"/>
                          <a:sym typeface="Arial"/>
                        </a:rPr>
                        <a:t>NA</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7500">
                <a:tc>
                  <a:txBody>
                    <a:bodyPr/>
                    <a:lstStyle/>
                    <a:p>
                      <a:pPr indent="0" lvl="0" marL="176530" marR="0" rtl="0" algn="l">
                        <a:lnSpc>
                          <a:spcPct val="115909"/>
                        </a:lnSpc>
                        <a:spcBef>
                          <a:spcPts val="0"/>
                        </a:spcBef>
                        <a:spcAft>
                          <a:spcPts val="0"/>
                        </a:spcAft>
                        <a:buNone/>
                      </a:pPr>
                      <a:r>
                        <a:rPr lang="en-US" sz="1000" u="none" cap="none" strike="noStrike">
                          <a:latin typeface="Arial"/>
                          <a:ea typeface="Arial"/>
                          <a:cs typeface="Arial"/>
                          <a:sym typeface="Arial"/>
                        </a:rPr>
                        <a:t>V.	</a:t>
                      </a:r>
                      <a:r>
                        <a:rPr lang="en-US" sz="1100" u="none" cap="none" strike="noStrike">
                          <a:latin typeface="Arial"/>
                          <a:ea typeface="Arial"/>
                          <a:cs typeface="Arial"/>
                          <a:sym typeface="Arial"/>
                        </a:rPr>
                        <a:t>Fire detection system.</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1000" u="none" cap="none" strike="noStrike">
                          <a:latin typeface="Arial"/>
                          <a:ea typeface="Arial"/>
                          <a:cs typeface="Arial"/>
                          <a:sym typeface="Arial"/>
                        </a:rPr>
                        <a:t>BSNL</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7500">
                <a:tc>
                  <a:txBody>
                    <a:bodyPr/>
                    <a:lstStyle/>
                    <a:p>
                      <a:pPr indent="0" lvl="0" marL="139700" marR="0" rtl="0" algn="l">
                        <a:lnSpc>
                          <a:spcPct val="116363"/>
                        </a:lnSpc>
                        <a:spcBef>
                          <a:spcPts val="0"/>
                        </a:spcBef>
                        <a:spcAft>
                          <a:spcPts val="0"/>
                        </a:spcAft>
                        <a:buNone/>
                      </a:pPr>
                      <a:r>
                        <a:rPr lang="en-US" sz="1000" u="none" cap="none" strike="noStrike">
                          <a:latin typeface="Arial"/>
                          <a:ea typeface="Arial"/>
                          <a:cs typeface="Arial"/>
                          <a:sym typeface="Arial"/>
                        </a:rPr>
                        <a:t>VI.	</a:t>
                      </a:r>
                      <a:r>
                        <a:rPr lang="en-US" sz="1100" u="none" cap="none" strike="noStrike">
                          <a:latin typeface="Arial"/>
                          <a:ea typeface="Arial"/>
                          <a:cs typeface="Arial"/>
                          <a:sym typeface="Arial"/>
                        </a:rPr>
                        <a:t>Tower</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500"/>
                        </a:lnSpc>
                        <a:spcBef>
                          <a:spcPts val="0"/>
                        </a:spcBef>
                        <a:spcAft>
                          <a:spcPts val="0"/>
                        </a:spcAft>
                        <a:buNone/>
                      </a:pPr>
                      <a:r>
                        <a:rPr lang="en-US" sz="1000" u="none" cap="none" strike="noStrike">
                          <a:latin typeface="Arial"/>
                          <a:ea typeface="Arial"/>
                          <a:cs typeface="Arial"/>
                          <a:sym typeface="Arial"/>
                        </a:rPr>
                        <a:t>GBT</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7500">
                <a:tc>
                  <a:txBody>
                    <a:bodyPr/>
                    <a:lstStyle/>
                    <a:p>
                      <a:pPr indent="0" lvl="0" marL="103504" marR="0" rtl="0" algn="l">
                        <a:lnSpc>
                          <a:spcPct val="115909"/>
                        </a:lnSpc>
                        <a:spcBef>
                          <a:spcPts val="0"/>
                        </a:spcBef>
                        <a:spcAft>
                          <a:spcPts val="0"/>
                        </a:spcAft>
                        <a:buNone/>
                      </a:pPr>
                      <a:r>
                        <a:rPr lang="en-US" sz="1000" u="none" cap="none" strike="noStrike">
                          <a:latin typeface="Arial"/>
                          <a:ea typeface="Arial"/>
                          <a:cs typeface="Arial"/>
                          <a:sym typeface="Arial"/>
                        </a:rPr>
                        <a:t>VII.	</a:t>
                      </a:r>
                      <a:r>
                        <a:rPr lang="en-US" sz="1100" u="none" cap="none" strike="noStrike">
                          <a:latin typeface="Arial"/>
                          <a:ea typeface="Arial"/>
                          <a:cs typeface="Arial"/>
                          <a:sym typeface="Arial"/>
                        </a:rPr>
                        <a:t>Earthing</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60000">
                <a:tc>
                  <a:txBody>
                    <a:bodyPr/>
                    <a:lstStyle/>
                    <a:p>
                      <a:pPr indent="0" lvl="0" marL="69850" marR="0" rtl="0" algn="l">
                        <a:lnSpc>
                          <a:spcPct val="115909"/>
                        </a:lnSpc>
                        <a:spcBef>
                          <a:spcPts val="0"/>
                        </a:spcBef>
                        <a:spcAft>
                          <a:spcPts val="0"/>
                        </a:spcAft>
                        <a:buNone/>
                      </a:pPr>
                      <a:r>
                        <a:rPr lang="en-US" sz="1000" u="none" cap="none" strike="noStrike">
                          <a:latin typeface="Arial"/>
                          <a:ea typeface="Arial"/>
                          <a:cs typeface="Arial"/>
                          <a:sym typeface="Arial"/>
                        </a:rPr>
                        <a:t>VIII.	</a:t>
                      </a:r>
                      <a:r>
                        <a:rPr lang="en-US" sz="1100" u="none" cap="none" strike="noStrike">
                          <a:latin typeface="Arial"/>
                          <a:ea typeface="Arial"/>
                          <a:cs typeface="Arial"/>
                          <a:sym typeface="Arial"/>
                        </a:rPr>
                        <a:t>Media</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1000" u="none" cap="none" strike="noStrike">
                          <a:latin typeface="Arial"/>
                          <a:ea typeface="Arial"/>
                          <a:cs typeface="Arial"/>
                          <a:sym typeface="Arial"/>
                        </a:rPr>
                        <a:t>MW</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04800">
                <a:tc>
                  <a:txBody>
                    <a:bodyPr/>
                    <a:lstStyle/>
                    <a:p>
                      <a:pPr indent="-384810" lvl="0" marL="524510" marR="499109" rtl="0" algn="l">
                        <a:lnSpc>
                          <a:spcPct val="115454"/>
                        </a:lnSpc>
                        <a:spcBef>
                          <a:spcPts val="0"/>
                        </a:spcBef>
                        <a:spcAft>
                          <a:spcPts val="0"/>
                        </a:spcAft>
                        <a:buNone/>
                      </a:pPr>
                      <a:r>
                        <a:rPr lang="en-US" sz="1000" u="none" cap="none" strike="noStrike">
                          <a:latin typeface="Arial"/>
                          <a:ea typeface="Arial"/>
                          <a:cs typeface="Arial"/>
                          <a:sym typeface="Arial"/>
                        </a:rPr>
                        <a:t>IX.	</a:t>
                      </a:r>
                      <a:r>
                        <a:rPr lang="en-US" sz="1100" u="none" cap="none" strike="noStrike">
                          <a:latin typeface="Arial"/>
                          <a:ea typeface="Arial"/>
                          <a:cs typeface="Arial"/>
                          <a:sym typeface="Arial"/>
                        </a:rPr>
                        <a:t>Shelter (for Indoor eNode-B)</a:t>
                      </a:r>
                      <a:endParaRPr sz="1100" u="none" cap="none" strike="noStrike">
                        <a:latin typeface="Arial"/>
                        <a:ea typeface="Arial"/>
                        <a:cs typeface="Arial"/>
                        <a:sym typeface="Arial"/>
                      </a:endParaRPr>
                    </a:p>
                  </a:txBody>
                  <a:tcPr marT="19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3500"/>
                        </a:lnSpc>
                        <a:spcBef>
                          <a:spcPts val="0"/>
                        </a:spcBef>
                        <a:spcAft>
                          <a:spcPts val="0"/>
                        </a:spcAft>
                        <a:buNone/>
                      </a:pPr>
                      <a:r>
                        <a:rPr b="0" lang="en-US" sz="1000" u="none" cap="none" strike="noStrike">
                          <a:latin typeface="Arial"/>
                          <a:ea typeface="Arial"/>
                          <a:cs typeface="Arial"/>
                          <a:sym typeface="Arial"/>
                        </a:rPr>
                        <a:t>Outdoor</a:t>
                      </a:r>
                      <a:endParaRPr b="0"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7500">
                <a:tc>
                  <a:txBody>
                    <a:bodyPr/>
                    <a:lstStyle/>
                    <a:p>
                      <a:pPr indent="0" lvl="0" marL="176530" marR="0" rtl="0" algn="l">
                        <a:lnSpc>
                          <a:spcPct val="116363"/>
                        </a:lnSpc>
                        <a:spcBef>
                          <a:spcPts val="0"/>
                        </a:spcBef>
                        <a:spcAft>
                          <a:spcPts val="0"/>
                        </a:spcAft>
                        <a:buNone/>
                      </a:pPr>
                      <a:r>
                        <a:rPr lang="en-US" sz="1000" u="none" cap="none" strike="noStrike">
                          <a:latin typeface="Arial"/>
                          <a:ea typeface="Arial"/>
                          <a:cs typeface="Arial"/>
                          <a:sym typeface="Arial"/>
                        </a:rPr>
                        <a:t>X.	</a:t>
                      </a:r>
                      <a:r>
                        <a:rPr lang="en-US" sz="1100" u="none" cap="none" strike="noStrike">
                          <a:latin typeface="Arial"/>
                          <a:ea typeface="Arial"/>
                          <a:cs typeface="Arial"/>
                          <a:sym typeface="Arial"/>
                        </a:rPr>
                        <a:t>Microwave</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1000" u="none" cap="none" strike="noStrike">
                          <a:latin typeface="Arial"/>
                          <a:ea typeface="Arial"/>
                          <a:cs typeface="Arial"/>
                          <a:sym typeface="Arial"/>
                        </a:rPr>
                        <a:t>NEC</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7500">
                <a:tc>
                  <a:txBody>
                    <a:bodyPr/>
                    <a:lstStyle/>
                    <a:p>
                      <a:pPr indent="0" lvl="0" marL="139700" marR="0" rtl="0" algn="l">
                        <a:lnSpc>
                          <a:spcPct val="115909"/>
                        </a:lnSpc>
                        <a:spcBef>
                          <a:spcPts val="0"/>
                        </a:spcBef>
                        <a:spcAft>
                          <a:spcPts val="0"/>
                        </a:spcAft>
                        <a:buNone/>
                      </a:pPr>
                      <a:r>
                        <a:rPr lang="en-US" sz="1000" u="none" cap="none" strike="noStrike">
                          <a:latin typeface="Arial"/>
                          <a:ea typeface="Arial"/>
                          <a:cs typeface="Arial"/>
                          <a:sym typeface="Arial"/>
                        </a:rPr>
                        <a:t>XI.	</a:t>
                      </a:r>
                      <a:r>
                        <a:rPr lang="en-US" sz="1100" u="none" cap="none" strike="noStrike">
                          <a:latin typeface="Arial"/>
                          <a:ea typeface="Arial"/>
                          <a:cs typeface="Arial"/>
                          <a:sym typeface="Arial"/>
                        </a:rPr>
                        <a:t>Outdoor UPS with Li-ion</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1000" u="none" cap="none" strike="noStrike">
                          <a:latin typeface="Arial"/>
                          <a:ea typeface="Arial"/>
                          <a:cs typeface="Arial"/>
                          <a:sym typeface="Arial"/>
                        </a:rPr>
                        <a:t>4 Hrs</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72" name="Google Shape;72;p9"/>
          <p:cNvSpPr txBox="1"/>
          <p:nvPr/>
        </p:nvSpPr>
        <p:spPr>
          <a:xfrm>
            <a:off x="4609619" y="5418151"/>
            <a:ext cx="675005" cy="20827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200">
                <a:solidFill>
                  <a:schemeClr val="dk1"/>
                </a:solidFill>
                <a:latin typeface="Arial"/>
                <a:ea typeface="Arial"/>
                <a:cs typeface="Arial"/>
                <a:sym typeface="Arial"/>
              </a:rPr>
              <a:t>VENDOR</a:t>
            </a:r>
            <a:endParaRPr sz="1200">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0"/>
          <p:cNvSpPr txBox="1"/>
          <p:nvPr>
            <p:ph idx="11" type="ftr"/>
          </p:nvPr>
        </p:nvSpPr>
        <p:spPr>
          <a:xfrm>
            <a:off x="868476" y="9083316"/>
            <a:ext cx="1681480" cy="182245"/>
          </a:xfrm>
          <a:prstGeom prst="rect">
            <a:avLst/>
          </a:prstGeom>
          <a:noFill/>
          <a:ln>
            <a:noFill/>
          </a:ln>
        </p:spPr>
        <p:txBody>
          <a:bodyPr anchorCtr="0" anchor="t" bIns="0" lIns="0" spcFirstLastPara="1" rIns="0" wrap="square" tIns="0">
            <a:spAutoFit/>
          </a:bodyPr>
          <a:lstStyle/>
          <a:p>
            <a:pPr indent="0" lvl="0" marL="12700" rtl="0" algn="l">
              <a:lnSpc>
                <a:spcPct val="100000"/>
              </a:lnSpc>
              <a:spcBef>
                <a:spcPts val="0"/>
              </a:spcBef>
              <a:spcAft>
                <a:spcPts val="0"/>
              </a:spcAft>
              <a:buNone/>
            </a:pPr>
            <a:r>
              <a:rPr lang="en-US"/>
              <a:t>QAIN-11/31(14)/1/2023-CM</a:t>
            </a:r>
            <a:endParaRPr/>
          </a:p>
        </p:txBody>
      </p:sp>
      <p:sp>
        <p:nvSpPr>
          <p:cNvPr id="78" name="Google Shape;78;p10"/>
          <p:cNvSpPr txBox="1"/>
          <p:nvPr/>
        </p:nvSpPr>
        <p:spPr>
          <a:xfrm>
            <a:off x="5249926" y="414883"/>
            <a:ext cx="1609725" cy="379095"/>
          </a:xfrm>
          <a:prstGeom prst="rect">
            <a:avLst/>
          </a:prstGeom>
          <a:noFill/>
          <a:ln>
            <a:noFill/>
          </a:ln>
        </p:spPr>
        <p:txBody>
          <a:bodyPr anchorCtr="0" anchor="t" bIns="0" lIns="0" spcFirstLastPara="1" rIns="0" wrap="square" tIns="12050">
            <a:spAutoFit/>
          </a:bodyPr>
          <a:lstStyle/>
          <a:p>
            <a:pPr indent="61595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4G PHASE IX.2  eNode-B A/T SCHEDULE</a:t>
            </a:r>
            <a:endParaRPr sz="1100">
              <a:solidFill>
                <a:schemeClr val="dk1"/>
              </a:solidFill>
              <a:latin typeface="Arial"/>
              <a:ea typeface="Arial"/>
              <a:cs typeface="Arial"/>
              <a:sym typeface="Arial"/>
            </a:endParaRPr>
          </a:p>
        </p:txBody>
      </p:sp>
      <p:sp>
        <p:nvSpPr>
          <p:cNvPr id="79" name="Google Shape;79;p10"/>
          <p:cNvSpPr txBox="1"/>
          <p:nvPr/>
        </p:nvSpPr>
        <p:spPr>
          <a:xfrm>
            <a:off x="685596" y="1157985"/>
            <a:ext cx="4646295" cy="20827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US" sz="1200">
                <a:solidFill>
                  <a:schemeClr val="dk1"/>
                </a:solidFill>
                <a:latin typeface="Arial"/>
                <a:ea typeface="Arial"/>
                <a:cs typeface="Arial"/>
                <a:sym typeface="Arial"/>
              </a:rPr>
              <a:t>Wideband-AMR (HD-voice) enabled: - Pass (AMR-WB 12.65Kbps)</a:t>
            </a:r>
            <a:endParaRPr sz="1200">
              <a:solidFill>
                <a:schemeClr val="dk1"/>
              </a:solidFill>
              <a:latin typeface="Arial"/>
              <a:ea typeface="Arial"/>
              <a:cs typeface="Arial"/>
              <a:sym typeface="Arial"/>
            </a:endParaRPr>
          </a:p>
        </p:txBody>
      </p:sp>
      <p:graphicFrame>
        <p:nvGraphicFramePr>
          <p:cNvPr id="80" name="Google Shape;80;p10"/>
          <p:cNvGraphicFramePr/>
          <p:nvPr/>
        </p:nvGraphicFramePr>
        <p:xfrm>
          <a:off x="683056" y="1820291"/>
          <a:ext cx="3000000" cy="3000000"/>
        </p:xfrm>
        <a:graphic>
          <a:graphicData uri="http://schemas.openxmlformats.org/drawingml/2006/table">
            <a:tbl>
              <a:tblPr bandRow="1" firstRow="1">
                <a:noFill/>
                <a:tableStyleId>{FBDFD955-5028-4EC1-B6FB-75A9DF07899A}</a:tableStyleId>
              </a:tblPr>
              <a:tblGrid>
                <a:gridCol w="2256800"/>
                <a:gridCol w="3653150"/>
              </a:tblGrid>
              <a:tr h="225550">
                <a:tc>
                  <a:txBody>
                    <a:bodyPr/>
                    <a:lstStyle/>
                    <a:p>
                      <a:pPr indent="0" lvl="0" marL="3175" marR="0" rtl="0" algn="ctr">
                        <a:lnSpc>
                          <a:spcPct val="113636"/>
                        </a:lnSpc>
                        <a:spcBef>
                          <a:spcPts val="0"/>
                        </a:spcBef>
                        <a:spcAft>
                          <a:spcPts val="0"/>
                        </a:spcAft>
                        <a:buNone/>
                      </a:pPr>
                      <a:r>
                        <a:rPr lang="en-US" sz="1100" u="none" cap="none" strike="noStrike">
                          <a:latin typeface="Arial"/>
                          <a:ea typeface="Arial"/>
                          <a:cs typeface="Arial"/>
                          <a:sym typeface="Arial"/>
                        </a:rPr>
                        <a:t>Sector</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540" marR="0" rtl="0" algn="ctr">
                        <a:lnSpc>
                          <a:spcPct val="113636"/>
                        </a:lnSpc>
                        <a:spcBef>
                          <a:spcPts val="0"/>
                        </a:spcBef>
                        <a:spcAft>
                          <a:spcPts val="0"/>
                        </a:spcAft>
                        <a:buNone/>
                      </a:pPr>
                      <a:r>
                        <a:rPr lang="en-US" sz="1100" u="none" cap="none" strike="noStrike">
                          <a:latin typeface="Arial"/>
                          <a:ea typeface="Arial"/>
                          <a:cs typeface="Arial"/>
                          <a:sym typeface="Arial"/>
                        </a:rPr>
                        <a:t>Codec</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25550">
                <a:tc>
                  <a:txBody>
                    <a:bodyPr/>
                    <a:lstStyle/>
                    <a:p>
                      <a:pPr indent="0" lvl="0" marL="4445" marR="0" rtl="0" algn="ctr">
                        <a:lnSpc>
                          <a:spcPct val="113636"/>
                        </a:lnSpc>
                        <a:spcBef>
                          <a:spcPts val="0"/>
                        </a:spcBef>
                        <a:spcAft>
                          <a:spcPts val="0"/>
                        </a:spcAft>
                        <a:buNone/>
                      </a:pPr>
                      <a:r>
                        <a:rPr lang="en-US" sz="1100" u="none" cap="none" strike="noStrike">
                          <a:latin typeface="Arial"/>
                          <a:ea typeface="Arial"/>
                          <a:cs typeface="Arial"/>
                          <a:sym typeface="Arial"/>
                        </a:rPr>
                        <a:t>1</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905" marR="0" rtl="0" algn="ctr">
                        <a:lnSpc>
                          <a:spcPct val="113636"/>
                        </a:lnSpc>
                        <a:spcBef>
                          <a:spcPts val="0"/>
                        </a:spcBef>
                        <a:spcAft>
                          <a:spcPts val="0"/>
                        </a:spcAft>
                        <a:buNone/>
                      </a:pPr>
                      <a:r>
                        <a:rPr lang="en-US" sz="1100" u="none" cap="none" strike="noStrike">
                          <a:latin typeface="Arial"/>
                          <a:ea typeface="Arial"/>
                          <a:cs typeface="Arial"/>
                          <a:sym typeface="Arial"/>
                        </a:rPr>
                        <a:t>AMR-WB 12.65Kbps</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25550">
                <a:tc>
                  <a:txBody>
                    <a:bodyPr/>
                    <a:lstStyle/>
                    <a:p>
                      <a:pPr indent="0" lvl="0" marL="4445" marR="0" rtl="0" algn="ctr">
                        <a:lnSpc>
                          <a:spcPct val="113636"/>
                        </a:lnSpc>
                        <a:spcBef>
                          <a:spcPts val="0"/>
                        </a:spcBef>
                        <a:spcAft>
                          <a:spcPts val="0"/>
                        </a:spcAft>
                        <a:buNone/>
                      </a:pPr>
                      <a:r>
                        <a:rPr lang="en-US" sz="1100" u="none" cap="none" strike="noStrike">
                          <a:latin typeface="Arial"/>
                          <a:ea typeface="Arial"/>
                          <a:cs typeface="Arial"/>
                          <a:sym typeface="Arial"/>
                        </a:rPr>
                        <a:t>2</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905" marR="0" rtl="0" algn="ctr">
                        <a:lnSpc>
                          <a:spcPct val="113636"/>
                        </a:lnSpc>
                        <a:spcBef>
                          <a:spcPts val="0"/>
                        </a:spcBef>
                        <a:spcAft>
                          <a:spcPts val="0"/>
                        </a:spcAft>
                        <a:buNone/>
                      </a:pPr>
                      <a:r>
                        <a:rPr lang="en-US" sz="1100" u="none" cap="none" strike="noStrike">
                          <a:latin typeface="Arial"/>
                          <a:ea typeface="Arial"/>
                          <a:cs typeface="Arial"/>
                          <a:sym typeface="Arial"/>
                        </a:rPr>
                        <a:t>AMR-WB 12.65Kbps</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28850">
                <a:tc>
                  <a:txBody>
                    <a:bodyPr/>
                    <a:lstStyle/>
                    <a:p>
                      <a:pPr indent="0" lvl="0" marL="4445" marR="0" rtl="0" algn="ctr">
                        <a:lnSpc>
                          <a:spcPct val="114090"/>
                        </a:lnSpc>
                        <a:spcBef>
                          <a:spcPts val="0"/>
                        </a:spcBef>
                        <a:spcAft>
                          <a:spcPts val="0"/>
                        </a:spcAft>
                        <a:buNone/>
                      </a:pPr>
                      <a:r>
                        <a:rPr lang="en-US" sz="1100" u="none" cap="none" strike="noStrike">
                          <a:latin typeface="Arial"/>
                          <a:ea typeface="Arial"/>
                          <a:cs typeface="Arial"/>
                          <a:sym typeface="Arial"/>
                        </a:rPr>
                        <a:t>3</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905" marR="0" rtl="0" algn="ctr">
                        <a:lnSpc>
                          <a:spcPct val="114090"/>
                        </a:lnSpc>
                        <a:spcBef>
                          <a:spcPts val="0"/>
                        </a:spcBef>
                        <a:spcAft>
                          <a:spcPts val="0"/>
                        </a:spcAft>
                        <a:buNone/>
                      </a:pPr>
                      <a:r>
                        <a:rPr lang="en-US" sz="1100" u="none" cap="none" strike="noStrike">
                          <a:latin typeface="Arial"/>
                          <a:ea typeface="Arial"/>
                          <a:cs typeface="Arial"/>
                          <a:sym typeface="Arial"/>
                        </a:rPr>
                        <a:t>AMR-WB 12.65Kbps</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81" name="Google Shape;81;p10"/>
          <p:cNvSpPr txBox="1"/>
          <p:nvPr/>
        </p:nvSpPr>
        <p:spPr>
          <a:xfrm>
            <a:off x="685596" y="376781"/>
            <a:ext cx="2286204" cy="370999"/>
          </a:xfrm>
          <a:prstGeom prst="rect">
            <a:avLst/>
          </a:prstGeom>
          <a:noFill/>
          <a:ln>
            <a:noFill/>
          </a:ln>
        </p:spPr>
        <p:txBody>
          <a:bodyPr anchorCtr="0" anchor="t" bIns="0" lIns="0" spcFirstLastPara="1" rIns="0" wrap="square" tIns="12050">
            <a:spAutoFit/>
          </a:bodyPr>
          <a:lstStyle/>
          <a:p>
            <a:pPr indent="254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QA &amp; INSPECTION CIRCLE KL 	</a:t>
            </a:r>
            <a:endParaRPr sz="1100">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1"/>
          <p:cNvSpPr txBox="1"/>
          <p:nvPr/>
        </p:nvSpPr>
        <p:spPr>
          <a:xfrm>
            <a:off x="1275364" y="1011812"/>
            <a:ext cx="4700689" cy="1269196"/>
          </a:xfrm>
          <a:prstGeom prst="rect">
            <a:avLst/>
          </a:prstGeom>
          <a:noFill/>
          <a:ln>
            <a:noFill/>
          </a:ln>
        </p:spPr>
        <p:txBody>
          <a:bodyPr anchorCtr="0" anchor="t" bIns="0" lIns="0" spcFirstLastPara="1" rIns="0" wrap="square" tIns="22100">
            <a:spAutoFit/>
          </a:bodyPr>
          <a:lstStyle/>
          <a:p>
            <a:pPr indent="-5973" lvl="0" marL="63312" marR="9556" rtl="0" algn="l">
              <a:lnSpc>
                <a:spcPct val="115458"/>
              </a:lnSpc>
              <a:spcBef>
                <a:spcPts val="0"/>
              </a:spcBef>
              <a:spcAft>
                <a:spcPts val="0"/>
              </a:spcAft>
              <a:buNone/>
            </a:pPr>
            <a:r>
              <a:rPr lang="en-US" sz="1035">
                <a:solidFill>
                  <a:schemeClr val="dk1"/>
                </a:solidFill>
                <a:latin typeface="Arial"/>
                <a:ea typeface="Arial"/>
                <a:cs typeface="Arial"/>
                <a:sym typeface="Arial"/>
              </a:rPr>
              <a:t>Test results as per QA &amp; Inspection Circle latest test schedule (In case infra provided by vender).</a:t>
            </a:r>
            <a:endParaRPr sz="1035">
              <a:solidFill>
                <a:schemeClr val="dk1"/>
              </a:solidFill>
              <a:latin typeface="Arial"/>
              <a:ea typeface="Arial"/>
              <a:cs typeface="Arial"/>
              <a:sym typeface="Arial"/>
            </a:endParaRPr>
          </a:p>
          <a:p>
            <a:pPr indent="0" lvl="0" marL="0" marR="0" rtl="0" algn="l">
              <a:spcBef>
                <a:spcPts val="522"/>
              </a:spcBef>
              <a:spcAft>
                <a:spcPts val="0"/>
              </a:spcAft>
              <a:buNone/>
            </a:pPr>
            <a:r>
              <a:t/>
            </a:r>
            <a:endParaRPr sz="1035">
              <a:solidFill>
                <a:schemeClr val="dk1"/>
              </a:solidFill>
              <a:latin typeface="Arial"/>
              <a:ea typeface="Arial"/>
              <a:cs typeface="Arial"/>
              <a:sym typeface="Arial"/>
            </a:endParaRPr>
          </a:p>
          <a:p>
            <a:pPr indent="-5973" lvl="0" marL="63312" marR="4778" rtl="0" algn="l">
              <a:spcBef>
                <a:spcPts val="0"/>
              </a:spcBef>
              <a:spcAft>
                <a:spcPts val="0"/>
              </a:spcAft>
              <a:buNone/>
            </a:pPr>
            <a:r>
              <a:rPr lang="en-US" sz="1035">
                <a:solidFill>
                  <a:schemeClr val="dk1"/>
                </a:solidFill>
                <a:latin typeface="Arial"/>
                <a:ea typeface="Arial"/>
                <a:cs typeface="Arial"/>
                <a:sym typeface="Arial"/>
              </a:rPr>
              <a:t>For BSNL deliverables, BSNL has to submit a sufficiency certificate for existing infra and in case of new infra, it has to be tested as per approved test schedule.</a:t>
            </a:r>
            <a:endParaRPr sz="1035">
              <a:solidFill>
                <a:schemeClr val="dk1"/>
              </a:solidFill>
              <a:latin typeface="Arial"/>
              <a:ea typeface="Arial"/>
              <a:cs typeface="Arial"/>
              <a:sym typeface="Arial"/>
            </a:endParaRPr>
          </a:p>
          <a:p>
            <a:pPr indent="0" lvl="0" marL="0" marR="0" rtl="0" algn="l">
              <a:spcBef>
                <a:spcPts val="455"/>
              </a:spcBef>
              <a:spcAft>
                <a:spcPts val="0"/>
              </a:spcAft>
              <a:buNone/>
            </a:pPr>
            <a:r>
              <a:t/>
            </a:r>
            <a:endParaRPr sz="1035">
              <a:solidFill>
                <a:schemeClr val="dk1"/>
              </a:solidFill>
              <a:latin typeface="Arial"/>
              <a:ea typeface="Arial"/>
              <a:cs typeface="Arial"/>
              <a:sym typeface="Arial"/>
            </a:endParaRPr>
          </a:p>
          <a:p>
            <a:pPr indent="0" lvl="0" marL="11946" marR="0" rtl="0" algn="l">
              <a:spcBef>
                <a:spcPts val="0"/>
              </a:spcBef>
              <a:spcAft>
                <a:spcPts val="0"/>
              </a:spcAft>
              <a:buNone/>
            </a:pPr>
            <a:r>
              <a:rPr b="1" lang="en-US" sz="1129">
                <a:solidFill>
                  <a:schemeClr val="dk1"/>
                </a:solidFill>
                <a:latin typeface="Arial"/>
                <a:ea typeface="Arial"/>
                <a:cs typeface="Arial"/>
                <a:sym typeface="Arial"/>
              </a:rPr>
              <a:t>PART – A: INFRASTRUCTURE TEST</a:t>
            </a:r>
            <a:endParaRPr sz="1129">
              <a:solidFill>
                <a:schemeClr val="dk1"/>
              </a:solidFill>
              <a:latin typeface="Arial"/>
              <a:ea typeface="Arial"/>
              <a:cs typeface="Arial"/>
              <a:sym typeface="Arial"/>
            </a:endParaRPr>
          </a:p>
        </p:txBody>
      </p:sp>
      <p:pic>
        <p:nvPicPr>
          <p:cNvPr id="87" name="Google Shape;87;p11"/>
          <p:cNvPicPr preferRelativeResize="0"/>
          <p:nvPr/>
        </p:nvPicPr>
        <p:blipFill rotWithShape="1">
          <a:blip r:embed="rId3">
            <a:alphaModFix/>
          </a:blip>
          <a:srcRect b="0" l="0" r="0" t="0"/>
          <a:stretch/>
        </p:blipFill>
        <p:spPr>
          <a:xfrm>
            <a:off x="4224507" y="7961067"/>
            <a:ext cx="172019" cy="174887"/>
          </a:xfrm>
          <a:prstGeom prst="rect">
            <a:avLst/>
          </a:prstGeom>
          <a:noFill/>
          <a:ln>
            <a:noFill/>
          </a:ln>
        </p:spPr>
      </p:pic>
      <p:graphicFrame>
        <p:nvGraphicFramePr>
          <p:cNvPr id="88" name="Google Shape;88;p11"/>
          <p:cNvGraphicFramePr/>
          <p:nvPr/>
        </p:nvGraphicFramePr>
        <p:xfrm>
          <a:off x="1287310" y="2483659"/>
          <a:ext cx="3000000" cy="3000000"/>
        </p:xfrm>
        <a:graphic>
          <a:graphicData uri="http://schemas.openxmlformats.org/drawingml/2006/table">
            <a:tbl>
              <a:tblPr bandRow="1" firstRow="1">
                <a:noFill/>
                <a:tableStyleId>{FBDFD955-5028-4EC1-B6FB-75A9DF07899A}</a:tableStyleId>
              </a:tblPr>
              <a:tblGrid>
                <a:gridCol w="375700"/>
                <a:gridCol w="1829500"/>
                <a:gridCol w="1881475"/>
                <a:gridCol w="1636425"/>
              </a:tblGrid>
              <a:tr h="518450">
                <a:tc>
                  <a:txBody>
                    <a:bodyPr/>
                    <a:lstStyle/>
                    <a:p>
                      <a:pPr indent="0" lvl="0" marL="0" marR="37465" rtl="0" algn="ctr">
                        <a:lnSpc>
                          <a:spcPct val="100000"/>
                        </a:lnSpc>
                        <a:spcBef>
                          <a:spcPts val="0"/>
                        </a:spcBef>
                        <a:spcAft>
                          <a:spcPts val="0"/>
                        </a:spcAft>
                        <a:buNone/>
                      </a:pPr>
                      <a:r>
                        <a:rPr b="1" lang="en-US" sz="1000" u="none" cap="none" strike="noStrike">
                          <a:latin typeface="Arial"/>
                          <a:ea typeface="Arial"/>
                          <a:cs typeface="Arial"/>
                          <a:sym typeface="Arial"/>
                        </a:rPr>
                        <a:t>S.No</a:t>
                      </a:r>
                      <a:endParaRPr sz="1000" u="none" cap="none" strike="noStrike">
                        <a:latin typeface="Arial"/>
                        <a:ea typeface="Arial"/>
                        <a:cs typeface="Arial"/>
                        <a:sym typeface="Arial"/>
                      </a:endParaRPr>
                    </a:p>
                  </a:txBody>
                  <a:tcPr marT="406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85090" marR="0" rtl="0" algn="l">
                        <a:lnSpc>
                          <a:spcPct val="100000"/>
                        </a:lnSpc>
                        <a:spcBef>
                          <a:spcPts val="0"/>
                        </a:spcBef>
                        <a:spcAft>
                          <a:spcPts val="0"/>
                        </a:spcAft>
                        <a:buNone/>
                      </a:pPr>
                      <a:r>
                        <a:rPr b="1" lang="en-US" sz="1000" u="none" cap="none" strike="noStrike">
                          <a:latin typeface="Arial"/>
                          <a:ea typeface="Arial"/>
                          <a:cs typeface="Arial"/>
                          <a:sym typeface="Arial"/>
                        </a:rPr>
                        <a:t>TEST DESCRIPTION</a:t>
                      </a:r>
                      <a:endParaRPr sz="1000" u="none" cap="none" strike="noStrike">
                        <a:latin typeface="Arial"/>
                        <a:ea typeface="Arial"/>
                        <a:cs typeface="Arial"/>
                        <a:sym typeface="Arial"/>
                      </a:endParaRPr>
                    </a:p>
                  </a:txBody>
                  <a:tcPr marT="406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88265" marR="0" rtl="0" algn="l">
                        <a:lnSpc>
                          <a:spcPct val="100000"/>
                        </a:lnSpc>
                        <a:spcBef>
                          <a:spcPts val="0"/>
                        </a:spcBef>
                        <a:spcAft>
                          <a:spcPts val="0"/>
                        </a:spcAft>
                        <a:buNone/>
                      </a:pPr>
                      <a:r>
                        <a:rPr b="1" lang="en-US" sz="1000" u="none" cap="none" strike="noStrike">
                          <a:latin typeface="Arial"/>
                          <a:ea typeface="Arial"/>
                          <a:cs typeface="Arial"/>
                          <a:sym typeface="Arial"/>
                        </a:rPr>
                        <a:t>REFERENCE</a:t>
                      </a:r>
                      <a:endParaRPr sz="1000" u="none" cap="none" strike="noStrike">
                        <a:latin typeface="Arial"/>
                        <a:ea typeface="Arial"/>
                        <a:cs typeface="Arial"/>
                        <a:sym typeface="Arial"/>
                      </a:endParaRPr>
                    </a:p>
                    <a:p>
                      <a:pPr indent="0" lvl="0" marL="88265" marR="0" rtl="0" algn="l">
                        <a:lnSpc>
                          <a:spcPct val="100000"/>
                        </a:lnSpc>
                        <a:spcBef>
                          <a:spcPts val="240"/>
                        </a:spcBef>
                        <a:spcAft>
                          <a:spcPts val="0"/>
                        </a:spcAft>
                        <a:buNone/>
                      </a:pPr>
                      <a:r>
                        <a:rPr b="1" lang="en-US" sz="1000" u="none" cap="none" strike="noStrike">
                          <a:latin typeface="Arial"/>
                          <a:ea typeface="Arial"/>
                          <a:cs typeface="Arial"/>
                          <a:sym typeface="Arial"/>
                        </a:rPr>
                        <a:t>/ PROCEDURE</a:t>
                      </a:r>
                      <a:endParaRPr sz="1000" u="none" cap="none" strike="noStrike">
                        <a:latin typeface="Arial"/>
                        <a:ea typeface="Arial"/>
                        <a:cs typeface="Arial"/>
                        <a:sym typeface="Arial"/>
                      </a:endParaRPr>
                    </a:p>
                  </a:txBody>
                  <a:tcPr marT="430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93980" marR="0" rtl="0" algn="l">
                        <a:lnSpc>
                          <a:spcPct val="100000"/>
                        </a:lnSpc>
                        <a:spcBef>
                          <a:spcPts val="0"/>
                        </a:spcBef>
                        <a:spcAft>
                          <a:spcPts val="0"/>
                        </a:spcAft>
                        <a:buNone/>
                      </a:pPr>
                      <a:r>
                        <a:rPr b="1" lang="en-US" sz="1000" u="none" cap="none" strike="noStrike">
                          <a:latin typeface="Arial"/>
                          <a:ea typeface="Arial"/>
                          <a:cs typeface="Arial"/>
                          <a:sym typeface="Arial"/>
                        </a:rPr>
                        <a:t>REMARK</a:t>
                      </a:r>
                      <a:endParaRPr sz="1000" u="none" cap="none" strike="noStrike">
                        <a:latin typeface="Arial"/>
                        <a:ea typeface="Arial"/>
                        <a:cs typeface="Arial"/>
                        <a:sym typeface="Arial"/>
                      </a:endParaRPr>
                    </a:p>
                  </a:txBody>
                  <a:tcPr marT="406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49750">
                <a:tc>
                  <a:txBody>
                    <a:bodyPr/>
                    <a:lstStyle/>
                    <a:p>
                      <a:pPr indent="0" lvl="0" marL="7620" marR="0" rtl="0" algn="ctr">
                        <a:lnSpc>
                          <a:spcPct val="100000"/>
                        </a:lnSpc>
                        <a:spcBef>
                          <a:spcPts val="0"/>
                        </a:spcBef>
                        <a:spcAft>
                          <a:spcPts val="0"/>
                        </a:spcAft>
                        <a:buNone/>
                      </a:pPr>
                      <a:r>
                        <a:rPr lang="en-US" sz="1000" u="none" cap="none" strike="noStrike">
                          <a:latin typeface="Arial"/>
                          <a:ea typeface="Arial"/>
                          <a:cs typeface="Arial"/>
                          <a:sym typeface="Arial"/>
                        </a:rPr>
                        <a:t>1</a:t>
                      </a:r>
                      <a:endParaRPr sz="1000" u="none" cap="none" strike="noStrike">
                        <a:latin typeface="Arial"/>
                        <a:ea typeface="Arial"/>
                        <a:cs typeface="Arial"/>
                        <a:sym typeface="Arial"/>
                      </a:endParaRPr>
                    </a:p>
                  </a:txBody>
                  <a:tcPr marT="430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09220" marR="0" rtl="0" algn="l">
                        <a:lnSpc>
                          <a:spcPct val="100000"/>
                        </a:lnSpc>
                        <a:spcBef>
                          <a:spcPts val="0"/>
                        </a:spcBef>
                        <a:spcAft>
                          <a:spcPts val="0"/>
                        </a:spcAft>
                        <a:buNone/>
                      </a:pPr>
                      <a:r>
                        <a:rPr lang="en-US" sz="1000" u="none" cap="none" strike="noStrike">
                          <a:latin typeface="Arial"/>
                          <a:ea typeface="Arial"/>
                          <a:cs typeface="Arial"/>
                          <a:sym typeface="Arial"/>
                        </a:rPr>
                        <a:t>Check of documentation.</a:t>
                      </a:r>
                      <a:endParaRPr sz="1000" u="none" cap="none" strike="noStrike">
                        <a:latin typeface="Arial"/>
                        <a:ea typeface="Arial"/>
                        <a:cs typeface="Arial"/>
                        <a:sym typeface="Arial"/>
                      </a:endParaRPr>
                    </a:p>
                  </a:txBody>
                  <a:tcPr marT="430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88265" marR="0" rtl="0" algn="l">
                        <a:lnSpc>
                          <a:spcPct val="100000"/>
                        </a:lnSpc>
                        <a:spcBef>
                          <a:spcPts val="0"/>
                        </a:spcBef>
                        <a:spcAft>
                          <a:spcPts val="0"/>
                        </a:spcAft>
                        <a:buNone/>
                      </a:pPr>
                      <a:r>
                        <a:rPr lang="en-US" sz="1000" u="none" cap="none" strike="noStrike">
                          <a:latin typeface="Arial"/>
                          <a:ea typeface="Arial"/>
                          <a:cs typeface="Arial"/>
                          <a:sym typeface="Arial"/>
                        </a:rPr>
                        <a:t>Hard/Soft copy as per PO.</a:t>
                      </a:r>
                      <a:endParaRPr sz="1000" u="none" cap="none" strike="noStrike">
                        <a:latin typeface="Arial"/>
                        <a:ea typeface="Arial"/>
                        <a:cs typeface="Arial"/>
                        <a:sym typeface="Arial"/>
                      </a:endParaRPr>
                    </a:p>
                  </a:txBody>
                  <a:tcPr marT="430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09220" marR="0" rtl="0" algn="l">
                        <a:lnSpc>
                          <a:spcPct val="100000"/>
                        </a:lnSpc>
                        <a:spcBef>
                          <a:spcPts val="0"/>
                        </a:spcBef>
                        <a:spcAft>
                          <a:spcPts val="0"/>
                        </a:spcAft>
                        <a:buNone/>
                      </a:pPr>
                      <a:r>
                        <a:rPr lang="en-US" sz="900" u="none" cap="none" strike="noStrike">
                          <a:latin typeface="Arial"/>
                          <a:ea typeface="Arial"/>
                          <a:cs typeface="Arial"/>
                          <a:sym typeface="Arial"/>
                        </a:rPr>
                        <a:t>NA</a:t>
                      </a:r>
                      <a:endParaRPr sz="900" u="none" cap="none" strike="noStrike">
                        <a:latin typeface="Arial"/>
                        <a:ea typeface="Arial"/>
                        <a:cs typeface="Arial"/>
                        <a:sym typeface="Arial"/>
                      </a:endParaRPr>
                    </a:p>
                  </a:txBody>
                  <a:tcPr marT="436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828450">
                <a:tc>
                  <a:txBody>
                    <a:bodyPr/>
                    <a:lstStyle/>
                    <a:p>
                      <a:pPr indent="0" lvl="0" marL="7620" marR="0" rtl="0" algn="ctr">
                        <a:lnSpc>
                          <a:spcPct val="100000"/>
                        </a:lnSpc>
                        <a:spcBef>
                          <a:spcPts val="0"/>
                        </a:spcBef>
                        <a:spcAft>
                          <a:spcPts val="0"/>
                        </a:spcAft>
                        <a:buNone/>
                      </a:pPr>
                      <a:r>
                        <a:rPr lang="en-US" sz="1000" u="none" cap="none" strike="noStrike">
                          <a:latin typeface="Arial"/>
                          <a:ea typeface="Arial"/>
                          <a:cs typeface="Arial"/>
                          <a:sym typeface="Arial"/>
                        </a:rPr>
                        <a:t>2</a:t>
                      </a:r>
                      <a:endParaRPr sz="1000" u="none" cap="none" strike="noStrike">
                        <a:latin typeface="Arial"/>
                        <a:ea typeface="Arial"/>
                        <a:cs typeface="Arial"/>
                        <a:sym typeface="Arial"/>
                      </a:endParaRPr>
                    </a:p>
                  </a:txBody>
                  <a:tcPr marT="436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09220" marR="0" rtl="0" algn="l">
                        <a:lnSpc>
                          <a:spcPct val="100000"/>
                        </a:lnSpc>
                        <a:spcBef>
                          <a:spcPts val="0"/>
                        </a:spcBef>
                        <a:spcAft>
                          <a:spcPts val="0"/>
                        </a:spcAft>
                        <a:buNone/>
                      </a:pPr>
                      <a:r>
                        <a:rPr lang="en-US" sz="1000" u="none" cap="none" strike="noStrike">
                          <a:latin typeface="Arial"/>
                          <a:ea typeface="Arial"/>
                          <a:cs typeface="Arial"/>
                          <a:sym typeface="Arial"/>
                        </a:rPr>
                        <a:t>Check QA certificate.</a:t>
                      </a:r>
                      <a:endParaRPr sz="1000" u="none" cap="none" strike="noStrike">
                        <a:latin typeface="Arial"/>
                        <a:ea typeface="Arial"/>
                        <a:cs typeface="Arial"/>
                        <a:sym typeface="Arial"/>
                      </a:endParaRPr>
                    </a:p>
                  </a:txBody>
                  <a:tcPr marT="436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88265" marR="74930" rtl="0" algn="just">
                        <a:lnSpc>
                          <a:spcPct val="104800"/>
                        </a:lnSpc>
                        <a:spcBef>
                          <a:spcPts val="0"/>
                        </a:spcBef>
                        <a:spcAft>
                          <a:spcPts val="0"/>
                        </a:spcAft>
                        <a:buNone/>
                      </a:pPr>
                      <a:r>
                        <a:rPr lang="en-US" sz="1000" u="none" cap="none" strike="noStrike">
                          <a:latin typeface="Arial"/>
                          <a:ea typeface="Arial"/>
                          <a:cs typeface="Arial"/>
                          <a:sym typeface="Arial"/>
                        </a:rPr>
                        <a:t>QA   certificate   to   be submitted. BBU, RRH and ODC serial no. as per release report.</a:t>
                      </a:r>
                      <a:endParaRPr sz="1000" u="none" cap="none" strike="noStrike">
                        <a:latin typeface="Arial"/>
                        <a:ea typeface="Arial"/>
                        <a:cs typeface="Arial"/>
                        <a:sym typeface="Arial"/>
                      </a:endParaRPr>
                    </a:p>
                  </a:txBody>
                  <a:tcPr marT="388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91440" marR="217803" rtl="0" algn="l">
                        <a:lnSpc>
                          <a:spcPct val="104700"/>
                        </a:lnSpc>
                        <a:spcBef>
                          <a:spcPts val="335"/>
                        </a:spcBef>
                        <a:spcAft>
                          <a:spcPts val="0"/>
                        </a:spcAft>
                        <a:buSzPts val="800"/>
                        <a:buFont typeface="Arial"/>
                        <a:buNone/>
                      </a:pPr>
                      <a:r>
                        <a:t>10M 64M 10M 15M</a:t>
                      </a:r>
                      <a:endParaRPr b="1" sz="800">
                        <a:latin typeface="Arial"/>
                        <a:ea typeface="Arial"/>
                        <a:cs typeface="Arial"/>
                        <a:sym typeface="Arial"/>
                      </a:endParaRPr>
                    </a:p>
                  </a:txBody>
                  <a:tcPr marT="400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27000">
                <a:tc>
                  <a:txBody>
                    <a:bodyPr/>
                    <a:lstStyle/>
                    <a:p>
                      <a:pPr indent="0" lvl="0" marL="7620" marR="0" rtl="0" algn="ctr">
                        <a:lnSpc>
                          <a:spcPct val="100000"/>
                        </a:lnSpc>
                        <a:spcBef>
                          <a:spcPts val="0"/>
                        </a:spcBef>
                        <a:spcAft>
                          <a:spcPts val="0"/>
                        </a:spcAft>
                        <a:buNone/>
                      </a:pPr>
                      <a:r>
                        <a:rPr lang="en-US" sz="1000" u="none" cap="none" strike="noStrike">
                          <a:latin typeface="Arial"/>
                          <a:ea typeface="Arial"/>
                          <a:cs typeface="Arial"/>
                          <a:sym typeface="Arial"/>
                        </a:rPr>
                        <a:t>3</a:t>
                      </a:r>
                      <a:endParaRPr sz="1000" u="none" cap="none" strike="noStrike">
                        <a:latin typeface="Arial"/>
                        <a:ea typeface="Arial"/>
                        <a:cs typeface="Arial"/>
                        <a:sym typeface="Arial"/>
                      </a:endParaRPr>
                    </a:p>
                  </a:txBody>
                  <a:tcPr marT="430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30810" marR="0" rtl="0" algn="l">
                        <a:lnSpc>
                          <a:spcPct val="100000"/>
                        </a:lnSpc>
                        <a:spcBef>
                          <a:spcPts val="0"/>
                        </a:spcBef>
                        <a:spcAft>
                          <a:spcPts val="0"/>
                        </a:spcAft>
                        <a:buNone/>
                      </a:pPr>
                      <a:r>
                        <a:rPr lang="en-US" sz="1000" u="none" cap="none" strike="noStrike">
                          <a:latin typeface="Arial"/>
                          <a:ea typeface="Arial"/>
                          <a:cs typeface="Arial"/>
                          <a:sym typeface="Arial"/>
                        </a:rPr>
                        <a:t>Location,	Alignment	&amp;</a:t>
                      </a:r>
                      <a:endParaRPr sz="1000" u="none" cap="none" strike="noStrike">
                        <a:latin typeface="Arial"/>
                        <a:ea typeface="Arial"/>
                        <a:cs typeface="Arial"/>
                        <a:sym typeface="Arial"/>
                      </a:endParaRPr>
                    </a:p>
                    <a:p>
                      <a:pPr indent="0" lvl="0" marL="127635" marR="0" rtl="0" algn="l">
                        <a:lnSpc>
                          <a:spcPct val="100000"/>
                        </a:lnSpc>
                        <a:spcBef>
                          <a:spcPts val="990"/>
                        </a:spcBef>
                        <a:spcAft>
                          <a:spcPts val="0"/>
                        </a:spcAft>
                        <a:buNone/>
                      </a:pPr>
                      <a:r>
                        <a:rPr lang="en-US" sz="1000" u="none" cap="none" strike="noStrike">
                          <a:latin typeface="Arial"/>
                          <a:ea typeface="Arial"/>
                          <a:cs typeface="Arial"/>
                          <a:sym typeface="Arial"/>
                        </a:rPr>
                        <a:t>Rigidity (LAR).</a:t>
                      </a:r>
                      <a:endParaRPr sz="1000" u="none" cap="none" strike="noStrike">
                        <a:latin typeface="Arial"/>
                        <a:ea typeface="Arial"/>
                        <a:cs typeface="Arial"/>
                        <a:sym typeface="Arial"/>
                      </a:endParaRPr>
                    </a:p>
                  </a:txBody>
                  <a:tcPr marT="430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88265" marR="0" rtl="0" algn="l">
                        <a:lnSpc>
                          <a:spcPct val="100000"/>
                        </a:lnSpc>
                        <a:spcBef>
                          <a:spcPts val="0"/>
                        </a:spcBef>
                        <a:spcAft>
                          <a:spcPts val="0"/>
                        </a:spcAft>
                        <a:buNone/>
                      </a:pPr>
                      <a:r>
                        <a:rPr lang="en-US" sz="1000" u="none" cap="none" strike="noStrike">
                          <a:latin typeface="Arial"/>
                          <a:ea typeface="Arial"/>
                          <a:cs typeface="Arial"/>
                          <a:sym typeface="Arial"/>
                        </a:rPr>
                        <a:t>As per approved plan.</a:t>
                      </a:r>
                      <a:endParaRPr sz="1000" u="none" cap="none" strike="noStrike">
                        <a:latin typeface="Arial"/>
                        <a:ea typeface="Arial"/>
                        <a:cs typeface="Arial"/>
                        <a:sym typeface="Arial"/>
                      </a:endParaRPr>
                    </a:p>
                  </a:txBody>
                  <a:tcPr marT="430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Arial"/>
                          <a:ea typeface="Arial"/>
                          <a:cs typeface="Arial"/>
                          <a:sym typeface="Arial"/>
                        </a:rPr>
                        <a:t>Location- </a:t>
                      </a:r>
                      <a:endParaRPr sz="1000" u="none" cap="none" strike="noStrike">
                        <a:latin typeface="Arial"/>
                        <a:ea typeface="Arial"/>
                        <a:cs typeface="Arial"/>
                        <a:sym typeface="Arial"/>
                      </a:endParaRPr>
                    </a:p>
                    <a:p>
                      <a:pPr indent="0" lvl="0" marL="0" marR="0" rtl="0" algn="ctr">
                        <a:lnSpc>
                          <a:spcPct val="100000"/>
                        </a:lnSpc>
                        <a:spcBef>
                          <a:spcPts val="490"/>
                        </a:spcBef>
                        <a:spcAft>
                          <a:spcPts val="0"/>
                        </a:spcAft>
                        <a:buNone/>
                      </a:pPr>
                      <a:r>
                        <a:rPr lang="en-US" sz="900" u="none" cap="none" strike="noStrike">
                          <a:latin typeface="Arial"/>
                          <a:ea typeface="Arial"/>
                          <a:cs typeface="Arial"/>
                          <a:sym typeface="Arial"/>
                        </a:rPr>
                        <a:t>12.04003191/75.41092776</a:t>
                      </a:r>
                      <a:endParaRPr sz="900" u="none" cap="none" strike="noStrike">
                        <a:latin typeface="Arial"/>
                        <a:ea typeface="Arial"/>
                        <a:cs typeface="Arial"/>
                        <a:sym typeface="Arial"/>
                      </a:endParaRPr>
                    </a:p>
                    <a:p>
                      <a:pPr indent="0" lvl="0" marL="635" marR="0" rtl="0" algn="ctr">
                        <a:lnSpc>
                          <a:spcPct val="100000"/>
                        </a:lnSpc>
                        <a:spcBef>
                          <a:spcPts val="0"/>
                        </a:spcBef>
                        <a:spcAft>
                          <a:spcPts val="0"/>
                        </a:spcAft>
                        <a:buSzPts val="900"/>
                        <a:buFont typeface="Arial"/>
                        <a:buNone/>
                      </a:pPr>
                      <a:r>
                        <a:rPr lang="en-US" sz="900" u="none" cap="none" strike="noStrike">
                          <a:latin typeface="Arial"/>
                          <a:ea typeface="Arial"/>
                          <a:cs typeface="Arial"/>
                          <a:sym typeface="Arial"/>
                        </a:rPr>
                        <a:t>Alignment- OK</a:t>
                      </a:r>
                      <a:endParaRPr sz="900" u="none" cap="none" strike="noStrike">
                        <a:latin typeface="Arial"/>
                        <a:ea typeface="Arial"/>
                        <a:cs typeface="Arial"/>
                        <a:sym typeface="Arial"/>
                      </a:endParaRPr>
                    </a:p>
                    <a:p>
                      <a:pPr indent="0" lvl="0" marL="127635" marR="0" rtl="0" algn="l">
                        <a:lnSpc>
                          <a:spcPct val="100000"/>
                        </a:lnSpc>
                        <a:spcBef>
                          <a:spcPts val="40"/>
                        </a:spcBef>
                        <a:spcAft>
                          <a:spcPts val="0"/>
                        </a:spcAft>
                        <a:buNone/>
                      </a:pPr>
                      <a:r>
                        <a:rPr lang="en-US" sz="1000" u="none" cap="none" strike="noStrike">
                          <a:latin typeface="Arial"/>
                          <a:ea typeface="Arial"/>
                          <a:cs typeface="Arial"/>
                          <a:sym typeface="Arial"/>
                        </a:rPr>
                        <a:t>           Rigidity- OK</a:t>
                      </a:r>
                      <a:endParaRPr sz="1000" u="none" cap="none" strike="noStrike">
                        <a:latin typeface="Arial"/>
                        <a:ea typeface="Arial"/>
                        <a:cs typeface="Arial"/>
                        <a:sym typeface="Arial"/>
                      </a:endParaRPr>
                    </a:p>
                  </a:txBody>
                  <a:tcPr marT="394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997475">
                <a:tc>
                  <a:txBody>
                    <a:bodyPr/>
                    <a:lstStyle/>
                    <a:p>
                      <a:pPr indent="0" lvl="0" marL="7620" marR="0" rtl="0" algn="ctr">
                        <a:lnSpc>
                          <a:spcPct val="100000"/>
                        </a:lnSpc>
                        <a:spcBef>
                          <a:spcPts val="0"/>
                        </a:spcBef>
                        <a:spcAft>
                          <a:spcPts val="0"/>
                        </a:spcAft>
                        <a:buNone/>
                      </a:pPr>
                      <a:r>
                        <a:rPr lang="en-US" sz="1000" u="none" cap="none" strike="noStrike">
                          <a:latin typeface="Arial"/>
                          <a:ea typeface="Arial"/>
                          <a:cs typeface="Arial"/>
                          <a:sym typeface="Arial"/>
                        </a:rPr>
                        <a:t>4</a:t>
                      </a:r>
                      <a:endParaRPr sz="1000" u="none" cap="none" strike="noStrike">
                        <a:latin typeface="Arial"/>
                        <a:ea typeface="Arial"/>
                        <a:cs typeface="Arial"/>
                        <a:sym typeface="Arial"/>
                      </a:endParaRPr>
                    </a:p>
                  </a:txBody>
                  <a:tcPr marT="430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09220" marR="76200" rtl="0" algn="just">
                        <a:lnSpc>
                          <a:spcPct val="105000"/>
                        </a:lnSpc>
                        <a:spcBef>
                          <a:spcPts val="0"/>
                        </a:spcBef>
                        <a:spcAft>
                          <a:spcPts val="0"/>
                        </a:spcAft>
                        <a:buNone/>
                      </a:pPr>
                      <a:r>
                        <a:rPr lang="en-US" sz="1000" u="none" cap="none" strike="noStrike">
                          <a:latin typeface="Arial"/>
                          <a:ea typeface="Arial"/>
                          <a:cs typeface="Arial"/>
                          <a:sym typeface="Arial"/>
                        </a:rPr>
                        <a:t>Check for protection from lightning  /accidental  high voltage/ induced high power for power plant and outdoor eNode-B.</a:t>
                      </a:r>
                      <a:endParaRPr sz="1000" u="none" cap="none" strike="noStrike">
                        <a:latin typeface="Arial"/>
                        <a:ea typeface="Arial"/>
                        <a:cs typeface="Arial"/>
                        <a:sym typeface="Arial"/>
                      </a:endParaRPr>
                    </a:p>
                  </a:txBody>
                  <a:tcPr marT="382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09854" marR="74930" rtl="0" algn="l">
                        <a:lnSpc>
                          <a:spcPct val="103600"/>
                        </a:lnSpc>
                        <a:spcBef>
                          <a:spcPts val="0"/>
                        </a:spcBef>
                        <a:spcAft>
                          <a:spcPts val="0"/>
                        </a:spcAft>
                        <a:buNone/>
                      </a:pPr>
                      <a:r>
                        <a:rPr lang="en-US" sz="1000" u="none" cap="none" strike="noStrike">
                          <a:latin typeface="Arial"/>
                          <a:ea typeface="Arial"/>
                          <a:cs typeface="Arial"/>
                          <a:sym typeface="Arial"/>
                        </a:rPr>
                        <a:t>Lightning	protector	earth continuity should be checked.</a:t>
                      </a:r>
                      <a:endParaRPr sz="1000" u="none" cap="none" strike="noStrike">
                        <a:latin typeface="Arial"/>
                        <a:ea typeface="Arial"/>
                        <a:cs typeface="Arial"/>
                        <a:sym typeface="Arial"/>
                      </a:endParaRPr>
                    </a:p>
                  </a:txBody>
                  <a:tcPr marT="406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91440" marR="142240" rtl="0" algn="l">
                        <a:lnSpc>
                          <a:spcPct val="104900"/>
                        </a:lnSpc>
                        <a:spcBef>
                          <a:spcPts val="0"/>
                        </a:spcBef>
                        <a:spcAft>
                          <a:spcPts val="0"/>
                        </a:spcAft>
                        <a:buNone/>
                      </a:pPr>
                      <a:r>
                        <a:rPr lang="en-US" sz="1000" u="none" cap="none" strike="noStrike">
                          <a:latin typeface="Arial"/>
                          <a:ea typeface="Arial"/>
                          <a:cs typeface="Arial"/>
                          <a:sym typeface="Arial"/>
                        </a:rPr>
                        <a:t>Protection- OK Lightening Arrester to earth and equipment’s earth continuity checked</a:t>
                      </a:r>
                      <a:endParaRPr sz="1000" u="none" cap="none" strike="noStrike">
                        <a:latin typeface="Arial"/>
                        <a:ea typeface="Arial"/>
                        <a:cs typeface="Arial"/>
                        <a:sym typeface="Arial"/>
                      </a:endParaRPr>
                    </a:p>
                  </a:txBody>
                  <a:tcPr marT="382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95750">
                <a:tc>
                  <a:txBody>
                    <a:bodyPr/>
                    <a:lstStyle/>
                    <a:p>
                      <a:pPr indent="0" lvl="0" marL="7620" marR="0" rtl="0" algn="ctr">
                        <a:lnSpc>
                          <a:spcPct val="100000"/>
                        </a:lnSpc>
                        <a:spcBef>
                          <a:spcPts val="0"/>
                        </a:spcBef>
                        <a:spcAft>
                          <a:spcPts val="0"/>
                        </a:spcAft>
                        <a:buNone/>
                      </a:pPr>
                      <a:r>
                        <a:rPr lang="en-US" sz="1000" u="none" cap="none" strike="noStrike">
                          <a:latin typeface="Arial"/>
                          <a:ea typeface="Arial"/>
                          <a:cs typeface="Arial"/>
                          <a:sym typeface="Arial"/>
                        </a:rPr>
                        <a:t>5</a:t>
                      </a:r>
                      <a:endParaRPr sz="1000" u="none" cap="none" strike="noStrike">
                        <a:latin typeface="Arial"/>
                        <a:ea typeface="Arial"/>
                        <a:cs typeface="Arial"/>
                        <a:sym typeface="Arial"/>
                      </a:endParaRPr>
                    </a:p>
                  </a:txBody>
                  <a:tcPr marT="430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09220" marR="2540" rtl="0" algn="l">
                        <a:lnSpc>
                          <a:spcPct val="103600"/>
                        </a:lnSpc>
                        <a:spcBef>
                          <a:spcPts val="0"/>
                        </a:spcBef>
                        <a:spcAft>
                          <a:spcPts val="0"/>
                        </a:spcAft>
                        <a:buNone/>
                      </a:pPr>
                      <a:r>
                        <a:rPr lang="en-US" sz="1000" u="none" cap="none" strike="noStrike">
                          <a:latin typeface="Arial"/>
                          <a:ea typeface="Arial"/>
                          <a:cs typeface="Arial"/>
                          <a:sym typeface="Arial"/>
                        </a:rPr>
                        <a:t>Check the electrical tilt of the antenna.</a:t>
                      </a:r>
                      <a:endParaRPr sz="1000" u="none" cap="none" strike="noStrike">
                        <a:latin typeface="Arial"/>
                        <a:ea typeface="Arial"/>
                        <a:cs typeface="Arial"/>
                        <a:sym typeface="Arial"/>
                      </a:endParaRPr>
                    </a:p>
                  </a:txBody>
                  <a:tcPr marT="406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81915" marR="0" rtl="0" algn="ctr">
                        <a:lnSpc>
                          <a:spcPct val="100000"/>
                        </a:lnSpc>
                        <a:spcBef>
                          <a:spcPts val="0"/>
                        </a:spcBef>
                        <a:spcAft>
                          <a:spcPts val="0"/>
                        </a:spcAft>
                        <a:buNone/>
                      </a:pPr>
                      <a:r>
                        <a:rPr lang="en-US" sz="1000" u="none" cap="none" strike="noStrike">
                          <a:latin typeface="Arial"/>
                          <a:ea typeface="Arial"/>
                          <a:cs typeface="Arial"/>
                          <a:sym typeface="Arial"/>
                        </a:rPr>
                        <a:t>Yes</a:t>
                      </a:r>
                      <a:endParaRPr sz="1000" u="none" cap="none" strike="noStrike">
                        <a:latin typeface="Arial"/>
                        <a:ea typeface="Arial"/>
                        <a:cs typeface="Arial"/>
                        <a:sym typeface="Arial"/>
                      </a:endParaRPr>
                    </a:p>
                  </a:txBody>
                  <a:tcPr marT="430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91440" marR="0" rtl="0" algn="l">
                        <a:lnSpc>
                          <a:spcPct val="100000"/>
                        </a:lnSpc>
                        <a:spcBef>
                          <a:spcPts val="0"/>
                        </a:spcBef>
                        <a:spcAft>
                          <a:spcPts val="0"/>
                        </a:spcAft>
                        <a:buNone/>
                      </a:pPr>
                      <a:r>
                        <a:rPr lang="en-US" sz="900" u="none" cap="none" strike="noStrike">
                          <a:latin typeface="Arial"/>
                          <a:ea typeface="Arial"/>
                          <a:cs typeface="Arial"/>
                          <a:sym typeface="Arial"/>
                        </a:rPr>
                        <a:t>OK</a:t>
                      </a:r>
                      <a:endParaRPr sz="900" u="none" cap="none" strike="noStrike">
                        <a:latin typeface="Arial"/>
                        <a:ea typeface="Arial"/>
                        <a:cs typeface="Arial"/>
                        <a:sym typeface="Arial"/>
                      </a:endParaRPr>
                    </a:p>
                  </a:txBody>
                  <a:tcPr marT="436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685550">
                <a:tc>
                  <a:txBody>
                    <a:bodyPr/>
                    <a:lstStyle/>
                    <a:p>
                      <a:pPr indent="0" lvl="0" marL="7620" marR="0" rtl="0" algn="ctr">
                        <a:lnSpc>
                          <a:spcPct val="100000"/>
                        </a:lnSpc>
                        <a:spcBef>
                          <a:spcPts val="0"/>
                        </a:spcBef>
                        <a:spcAft>
                          <a:spcPts val="0"/>
                        </a:spcAft>
                        <a:buNone/>
                      </a:pPr>
                      <a:r>
                        <a:rPr lang="en-US" sz="1000" u="none" cap="none" strike="noStrike">
                          <a:latin typeface="Arial"/>
                          <a:ea typeface="Arial"/>
                          <a:cs typeface="Arial"/>
                          <a:sym typeface="Arial"/>
                        </a:rPr>
                        <a:t>6</a:t>
                      </a:r>
                      <a:endParaRPr sz="1000" u="none" cap="none" strike="noStrike">
                        <a:latin typeface="Arial"/>
                        <a:ea typeface="Arial"/>
                        <a:cs typeface="Arial"/>
                        <a:sym typeface="Arial"/>
                      </a:endParaRPr>
                    </a:p>
                  </a:txBody>
                  <a:tcPr marT="436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18745" marR="78105" rtl="0" algn="just">
                        <a:lnSpc>
                          <a:spcPct val="96400"/>
                        </a:lnSpc>
                        <a:spcBef>
                          <a:spcPts val="0"/>
                        </a:spcBef>
                        <a:spcAft>
                          <a:spcPts val="0"/>
                        </a:spcAft>
                        <a:buNone/>
                      </a:pPr>
                      <a:r>
                        <a:rPr lang="en-US" sz="1000" u="none" cap="none" strike="noStrike">
                          <a:latin typeface="Arial"/>
                          <a:ea typeface="Arial"/>
                          <a:cs typeface="Arial"/>
                          <a:sym typeface="Arial"/>
                        </a:rPr>
                        <a:t>Check for site Earthing and connectivity with BBU and RRH etc.</a:t>
                      </a:r>
                      <a:endParaRPr sz="1000" u="none" cap="none" strike="noStrike">
                        <a:latin typeface="Arial"/>
                        <a:ea typeface="Arial"/>
                        <a:cs typeface="Arial"/>
                        <a:sym typeface="Arial"/>
                      </a:endParaRPr>
                    </a:p>
                  </a:txBody>
                  <a:tcPr marT="489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88265" marR="71120" rtl="0" algn="just">
                        <a:lnSpc>
                          <a:spcPct val="106800"/>
                        </a:lnSpc>
                        <a:spcBef>
                          <a:spcPts val="0"/>
                        </a:spcBef>
                        <a:spcAft>
                          <a:spcPts val="0"/>
                        </a:spcAft>
                        <a:buNone/>
                      </a:pPr>
                      <a:r>
                        <a:rPr lang="en-US" sz="1000" u="none" cap="none" strike="noStrike">
                          <a:latin typeface="Arial"/>
                          <a:ea typeface="Arial"/>
                          <a:cs typeface="Arial"/>
                          <a:sym typeface="Arial"/>
                        </a:rPr>
                        <a:t>Use Megger for measuring the earth’s resistance value. The  value  of  earth  to  be measured and the same shall be indicated irrespective of whether  the  earth  was provided by the supplier or not.  Earth resistance value should be   .5 Ohm.</a:t>
                      </a:r>
                      <a:endParaRPr sz="1000" u="none" cap="none" strike="noStrike">
                        <a:latin typeface="Arial"/>
                        <a:ea typeface="Arial"/>
                        <a:cs typeface="Arial"/>
                        <a:sym typeface="Arial"/>
                      </a:endParaRPr>
                    </a:p>
                  </a:txBody>
                  <a:tcPr marT="352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97155" lvl="0" marL="0" marR="259715" rtl="0" algn="l">
                        <a:lnSpc>
                          <a:spcPct val="104700"/>
                        </a:lnSpc>
                        <a:spcBef>
                          <a:spcPts val="0"/>
                        </a:spcBef>
                        <a:spcAft>
                          <a:spcPts val="0"/>
                        </a:spcAft>
                        <a:buNone/>
                      </a:pPr>
                      <a:r>
                        <a:rPr lang="en-US" sz="900" u="none" cap="none" strike="noStrike">
                          <a:latin typeface="Arial"/>
                          <a:ea typeface="Arial"/>
                          <a:cs typeface="Arial"/>
                          <a:sym typeface="Arial"/>
                        </a:rPr>
                        <a:t>Tested Earth value = 0.3 Ohms and Equipment’s, tower earth Continuity checked Ok.</a:t>
                      </a:r>
                      <a:endParaRPr sz="900" u="none" cap="none" strike="noStrike">
                        <a:latin typeface="Arial"/>
                        <a:ea typeface="Arial"/>
                        <a:cs typeface="Arial"/>
                        <a:sym typeface="Arial"/>
                      </a:endParaRPr>
                    </a:p>
                  </a:txBody>
                  <a:tcPr marT="400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89" name="Google Shape;89;p11"/>
          <p:cNvSpPr txBox="1"/>
          <p:nvPr>
            <p:ph idx="11" type="ftr"/>
          </p:nvPr>
        </p:nvSpPr>
        <p:spPr>
          <a:xfrm>
            <a:off x="868476" y="9083316"/>
            <a:ext cx="1681480" cy="182245"/>
          </a:xfrm>
          <a:prstGeom prst="rect">
            <a:avLst/>
          </a:prstGeom>
          <a:noFill/>
          <a:ln>
            <a:noFill/>
          </a:ln>
        </p:spPr>
        <p:txBody>
          <a:bodyPr anchorCtr="0" anchor="t" bIns="0" lIns="0" spcFirstLastPara="1" rIns="0" wrap="square" tIns="0">
            <a:spAutoFit/>
          </a:bodyPr>
          <a:lstStyle/>
          <a:p>
            <a:pPr indent="0" lvl="0" marL="12700" rtl="0" algn="l">
              <a:lnSpc>
                <a:spcPct val="100000"/>
              </a:lnSpc>
              <a:spcBef>
                <a:spcPts val="0"/>
              </a:spcBef>
              <a:spcAft>
                <a:spcPts val="0"/>
              </a:spcAft>
              <a:buNone/>
            </a:pPr>
            <a:r>
              <a:rPr lang="en-US"/>
              <a:t>QAIN-11/31(14)/1/2023-CM</a:t>
            </a:r>
            <a:endParaRPr/>
          </a:p>
        </p:txBody>
      </p:sp>
      <p:sp>
        <p:nvSpPr>
          <p:cNvPr id="90" name="Google Shape;90;p11"/>
          <p:cNvSpPr txBox="1"/>
          <p:nvPr/>
        </p:nvSpPr>
        <p:spPr>
          <a:xfrm>
            <a:off x="685596" y="376781"/>
            <a:ext cx="2286204" cy="370999"/>
          </a:xfrm>
          <a:prstGeom prst="rect">
            <a:avLst/>
          </a:prstGeom>
          <a:noFill/>
          <a:ln>
            <a:noFill/>
          </a:ln>
        </p:spPr>
        <p:txBody>
          <a:bodyPr anchorCtr="0" anchor="t" bIns="0" lIns="0" spcFirstLastPara="1" rIns="0" wrap="square" tIns="12050">
            <a:spAutoFit/>
          </a:bodyPr>
          <a:lstStyle/>
          <a:p>
            <a:pPr indent="254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QA &amp; INSPECTION CIRCLE KL 	</a:t>
            </a:r>
            <a:endParaRPr sz="1100">
              <a:solidFill>
                <a:schemeClr val="dk1"/>
              </a:solidFill>
              <a:latin typeface="Arial"/>
              <a:ea typeface="Arial"/>
              <a:cs typeface="Arial"/>
              <a:sym typeface="Arial"/>
            </a:endParaRPr>
          </a:p>
        </p:txBody>
      </p:sp>
      <p:sp>
        <p:nvSpPr>
          <p:cNvPr id="91" name="Google Shape;91;p11"/>
          <p:cNvSpPr txBox="1"/>
          <p:nvPr/>
        </p:nvSpPr>
        <p:spPr>
          <a:xfrm>
            <a:off x="5249926" y="414883"/>
            <a:ext cx="1609725" cy="379095"/>
          </a:xfrm>
          <a:prstGeom prst="rect">
            <a:avLst/>
          </a:prstGeom>
          <a:noFill/>
          <a:ln>
            <a:noFill/>
          </a:ln>
        </p:spPr>
        <p:txBody>
          <a:bodyPr anchorCtr="0" anchor="t" bIns="0" lIns="0" spcFirstLastPara="1" rIns="0" wrap="square" tIns="12050">
            <a:spAutoFit/>
          </a:bodyPr>
          <a:lstStyle/>
          <a:p>
            <a:pPr indent="61595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4G PHASE IX.2  eNode-B A/T SCHEDULE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2"/>
          <p:cNvSpPr txBox="1"/>
          <p:nvPr/>
        </p:nvSpPr>
        <p:spPr>
          <a:xfrm>
            <a:off x="1321236" y="1195300"/>
            <a:ext cx="3314374" cy="171337"/>
          </a:xfrm>
          <a:prstGeom prst="rect">
            <a:avLst/>
          </a:prstGeom>
          <a:noFill/>
          <a:ln>
            <a:noFill/>
          </a:ln>
        </p:spPr>
        <p:txBody>
          <a:bodyPr anchorCtr="0" anchor="t" bIns="0" lIns="0" spcFirstLastPara="1" rIns="0" wrap="square" tIns="11925">
            <a:spAutoFit/>
          </a:bodyPr>
          <a:lstStyle/>
          <a:p>
            <a:pPr indent="0" lvl="0" marL="11946" marR="0" rtl="0" algn="l">
              <a:spcBef>
                <a:spcPts val="0"/>
              </a:spcBef>
              <a:spcAft>
                <a:spcPts val="0"/>
              </a:spcAft>
              <a:buNone/>
            </a:pPr>
            <a:r>
              <a:rPr lang="en-US" sz="1035">
                <a:solidFill>
                  <a:schemeClr val="dk1"/>
                </a:solidFill>
                <a:latin typeface="Arial"/>
                <a:ea typeface="Arial"/>
                <a:cs typeface="Arial"/>
                <a:sym typeface="Arial"/>
              </a:rPr>
              <a:t>1. </a:t>
            </a:r>
            <a:r>
              <a:rPr b="1" lang="en-US" sz="1035">
                <a:solidFill>
                  <a:schemeClr val="dk1"/>
                </a:solidFill>
                <a:latin typeface="Arial"/>
                <a:ea typeface="Arial"/>
                <a:cs typeface="Arial"/>
                <a:sym typeface="Arial"/>
              </a:rPr>
              <a:t>System Related Test: (As per planning document)</a:t>
            </a:r>
            <a:endParaRPr sz="1035">
              <a:solidFill>
                <a:schemeClr val="dk1"/>
              </a:solidFill>
              <a:latin typeface="Arial"/>
              <a:ea typeface="Arial"/>
              <a:cs typeface="Arial"/>
              <a:sym typeface="Arial"/>
            </a:endParaRPr>
          </a:p>
        </p:txBody>
      </p:sp>
      <p:graphicFrame>
        <p:nvGraphicFramePr>
          <p:cNvPr id="97" name="Google Shape;97;p12"/>
          <p:cNvGraphicFramePr/>
          <p:nvPr/>
        </p:nvGraphicFramePr>
        <p:xfrm>
          <a:off x="1004417" y="1600200"/>
          <a:ext cx="3000000" cy="3000000"/>
        </p:xfrm>
        <a:graphic>
          <a:graphicData uri="http://schemas.openxmlformats.org/drawingml/2006/table">
            <a:tbl>
              <a:tblPr bandRow="1" firstRow="1">
                <a:noFill/>
                <a:tableStyleId>{FBDFD955-5028-4EC1-B6FB-75A9DF07899A}</a:tableStyleId>
              </a:tblPr>
              <a:tblGrid>
                <a:gridCol w="912075"/>
                <a:gridCol w="2045125"/>
                <a:gridCol w="1660475"/>
                <a:gridCol w="1643125"/>
              </a:tblGrid>
              <a:tr h="101600">
                <a:tc>
                  <a:txBody>
                    <a:bodyPr/>
                    <a:lstStyle/>
                    <a:p>
                      <a:pPr indent="0" lvl="0" marL="5715" marR="0" rtl="0" algn="l">
                        <a:lnSpc>
                          <a:spcPct val="100000"/>
                        </a:lnSpc>
                        <a:spcBef>
                          <a:spcPts val="0"/>
                        </a:spcBef>
                        <a:spcAft>
                          <a:spcPts val="0"/>
                        </a:spcAft>
                        <a:buNone/>
                      </a:pPr>
                      <a:r>
                        <a:rPr b="1" lang="en-US" sz="800" u="none" cap="none" strike="noStrike">
                          <a:latin typeface="Arial"/>
                          <a:ea typeface="Arial"/>
                          <a:cs typeface="Arial"/>
                          <a:sym typeface="Arial"/>
                        </a:rPr>
                        <a:t>S.No</a:t>
                      </a:r>
                      <a:endParaRPr sz="800" u="none" cap="none" strike="noStrike">
                        <a:latin typeface="Arial"/>
                        <a:ea typeface="Arial"/>
                        <a:cs typeface="Arial"/>
                        <a:sym typeface="Arial"/>
                      </a:endParaRPr>
                    </a:p>
                  </a:txBody>
                  <a:tcPr marT="1015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540" marR="0" rtl="0" algn="l">
                        <a:lnSpc>
                          <a:spcPct val="100000"/>
                        </a:lnSpc>
                        <a:spcBef>
                          <a:spcPts val="0"/>
                        </a:spcBef>
                        <a:spcAft>
                          <a:spcPts val="0"/>
                        </a:spcAft>
                        <a:buNone/>
                      </a:pPr>
                      <a:r>
                        <a:rPr b="1" lang="en-US" sz="800" u="none" cap="none" strike="noStrike">
                          <a:latin typeface="Arial"/>
                          <a:ea typeface="Arial"/>
                          <a:cs typeface="Arial"/>
                          <a:sym typeface="Arial"/>
                        </a:rPr>
                        <a:t>TEST DESCRIPTION</a:t>
                      </a:r>
                      <a:endParaRPr sz="800" u="none" cap="none" strike="noStrike">
                        <a:latin typeface="Arial"/>
                        <a:ea typeface="Arial"/>
                        <a:cs typeface="Arial"/>
                        <a:sym typeface="Arial"/>
                      </a:endParaRPr>
                    </a:p>
                  </a:txBody>
                  <a:tcPr marT="1015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97155" marR="0" rtl="0" algn="l">
                        <a:lnSpc>
                          <a:spcPct val="100000"/>
                        </a:lnSpc>
                        <a:spcBef>
                          <a:spcPts val="0"/>
                        </a:spcBef>
                        <a:spcAft>
                          <a:spcPts val="0"/>
                        </a:spcAft>
                        <a:buNone/>
                      </a:pPr>
                      <a:r>
                        <a:rPr b="1" lang="en-US" sz="800" u="none" cap="none" strike="noStrike">
                          <a:latin typeface="Arial"/>
                          <a:ea typeface="Arial"/>
                          <a:cs typeface="Arial"/>
                          <a:sym typeface="Arial"/>
                        </a:rPr>
                        <a:t>REFERENCE</a:t>
                      </a:r>
                      <a:endParaRPr sz="800" u="none" cap="none" strike="noStrike">
                        <a:latin typeface="Arial"/>
                        <a:ea typeface="Arial"/>
                        <a:cs typeface="Arial"/>
                        <a:sym typeface="Arial"/>
                      </a:endParaRPr>
                    </a:p>
                    <a:p>
                      <a:pPr indent="0" lvl="0" marL="73025" marR="0" rtl="0" algn="l">
                        <a:lnSpc>
                          <a:spcPct val="100000"/>
                        </a:lnSpc>
                        <a:spcBef>
                          <a:spcPts val="240"/>
                        </a:spcBef>
                        <a:spcAft>
                          <a:spcPts val="0"/>
                        </a:spcAft>
                        <a:buNone/>
                      </a:pPr>
                      <a:r>
                        <a:rPr b="1" lang="en-US" sz="800" u="none" cap="none" strike="noStrike">
                          <a:latin typeface="Arial"/>
                          <a:ea typeface="Arial"/>
                          <a:cs typeface="Arial"/>
                          <a:sym typeface="Arial"/>
                        </a:rPr>
                        <a:t>/ PROCEDURE</a:t>
                      </a:r>
                      <a:endParaRPr sz="800" u="none" cap="none" strike="noStrike">
                        <a:latin typeface="Arial"/>
                        <a:ea typeface="Arial"/>
                        <a:cs typeface="Arial"/>
                        <a:sym typeface="Arial"/>
                      </a:endParaRPr>
                    </a:p>
                  </a:txBody>
                  <a:tcPr marT="268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810" marR="0" rtl="0" algn="ctr">
                        <a:lnSpc>
                          <a:spcPct val="127374"/>
                        </a:lnSpc>
                        <a:spcBef>
                          <a:spcPts val="0"/>
                        </a:spcBef>
                        <a:spcAft>
                          <a:spcPts val="0"/>
                        </a:spcAft>
                        <a:buNone/>
                      </a:pPr>
                      <a:r>
                        <a:rPr b="1" lang="en-US" sz="800" u="none" cap="none" strike="noStrike">
                          <a:latin typeface="Arial"/>
                          <a:ea typeface="Arial"/>
                          <a:cs typeface="Arial"/>
                          <a:sym typeface="Arial"/>
                        </a:rPr>
                        <a:t>REMARK</a:t>
                      </a:r>
                      <a:endParaRPr sz="8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166325">
                <a:tc>
                  <a:txBody>
                    <a:bodyPr/>
                    <a:lstStyle/>
                    <a:p>
                      <a:pPr indent="0" lvl="0" marL="0" marR="0" rtl="0" algn="l">
                        <a:lnSpc>
                          <a:spcPct val="100000"/>
                        </a:lnSpc>
                        <a:spcBef>
                          <a:spcPts val="0"/>
                        </a:spcBef>
                        <a:spcAft>
                          <a:spcPts val="0"/>
                        </a:spcAft>
                        <a:buNone/>
                      </a:pPr>
                      <a:r>
                        <a:t/>
                      </a:r>
                      <a:endParaRPr sz="800" u="none" cap="none" strike="noStrike">
                        <a:latin typeface="Times New Roman"/>
                        <a:ea typeface="Times New Roman"/>
                        <a:cs typeface="Times New Roman"/>
                        <a:sym typeface="Times New Roman"/>
                      </a:endParaRPr>
                    </a:p>
                    <a:p>
                      <a:pPr indent="0" lvl="0" marL="0" marR="0" rtl="0" algn="l">
                        <a:lnSpc>
                          <a:spcPct val="100000"/>
                        </a:lnSpc>
                        <a:spcBef>
                          <a:spcPts val="100"/>
                        </a:spcBef>
                        <a:spcAft>
                          <a:spcPts val="0"/>
                        </a:spcAft>
                        <a:buNone/>
                      </a:pPr>
                      <a:r>
                        <a:t/>
                      </a:r>
                      <a:endParaRPr sz="800" u="none" cap="none" strike="noStrike">
                        <a:latin typeface="Times New Roman"/>
                        <a:ea typeface="Times New Roman"/>
                        <a:cs typeface="Times New Roman"/>
                        <a:sym typeface="Times New Roman"/>
                      </a:endParaRPr>
                    </a:p>
                    <a:p>
                      <a:pPr indent="0" lvl="0" marL="5715" marR="0" rtl="0" algn="l">
                        <a:lnSpc>
                          <a:spcPct val="100000"/>
                        </a:lnSpc>
                        <a:spcBef>
                          <a:spcPts val="0"/>
                        </a:spcBef>
                        <a:spcAft>
                          <a:spcPts val="0"/>
                        </a:spcAft>
                        <a:buNone/>
                      </a:pPr>
                      <a:r>
                        <a:rPr lang="en-US" sz="800" u="none" cap="none" strike="noStrike">
                          <a:latin typeface="Arial"/>
                          <a:ea typeface="Arial"/>
                          <a:cs typeface="Arial"/>
                          <a:sym typeface="Arial"/>
                        </a:rPr>
                        <a:t>1.1</a:t>
                      </a:r>
                      <a:endParaRPr sz="8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800" u="none" cap="none" strike="noStrike">
                        <a:latin typeface="Times New Roman"/>
                        <a:ea typeface="Times New Roman"/>
                        <a:cs typeface="Times New Roman"/>
                        <a:sym typeface="Times New Roman"/>
                      </a:endParaRPr>
                    </a:p>
                    <a:p>
                      <a:pPr indent="0" lvl="0" marL="0" marR="0" rtl="0" algn="l">
                        <a:lnSpc>
                          <a:spcPct val="100000"/>
                        </a:lnSpc>
                        <a:spcBef>
                          <a:spcPts val="100"/>
                        </a:spcBef>
                        <a:spcAft>
                          <a:spcPts val="0"/>
                        </a:spcAft>
                        <a:buNone/>
                      </a:pPr>
                      <a:r>
                        <a:t/>
                      </a:r>
                      <a:endParaRPr sz="800" u="none" cap="none" strike="noStrike">
                        <a:latin typeface="Times New Roman"/>
                        <a:ea typeface="Times New Roman"/>
                        <a:cs typeface="Times New Roman"/>
                        <a:sym typeface="Times New Roman"/>
                      </a:endParaRPr>
                    </a:p>
                    <a:p>
                      <a:pPr indent="0" lvl="0" marL="2540" marR="0" rtl="0" algn="l">
                        <a:lnSpc>
                          <a:spcPct val="100000"/>
                        </a:lnSpc>
                        <a:spcBef>
                          <a:spcPts val="0"/>
                        </a:spcBef>
                        <a:spcAft>
                          <a:spcPts val="0"/>
                        </a:spcAft>
                        <a:buNone/>
                      </a:pPr>
                      <a:r>
                        <a:rPr lang="en-US" sz="1100" u="none" cap="none" strike="noStrike">
                          <a:latin typeface="Arial"/>
                          <a:ea typeface="Arial"/>
                          <a:cs typeface="Arial"/>
                          <a:sym typeface="Arial"/>
                        </a:rPr>
                        <a:t>Hardware conformity check.</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73025" marR="50165" rtl="0" algn="just">
                        <a:lnSpc>
                          <a:spcPct val="93636"/>
                        </a:lnSpc>
                        <a:spcBef>
                          <a:spcPts val="0"/>
                        </a:spcBef>
                        <a:spcAft>
                          <a:spcPts val="0"/>
                        </a:spcAft>
                        <a:buNone/>
                      </a:pPr>
                      <a:r>
                        <a:rPr lang="en-US" sz="1100" u="none" cap="none" strike="noStrike">
                          <a:latin typeface="Arial"/>
                          <a:ea typeface="Arial"/>
                          <a:cs typeface="Arial"/>
                          <a:sym typeface="Arial"/>
                        </a:rPr>
                        <a:t>Verify  the  HW  details  as deployed on the site.  As per vetted BoM.</a:t>
                      </a:r>
                      <a:endParaRPr sz="1100" u="none" cap="none" strike="noStrike">
                        <a:latin typeface="Arial"/>
                        <a:ea typeface="Arial"/>
                        <a:cs typeface="Arial"/>
                        <a:sym typeface="Arial"/>
                      </a:endParaRPr>
                    </a:p>
                  </a:txBody>
                  <a:tcPr marT="358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1269" lvl="0" marL="63500" marR="52705" rtl="0" algn="l">
                        <a:lnSpc>
                          <a:spcPct val="96000"/>
                        </a:lnSpc>
                        <a:spcBef>
                          <a:spcPts val="0"/>
                        </a:spcBef>
                        <a:spcAft>
                          <a:spcPts val="0"/>
                        </a:spcAft>
                        <a:buNone/>
                      </a:pPr>
                      <a:r>
                        <a:rPr b="1" lang="en-US" sz="800" u="none" cap="none" strike="noStrike">
                          <a:latin typeface="Arial"/>
                          <a:ea typeface="Arial"/>
                          <a:cs typeface="Arial"/>
                          <a:sym typeface="Arial"/>
                        </a:rPr>
                        <a:t>BBU-1,</a:t>
                      </a:r>
                      <a:endParaRPr/>
                    </a:p>
                    <a:p>
                      <a:pPr indent="1269" lvl="0" marL="63500" marR="52705" rtl="0" algn="l">
                        <a:lnSpc>
                          <a:spcPct val="96000"/>
                        </a:lnSpc>
                        <a:spcBef>
                          <a:spcPts val="980"/>
                        </a:spcBef>
                        <a:spcAft>
                          <a:spcPts val="0"/>
                        </a:spcAft>
                        <a:buNone/>
                      </a:pPr>
                      <a:r>
                        <a:rPr b="1" lang="en-US" sz="800" u="none" cap="none" strike="noStrike">
                          <a:latin typeface="Arial"/>
                          <a:ea typeface="Arial"/>
                          <a:cs typeface="Arial"/>
                          <a:sym typeface="Arial"/>
                        </a:rPr>
                        <a:t>RRH-3</a:t>
                      </a:r>
                      <a:endParaRPr/>
                    </a:p>
                    <a:p>
                      <a:pPr indent="1269" lvl="0" marL="63500" marR="52705" rtl="0" algn="l">
                        <a:lnSpc>
                          <a:spcPct val="96000"/>
                        </a:lnSpc>
                        <a:spcBef>
                          <a:spcPts val="980"/>
                        </a:spcBef>
                        <a:spcAft>
                          <a:spcPts val="0"/>
                        </a:spcAft>
                        <a:buNone/>
                      </a:pPr>
                      <a:r>
                        <a:rPr b="1" lang="en-US" sz="800" u="none" cap="none" strike="noStrike">
                          <a:latin typeface="Arial"/>
                          <a:ea typeface="Arial"/>
                          <a:cs typeface="Arial"/>
                          <a:sym typeface="Arial"/>
                        </a:rPr>
                        <a:t>CPRI LENTH(M)-60*3 </a:t>
                      </a:r>
                      <a:endParaRPr/>
                    </a:p>
                    <a:p>
                      <a:pPr indent="1269" lvl="0" marL="63500" marR="52705" rtl="0" algn="l">
                        <a:lnSpc>
                          <a:spcPct val="96000"/>
                        </a:lnSpc>
                        <a:spcBef>
                          <a:spcPts val="980"/>
                        </a:spcBef>
                        <a:spcAft>
                          <a:spcPts val="0"/>
                        </a:spcAft>
                        <a:buNone/>
                      </a:pPr>
                      <a:r>
                        <a:rPr b="1" lang="en-US" sz="800" u="none" cap="none" strike="noStrike">
                          <a:latin typeface="Arial"/>
                          <a:ea typeface="Arial"/>
                          <a:cs typeface="Arial"/>
                          <a:sym typeface="Arial"/>
                        </a:rPr>
                        <a:t>POWER CABLE(M)55M</a:t>
                      </a:r>
                      <a:endParaRPr b="1" sz="800" u="none" cap="none" strike="noStrike">
                        <a:latin typeface="Arial"/>
                        <a:ea typeface="Arial"/>
                        <a:cs typeface="Arial"/>
                        <a:sym typeface="Arial"/>
                      </a:endParaRPr>
                    </a:p>
                    <a:p>
                      <a:pPr indent="1269" lvl="0" marL="63500" marR="52705" rtl="0" algn="l">
                        <a:lnSpc>
                          <a:spcPct val="96000"/>
                        </a:lnSpc>
                        <a:spcBef>
                          <a:spcPts val="980"/>
                        </a:spcBef>
                        <a:spcAft>
                          <a:spcPts val="0"/>
                        </a:spcAft>
                        <a:buNone/>
                      </a:pPr>
                      <a:r>
                        <a:rPr b="1" lang="en-US" sz="800" u="none" cap="none" strike="noStrike">
                          <a:latin typeface="Arial"/>
                          <a:ea typeface="Arial"/>
                          <a:cs typeface="Arial"/>
                          <a:sym typeface="Arial"/>
                        </a:rPr>
                        <a:t>DCDB POWER CABLE(M)-20M</a:t>
                      </a:r>
                      <a:endParaRPr b="1" sz="800" u="none" cap="none" strike="noStrike">
                        <a:latin typeface="Arial"/>
                        <a:ea typeface="Arial"/>
                        <a:cs typeface="Arial"/>
                        <a:sym typeface="Arial"/>
                      </a:endParaRPr>
                    </a:p>
                    <a:p>
                      <a:pPr indent="1269" lvl="0" marL="63500" marR="52705" rtl="0" algn="l">
                        <a:lnSpc>
                          <a:spcPct val="96000"/>
                        </a:lnSpc>
                        <a:spcBef>
                          <a:spcPts val="980"/>
                        </a:spcBef>
                        <a:spcAft>
                          <a:spcPts val="0"/>
                        </a:spcAft>
                        <a:buNone/>
                      </a:pPr>
                      <a:r>
                        <a:rPr b="1" lang="en-US" sz="800" u="none" cap="none" strike="noStrike">
                          <a:latin typeface="Arial"/>
                          <a:ea typeface="Arial"/>
                          <a:cs typeface="Arial"/>
                          <a:sym typeface="Arial"/>
                        </a:rPr>
                        <a:t>EARTHING CABLE(M)-15M</a:t>
                      </a:r>
                      <a:endParaRPr b="1" sz="800" u="none" cap="none" strike="noStrike">
                        <a:latin typeface="Arial"/>
                        <a:ea typeface="Arial"/>
                        <a:cs typeface="Arial"/>
                        <a:sym typeface="Arial"/>
                      </a:endParaRPr>
                    </a:p>
                    <a:p>
                      <a:pPr indent="1269" lvl="0" marL="63500" marR="52705" rtl="0" algn="l">
                        <a:lnSpc>
                          <a:spcPct val="96000"/>
                        </a:lnSpc>
                        <a:spcBef>
                          <a:spcPts val="980"/>
                        </a:spcBef>
                        <a:spcAft>
                          <a:spcPts val="0"/>
                        </a:spcAft>
                        <a:buNone/>
                      </a:pPr>
                      <a:r>
                        <a:rPr b="1" lang="en-US" sz="800" u="none" cap="none" strike="noStrike">
                          <a:latin typeface="Arial"/>
                          <a:ea typeface="Arial"/>
                          <a:cs typeface="Arial"/>
                          <a:sym typeface="Arial"/>
                        </a:rPr>
                        <a:t>GSM ANTENNA-10 PORT*3</a:t>
                      </a:r>
                      <a:endParaRPr b="1" sz="800" u="none" cap="none" strike="noStrike">
                        <a:latin typeface="Arial"/>
                        <a:ea typeface="Arial"/>
                        <a:cs typeface="Arial"/>
                        <a:sym typeface="Arial"/>
                      </a:endParaRPr>
                    </a:p>
                  </a:txBody>
                  <a:tcPr marT="1170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802000">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p>
                      <a:pPr indent="0" lvl="0" marL="73025" marR="0" rtl="0" algn="l">
                        <a:lnSpc>
                          <a:spcPct val="100000"/>
                        </a:lnSpc>
                        <a:spcBef>
                          <a:spcPts val="0"/>
                        </a:spcBef>
                        <a:spcAft>
                          <a:spcPts val="0"/>
                        </a:spcAft>
                        <a:buNone/>
                      </a:pPr>
                      <a:r>
                        <a:rPr lang="en-US" sz="900" u="none" cap="none" strike="noStrike">
                          <a:latin typeface="Arial"/>
                          <a:ea typeface="Arial"/>
                          <a:cs typeface="Arial"/>
                          <a:sym typeface="Arial"/>
                        </a:rPr>
                        <a:t>1.2</a:t>
                      </a:r>
                      <a:endParaRPr sz="900" u="none" cap="none" strike="noStrike">
                        <a:latin typeface="Arial"/>
                        <a:ea typeface="Arial"/>
                        <a:cs typeface="Arial"/>
                        <a:sym typeface="Arial"/>
                      </a:endParaRPr>
                    </a:p>
                  </a:txBody>
                  <a:tcPr marT="1045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p>
                      <a:pPr indent="0" lvl="0" marL="69850" marR="0" rtl="0" algn="l">
                        <a:lnSpc>
                          <a:spcPct val="100000"/>
                        </a:lnSpc>
                        <a:spcBef>
                          <a:spcPts val="0"/>
                        </a:spcBef>
                        <a:spcAft>
                          <a:spcPts val="0"/>
                        </a:spcAft>
                        <a:buNone/>
                      </a:pPr>
                      <a:r>
                        <a:rPr lang="en-US" sz="1100" u="none" cap="none" strike="noStrike">
                          <a:latin typeface="Arial"/>
                          <a:ea typeface="Arial"/>
                          <a:cs typeface="Arial"/>
                          <a:sym typeface="Arial"/>
                        </a:rPr>
                        <a:t>eNode-B software version.</a:t>
                      </a:r>
                      <a:endParaRPr sz="1100" u="none" cap="none" strike="noStrike">
                        <a:latin typeface="Arial"/>
                        <a:ea typeface="Arial"/>
                        <a:cs typeface="Arial"/>
                        <a:sym typeface="Arial"/>
                      </a:endParaRPr>
                    </a:p>
                  </a:txBody>
                  <a:tcPr marT="1045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73025" marR="49530" rtl="0" algn="just">
                        <a:lnSpc>
                          <a:spcPct val="96100"/>
                        </a:lnSpc>
                        <a:spcBef>
                          <a:spcPts val="0"/>
                        </a:spcBef>
                        <a:spcAft>
                          <a:spcPts val="0"/>
                        </a:spcAft>
                        <a:buNone/>
                      </a:pPr>
                      <a:r>
                        <a:rPr lang="en-US" sz="1100" u="none" cap="none" strike="noStrike">
                          <a:latin typeface="Arial"/>
                          <a:ea typeface="Arial"/>
                          <a:cs typeface="Arial"/>
                          <a:sym typeface="Arial"/>
                        </a:rPr>
                        <a:t>SW version to be filled from EMS and should be as per document approved by the planning wing.</a:t>
                      </a:r>
                      <a:endParaRPr sz="1100" u="none" cap="none" strike="noStrike">
                        <a:latin typeface="Arial"/>
                        <a:ea typeface="Arial"/>
                        <a:cs typeface="Arial"/>
                        <a:sym typeface="Arial"/>
                      </a:endParaRPr>
                    </a:p>
                  </a:txBody>
                  <a:tcPr marT="322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25000"/>
                        </a:lnSpc>
                        <a:spcBef>
                          <a:spcPts val="0"/>
                        </a:spcBef>
                        <a:spcAft>
                          <a:spcPts val="0"/>
                        </a:spcAft>
                        <a:buNone/>
                      </a:pPr>
                      <a:r>
                        <a:rPr lang="en-US" sz="900" u="none" cap="none" strike="noStrike">
                          <a:latin typeface="Arial"/>
                          <a:ea typeface="Arial"/>
                          <a:cs typeface="Arial"/>
                          <a:sym typeface="Arial"/>
                        </a:rPr>
                        <a:t>RAC:</a:t>
                      </a:r>
                      <a:endParaRPr sz="900" u="none" cap="none" strike="noStrike">
                        <a:latin typeface="Arial"/>
                        <a:ea typeface="Arial"/>
                        <a:cs typeface="Arial"/>
                        <a:sym typeface="Arial"/>
                      </a:endParaRPr>
                    </a:p>
                    <a:p>
                      <a:pPr indent="0" lvl="0" marL="17780" marR="12700" rtl="0" algn="ctr">
                        <a:lnSpc>
                          <a:spcPct val="128888"/>
                        </a:lnSpc>
                        <a:spcBef>
                          <a:spcPts val="35"/>
                        </a:spcBef>
                        <a:spcAft>
                          <a:spcPts val="0"/>
                        </a:spcAft>
                        <a:buNone/>
                      </a:pPr>
                      <a:r>
                        <a:rPr lang="en-US" sz="900" u="none" cap="none" strike="noStrike">
                          <a:latin typeface="Arial"/>
                          <a:ea typeface="Arial"/>
                          <a:cs typeface="Arial"/>
                          <a:sym typeface="Arial"/>
                        </a:rPr>
                        <a:t>rac_sw_package_R14Rel_447_I_025_003 CEF:</a:t>
                      </a:r>
                      <a:endParaRPr sz="900" u="none" cap="none" strike="noStrike">
                        <a:latin typeface="Arial"/>
                        <a:ea typeface="Arial"/>
                        <a:cs typeface="Arial"/>
                        <a:sym typeface="Arial"/>
                      </a:endParaRPr>
                    </a:p>
                    <a:p>
                      <a:pPr indent="0" lvl="0" marL="0" marR="0" rtl="0" algn="ctr">
                        <a:lnSpc>
                          <a:spcPct val="121111"/>
                        </a:lnSpc>
                        <a:spcBef>
                          <a:spcPts val="0"/>
                        </a:spcBef>
                        <a:spcAft>
                          <a:spcPts val="0"/>
                        </a:spcAft>
                        <a:buNone/>
                      </a:pPr>
                      <a:r>
                        <a:rPr lang="en-US" sz="900" u="none" cap="none" strike="noStrike">
                          <a:latin typeface="Arial"/>
                          <a:ea typeface="Arial"/>
                          <a:cs typeface="Arial"/>
                          <a:sym typeface="Arial"/>
                        </a:rPr>
                        <a:t>REL_10_0_13_a79_51_6_</a:t>
                      </a:r>
                      <a:endParaRPr sz="900" u="none" cap="none" strike="noStrike">
                        <a:latin typeface="Arial"/>
                        <a:ea typeface="Arial"/>
                        <a:cs typeface="Arial"/>
                        <a:sym typeface="Arial"/>
                      </a:endParaRPr>
                    </a:p>
                    <a:p>
                      <a:pPr indent="0" lvl="0" marL="3810" marR="0" rtl="0" algn="ctr">
                        <a:lnSpc>
                          <a:spcPct val="123888"/>
                        </a:lnSpc>
                        <a:spcBef>
                          <a:spcPts val="0"/>
                        </a:spcBef>
                        <a:spcAft>
                          <a:spcPts val="0"/>
                        </a:spcAft>
                        <a:buNone/>
                      </a:pPr>
                      <a:r>
                        <a:rPr lang="en-US" sz="900" u="none" cap="none" strike="noStrike">
                          <a:latin typeface="Arial"/>
                          <a:ea typeface="Arial"/>
                          <a:cs typeface="Arial"/>
                          <a:sym typeface="Arial"/>
                        </a:rPr>
                        <a:t>5</a:t>
                      </a:r>
                      <a:endParaRPr sz="9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76100">
                <a:tc>
                  <a:txBody>
                    <a:bodyPr/>
                    <a:lstStyle/>
                    <a:p>
                      <a:pPr indent="0" lvl="0" marL="73025" marR="0" rtl="0" algn="l">
                        <a:lnSpc>
                          <a:spcPct val="100000"/>
                        </a:lnSpc>
                        <a:spcBef>
                          <a:spcPts val="0"/>
                        </a:spcBef>
                        <a:spcAft>
                          <a:spcPts val="0"/>
                        </a:spcAft>
                        <a:buNone/>
                      </a:pPr>
                      <a:r>
                        <a:rPr lang="en-US" sz="900" u="none" cap="none" strike="noStrike">
                          <a:latin typeface="Arial"/>
                          <a:ea typeface="Arial"/>
                          <a:cs typeface="Arial"/>
                          <a:sym typeface="Arial"/>
                        </a:rPr>
                        <a:t>1.3</a:t>
                      </a:r>
                      <a:endParaRPr sz="900" u="none" cap="none" strike="noStrike">
                        <a:latin typeface="Arial"/>
                        <a:ea typeface="Arial"/>
                        <a:cs typeface="Arial"/>
                        <a:sym typeface="Arial"/>
                      </a:endParaRPr>
                    </a:p>
                  </a:txBody>
                  <a:tcPr marT="466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9850" marR="0" rtl="0" algn="l">
                        <a:lnSpc>
                          <a:spcPct val="100000"/>
                        </a:lnSpc>
                        <a:spcBef>
                          <a:spcPts val="0"/>
                        </a:spcBef>
                        <a:spcAft>
                          <a:spcPts val="0"/>
                        </a:spcAft>
                        <a:buNone/>
                      </a:pPr>
                      <a:r>
                        <a:rPr lang="en-US" sz="900" u="none" cap="none" strike="noStrike">
                          <a:latin typeface="Arial"/>
                          <a:ea typeface="Arial"/>
                          <a:cs typeface="Arial"/>
                          <a:sym typeface="Arial"/>
                        </a:rPr>
                        <a:t>Check EMS integration.</a:t>
                      </a:r>
                      <a:endParaRPr sz="900" u="none" cap="none" strike="noStrike">
                        <a:latin typeface="Arial"/>
                        <a:ea typeface="Arial"/>
                        <a:cs typeface="Arial"/>
                        <a:sym typeface="Arial"/>
                      </a:endParaRPr>
                    </a:p>
                  </a:txBody>
                  <a:tcPr marT="29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5080" marR="0" rtl="0" algn="ctr">
                        <a:lnSpc>
                          <a:spcPct val="128888"/>
                        </a:lnSpc>
                        <a:spcBef>
                          <a:spcPts val="0"/>
                        </a:spcBef>
                        <a:spcAft>
                          <a:spcPts val="0"/>
                        </a:spcAft>
                        <a:buNone/>
                      </a:pPr>
                      <a:r>
                        <a:rPr lang="en-US" sz="900" u="none" cap="none" strike="noStrike">
                          <a:latin typeface="Arial"/>
                          <a:ea typeface="Arial"/>
                          <a:cs typeface="Arial"/>
                          <a:sym typeface="Arial"/>
                        </a:rPr>
                        <a:t>OK/NOK</a:t>
                      </a:r>
                      <a:endParaRPr sz="9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350" marR="0" rtl="0" algn="ctr">
                        <a:lnSpc>
                          <a:spcPct val="128888"/>
                        </a:lnSpc>
                        <a:spcBef>
                          <a:spcPts val="0"/>
                        </a:spcBef>
                        <a:spcAft>
                          <a:spcPts val="0"/>
                        </a:spcAft>
                        <a:buNone/>
                      </a:pPr>
                      <a:r>
                        <a:rPr lang="en-US" sz="900" u="none" cap="none" strike="noStrike">
                          <a:latin typeface="Arial"/>
                          <a:ea typeface="Arial"/>
                          <a:cs typeface="Arial"/>
                          <a:sym typeface="Arial"/>
                        </a:rPr>
                        <a:t>OK </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78975">
                <a:tc>
                  <a:txBody>
                    <a:bodyPr/>
                    <a:lstStyle/>
                    <a:p>
                      <a:pPr indent="0" lvl="0" marL="73025" marR="0" rtl="0" algn="l">
                        <a:lnSpc>
                          <a:spcPct val="100000"/>
                        </a:lnSpc>
                        <a:spcBef>
                          <a:spcPts val="0"/>
                        </a:spcBef>
                        <a:spcAft>
                          <a:spcPts val="0"/>
                        </a:spcAft>
                        <a:buNone/>
                      </a:pPr>
                      <a:r>
                        <a:rPr lang="en-US" sz="900" u="none" cap="none" strike="noStrike">
                          <a:latin typeface="Arial"/>
                          <a:ea typeface="Arial"/>
                          <a:cs typeface="Arial"/>
                          <a:sym typeface="Arial"/>
                        </a:rPr>
                        <a:t>1.4</a:t>
                      </a:r>
                      <a:endParaRPr sz="900" u="none" cap="none" strike="noStrike">
                        <a:latin typeface="Arial"/>
                        <a:ea typeface="Arial"/>
                        <a:cs typeface="Arial"/>
                        <a:sym typeface="Arial"/>
                      </a:endParaRPr>
                    </a:p>
                  </a:txBody>
                  <a:tcPr marT="495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9850" marR="0" rtl="0" algn="l">
                        <a:lnSpc>
                          <a:spcPct val="100000"/>
                        </a:lnSpc>
                        <a:spcBef>
                          <a:spcPts val="0"/>
                        </a:spcBef>
                        <a:spcAft>
                          <a:spcPts val="0"/>
                        </a:spcAft>
                        <a:buNone/>
                      </a:pPr>
                      <a:r>
                        <a:rPr lang="en-US" sz="900" u="none" cap="none" strike="noStrike">
                          <a:latin typeface="Arial"/>
                          <a:ea typeface="Arial"/>
                          <a:cs typeface="Arial"/>
                          <a:sym typeface="Arial"/>
                        </a:rPr>
                        <a:t>Check integration with SON.</a:t>
                      </a:r>
                      <a:endParaRPr sz="900" u="none" cap="none" strike="noStrike">
                        <a:latin typeface="Arial"/>
                        <a:ea typeface="Arial"/>
                        <a:cs typeface="Arial"/>
                        <a:sym typeface="Arial"/>
                      </a:endParaRPr>
                    </a:p>
                  </a:txBody>
                  <a:tcPr marT="29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5080" marR="0" rtl="0" algn="ctr">
                        <a:lnSpc>
                          <a:spcPct val="128888"/>
                        </a:lnSpc>
                        <a:spcBef>
                          <a:spcPts val="0"/>
                        </a:spcBef>
                        <a:spcAft>
                          <a:spcPts val="0"/>
                        </a:spcAft>
                        <a:buNone/>
                      </a:pPr>
                      <a:r>
                        <a:rPr lang="en-US" sz="900" u="none" cap="none" strike="noStrike">
                          <a:latin typeface="Arial"/>
                          <a:ea typeface="Arial"/>
                          <a:cs typeface="Arial"/>
                          <a:sym typeface="Arial"/>
                        </a:rPr>
                        <a:t>OK/NOK</a:t>
                      </a:r>
                      <a:endParaRPr sz="9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810" marR="0" rtl="0" algn="ctr">
                        <a:lnSpc>
                          <a:spcPct val="128888"/>
                        </a:lnSpc>
                        <a:spcBef>
                          <a:spcPts val="0"/>
                        </a:spcBef>
                        <a:spcAft>
                          <a:spcPts val="0"/>
                        </a:spcAft>
                        <a:buNone/>
                      </a:pPr>
                      <a:r>
                        <a:rPr lang="en-US" sz="900" u="none" cap="none" strike="noStrike">
                          <a:latin typeface="Arial"/>
                          <a:ea typeface="Arial"/>
                          <a:cs typeface="Arial"/>
                          <a:sym typeface="Arial"/>
                        </a:rPr>
                        <a:t>OK</a:t>
                      </a:r>
                      <a:endParaRPr sz="9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66250">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tcPr>
                </a:tc>
                <a:tc>
                  <a:txBody>
                    <a:bodyPr/>
                    <a:lstStyle/>
                    <a:p>
                      <a:pPr indent="12064" lvl="0" marL="57785" marR="281940" rtl="0" algn="l">
                        <a:lnSpc>
                          <a:spcPct val="115000"/>
                        </a:lnSpc>
                        <a:spcBef>
                          <a:spcPts val="0"/>
                        </a:spcBef>
                        <a:spcAft>
                          <a:spcPts val="0"/>
                        </a:spcAft>
                        <a:buNone/>
                      </a:pPr>
                      <a:r>
                        <a:rPr lang="en-US" sz="1000" u="none" cap="none" strike="noStrike">
                          <a:latin typeface="Arial"/>
                          <a:ea typeface="Arial"/>
                          <a:cs typeface="Arial"/>
                          <a:sym typeface="Arial"/>
                        </a:rPr>
                        <a:t>Transport - related information. Connection type, quantity and its capacity:</a:t>
                      </a:r>
                      <a:endParaRPr sz="1000" u="none" cap="none" strike="noStrike">
                        <a:latin typeface="Arial"/>
                        <a:ea typeface="Arial"/>
                        <a:cs typeface="Arial"/>
                        <a:sym typeface="Arial"/>
                      </a:endParaRPr>
                    </a:p>
                  </a:txBody>
                  <a:tcPr marT="29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28888"/>
                        </a:lnSpc>
                        <a:spcBef>
                          <a:spcPts val="0"/>
                        </a:spcBef>
                        <a:spcAft>
                          <a:spcPts val="0"/>
                        </a:spcAft>
                        <a:buNone/>
                      </a:pPr>
                      <a:r>
                        <a:rPr lang="en-US" sz="900" u="none" cap="none" strike="noStrike">
                          <a:latin typeface="Arial"/>
                          <a:ea typeface="Arial"/>
                          <a:cs typeface="Arial"/>
                          <a:sym typeface="Arial"/>
                        </a:rPr>
                        <a:t>NA</a:t>
                      </a:r>
                      <a:endParaRPr sz="9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17700">
                <a:tc>
                  <a:txBody>
                    <a:bodyPr/>
                    <a:lstStyle/>
                    <a:p>
                      <a:pPr indent="0" lvl="0" marL="73025" marR="0" rtl="0" algn="l">
                        <a:lnSpc>
                          <a:spcPct val="100000"/>
                        </a:lnSpc>
                        <a:spcBef>
                          <a:spcPts val="0"/>
                        </a:spcBef>
                        <a:spcAft>
                          <a:spcPts val="0"/>
                        </a:spcAft>
                        <a:buNone/>
                      </a:pPr>
                      <a:r>
                        <a:rPr lang="en-US" sz="900" u="none" cap="none" strike="noStrike">
                          <a:latin typeface="Arial"/>
                          <a:ea typeface="Arial"/>
                          <a:cs typeface="Arial"/>
                          <a:sym typeface="Arial"/>
                        </a:rPr>
                        <a:t>1.5</a:t>
                      </a:r>
                      <a:endParaRPr sz="900" u="none" cap="none" strike="noStrike">
                        <a:latin typeface="Arial"/>
                        <a:ea typeface="Arial"/>
                        <a:cs typeface="Arial"/>
                        <a:sym typeface="Arial"/>
                      </a:endParaRPr>
                    </a:p>
                  </a:txBody>
                  <a:tcPr marT="1009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c>
                  <a:txBody>
                    <a:bodyPr/>
                    <a:lstStyle/>
                    <a:p>
                      <a:pPr indent="0" lvl="0" marL="69850" marR="0" rtl="0" algn="l">
                        <a:lnSpc>
                          <a:spcPct val="100000"/>
                        </a:lnSpc>
                        <a:spcBef>
                          <a:spcPts val="0"/>
                        </a:spcBef>
                        <a:spcAft>
                          <a:spcPts val="0"/>
                        </a:spcAft>
                        <a:buNone/>
                      </a:pPr>
                      <a:r>
                        <a:rPr lang="en-US" sz="900" u="none" cap="none" strike="noStrike">
                          <a:latin typeface="Arial"/>
                          <a:ea typeface="Arial"/>
                          <a:cs typeface="Arial"/>
                          <a:sym typeface="Arial"/>
                        </a:rPr>
                        <a:t>a. Microwave</a:t>
                      </a:r>
                      <a:endParaRPr sz="900" u="none" cap="none" strike="noStrike">
                        <a:latin typeface="Arial"/>
                        <a:ea typeface="Arial"/>
                        <a:cs typeface="Arial"/>
                        <a:sym typeface="Arial"/>
                      </a:endParaRPr>
                    </a:p>
                  </a:txBody>
                  <a:tcPr marT="1039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5715" marR="254000" rtl="0" algn="l">
                        <a:lnSpc>
                          <a:spcPct val="127777"/>
                        </a:lnSpc>
                        <a:spcBef>
                          <a:spcPts val="0"/>
                        </a:spcBef>
                        <a:spcAft>
                          <a:spcPts val="0"/>
                        </a:spcAft>
                        <a:buNone/>
                      </a:pPr>
                      <a:r>
                        <a:rPr lang="en-US" sz="900" u="none" cap="none" strike="noStrike">
                          <a:latin typeface="Arial"/>
                          <a:ea typeface="Arial"/>
                          <a:cs typeface="Arial"/>
                          <a:sym typeface="Arial"/>
                        </a:rPr>
                        <a:t>Provide the MW make and Model details.</a:t>
                      </a:r>
                      <a:endParaRPr sz="900" u="none" cap="none" strike="noStrike">
                        <a:latin typeface="Arial"/>
                        <a:ea typeface="Arial"/>
                        <a:cs typeface="Arial"/>
                        <a:sym typeface="Arial"/>
                      </a:endParaRPr>
                    </a:p>
                  </a:txBody>
                  <a:tcPr marT="388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28888"/>
                        </a:lnSpc>
                        <a:spcBef>
                          <a:spcPts val="0"/>
                        </a:spcBef>
                        <a:spcAft>
                          <a:spcPts val="0"/>
                        </a:spcAft>
                        <a:buNone/>
                      </a:pPr>
                      <a:r>
                        <a:rPr lang="en-US" sz="900" u="none" cap="none" strike="noStrike">
                          <a:latin typeface="Arial"/>
                          <a:ea typeface="Arial"/>
                          <a:cs typeface="Arial"/>
                          <a:sym typeface="Arial"/>
                        </a:rPr>
                        <a:t>MW</a:t>
                      </a:r>
                      <a:endParaRPr sz="9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29325">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c>
                  <a:txBody>
                    <a:bodyPr/>
                    <a:lstStyle/>
                    <a:p>
                      <a:pPr indent="0" lvl="0" marL="69850" marR="369570" rtl="0" algn="l">
                        <a:lnSpc>
                          <a:spcPct val="104545"/>
                        </a:lnSpc>
                        <a:spcBef>
                          <a:spcPts val="0"/>
                        </a:spcBef>
                        <a:spcAft>
                          <a:spcPts val="0"/>
                        </a:spcAft>
                        <a:buNone/>
                      </a:pPr>
                      <a:r>
                        <a:rPr lang="en-US" sz="1100" u="none" cap="none" strike="noStrike">
                          <a:latin typeface="Arial"/>
                          <a:ea typeface="Arial"/>
                          <a:cs typeface="Arial"/>
                          <a:sym typeface="Arial"/>
                        </a:rPr>
                        <a:t>b. Integrated Transport Module (CEF12/CEF12T)</a:t>
                      </a:r>
                      <a:endParaRPr sz="1100" u="none" cap="none" strike="noStrike">
                        <a:latin typeface="Arial"/>
                        <a:ea typeface="Arial"/>
                        <a:cs typeface="Arial"/>
                        <a:sym typeface="Arial"/>
                      </a:endParaRPr>
                    </a:p>
                  </a:txBody>
                  <a:tcPr marT="388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tcPr>
                </a:tc>
                <a:tc>
                  <a:txBody>
                    <a:bodyPr/>
                    <a:lstStyle/>
                    <a:p>
                      <a:pPr indent="0" lvl="0" marL="2540" marR="0" rtl="0" algn="ctr">
                        <a:lnSpc>
                          <a:spcPct val="128888"/>
                        </a:lnSpc>
                        <a:spcBef>
                          <a:spcPts val="0"/>
                        </a:spcBef>
                        <a:spcAft>
                          <a:spcPts val="0"/>
                        </a:spcAft>
                        <a:buNone/>
                      </a:pPr>
                      <a:r>
                        <a:rPr lang="en-US" sz="900" u="none" cap="none" strike="noStrike">
                          <a:latin typeface="Arial"/>
                          <a:ea typeface="Arial"/>
                          <a:cs typeface="Arial"/>
                          <a:sym typeface="Arial"/>
                        </a:rPr>
                        <a:t>BBU OD with TX Card</a:t>
                      </a:r>
                      <a:endParaRPr sz="900" u="none" cap="none" strike="noStrike">
                        <a:latin typeface="Arial"/>
                        <a:ea typeface="Arial"/>
                        <a:cs typeface="Arial"/>
                        <a:sym typeface="Arial"/>
                      </a:endParaRPr>
                    </a:p>
                    <a:p>
                      <a:pPr indent="0" lvl="0" marL="8890" marR="0" rtl="0" algn="ctr">
                        <a:lnSpc>
                          <a:spcPct val="100000"/>
                        </a:lnSpc>
                        <a:spcBef>
                          <a:spcPts val="120"/>
                        </a:spcBef>
                        <a:spcAft>
                          <a:spcPts val="0"/>
                        </a:spcAft>
                        <a:buNone/>
                      </a:pPr>
                      <a:r>
                        <a:rPr lang="en-US" sz="900" u="none" cap="none" strike="noStrike">
                          <a:latin typeface="Arial"/>
                          <a:ea typeface="Arial"/>
                          <a:cs typeface="Arial"/>
                          <a:sym typeface="Arial"/>
                        </a:rPr>
                        <a:t>(CEF12T)</a:t>
                      </a:r>
                      <a:endParaRPr sz="9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tcPr>
                </a:tc>
                <a:tc>
                  <a:txBody>
                    <a:bodyPr/>
                    <a:lstStyle/>
                    <a:p>
                      <a:pPr indent="0" lvl="0" marL="1270" marR="0" rtl="0" algn="ctr">
                        <a:lnSpc>
                          <a:spcPct val="128888"/>
                        </a:lnSpc>
                        <a:spcBef>
                          <a:spcPts val="0"/>
                        </a:spcBef>
                        <a:spcAft>
                          <a:spcPts val="0"/>
                        </a:spcAft>
                        <a:buNone/>
                      </a:pPr>
                      <a:r>
                        <a:rPr lang="en-US" sz="900" u="none" cap="none" strike="noStrike">
                          <a:latin typeface="Arial"/>
                          <a:ea typeface="Arial"/>
                          <a:cs typeface="Arial"/>
                          <a:sym typeface="Arial"/>
                        </a:rPr>
                        <a:t>10 Ge Optical / 1-4-2</a:t>
                      </a:r>
                      <a:endParaRPr sz="9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tcPr>
                </a:tc>
              </a:tr>
              <a:tr h="395300">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B cap="flat" cmpd="sng" w="9525">
                      <a:solidFill>
                        <a:srgbClr val="000000"/>
                      </a:solidFill>
                      <a:prstDash val="solid"/>
                      <a:round/>
                      <a:headEnd len="sm" w="sm" type="none"/>
                      <a:tailEnd len="sm" w="sm" type="none"/>
                    </a:lnB>
                  </a:tcPr>
                </a:tc>
                <a:tc>
                  <a:txBody>
                    <a:bodyPr/>
                    <a:lstStyle/>
                    <a:p>
                      <a:pPr indent="-107950" lvl="0" marL="177800" marR="0" rtl="0" algn="l">
                        <a:lnSpc>
                          <a:spcPct val="100000"/>
                        </a:lnSpc>
                        <a:spcBef>
                          <a:spcPts val="0"/>
                        </a:spcBef>
                        <a:spcAft>
                          <a:spcPts val="0"/>
                        </a:spcAft>
                        <a:buSzPts val="1210"/>
                        <a:buFont typeface="Arial"/>
                        <a:buAutoNum type="romanLcPeriod"/>
                      </a:pPr>
                      <a:r>
                        <a:rPr lang="en-US" sz="1100" u="none" cap="none" strike="noStrike">
                          <a:latin typeface="Arial"/>
                          <a:ea typeface="Arial"/>
                          <a:cs typeface="Arial"/>
                          <a:sym typeface="Arial"/>
                        </a:rPr>
                        <a:t>Port type-1G/10G/E1/FE</a:t>
                      </a:r>
                      <a:endParaRPr sz="1100" u="none" cap="none" strike="noStrike">
                        <a:latin typeface="Arial"/>
                        <a:ea typeface="Arial"/>
                        <a:cs typeface="Arial"/>
                        <a:sym typeface="Arial"/>
                      </a:endParaRPr>
                    </a:p>
                    <a:p>
                      <a:pPr indent="-134620" lvl="0" marL="204470" marR="0" rtl="0" algn="l">
                        <a:lnSpc>
                          <a:spcPct val="100000"/>
                        </a:lnSpc>
                        <a:spcBef>
                          <a:spcPts val="240"/>
                        </a:spcBef>
                        <a:spcAft>
                          <a:spcPts val="0"/>
                        </a:spcAft>
                        <a:buSzPts val="1210"/>
                        <a:buFont typeface="Arial"/>
                        <a:buAutoNum type="romanLcPeriod"/>
                      </a:pPr>
                      <a:r>
                        <a:rPr lang="en-US" sz="1100" u="none" cap="none" strike="noStrike">
                          <a:latin typeface="Arial"/>
                          <a:ea typeface="Arial"/>
                          <a:cs typeface="Arial"/>
                          <a:sym typeface="Arial"/>
                        </a:rPr>
                        <a:t>No. of Ports-1G/10G/E1/FE</a:t>
                      </a:r>
                      <a:endParaRPr sz="1100" u="none" cap="none" strike="noStrike">
                        <a:latin typeface="Arial"/>
                        <a:ea typeface="Arial"/>
                        <a:cs typeface="Arial"/>
                        <a:sym typeface="Arial"/>
                      </a:endParaRPr>
                    </a:p>
                  </a:txBody>
                  <a:tcPr marT="71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B cap="flat" cmpd="sng" w="9525">
                      <a:solidFill>
                        <a:srgbClr val="000000"/>
                      </a:solidFill>
                      <a:prstDash val="solid"/>
                      <a:round/>
                      <a:headEnd len="sm" w="sm" type="none"/>
                      <a:tailEnd len="sm" w="sm" type="none"/>
                    </a:lnB>
                  </a:tcPr>
                </a:tc>
                <a:tc>
                  <a:txBody>
                    <a:bodyPr/>
                    <a:lstStyle/>
                    <a:p>
                      <a:pPr indent="-530860" lvl="0" marL="692150" marR="144780" rtl="0" algn="l">
                        <a:lnSpc>
                          <a:spcPct val="110000"/>
                        </a:lnSpc>
                        <a:spcBef>
                          <a:spcPts val="0"/>
                        </a:spcBef>
                        <a:spcAft>
                          <a:spcPts val="0"/>
                        </a:spcAft>
                        <a:buNone/>
                      </a:pPr>
                      <a:r>
                        <a:rPr lang="en-US" sz="900" u="none" cap="none" strike="noStrike">
                          <a:latin typeface="Arial"/>
                          <a:ea typeface="Arial"/>
                          <a:cs typeface="Arial"/>
                          <a:sym typeface="Arial"/>
                        </a:rPr>
                        <a:t>Optical port used-1G (P1) 2/2/4/1</a:t>
                      </a:r>
                      <a:endParaRPr sz="900" u="none" cap="none" strike="noStrike">
                        <a:latin typeface="Arial"/>
                        <a:ea typeface="Arial"/>
                        <a:cs typeface="Arial"/>
                        <a:sym typeface="Arial"/>
                      </a:endParaRPr>
                    </a:p>
                  </a:txBody>
                  <a:tcPr marT="1224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B cap="flat" cmpd="sng" w="9525">
                      <a:solidFill>
                        <a:srgbClr val="000000"/>
                      </a:solidFill>
                      <a:prstDash val="solid"/>
                      <a:round/>
                      <a:headEnd len="sm" w="sm" type="none"/>
                      <a:tailEnd len="sm" w="sm" type="none"/>
                    </a:lnB>
                  </a:tcPr>
                </a:tc>
              </a:tr>
              <a:tr h="570300">
                <a:tc>
                  <a:txBody>
                    <a:bodyPr/>
                    <a:lstStyle/>
                    <a:p>
                      <a:pPr indent="0" lvl="0" marL="73025" marR="0" rtl="0" algn="l">
                        <a:lnSpc>
                          <a:spcPct val="100000"/>
                        </a:lnSpc>
                        <a:spcBef>
                          <a:spcPts val="0"/>
                        </a:spcBef>
                        <a:spcAft>
                          <a:spcPts val="0"/>
                        </a:spcAft>
                        <a:buNone/>
                      </a:pPr>
                      <a:r>
                        <a:rPr lang="en-US" sz="900" u="none" cap="none" strike="noStrike">
                          <a:latin typeface="Arial"/>
                          <a:ea typeface="Arial"/>
                          <a:cs typeface="Arial"/>
                          <a:sym typeface="Arial"/>
                        </a:rPr>
                        <a:t>1.6</a:t>
                      </a:r>
                      <a:endParaRPr sz="900" u="none" cap="none" strike="noStrike">
                        <a:latin typeface="Arial"/>
                        <a:ea typeface="Arial"/>
                        <a:cs typeface="Arial"/>
                        <a:sym typeface="Arial"/>
                      </a:endParaRPr>
                    </a:p>
                  </a:txBody>
                  <a:tcPr marT="29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9850" marR="0" rtl="0" algn="l">
                        <a:lnSpc>
                          <a:spcPct val="100000"/>
                        </a:lnSpc>
                        <a:spcBef>
                          <a:spcPts val="0"/>
                        </a:spcBef>
                        <a:spcAft>
                          <a:spcPts val="0"/>
                        </a:spcAft>
                        <a:buNone/>
                      </a:pPr>
                      <a:r>
                        <a:rPr lang="en-US" sz="900" u="none" cap="none" strike="noStrike">
                          <a:latin typeface="Arial"/>
                          <a:ea typeface="Arial"/>
                          <a:cs typeface="Arial"/>
                          <a:sym typeface="Arial"/>
                        </a:rPr>
                        <a:t>MME and SGW IP address.</a:t>
                      </a:r>
                      <a:endParaRPr sz="900" u="none" cap="none" strike="noStrike">
                        <a:latin typeface="Arial"/>
                        <a:ea typeface="Arial"/>
                        <a:cs typeface="Arial"/>
                        <a:sym typeface="Arial"/>
                      </a:endParaRPr>
                    </a:p>
                  </a:txBody>
                  <a:tcPr marT="29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68300" marR="0" rtl="0" algn="l">
                        <a:lnSpc>
                          <a:spcPct val="100000"/>
                        </a:lnSpc>
                        <a:spcBef>
                          <a:spcPts val="0"/>
                        </a:spcBef>
                        <a:spcAft>
                          <a:spcPts val="0"/>
                        </a:spcAft>
                        <a:buNone/>
                      </a:pPr>
                      <a:r>
                        <a:rPr b="1" lang="en-US" sz="900" u="none" cap="none" strike="noStrike">
                          <a:latin typeface="Arial"/>
                          <a:ea typeface="Arial"/>
                          <a:cs typeface="Arial"/>
                          <a:sym typeface="Arial"/>
                        </a:rPr>
                        <a:t>MME:</a:t>
                      </a:r>
                      <a:r>
                        <a:rPr lang="en-US" sz="900" u="none" cap="none" strike="noStrike">
                          <a:latin typeface="Arial"/>
                          <a:ea typeface="Arial"/>
                          <a:cs typeface="Arial"/>
                          <a:sym typeface="Arial"/>
                        </a:rPr>
                        <a:t>10.62.43.100</a:t>
                      </a:r>
                      <a:endParaRPr sz="900" u="none" cap="none" strike="noStrike">
                        <a:latin typeface="Arial"/>
                        <a:ea typeface="Arial"/>
                        <a:cs typeface="Arial"/>
                        <a:sym typeface="Arial"/>
                      </a:endParaRPr>
                    </a:p>
                    <a:p>
                      <a:pPr indent="0" lvl="0" marL="2540" marR="0" rtl="0" algn="ctr">
                        <a:lnSpc>
                          <a:spcPct val="100000"/>
                        </a:lnSpc>
                        <a:spcBef>
                          <a:spcPts val="0"/>
                        </a:spcBef>
                        <a:spcAft>
                          <a:spcPts val="0"/>
                        </a:spcAft>
                        <a:buNone/>
                      </a:pPr>
                      <a:r>
                        <a:rPr b="1" lang="en-US" sz="900" u="none" cap="none" strike="noStrike">
                          <a:latin typeface="Arial"/>
                          <a:ea typeface="Arial"/>
                          <a:cs typeface="Arial"/>
                          <a:sym typeface="Arial"/>
                        </a:rPr>
                        <a:t>SGW:</a:t>
                      </a:r>
                      <a:r>
                        <a:rPr lang="en-US" sz="900" u="none" cap="none" strike="noStrike">
                          <a:latin typeface="Arial"/>
                          <a:ea typeface="Arial"/>
                          <a:cs typeface="Arial"/>
                          <a:sym typeface="Arial"/>
                        </a:rPr>
                        <a:t>117.231.204.210</a:t>
                      </a:r>
                      <a:endParaRPr sz="900" u="none" cap="none" strike="noStrike">
                        <a:latin typeface="Arial"/>
                        <a:ea typeface="Arial"/>
                        <a:cs typeface="Arial"/>
                        <a:sym typeface="Arial"/>
                      </a:endParaRPr>
                    </a:p>
                    <a:p>
                      <a:pPr indent="0" lvl="0" marL="1270" marR="0" rtl="0" algn="ctr">
                        <a:lnSpc>
                          <a:spcPct val="100000"/>
                        </a:lnSpc>
                        <a:spcBef>
                          <a:spcPts val="1060"/>
                        </a:spcBef>
                        <a:spcAft>
                          <a:spcPts val="0"/>
                        </a:spcAft>
                        <a:buNone/>
                      </a:pPr>
                      <a:r>
                        <a:t/>
                      </a:r>
                      <a:endParaRPr b="1" sz="900" u="none" cap="none" strike="noStrike">
                        <a:latin typeface="Calibri"/>
                        <a:ea typeface="Calibri"/>
                        <a:cs typeface="Calibri"/>
                        <a:sym typeface="Calibri"/>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000" u="none" cap="none" strike="noStrike">
                        <a:latin typeface="Times New Roman"/>
                        <a:ea typeface="Times New Roman"/>
                        <a:cs typeface="Times New Roman"/>
                        <a:sym typeface="Times New Roman"/>
                      </a:endParaRPr>
                    </a:p>
                    <a:p>
                      <a:pPr indent="-381635" lvl="0" marL="490855" marR="102235" rtl="0" algn="l">
                        <a:lnSpc>
                          <a:spcPct val="128000"/>
                        </a:lnSpc>
                        <a:spcBef>
                          <a:spcPts val="0"/>
                        </a:spcBef>
                        <a:spcAft>
                          <a:spcPts val="0"/>
                        </a:spcAft>
                        <a:buNone/>
                      </a:pPr>
                      <a:r>
                        <a:rPr lang="en-US" sz="1000" u="none" cap="none" strike="noStrike">
                          <a:latin typeface="Arial"/>
                          <a:ea typeface="Arial"/>
                          <a:cs typeface="Arial"/>
                          <a:sym typeface="Arial"/>
                        </a:rPr>
                        <a:t>Ping test to MME and SGW OK</a:t>
                      </a:r>
                      <a:endParaRPr sz="1000" u="none" cap="none" strike="noStrike">
                        <a:latin typeface="Arial"/>
                        <a:ea typeface="Arial"/>
                        <a:cs typeface="Arial"/>
                        <a:sym typeface="Arial"/>
                      </a:endParaRPr>
                    </a:p>
                  </a:txBody>
                  <a:tcPr marT="1248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3325">
                <a:tc>
                  <a:txBody>
                    <a:bodyPr/>
                    <a:lstStyle/>
                    <a:p>
                      <a:pPr indent="0" lvl="0" marL="73025" marR="0" rtl="0" algn="l">
                        <a:lnSpc>
                          <a:spcPct val="100000"/>
                        </a:lnSpc>
                        <a:spcBef>
                          <a:spcPts val="0"/>
                        </a:spcBef>
                        <a:spcAft>
                          <a:spcPts val="0"/>
                        </a:spcAft>
                        <a:buNone/>
                      </a:pPr>
                      <a:r>
                        <a:rPr lang="en-US" sz="900" u="none" cap="none" strike="noStrike">
                          <a:latin typeface="Arial"/>
                          <a:ea typeface="Arial"/>
                          <a:cs typeface="Arial"/>
                          <a:sym typeface="Arial"/>
                        </a:rPr>
                        <a:t>1.7</a:t>
                      </a:r>
                      <a:endParaRPr sz="900" u="none" cap="none" strike="noStrike">
                        <a:latin typeface="Arial"/>
                        <a:ea typeface="Arial"/>
                        <a:cs typeface="Arial"/>
                        <a:sym typeface="Arial"/>
                      </a:endParaRPr>
                    </a:p>
                  </a:txBody>
                  <a:tcPr marT="29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9850" marR="0" rtl="0" algn="l">
                        <a:lnSpc>
                          <a:spcPct val="100000"/>
                        </a:lnSpc>
                        <a:spcBef>
                          <a:spcPts val="0"/>
                        </a:spcBef>
                        <a:spcAft>
                          <a:spcPts val="0"/>
                        </a:spcAft>
                        <a:buNone/>
                      </a:pPr>
                      <a:r>
                        <a:rPr lang="en-US" sz="1200" u="none" cap="none" strike="noStrike">
                          <a:latin typeface="Arial"/>
                          <a:ea typeface="Arial"/>
                          <a:cs typeface="Arial"/>
                          <a:sym typeface="Arial"/>
                        </a:rPr>
                        <a:t>eNode-B details (TX).</a:t>
                      </a:r>
                      <a:endParaRPr sz="1200" u="none" cap="none" strike="noStrike">
                        <a:latin typeface="Arial"/>
                        <a:ea typeface="Arial"/>
                        <a:cs typeface="Arial"/>
                        <a:sym typeface="Arial"/>
                      </a:endParaRPr>
                    </a:p>
                  </a:txBody>
                  <a:tcPr marT="29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73025" marR="0" rtl="0" algn="ctr">
                        <a:lnSpc>
                          <a:spcPct val="100000"/>
                        </a:lnSpc>
                        <a:spcBef>
                          <a:spcPts val="0"/>
                        </a:spcBef>
                        <a:spcAft>
                          <a:spcPts val="0"/>
                        </a:spcAft>
                        <a:buNone/>
                      </a:pPr>
                      <a:r>
                        <a:rPr lang="en-US" sz="900" u="none" cap="none" strike="noStrike">
                          <a:latin typeface="Arial"/>
                          <a:ea typeface="Arial"/>
                          <a:cs typeface="Arial"/>
                          <a:sym typeface="Arial"/>
                        </a:rPr>
                        <a:t>Electrical / Optical</a:t>
                      </a:r>
                      <a:endParaRPr sz="900" u="none" cap="none" strike="noStrike">
                        <a:latin typeface="Arial"/>
                        <a:ea typeface="Arial"/>
                        <a:cs typeface="Arial"/>
                        <a:sym typeface="Arial"/>
                      </a:endParaRPr>
                    </a:p>
                  </a:txBody>
                  <a:tcPr marT="29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175" marR="0" rtl="0" algn="ctr">
                        <a:lnSpc>
                          <a:spcPct val="128888"/>
                        </a:lnSpc>
                        <a:spcBef>
                          <a:spcPts val="0"/>
                        </a:spcBef>
                        <a:spcAft>
                          <a:spcPts val="0"/>
                        </a:spcAft>
                        <a:buNone/>
                      </a:pPr>
                      <a:r>
                        <a:rPr lang="en-US" sz="900" u="none" cap="none" strike="noStrike">
                          <a:latin typeface="Arial"/>
                          <a:ea typeface="Arial"/>
                          <a:cs typeface="Arial"/>
                          <a:sym typeface="Arial"/>
                        </a:rPr>
                        <a:t>Optical</a:t>
                      </a:r>
                      <a:endParaRPr sz="9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72075">
                <a:tc>
                  <a:txBody>
                    <a:bodyPr/>
                    <a:lstStyle/>
                    <a:p>
                      <a:pPr indent="0" lvl="0" marL="72390" marR="0" rtl="0" algn="l">
                        <a:spcBef>
                          <a:spcPts val="0"/>
                        </a:spcBef>
                        <a:spcAft>
                          <a:spcPts val="0"/>
                        </a:spcAft>
                        <a:buSzPts val="1000"/>
                        <a:buFont typeface="Arial"/>
                        <a:buNone/>
                      </a:pPr>
                      <a:r>
                        <a:rPr lang="en-US" sz="1000" u="none" cap="none" strike="noStrike">
                          <a:latin typeface="Arial"/>
                          <a:ea typeface="Arial"/>
                          <a:cs typeface="Arial"/>
                          <a:sym typeface="Arial"/>
                        </a:rPr>
                        <a:t>1.7.1</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tcPr>
                </a:tc>
                <a:tc>
                  <a:txBody>
                    <a:bodyPr/>
                    <a:lstStyle/>
                    <a:p>
                      <a:pPr indent="0" lvl="0" marL="69850" marR="0" rtl="0" algn="l">
                        <a:spcBef>
                          <a:spcPts val="0"/>
                        </a:spcBef>
                        <a:spcAft>
                          <a:spcPts val="0"/>
                        </a:spcAft>
                        <a:buSzPts val="1000"/>
                        <a:buFont typeface="Arial"/>
                        <a:buNone/>
                      </a:pPr>
                      <a:r>
                        <a:rPr lang="en-US" sz="1000" u="none" cap="none" strike="noStrike">
                          <a:latin typeface="Arial"/>
                          <a:ea typeface="Arial"/>
                          <a:cs typeface="Arial"/>
                          <a:sym typeface="Arial"/>
                        </a:rPr>
                        <a:t>IP details (Table to be plugged in w.r.t. IP, VLAN including GW).</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tcPr>
                </a:tc>
                <a:tc>
                  <a:txBody>
                    <a:bodyPr/>
                    <a:lstStyle/>
                    <a:p>
                      <a:pPr indent="0" lvl="0" marL="100330" marR="95250" rtl="0" algn="ctr">
                        <a:lnSpc>
                          <a:spcPct val="112500"/>
                        </a:lnSpc>
                        <a:spcBef>
                          <a:spcPts val="0"/>
                        </a:spcBef>
                        <a:spcAft>
                          <a:spcPts val="0"/>
                        </a:spcAft>
                        <a:buSzPts val="1000"/>
                        <a:buFont typeface="Arial"/>
                        <a:buNone/>
                      </a:pPr>
                      <a:r>
                        <a:rPr b="1" lang="en-US" sz="1000" u="none" cap="none" strike="noStrike">
                          <a:latin typeface="Arial"/>
                          <a:ea typeface="Arial"/>
                          <a:cs typeface="Arial"/>
                          <a:sym typeface="Arial"/>
                        </a:rPr>
                        <a:t>CEF:</a:t>
                      </a:r>
                      <a:endParaRPr sz="1100" u="none" cap="none" strike="noStrike">
                        <a:latin typeface="Arial"/>
                        <a:ea typeface="Arial"/>
                        <a:cs typeface="Arial"/>
                        <a:sym typeface="Arial"/>
                      </a:endParaRPr>
                    </a:p>
                    <a:p>
                      <a:pPr indent="0" lvl="0" marL="601980" marR="594995" rtl="0" algn="ctr">
                        <a:lnSpc>
                          <a:spcPct val="115000"/>
                        </a:lnSpc>
                        <a:spcBef>
                          <a:spcPts val="0"/>
                        </a:spcBef>
                        <a:spcAft>
                          <a:spcPts val="0"/>
                        </a:spcAft>
                        <a:buSzPts val="1000"/>
                        <a:buFont typeface="Arial"/>
                        <a:buNone/>
                      </a:pPr>
                      <a:r>
                        <a:rPr b="1" lang="en-US" sz="1000" u="none" cap="none" strike="noStrike">
                          <a:latin typeface="Arial"/>
                          <a:ea typeface="Arial"/>
                          <a:cs typeface="Arial"/>
                          <a:sym typeface="Arial"/>
                        </a:rPr>
                        <a:t>RAC: S1C:</a:t>
                      </a:r>
                      <a:endParaRPr/>
                    </a:p>
                    <a:p>
                      <a:pPr indent="0" lvl="0" marL="601980" marR="594995" rtl="0" algn="ctr">
                        <a:lnSpc>
                          <a:spcPct val="115000"/>
                        </a:lnSpc>
                        <a:spcBef>
                          <a:spcPts val="0"/>
                        </a:spcBef>
                        <a:spcAft>
                          <a:spcPts val="0"/>
                        </a:spcAft>
                        <a:buSzPts val="1000"/>
                        <a:buFont typeface="Arial"/>
                        <a:buNone/>
                      </a:pPr>
                      <a:r>
                        <a:rPr b="1" lang="en-US" sz="1000" u="none" cap="none" strike="noStrike">
                          <a:latin typeface="Arial"/>
                          <a:ea typeface="Arial"/>
                          <a:cs typeface="Arial"/>
                          <a:sym typeface="Arial"/>
                        </a:rPr>
                        <a:t>S1U:</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tcPr>
                </a:tc>
                <a:tc>
                  <a:txBody>
                    <a:bodyPr/>
                    <a:lstStyle/>
                    <a:p>
                      <a:pPr indent="0" lvl="0" marL="408305" marR="0" rtl="0" algn="l">
                        <a:lnSpc>
                          <a:spcPct val="114500"/>
                        </a:lnSpc>
                        <a:spcBef>
                          <a:spcPts val="0"/>
                        </a:spcBef>
                        <a:spcAft>
                          <a:spcPts val="0"/>
                        </a:spcAft>
                        <a:buSzPts val="1000"/>
                        <a:buFont typeface="Arial"/>
                        <a:buNone/>
                      </a:pPr>
                      <a:r>
                        <a:rPr lang="en-US" sz="1000" u="none" cap="none" strike="noStrike">
                          <a:latin typeface="Arial"/>
                          <a:ea typeface="Arial"/>
                          <a:cs typeface="Arial"/>
                          <a:sym typeface="Arial"/>
                        </a:rPr>
                        <a:t>10.61.182.162</a:t>
                      </a:r>
                      <a:endParaRPr/>
                    </a:p>
                    <a:p>
                      <a:pPr indent="0" lvl="0" marL="408305" marR="0" rtl="0" algn="l">
                        <a:lnSpc>
                          <a:spcPct val="114500"/>
                        </a:lnSpc>
                        <a:spcBef>
                          <a:spcPts val="0"/>
                        </a:spcBef>
                        <a:spcAft>
                          <a:spcPts val="0"/>
                        </a:spcAft>
                        <a:buSzPts val="1000"/>
                        <a:buFont typeface="Arial"/>
                        <a:buNone/>
                      </a:pPr>
                      <a:r>
                        <a:rPr lang="en-US" sz="1000" u="none" cap="none" strike="noStrike">
                          <a:latin typeface="Arial"/>
                          <a:ea typeface="Arial"/>
                          <a:cs typeface="Arial"/>
                          <a:sym typeface="Arial"/>
                        </a:rPr>
                        <a:t>10.61.186.67</a:t>
                      </a:r>
                      <a:endParaRPr/>
                    </a:p>
                    <a:p>
                      <a:pPr indent="0" lvl="0" marL="408305" marR="0" rtl="0" algn="l">
                        <a:lnSpc>
                          <a:spcPct val="114500"/>
                        </a:lnSpc>
                        <a:spcBef>
                          <a:spcPts val="0"/>
                        </a:spcBef>
                        <a:spcAft>
                          <a:spcPts val="0"/>
                        </a:spcAft>
                        <a:buSzPts val="1000"/>
                        <a:buFont typeface="Arial"/>
                        <a:buNone/>
                      </a:pPr>
                      <a:r>
                        <a:rPr lang="en-US" sz="1000" u="none" cap="none" strike="noStrike">
                          <a:latin typeface="Arial"/>
                          <a:ea typeface="Arial"/>
                          <a:cs typeface="Arial"/>
                          <a:sym typeface="Arial"/>
                        </a:rPr>
                        <a:t>10.61.187.67</a:t>
                      </a:r>
                      <a:endParaRPr/>
                    </a:p>
                    <a:p>
                      <a:pPr indent="0" lvl="0" marL="408305" marR="0" rtl="0" algn="l">
                        <a:lnSpc>
                          <a:spcPct val="114500"/>
                        </a:lnSpc>
                        <a:spcBef>
                          <a:spcPts val="0"/>
                        </a:spcBef>
                        <a:spcAft>
                          <a:spcPts val="0"/>
                        </a:spcAft>
                        <a:buSzPts val="1000"/>
                        <a:buFont typeface="Arial"/>
                        <a:buNone/>
                      </a:pPr>
                      <a:r>
                        <a:rPr lang="en-US" sz="1000" u="none" cap="none" strike="noStrike">
                          <a:latin typeface="Arial"/>
                          <a:ea typeface="Arial"/>
                          <a:cs typeface="Arial"/>
                          <a:sym typeface="Arial"/>
                        </a:rPr>
                        <a:t>10.61.188.67</a:t>
                      </a:r>
                      <a:endParaRPr/>
                    </a:p>
                    <a:p>
                      <a:pPr indent="0" lvl="0" marL="408305" marR="0" rtl="0" algn="l">
                        <a:lnSpc>
                          <a:spcPct val="114500"/>
                        </a:lnSpc>
                        <a:spcBef>
                          <a:spcPts val="0"/>
                        </a:spcBef>
                        <a:spcAft>
                          <a:spcPts val="0"/>
                        </a:spcAft>
                        <a:buSzPts val="1000"/>
                        <a:buFont typeface="Calibri"/>
                        <a:buNone/>
                      </a:pPr>
                      <a:r>
                        <a:t/>
                      </a:r>
                      <a:endParaRPr sz="1000" u="none" cap="none" strike="noStrike">
                        <a:latin typeface="Arial"/>
                        <a:ea typeface="Arial"/>
                        <a:cs typeface="Arial"/>
                        <a:sym typeface="Arial"/>
                      </a:endParaRPr>
                    </a:p>
                    <a:p>
                      <a:pPr indent="0" lvl="0" marL="408305" marR="0" rtl="0" algn="l">
                        <a:lnSpc>
                          <a:spcPct val="114500"/>
                        </a:lnSpc>
                        <a:spcBef>
                          <a:spcPts val="0"/>
                        </a:spcBef>
                        <a:spcAft>
                          <a:spcPts val="0"/>
                        </a:spcAft>
                        <a:buSzPts val="1000"/>
                        <a:buFont typeface="Calibri"/>
                        <a:buNone/>
                      </a:pPr>
                      <a:r>
                        <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tcPr>
                </a:tc>
              </a:tr>
              <a:tr h="39725">
                <a:tc>
                  <a:txBody>
                    <a:bodyPr/>
                    <a:lstStyle/>
                    <a:p>
                      <a:pPr indent="0" lvl="0" marL="0" marR="0" rtl="0" algn="l">
                        <a:lnSpc>
                          <a:spcPct val="100000"/>
                        </a:lnSpc>
                        <a:spcBef>
                          <a:spcPts val="0"/>
                        </a:spcBef>
                        <a:spcAft>
                          <a:spcPts val="0"/>
                        </a:spcAft>
                        <a:buNone/>
                      </a:pPr>
                      <a:r>
                        <a:t/>
                      </a:r>
                      <a:endParaRPr sz="8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8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B cap="flat" cmpd="sng" w="9525">
                      <a:solidFill>
                        <a:srgbClr val="000000"/>
                      </a:solidFill>
                      <a:prstDash val="solid"/>
                      <a:round/>
                      <a:headEnd len="sm" w="sm" type="none"/>
                      <a:tailEnd len="sm" w="sm" type="none"/>
                    </a:lnB>
                  </a:tcPr>
                </a:tc>
                <a:tc>
                  <a:txBody>
                    <a:bodyPr/>
                    <a:lstStyle/>
                    <a:p>
                      <a:pPr indent="0" lvl="0" marL="100965" marR="89535" rtl="0" algn="ctr">
                        <a:lnSpc>
                          <a:spcPct val="95454"/>
                        </a:lnSpc>
                        <a:spcBef>
                          <a:spcPts val="0"/>
                        </a:spcBef>
                        <a:spcAft>
                          <a:spcPts val="0"/>
                        </a:spcAft>
                        <a:buSzPts val="1100"/>
                        <a:buFont typeface="Calibri"/>
                        <a:buNone/>
                      </a:pPr>
                      <a:r>
                        <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B cap="flat" cmpd="sng" w="9525">
                      <a:solidFill>
                        <a:srgbClr val="000000"/>
                      </a:solidFill>
                      <a:prstDash val="solid"/>
                      <a:round/>
                      <a:headEnd len="sm" w="sm" type="none"/>
                      <a:tailEnd len="sm" w="sm" type="none"/>
                    </a:lnB>
                  </a:tcPr>
                </a:tc>
                <a:tc>
                  <a:txBody>
                    <a:bodyPr/>
                    <a:lstStyle/>
                    <a:p>
                      <a:pPr indent="0" lvl="0" marL="635" marR="0" rtl="0" algn="ctr">
                        <a:lnSpc>
                          <a:spcPct val="119444"/>
                        </a:lnSpc>
                        <a:spcBef>
                          <a:spcPts val="0"/>
                        </a:spcBef>
                        <a:spcAft>
                          <a:spcPts val="0"/>
                        </a:spcAft>
                        <a:buNone/>
                      </a:pPr>
                      <a:r>
                        <a:t/>
                      </a:r>
                      <a:endParaRPr sz="9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B cap="flat" cmpd="sng" w="9525">
                      <a:solidFill>
                        <a:srgbClr val="000000"/>
                      </a:solidFill>
                      <a:prstDash val="solid"/>
                      <a:round/>
                      <a:headEnd len="sm" w="sm" type="none"/>
                      <a:tailEnd len="sm" w="sm" type="none"/>
                    </a:lnB>
                  </a:tcPr>
                </a:tc>
              </a:tr>
            </a:tbl>
          </a:graphicData>
        </a:graphic>
      </p:graphicFrame>
      <p:sp>
        <p:nvSpPr>
          <p:cNvPr id="98" name="Google Shape;98;p12"/>
          <p:cNvSpPr txBox="1"/>
          <p:nvPr/>
        </p:nvSpPr>
        <p:spPr>
          <a:xfrm>
            <a:off x="920334" y="8229600"/>
            <a:ext cx="4807007" cy="869220"/>
          </a:xfrm>
          <a:prstGeom prst="rect">
            <a:avLst/>
          </a:prstGeom>
          <a:noFill/>
          <a:ln>
            <a:noFill/>
          </a:ln>
        </p:spPr>
        <p:txBody>
          <a:bodyPr anchorCtr="0" anchor="t" bIns="0" lIns="0" spcFirstLastPara="1" rIns="0" wrap="square" tIns="11925">
            <a:spAutoFit/>
          </a:bodyPr>
          <a:lstStyle/>
          <a:p>
            <a:pPr indent="-287889" lvl="1" marL="299835" marR="0" rtl="0" algn="l">
              <a:spcBef>
                <a:spcPts val="0"/>
              </a:spcBef>
              <a:spcAft>
                <a:spcPts val="0"/>
              </a:spcAft>
              <a:buClr>
                <a:schemeClr val="dk1"/>
              </a:buClr>
              <a:buSzPts val="1035"/>
              <a:buFont typeface="Arial"/>
              <a:buAutoNum type="arabicPeriod" startAt="8"/>
            </a:pPr>
            <a:r>
              <a:rPr b="1" i="0" lang="en-US" sz="1035" u="none" cap="none" strike="noStrike">
                <a:solidFill>
                  <a:schemeClr val="dk1"/>
                </a:solidFill>
                <a:latin typeface="Arial"/>
                <a:ea typeface="Arial"/>
                <a:cs typeface="Arial"/>
                <a:sym typeface="Arial"/>
              </a:rPr>
              <a:t>eNode-B status check from Access Point:</a:t>
            </a:r>
            <a:endParaRPr b="0" i="0" sz="1035" u="none" cap="none" strike="noStrike">
              <a:solidFill>
                <a:schemeClr val="dk1"/>
              </a:solidFill>
              <a:latin typeface="Arial"/>
              <a:ea typeface="Arial"/>
              <a:cs typeface="Arial"/>
              <a:sym typeface="Arial"/>
            </a:endParaRPr>
          </a:p>
          <a:p>
            <a:pPr indent="0" lvl="0" marL="11946" marR="0" rtl="0" algn="l">
              <a:spcBef>
                <a:spcPts val="926"/>
              </a:spcBef>
              <a:spcAft>
                <a:spcPts val="0"/>
              </a:spcAft>
              <a:buNone/>
            </a:pPr>
            <a:r>
              <a:rPr lang="en-US" sz="1035">
                <a:solidFill>
                  <a:schemeClr val="dk1"/>
                </a:solidFill>
                <a:latin typeface="Arial"/>
                <a:ea typeface="Arial"/>
                <a:cs typeface="Arial"/>
                <a:sym typeface="Arial"/>
              </a:rPr>
              <a:t>A/T procedure:</a:t>
            </a:r>
            <a:endParaRPr sz="1035">
              <a:solidFill>
                <a:schemeClr val="dk1"/>
              </a:solidFill>
              <a:latin typeface="Arial"/>
              <a:ea typeface="Arial"/>
              <a:cs typeface="Arial"/>
              <a:sym typeface="Arial"/>
            </a:endParaRPr>
          </a:p>
          <a:p>
            <a:pPr indent="-258025" lvl="2" marL="872030" marR="4778" rtl="0" algn="l">
              <a:lnSpc>
                <a:spcPct val="117959"/>
              </a:lnSpc>
              <a:spcBef>
                <a:spcPts val="1101"/>
              </a:spcBef>
              <a:spcAft>
                <a:spcPts val="0"/>
              </a:spcAft>
              <a:buClr>
                <a:schemeClr val="dk1"/>
              </a:buClr>
              <a:buSzPts val="1035"/>
              <a:buFont typeface="Arial"/>
              <a:buAutoNum type="romanLcPeriod"/>
            </a:pPr>
            <a:r>
              <a:rPr b="0" i="0" lang="en-US" sz="941" u="none" cap="none" strike="noStrike">
                <a:solidFill>
                  <a:schemeClr val="dk1"/>
                </a:solidFill>
                <a:latin typeface="Arial"/>
                <a:ea typeface="Arial"/>
                <a:cs typeface="Arial"/>
                <a:sym typeface="Arial"/>
              </a:rPr>
              <a:t>Check the visual alarm (LED) indication on all cards. All LEDs should show a healthy condition.</a:t>
            </a:r>
            <a:endParaRPr b="0" i="0" sz="941" u="none" cap="none" strike="noStrike">
              <a:solidFill>
                <a:schemeClr val="dk1"/>
              </a:solidFill>
              <a:latin typeface="Arial"/>
              <a:ea typeface="Arial"/>
              <a:cs typeface="Arial"/>
              <a:sym typeface="Arial"/>
            </a:endParaRPr>
          </a:p>
        </p:txBody>
      </p:sp>
      <p:sp>
        <p:nvSpPr>
          <p:cNvPr id="99" name="Google Shape;99;p12"/>
          <p:cNvSpPr txBox="1"/>
          <p:nvPr>
            <p:ph idx="11" type="ftr"/>
          </p:nvPr>
        </p:nvSpPr>
        <p:spPr>
          <a:xfrm>
            <a:off x="868476" y="9083316"/>
            <a:ext cx="1681480" cy="182245"/>
          </a:xfrm>
          <a:prstGeom prst="rect">
            <a:avLst/>
          </a:prstGeom>
          <a:noFill/>
          <a:ln>
            <a:noFill/>
          </a:ln>
        </p:spPr>
        <p:txBody>
          <a:bodyPr anchorCtr="0" anchor="t" bIns="0" lIns="0" spcFirstLastPara="1" rIns="0" wrap="square" tIns="0">
            <a:spAutoFit/>
          </a:bodyPr>
          <a:lstStyle/>
          <a:p>
            <a:pPr indent="0" lvl="0" marL="12700" rtl="0" algn="l">
              <a:lnSpc>
                <a:spcPct val="100000"/>
              </a:lnSpc>
              <a:spcBef>
                <a:spcPts val="0"/>
              </a:spcBef>
              <a:spcAft>
                <a:spcPts val="0"/>
              </a:spcAft>
              <a:buNone/>
            </a:pPr>
            <a:r>
              <a:rPr lang="en-US"/>
              <a:t>QAIN-11/31(14)/1/2023-CM</a:t>
            </a:r>
            <a:endParaRPr/>
          </a:p>
        </p:txBody>
      </p:sp>
      <p:sp>
        <p:nvSpPr>
          <p:cNvPr id="100" name="Google Shape;100;p12"/>
          <p:cNvSpPr txBox="1"/>
          <p:nvPr/>
        </p:nvSpPr>
        <p:spPr>
          <a:xfrm>
            <a:off x="685596" y="376781"/>
            <a:ext cx="2286204" cy="370999"/>
          </a:xfrm>
          <a:prstGeom prst="rect">
            <a:avLst/>
          </a:prstGeom>
          <a:noFill/>
          <a:ln>
            <a:noFill/>
          </a:ln>
        </p:spPr>
        <p:txBody>
          <a:bodyPr anchorCtr="0" anchor="t" bIns="0" lIns="0" spcFirstLastPara="1" rIns="0" wrap="square" tIns="12050">
            <a:spAutoFit/>
          </a:bodyPr>
          <a:lstStyle/>
          <a:p>
            <a:pPr indent="254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QA &amp; INSPECTION CIRCLE KL 	</a:t>
            </a:r>
            <a:endParaRPr sz="1100">
              <a:solidFill>
                <a:schemeClr val="dk1"/>
              </a:solidFill>
              <a:latin typeface="Arial"/>
              <a:ea typeface="Arial"/>
              <a:cs typeface="Arial"/>
              <a:sym typeface="Arial"/>
            </a:endParaRPr>
          </a:p>
        </p:txBody>
      </p:sp>
      <p:sp>
        <p:nvSpPr>
          <p:cNvPr id="101" name="Google Shape;101;p12"/>
          <p:cNvSpPr txBox="1"/>
          <p:nvPr/>
        </p:nvSpPr>
        <p:spPr>
          <a:xfrm>
            <a:off x="5249926" y="414883"/>
            <a:ext cx="1609725" cy="379095"/>
          </a:xfrm>
          <a:prstGeom prst="rect">
            <a:avLst/>
          </a:prstGeom>
          <a:noFill/>
          <a:ln>
            <a:noFill/>
          </a:ln>
        </p:spPr>
        <p:txBody>
          <a:bodyPr anchorCtr="0" anchor="t" bIns="0" lIns="0" spcFirstLastPara="1" rIns="0" wrap="square" tIns="12050">
            <a:spAutoFit/>
          </a:bodyPr>
          <a:lstStyle/>
          <a:p>
            <a:pPr indent="61595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4G PHASE IX.2  eNode-B A/T SCHEDULE</a:t>
            </a:r>
            <a:endParaRPr/>
          </a:p>
        </p:txBody>
      </p:sp>
      <p:sp>
        <p:nvSpPr>
          <p:cNvPr id="102" name="Google Shape;102;p12"/>
          <p:cNvSpPr txBox="1"/>
          <p:nvPr/>
        </p:nvSpPr>
        <p:spPr>
          <a:xfrm>
            <a:off x="978204" y="424027"/>
            <a:ext cx="1759585" cy="463460"/>
          </a:xfrm>
          <a:prstGeom prst="rect">
            <a:avLst/>
          </a:prstGeom>
          <a:noFill/>
          <a:ln>
            <a:noFill/>
          </a:ln>
        </p:spPr>
        <p:txBody>
          <a:bodyPr anchorCtr="0" anchor="t" bIns="0" lIns="0" spcFirstLastPara="1" rIns="0" wrap="square" tIns="12050">
            <a:spAutoFit/>
          </a:bodyPr>
          <a:lstStyle/>
          <a:p>
            <a:pPr indent="2540" lvl="0" marL="12700" marR="546735" rtl="0" algn="l">
              <a:lnSpc>
                <a:spcPct val="105500"/>
              </a:lnSpc>
              <a:spcBef>
                <a:spcPts val="0"/>
              </a:spcBef>
              <a:spcAft>
                <a:spcPts val="0"/>
              </a:spcAft>
              <a:buNone/>
            </a:pPr>
            <a:r>
              <a:t/>
            </a:r>
            <a:endParaRPr sz="1100">
              <a:solidFill>
                <a:schemeClr val="dk1"/>
              </a:solidFill>
              <a:latin typeface="Arial"/>
              <a:ea typeface="Arial"/>
              <a:cs typeface="Arial"/>
              <a:sym typeface="Arial"/>
            </a:endParaRPr>
          </a:p>
          <a:p>
            <a:pPr indent="0" lvl="0" marL="85725" marR="0" rtl="0" algn="l">
              <a:lnSpc>
                <a:spcPct val="100000"/>
              </a:lnSpc>
              <a:spcBef>
                <a:spcPts val="770"/>
              </a:spcBef>
              <a:spcAft>
                <a:spcPts val="0"/>
              </a:spcAft>
              <a:buNone/>
            </a:pPr>
            <a:r>
              <a:rPr b="1" lang="en-US" sz="1100">
                <a:solidFill>
                  <a:schemeClr val="dk1"/>
                </a:solidFill>
                <a:latin typeface="Arial"/>
                <a:ea typeface="Arial"/>
                <a:cs typeface="Arial"/>
                <a:sym typeface="Arial"/>
              </a:rPr>
              <a:t>PART-B:  SYSTEM TEST</a:t>
            </a:r>
            <a:endParaRPr sz="1100">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3"/>
          <p:cNvSpPr txBox="1"/>
          <p:nvPr/>
        </p:nvSpPr>
        <p:spPr>
          <a:xfrm>
            <a:off x="1768800" y="836925"/>
            <a:ext cx="4209118" cy="915172"/>
          </a:xfrm>
          <a:prstGeom prst="rect">
            <a:avLst/>
          </a:prstGeom>
          <a:noFill/>
          <a:ln>
            <a:noFill/>
          </a:ln>
        </p:spPr>
        <p:txBody>
          <a:bodyPr anchorCtr="0" anchor="t" bIns="0" lIns="0" spcFirstLastPara="1" rIns="0" wrap="square" tIns="17300">
            <a:spAutoFit/>
          </a:bodyPr>
          <a:lstStyle/>
          <a:p>
            <a:pPr indent="-253844" lvl="0" marL="265790" marR="4778" rtl="0" algn="just">
              <a:lnSpc>
                <a:spcPct val="119978"/>
              </a:lnSpc>
              <a:spcBef>
                <a:spcPts val="0"/>
              </a:spcBef>
              <a:spcAft>
                <a:spcPts val="0"/>
              </a:spcAft>
              <a:buClr>
                <a:schemeClr val="dk1"/>
              </a:buClr>
              <a:buSzPts val="1035"/>
              <a:buFont typeface="Arial"/>
              <a:buAutoNum type="romanLcPeriod" startAt="2"/>
            </a:pPr>
            <a:r>
              <a:rPr lang="en-US" sz="941">
                <a:solidFill>
                  <a:schemeClr val="dk1"/>
                </a:solidFill>
                <a:latin typeface="Arial"/>
                <a:ea typeface="Arial"/>
                <a:cs typeface="Arial"/>
                <a:sym typeface="Arial"/>
              </a:rPr>
              <a:t>Connect a Laptop with Control Card through RJ45/Console port. (CEF will be accessible	through RJ 45 and RAC through Console Port (Diag cable).</a:t>
            </a:r>
            <a:endParaRPr sz="941">
              <a:solidFill>
                <a:schemeClr val="dk1"/>
              </a:solidFill>
              <a:latin typeface="Arial"/>
              <a:ea typeface="Arial"/>
              <a:cs typeface="Arial"/>
              <a:sym typeface="Arial"/>
            </a:endParaRPr>
          </a:p>
          <a:p>
            <a:pPr indent="-253247" lvl="0" marL="265193" marR="0" rtl="0" algn="just">
              <a:lnSpc>
                <a:spcPct val="127417"/>
              </a:lnSpc>
              <a:spcBef>
                <a:spcPts val="0"/>
              </a:spcBef>
              <a:spcAft>
                <a:spcPts val="0"/>
              </a:spcAft>
              <a:buClr>
                <a:schemeClr val="dk1"/>
              </a:buClr>
              <a:buSzPts val="1035"/>
              <a:buFont typeface="Arial"/>
              <a:buAutoNum type="romanLcPeriod" startAt="2"/>
            </a:pPr>
            <a:r>
              <a:rPr lang="en-US" sz="941">
                <a:solidFill>
                  <a:schemeClr val="dk1"/>
                </a:solidFill>
                <a:latin typeface="Arial"/>
                <a:ea typeface="Arial"/>
                <a:cs typeface="Arial"/>
                <a:sym typeface="Arial"/>
              </a:rPr>
              <a:t>Login through eNode-B Maintenance Tool (Like LMT)/CLI.</a:t>
            </a:r>
            <a:endParaRPr sz="941">
              <a:solidFill>
                <a:schemeClr val="dk1"/>
              </a:solidFill>
              <a:latin typeface="Arial"/>
              <a:ea typeface="Arial"/>
              <a:cs typeface="Arial"/>
              <a:sym typeface="Arial"/>
            </a:endParaRPr>
          </a:p>
          <a:p>
            <a:pPr indent="-254442" lvl="0" marL="266388" marR="13737" rtl="0" algn="just">
              <a:lnSpc>
                <a:spcPct val="118164"/>
              </a:lnSpc>
              <a:spcBef>
                <a:spcPts val="61"/>
              </a:spcBef>
              <a:spcAft>
                <a:spcPts val="0"/>
              </a:spcAft>
              <a:buClr>
                <a:schemeClr val="dk1"/>
              </a:buClr>
              <a:buSzPts val="1035"/>
              <a:buFont typeface="Arial"/>
              <a:buAutoNum type="romanLcPeriod" startAt="2"/>
            </a:pPr>
            <a:r>
              <a:rPr lang="en-US" sz="941">
                <a:solidFill>
                  <a:schemeClr val="dk1"/>
                </a:solidFill>
                <a:latin typeface="Arial"/>
                <a:ea typeface="Arial"/>
                <a:cs typeface="Arial"/>
                <a:sym typeface="Arial"/>
              </a:rPr>
              <a:t>Check the working status of all cards by LMT/CLI. All cards should be healthy</a:t>
            </a:r>
            <a:r>
              <a:rPr lang="en-US" sz="1035">
                <a:solidFill>
                  <a:schemeClr val="dk1"/>
                </a:solidFill>
                <a:latin typeface="Arial"/>
                <a:ea typeface="Arial"/>
                <a:cs typeface="Arial"/>
                <a:sym typeface="Arial"/>
              </a:rPr>
              <a:t>.</a:t>
            </a:r>
            <a:endParaRPr sz="1035">
              <a:solidFill>
                <a:schemeClr val="dk1"/>
              </a:solidFill>
              <a:latin typeface="Arial"/>
              <a:ea typeface="Arial"/>
              <a:cs typeface="Arial"/>
              <a:sym typeface="Arial"/>
            </a:endParaRPr>
          </a:p>
        </p:txBody>
      </p:sp>
      <p:graphicFrame>
        <p:nvGraphicFramePr>
          <p:cNvPr id="108" name="Google Shape;108;p13"/>
          <p:cNvGraphicFramePr/>
          <p:nvPr/>
        </p:nvGraphicFramePr>
        <p:xfrm>
          <a:off x="1766410" y="1918621"/>
          <a:ext cx="3000000" cy="3000000"/>
        </p:xfrm>
        <a:graphic>
          <a:graphicData uri="http://schemas.openxmlformats.org/drawingml/2006/table">
            <a:tbl>
              <a:tblPr bandRow="1" firstRow="1">
                <a:noFill/>
                <a:tableStyleId>{FBDFD955-5028-4EC1-B6FB-75A9DF07899A}</a:tableStyleId>
              </a:tblPr>
              <a:tblGrid>
                <a:gridCol w="1442450"/>
                <a:gridCol w="1603125"/>
                <a:gridCol w="1922075"/>
              </a:tblGrid>
              <a:tr h="180375">
                <a:tc>
                  <a:txBody>
                    <a:bodyPr/>
                    <a:lstStyle/>
                    <a:p>
                      <a:pPr indent="0" lvl="0" marL="152400" marR="0" rtl="0" algn="l">
                        <a:lnSpc>
                          <a:spcPct val="100000"/>
                        </a:lnSpc>
                        <a:spcBef>
                          <a:spcPts val="0"/>
                        </a:spcBef>
                        <a:spcAft>
                          <a:spcPts val="0"/>
                        </a:spcAft>
                        <a:buNone/>
                      </a:pPr>
                      <a:r>
                        <a:rPr b="1" lang="en-US" sz="900" u="none" cap="none" strike="noStrike">
                          <a:latin typeface="Arial"/>
                          <a:ea typeface="Arial"/>
                          <a:cs typeface="Arial"/>
                          <a:sym typeface="Arial"/>
                        </a:rPr>
                        <a:t>Expected Results:</a:t>
                      </a:r>
                      <a:endParaRPr sz="900" u="none" cap="none" strike="noStrike">
                        <a:latin typeface="Arial"/>
                        <a:ea typeface="Arial"/>
                        <a:cs typeface="Arial"/>
                        <a:sym typeface="Arial"/>
                      </a:endParaRPr>
                    </a:p>
                  </a:txBody>
                  <a:tcPr marT="239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89535" rtl="0" algn="ctr">
                        <a:lnSpc>
                          <a:spcPct val="129444"/>
                        </a:lnSpc>
                        <a:spcBef>
                          <a:spcPts val="0"/>
                        </a:spcBef>
                        <a:spcAft>
                          <a:spcPts val="0"/>
                        </a:spcAft>
                        <a:buNone/>
                      </a:pPr>
                      <a:r>
                        <a:rPr lang="en-US" sz="900" u="none" cap="none" strike="noStrike">
                          <a:latin typeface="Arial"/>
                          <a:ea typeface="Arial"/>
                          <a:cs typeface="Arial"/>
                          <a:sym typeface="Arial"/>
                        </a:rPr>
                        <a:t>Status</a:t>
                      </a:r>
                      <a:endParaRPr sz="900" u="none" cap="none" strike="noStrike">
                        <a:latin typeface="Arial"/>
                        <a:ea typeface="Arial"/>
                        <a:cs typeface="Arial"/>
                        <a:sym typeface="Arial"/>
                      </a:endParaRPr>
                    </a:p>
                  </a:txBody>
                  <a:tcPr marT="29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83820" rtl="0" algn="ctr">
                        <a:lnSpc>
                          <a:spcPct val="129444"/>
                        </a:lnSpc>
                        <a:spcBef>
                          <a:spcPts val="0"/>
                        </a:spcBef>
                        <a:spcAft>
                          <a:spcPts val="0"/>
                        </a:spcAft>
                        <a:buNone/>
                      </a:pPr>
                      <a:r>
                        <a:rPr lang="en-US" sz="900" u="none" cap="none" strike="noStrike">
                          <a:latin typeface="Arial"/>
                          <a:ea typeface="Arial"/>
                          <a:cs typeface="Arial"/>
                          <a:sym typeface="Arial"/>
                        </a:rPr>
                        <a:t>OK/NOK</a:t>
                      </a:r>
                      <a:endParaRPr sz="900" u="none" cap="none" strike="noStrike">
                        <a:latin typeface="Arial"/>
                        <a:ea typeface="Arial"/>
                        <a:cs typeface="Arial"/>
                        <a:sym typeface="Arial"/>
                      </a:endParaRPr>
                    </a:p>
                  </a:txBody>
                  <a:tcPr marT="29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0375">
                <a:tc>
                  <a:txBody>
                    <a:bodyPr/>
                    <a:lstStyle/>
                    <a:p>
                      <a:pPr indent="0" lvl="0" marL="152400" marR="0" rtl="0" algn="l">
                        <a:lnSpc>
                          <a:spcPct val="132222"/>
                        </a:lnSpc>
                        <a:spcBef>
                          <a:spcPts val="0"/>
                        </a:spcBef>
                        <a:spcAft>
                          <a:spcPts val="0"/>
                        </a:spcAft>
                        <a:buNone/>
                      </a:pPr>
                      <a:r>
                        <a:rPr lang="en-US" sz="900" u="none" cap="none" strike="noStrike">
                          <a:latin typeface="Arial"/>
                          <a:ea typeface="Arial"/>
                          <a:cs typeface="Arial"/>
                          <a:sym typeface="Arial"/>
                        </a:rPr>
                        <a:t>i</a:t>
                      </a:r>
                      <a:endParaRPr sz="900" u="none" cap="none" strike="noStrike">
                        <a:latin typeface="Arial"/>
                        <a:ea typeface="Arial"/>
                        <a:cs typeface="Arial"/>
                        <a:sym typeface="Arial"/>
                      </a:endParaRPr>
                    </a:p>
                  </a:txBody>
                  <a:tcPr marT="26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94615" rtl="0" algn="ctr">
                        <a:lnSpc>
                          <a:spcPct val="129444"/>
                        </a:lnSpc>
                        <a:spcBef>
                          <a:spcPts val="0"/>
                        </a:spcBef>
                        <a:spcAft>
                          <a:spcPts val="0"/>
                        </a:spcAft>
                        <a:buNone/>
                      </a:pPr>
                      <a:r>
                        <a:rPr lang="en-US" sz="900" u="none" cap="none" strike="noStrike">
                          <a:latin typeface="Arial"/>
                          <a:ea typeface="Arial"/>
                          <a:cs typeface="Arial"/>
                          <a:sym typeface="Arial"/>
                        </a:rPr>
                        <a:t>OK</a:t>
                      </a:r>
                      <a:endParaRPr sz="900" u="none" cap="none" strike="noStrike">
                        <a:latin typeface="Arial"/>
                        <a:ea typeface="Arial"/>
                        <a:cs typeface="Arial"/>
                        <a:sym typeface="Arial"/>
                      </a:endParaRPr>
                    </a:p>
                  </a:txBody>
                  <a:tcPr marT="29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85090" rtl="0" algn="ctr">
                        <a:lnSpc>
                          <a:spcPct val="129444"/>
                        </a:lnSpc>
                        <a:spcBef>
                          <a:spcPts val="0"/>
                        </a:spcBef>
                        <a:spcAft>
                          <a:spcPts val="0"/>
                        </a:spcAft>
                        <a:buNone/>
                      </a:pPr>
                      <a:r>
                        <a:rPr lang="en-US" sz="900" u="none" cap="none" strike="noStrike">
                          <a:latin typeface="Arial"/>
                          <a:ea typeface="Arial"/>
                          <a:cs typeface="Arial"/>
                          <a:sym typeface="Arial"/>
                        </a:rPr>
                        <a:t>OK</a:t>
                      </a:r>
                      <a:endParaRPr sz="900" u="none" cap="none" strike="noStrike">
                        <a:latin typeface="Arial"/>
                        <a:ea typeface="Arial"/>
                        <a:cs typeface="Arial"/>
                        <a:sym typeface="Arial"/>
                      </a:endParaRPr>
                    </a:p>
                  </a:txBody>
                  <a:tcPr marT="29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0375">
                <a:tc>
                  <a:txBody>
                    <a:bodyPr/>
                    <a:lstStyle/>
                    <a:p>
                      <a:pPr indent="0" lvl="0" marL="152400" marR="0" rtl="0" algn="l">
                        <a:lnSpc>
                          <a:spcPct val="132222"/>
                        </a:lnSpc>
                        <a:spcBef>
                          <a:spcPts val="0"/>
                        </a:spcBef>
                        <a:spcAft>
                          <a:spcPts val="0"/>
                        </a:spcAft>
                        <a:buNone/>
                      </a:pPr>
                      <a:r>
                        <a:rPr lang="en-US" sz="900" u="none" cap="none" strike="noStrike">
                          <a:latin typeface="Arial"/>
                          <a:ea typeface="Arial"/>
                          <a:cs typeface="Arial"/>
                          <a:sym typeface="Arial"/>
                        </a:rPr>
                        <a:t>ii</a:t>
                      </a:r>
                      <a:endParaRPr sz="900" u="none" cap="none" strike="noStrike">
                        <a:latin typeface="Arial"/>
                        <a:ea typeface="Arial"/>
                        <a:cs typeface="Arial"/>
                        <a:sym typeface="Arial"/>
                      </a:endParaRPr>
                    </a:p>
                  </a:txBody>
                  <a:tcPr marT="26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94615" rtl="0" algn="ctr">
                        <a:lnSpc>
                          <a:spcPct val="129444"/>
                        </a:lnSpc>
                        <a:spcBef>
                          <a:spcPts val="0"/>
                        </a:spcBef>
                        <a:spcAft>
                          <a:spcPts val="0"/>
                        </a:spcAft>
                        <a:buNone/>
                      </a:pPr>
                      <a:r>
                        <a:rPr lang="en-US" sz="900" u="none" cap="none" strike="noStrike">
                          <a:latin typeface="Arial"/>
                          <a:ea typeface="Arial"/>
                          <a:cs typeface="Arial"/>
                          <a:sym typeface="Arial"/>
                        </a:rPr>
                        <a:t>OK</a:t>
                      </a:r>
                      <a:endParaRPr sz="900" u="none" cap="none" strike="noStrike">
                        <a:latin typeface="Arial"/>
                        <a:ea typeface="Arial"/>
                        <a:cs typeface="Arial"/>
                        <a:sym typeface="Arial"/>
                      </a:endParaRPr>
                    </a:p>
                  </a:txBody>
                  <a:tcPr marT="29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85090" rtl="0" algn="ctr">
                        <a:lnSpc>
                          <a:spcPct val="129444"/>
                        </a:lnSpc>
                        <a:spcBef>
                          <a:spcPts val="0"/>
                        </a:spcBef>
                        <a:spcAft>
                          <a:spcPts val="0"/>
                        </a:spcAft>
                        <a:buNone/>
                      </a:pPr>
                      <a:r>
                        <a:rPr lang="en-US" sz="900" u="none" cap="none" strike="noStrike">
                          <a:latin typeface="Arial"/>
                          <a:ea typeface="Arial"/>
                          <a:cs typeface="Arial"/>
                          <a:sym typeface="Arial"/>
                        </a:rPr>
                        <a:t>OK</a:t>
                      </a:r>
                      <a:endParaRPr sz="900" u="none" cap="none" strike="noStrike">
                        <a:latin typeface="Arial"/>
                        <a:ea typeface="Arial"/>
                        <a:cs typeface="Arial"/>
                        <a:sym typeface="Arial"/>
                      </a:endParaRPr>
                    </a:p>
                  </a:txBody>
                  <a:tcPr marT="29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3375">
                <a:tc>
                  <a:txBody>
                    <a:bodyPr/>
                    <a:lstStyle/>
                    <a:p>
                      <a:pPr indent="0" lvl="0" marL="152400" marR="0" rtl="0" algn="l">
                        <a:lnSpc>
                          <a:spcPct val="100000"/>
                        </a:lnSpc>
                        <a:spcBef>
                          <a:spcPts val="0"/>
                        </a:spcBef>
                        <a:spcAft>
                          <a:spcPts val="0"/>
                        </a:spcAft>
                        <a:buNone/>
                      </a:pPr>
                      <a:r>
                        <a:rPr lang="en-US" sz="900" u="none" cap="none" strike="noStrike">
                          <a:latin typeface="Arial"/>
                          <a:ea typeface="Arial"/>
                          <a:cs typeface="Arial"/>
                          <a:sym typeface="Arial"/>
                        </a:rPr>
                        <a:t>iii</a:t>
                      </a:r>
                      <a:endParaRPr sz="900" u="none" cap="none" strike="noStrike">
                        <a:latin typeface="Arial"/>
                        <a:ea typeface="Arial"/>
                        <a:cs typeface="Arial"/>
                        <a:sym typeface="Arial"/>
                      </a:endParaRPr>
                    </a:p>
                  </a:txBody>
                  <a:tcPr marT="268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94615" rtl="0" algn="ctr">
                        <a:lnSpc>
                          <a:spcPct val="132222"/>
                        </a:lnSpc>
                        <a:spcBef>
                          <a:spcPts val="0"/>
                        </a:spcBef>
                        <a:spcAft>
                          <a:spcPts val="0"/>
                        </a:spcAft>
                        <a:buNone/>
                      </a:pPr>
                      <a:r>
                        <a:rPr lang="en-US" sz="900" u="none" cap="none" strike="noStrike">
                          <a:latin typeface="Arial"/>
                          <a:ea typeface="Arial"/>
                          <a:cs typeface="Arial"/>
                          <a:sym typeface="Arial"/>
                        </a:rPr>
                        <a:t>OK</a:t>
                      </a:r>
                      <a:endParaRPr sz="900" u="none" cap="none" strike="noStrike">
                        <a:latin typeface="Arial"/>
                        <a:ea typeface="Arial"/>
                        <a:cs typeface="Arial"/>
                        <a:sym typeface="Arial"/>
                      </a:endParaRPr>
                    </a:p>
                  </a:txBody>
                  <a:tcPr marT="298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85090" rtl="0" algn="ctr">
                        <a:lnSpc>
                          <a:spcPct val="132222"/>
                        </a:lnSpc>
                        <a:spcBef>
                          <a:spcPts val="0"/>
                        </a:spcBef>
                        <a:spcAft>
                          <a:spcPts val="0"/>
                        </a:spcAft>
                        <a:buNone/>
                      </a:pPr>
                      <a:r>
                        <a:rPr lang="en-US" sz="900" u="none" cap="none" strike="noStrike">
                          <a:latin typeface="Arial"/>
                          <a:ea typeface="Arial"/>
                          <a:cs typeface="Arial"/>
                          <a:sym typeface="Arial"/>
                        </a:rPr>
                        <a:t>OK</a:t>
                      </a:r>
                      <a:endParaRPr sz="900" u="none" cap="none" strike="noStrike">
                        <a:latin typeface="Arial"/>
                        <a:ea typeface="Arial"/>
                        <a:cs typeface="Arial"/>
                        <a:sym typeface="Arial"/>
                      </a:endParaRPr>
                    </a:p>
                  </a:txBody>
                  <a:tcPr marT="298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0375">
                <a:tc>
                  <a:txBody>
                    <a:bodyPr/>
                    <a:lstStyle/>
                    <a:p>
                      <a:pPr indent="0" lvl="0" marL="152400" marR="0" rtl="0" algn="l">
                        <a:lnSpc>
                          <a:spcPct val="132222"/>
                        </a:lnSpc>
                        <a:spcBef>
                          <a:spcPts val="0"/>
                        </a:spcBef>
                        <a:spcAft>
                          <a:spcPts val="0"/>
                        </a:spcAft>
                        <a:buNone/>
                      </a:pPr>
                      <a:r>
                        <a:rPr lang="en-US" sz="900" u="none" cap="none" strike="noStrike">
                          <a:latin typeface="Arial"/>
                          <a:ea typeface="Arial"/>
                          <a:cs typeface="Arial"/>
                          <a:sym typeface="Arial"/>
                        </a:rPr>
                        <a:t>iv</a:t>
                      </a:r>
                      <a:endParaRPr sz="900" u="none" cap="none" strike="noStrike">
                        <a:latin typeface="Arial"/>
                        <a:ea typeface="Arial"/>
                        <a:cs typeface="Arial"/>
                        <a:sym typeface="Arial"/>
                      </a:endParaRPr>
                    </a:p>
                  </a:txBody>
                  <a:tcPr marT="26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94615" rtl="0" algn="ctr">
                        <a:lnSpc>
                          <a:spcPct val="132222"/>
                        </a:lnSpc>
                        <a:spcBef>
                          <a:spcPts val="0"/>
                        </a:spcBef>
                        <a:spcAft>
                          <a:spcPts val="0"/>
                        </a:spcAft>
                        <a:buNone/>
                      </a:pPr>
                      <a:r>
                        <a:rPr lang="en-US" sz="900" u="none" cap="none" strike="noStrike">
                          <a:latin typeface="Arial"/>
                          <a:ea typeface="Arial"/>
                          <a:cs typeface="Arial"/>
                          <a:sym typeface="Arial"/>
                        </a:rPr>
                        <a:t>OK</a:t>
                      </a:r>
                      <a:endParaRPr sz="900" u="none" cap="none" strike="noStrike">
                        <a:latin typeface="Arial"/>
                        <a:ea typeface="Arial"/>
                        <a:cs typeface="Arial"/>
                        <a:sym typeface="Arial"/>
                      </a:endParaRPr>
                    </a:p>
                  </a:txBody>
                  <a:tcPr marT="26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85090" rtl="0" algn="ctr">
                        <a:lnSpc>
                          <a:spcPct val="132222"/>
                        </a:lnSpc>
                        <a:spcBef>
                          <a:spcPts val="0"/>
                        </a:spcBef>
                        <a:spcAft>
                          <a:spcPts val="0"/>
                        </a:spcAft>
                        <a:buNone/>
                      </a:pPr>
                      <a:r>
                        <a:rPr lang="en-US" sz="900" u="none" cap="none" strike="noStrike">
                          <a:latin typeface="Arial"/>
                          <a:ea typeface="Arial"/>
                          <a:cs typeface="Arial"/>
                          <a:sym typeface="Arial"/>
                        </a:rPr>
                        <a:t>OK</a:t>
                      </a:r>
                      <a:endParaRPr sz="900" u="none" cap="none" strike="noStrike">
                        <a:latin typeface="Arial"/>
                        <a:ea typeface="Arial"/>
                        <a:cs typeface="Arial"/>
                        <a:sym typeface="Arial"/>
                      </a:endParaRPr>
                    </a:p>
                  </a:txBody>
                  <a:tcPr marT="26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09" name="Google Shape;109;p13"/>
          <p:cNvSpPr txBox="1"/>
          <p:nvPr/>
        </p:nvSpPr>
        <p:spPr>
          <a:xfrm>
            <a:off x="1243827" y="3079519"/>
            <a:ext cx="5051897" cy="479681"/>
          </a:xfrm>
          <a:prstGeom prst="rect">
            <a:avLst/>
          </a:prstGeom>
          <a:noFill/>
          <a:ln>
            <a:noFill/>
          </a:ln>
        </p:spPr>
        <p:txBody>
          <a:bodyPr anchorCtr="0" anchor="t" bIns="0" lIns="0" spcFirstLastPara="1" rIns="0" wrap="square" tIns="16125">
            <a:spAutoFit/>
          </a:bodyPr>
          <a:lstStyle/>
          <a:p>
            <a:pPr indent="-218605" lvl="0" marL="229953" marR="4778" rtl="0" algn="just">
              <a:lnSpc>
                <a:spcPct val="97400"/>
              </a:lnSpc>
              <a:spcBef>
                <a:spcPts val="0"/>
              </a:spcBef>
              <a:spcAft>
                <a:spcPts val="0"/>
              </a:spcAft>
              <a:buNone/>
            </a:pPr>
            <a:r>
              <a:rPr b="1" lang="en-US" sz="1035">
                <a:solidFill>
                  <a:schemeClr val="dk1"/>
                </a:solidFill>
                <a:latin typeface="Arial"/>
                <a:ea typeface="Arial"/>
                <a:cs typeface="Arial"/>
                <a:sym typeface="Arial"/>
              </a:rPr>
              <a:t>2.  Installation, cabling and marking: </a:t>
            </a:r>
            <a:r>
              <a:rPr lang="en-US" sz="1035">
                <a:solidFill>
                  <a:schemeClr val="dk1"/>
                </a:solidFill>
                <a:latin typeface="Arial"/>
                <a:ea typeface="Arial"/>
                <a:cs typeface="Arial"/>
                <a:sym typeface="Arial"/>
              </a:rPr>
              <a:t>All cabling should be done by straight wire without having any joint in between. Marking should be at both ends to identify the cable as per documentation and correlate both ends.</a:t>
            </a:r>
            <a:endParaRPr sz="1035">
              <a:solidFill>
                <a:schemeClr val="dk1"/>
              </a:solidFill>
              <a:latin typeface="Arial"/>
              <a:ea typeface="Arial"/>
              <a:cs typeface="Arial"/>
              <a:sym typeface="Arial"/>
            </a:endParaRPr>
          </a:p>
        </p:txBody>
      </p:sp>
      <p:graphicFrame>
        <p:nvGraphicFramePr>
          <p:cNvPr id="110" name="Google Shape;110;p13"/>
          <p:cNvGraphicFramePr/>
          <p:nvPr/>
        </p:nvGraphicFramePr>
        <p:xfrm>
          <a:off x="1571453" y="3926120"/>
          <a:ext cx="3000000" cy="3000000"/>
        </p:xfrm>
        <a:graphic>
          <a:graphicData uri="http://schemas.openxmlformats.org/drawingml/2006/table">
            <a:tbl>
              <a:tblPr bandRow="1" firstRow="1">
                <a:noFill/>
                <a:tableStyleId>{FBDFD955-5028-4EC1-B6FB-75A9DF07899A}</a:tableStyleId>
              </a:tblPr>
              <a:tblGrid>
                <a:gridCol w="3277950"/>
                <a:gridCol w="1453800"/>
                <a:gridCol w="894750"/>
              </a:tblGrid>
              <a:tr h="226375">
                <a:tc>
                  <a:txBody>
                    <a:bodyPr/>
                    <a:lstStyle/>
                    <a:p>
                      <a:pPr indent="0" lvl="0" marL="69850" marR="0" rtl="0" algn="l">
                        <a:lnSpc>
                          <a:spcPct val="100000"/>
                        </a:lnSpc>
                        <a:spcBef>
                          <a:spcPts val="0"/>
                        </a:spcBef>
                        <a:spcAft>
                          <a:spcPts val="0"/>
                        </a:spcAft>
                        <a:buNone/>
                      </a:pPr>
                      <a:r>
                        <a:rPr b="1" lang="en-US" sz="1000" u="none" cap="none" strike="noStrike">
                          <a:latin typeface="Arial"/>
                          <a:ea typeface="Arial"/>
                          <a:cs typeface="Arial"/>
                          <a:sym typeface="Arial"/>
                        </a:rPr>
                        <a:t>CHECK</a:t>
                      </a:r>
                      <a:endParaRPr sz="1000" u="none" cap="none" strike="noStrike">
                        <a:latin typeface="Arial"/>
                        <a:ea typeface="Arial"/>
                        <a:cs typeface="Arial"/>
                        <a:sym typeface="Arial"/>
                      </a:endParaRPr>
                    </a:p>
                  </a:txBody>
                  <a:tcPr marT="233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73025" marR="0" rtl="0" algn="l">
                        <a:lnSpc>
                          <a:spcPct val="100000"/>
                        </a:lnSpc>
                        <a:spcBef>
                          <a:spcPts val="0"/>
                        </a:spcBef>
                        <a:spcAft>
                          <a:spcPts val="0"/>
                        </a:spcAft>
                        <a:buNone/>
                      </a:pPr>
                      <a:r>
                        <a:rPr b="1" lang="en-US" sz="1000" u="none" cap="none" strike="noStrike">
                          <a:latin typeface="Arial"/>
                          <a:ea typeface="Arial"/>
                          <a:cs typeface="Arial"/>
                          <a:sym typeface="Arial"/>
                        </a:rPr>
                        <a:t>STATUS (OK/NOK)</a:t>
                      </a:r>
                      <a:endParaRPr sz="1000" u="none" cap="none" strike="noStrike">
                        <a:latin typeface="Arial"/>
                        <a:ea typeface="Arial"/>
                        <a:cs typeface="Arial"/>
                        <a:sym typeface="Arial"/>
                      </a:endParaRPr>
                    </a:p>
                  </a:txBody>
                  <a:tcPr marT="233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70485" marR="0" rtl="0" algn="l">
                        <a:lnSpc>
                          <a:spcPct val="100000"/>
                        </a:lnSpc>
                        <a:spcBef>
                          <a:spcPts val="0"/>
                        </a:spcBef>
                        <a:spcAft>
                          <a:spcPts val="0"/>
                        </a:spcAft>
                        <a:buNone/>
                      </a:pPr>
                      <a:r>
                        <a:rPr b="1" lang="en-US" sz="1000" u="none" cap="none" strike="noStrike">
                          <a:latin typeface="Arial"/>
                          <a:ea typeface="Arial"/>
                          <a:cs typeface="Arial"/>
                          <a:sym typeface="Arial"/>
                        </a:rPr>
                        <a:t>REMARK</a:t>
                      </a:r>
                      <a:endParaRPr sz="1000" u="none" cap="none" strike="noStrike">
                        <a:latin typeface="Arial"/>
                        <a:ea typeface="Arial"/>
                        <a:cs typeface="Arial"/>
                        <a:sym typeface="Arial"/>
                      </a:endParaRPr>
                    </a:p>
                  </a:txBody>
                  <a:tcPr marT="233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8075">
                <a:tc>
                  <a:txBody>
                    <a:bodyPr/>
                    <a:lstStyle/>
                    <a:p>
                      <a:pPr indent="0" lvl="0" marL="69850" marR="215900" rtl="0" algn="l">
                        <a:lnSpc>
                          <a:spcPct val="127000"/>
                        </a:lnSpc>
                        <a:spcBef>
                          <a:spcPts val="0"/>
                        </a:spcBef>
                        <a:spcAft>
                          <a:spcPts val="0"/>
                        </a:spcAft>
                        <a:buNone/>
                      </a:pPr>
                      <a:r>
                        <a:rPr lang="en-US" sz="1000" u="none" cap="none" strike="noStrike">
                          <a:latin typeface="Arial"/>
                          <a:ea typeface="Arial"/>
                          <a:cs typeface="Arial"/>
                          <a:sym typeface="Arial"/>
                        </a:rPr>
                        <a:t>Check the installation and cabling, crimping of cable and iron work of the eNode-B.</a:t>
                      </a:r>
                      <a:endParaRPr sz="1000" u="none" cap="none" strike="noStrike">
                        <a:latin typeface="Arial"/>
                        <a:ea typeface="Arial"/>
                        <a:cs typeface="Arial"/>
                        <a:sym typeface="Arial"/>
                      </a:endParaRPr>
                    </a:p>
                  </a:txBody>
                  <a:tcPr marT="388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175" marR="0" rtl="0" algn="ctr">
                        <a:lnSpc>
                          <a:spcPct val="125000"/>
                        </a:lnSpc>
                        <a:spcBef>
                          <a:spcPts val="0"/>
                        </a:spcBef>
                        <a:spcAft>
                          <a:spcPts val="0"/>
                        </a:spcAft>
                        <a:buNone/>
                      </a:pPr>
                      <a:r>
                        <a:rPr lang="en-US" sz="1000" u="none" cap="none" strike="noStrike">
                          <a:latin typeface="Times New Roman"/>
                          <a:ea typeface="Times New Roman"/>
                          <a:cs typeface="Times New Roman"/>
                          <a:sym typeface="Times New Roman"/>
                        </a:rPr>
                        <a:t>OK</a:t>
                      </a:r>
                      <a:endParaRPr sz="10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75">
                <a:tc>
                  <a:txBody>
                    <a:bodyPr/>
                    <a:lstStyle/>
                    <a:p>
                      <a:pPr indent="0" lvl="0" marL="69850" marR="386080" rtl="0" algn="l">
                        <a:lnSpc>
                          <a:spcPct val="127000"/>
                        </a:lnSpc>
                        <a:spcBef>
                          <a:spcPts val="0"/>
                        </a:spcBef>
                        <a:spcAft>
                          <a:spcPts val="0"/>
                        </a:spcAft>
                        <a:buNone/>
                      </a:pPr>
                      <a:r>
                        <a:rPr lang="en-US" sz="1000" u="none" cap="none" strike="noStrike">
                          <a:latin typeface="Arial"/>
                          <a:ea typeface="Arial"/>
                          <a:cs typeface="Arial"/>
                          <a:sym typeface="Arial"/>
                        </a:rPr>
                        <a:t>Check of proper laying of CPRI &amp; its termination / RF connectors &amp; sealing of CPRI cable.</a:t>
                      </a:r>
                      <a:endParaRPr sz="1000" u="none" cap="none" strike="noStrike">
                        <a:latin typeface="Arial"/>
                        <a:ea typeface="Arial"/>
                        <a:cs typeface="Arial"/>
                        <a:sym typeface="Arial"/>
                      </a:endParaRPr>
                    </a:p>
                  </a:txBody>
                  <a:tcPr marT="388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175" marR="0" rtl="0" algn="ctr">
                        <a:lnSpc>
                          <a:spcPct val="125000"/>
                        </a:lnSpc>
                        <a:spcBef>
                          <a:spcPts val="0"/>
                        </a:spcBef>
                        <a:spcAft>
                          <a:spcPts val="0"/>
                        </a:spcAft>
                        <a:buNone/>
                      </a:pPr>
                      <a:r>
                        <a:rPr lang="en-US" sz="1000" u="none" cap="none" strike="noStrike">
                          <a:latin typeface="Times New Roman"/>
                          <a:ea typeface="Times New Roman"/>
                          <a:cs typeface="Times New Roman"/>
                          <a:sym typeface="Times New Roman"/>
                        </a:rPr>
                        <a:t>OK</a:t>
                      </a:r>
                      <a:endParaRPr sz="10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28750">
                <a:tc>
                  <a:txBody>
                    <a:bodyPr/>
                    <a:lstStyle/>
                    <a:p>
                      <a:pPr indent="0" lvl="0" marL="69850" marR="0" rtl="0" algn="l">
                        <a:lnSpc>
                          <a:spcPct val="100000"/>
                        </a:lnSpc>
                        <a:spcBef>
                          <a:spcPts val="0"/>
                        </a:spcBef>
                        <a:spcAft>
                          <a:spcPts val="0"/>
                        </a:spcAft>
                        <a:buNone/>
                      </a:pPr>
                      <a:r>
                        <a:rPr lang="en-US" sz="1000" u="none" cap="none" strike="noStrike">
                          <a:latin typeface="Arial"/>
                          <a:ea typeface="Arial"/>
                          <a:cs typeface="Arial"/>
                          <a:sym typeface="Arial"/>
                        </a:rPr>
                        <a:t>Labelling of CPRI.</a:t>
                      </a:r>
                      <a:endParaRPr sz="1000" u="none" cap="none" strike="noStrike">
                        <a:latin typeface="Arial"/>
                        <a:ea typeface="Arial"/>
                        <a:cs typeface="Arial"/>
                        <a:sym typeface="Arial"/>
                      </a:endParaRPr>
                    </a:p>
                  </a:txBody>
                  <a:tcPr marT="29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175" marR="0" rtl="0" algn="ctr">
                        <a:lnSpc>
                          <a:spcPct val="123000"/>
                        </a:lnSpc>
                        <a:spcBef>
                          <a:spcPts val="0"/>
                        </a:spcBef>
                        <a:spcAft>
                          <a:spcPts val="0"/>
                        </a:spcAft>
                        <a:buNone/>
                      </a:pPr>
                      <a:r>
                        <a:rPr lang="en-US" sz="1000" u="none" cap="none" strike="noStrike">
                          <a:latin typeface="Times New Roman"/>
                          <a:ea typeface="Times New Roman"/>
                          <a:cs typeface="Times New Roman"/>
                          <a:sym typeface="Times New Roman"/>
                        </a:rPr>
                        <a:t>OK</a:t>
                      </a:r>
                      <a:endParaRPr sz="10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69775">
                <a:tc>
                  <a:txBody>
                    <a:bodyPr/>
                    <a:lstStyle/>
                    <a:p>
                      <a:pPr indent="0" lvl="0" marL="69850" marR="0" rtl="0" algn="l">
                        <a:lnSpc>
                          <a:spcPct val="100000"/>
                        </a:lnSpc>
                        <a:spcBef>
                          <a:spcPts val="0"/>
                        </a:spcBef>
                        <a:spcAft>
                          <a:spcPts val="0"/>
                        </a:spcAft>
                        <a:buNone/>
                      </a:pPr>
                      <a:r>
                        <a:rPr lang="en-US" sz="1000" u="none" cap="none" strike="noStrike">
                          <a:latin typeface="Arial"/>
                          <a:ea typeface="Arial"/>
                          <a:cs typeface="Arial"/>
                          <a:sym typeface="Arial"/>
                        </a:rPr>
                        <a:t>CPRI Details.</a:t>
                      </a:r>
                      <a:endParaRPr sz="1000" u="none" cap="none" strike="noStrike">
                        <a:latin typeface="Arial"/>
                        <a:ea typeface="Arial"/>
                        <a:cs typeface="Arial"/>
                        <a:sym typeface="Arial"/>
                      </a:endParaRPr>
                    </a:p>
                  </a:txBody>
                  <a:tcPr marT="26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72390" marR="0" rtl="0" algn="ctr">
                        <a:lnSpc>
                          <a:spcPct val="100000"/>
                        </a:lnSpc>
                        <a:spcBef>
                          <a:spcPts val="0"/>
                        </a:spcBef>
                        <a:spcAft>
                          <a:spcPts val="0"/>
                        </a:spcAft>
                        <a:buNone/>
                      </a:pPr>
                      <a:r>
                        <a:rPr lang="en-US" sz="1000" u="none" cap="none" strike="noStrike">
                          <a:latin typeface="Times New Roman"/>
                          <a:ea typeface="Times New Roman"/>
                          <a:cs typeface="Times New Roman"/>
                          <a:sym typeface="Times New Roman"/>
                        </a:rPr>
                        <a:t>Make:</a:t>
                      </a:r>
                      <a:endParaRPr sz="1000" u="none" cap="none" strike="noStrike">
                        <a:latin typeface="Times New Roman"/>
                        <a:ea typeface="Times New Roman"/>
                        <a:cs typeface="Times New Roman"/>
                        <a:sym typeface="Times New Roman"/>
                      </a:endParaRPr>
                    </a:p>
                  </a:txBody>
                  <a:tcPr marT="233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70485" marR="0" rtl="0" algn="l">
                        <a:lnSpc>
                          <a:spcPct val="100000"/>
                        </a:lnSpc>
                        <a:spcBef>
                          <a:spcPts val="0"/>
                        </a:spcBef>
                        <a:spcAft>
                          <a:spcPts val="0"/>
                        </a:spcAft>
                        <a:buNone/>
                      </a:pPr>
                      <a:r>
                        <a:rPr lang="en-US" sz="1000" u="none" cap="none" strike="noStrike">
                          <a:latin typeface="Times New Roman"/>
                          <a:ea typeface="Times New Roman"/>
                          <a:cs typeface="Times New Roman"/>
                          <a:sym typeface="Times New Roman"/>
                        </a:rPr>
                        <a:t>Size: 60m</a:t>
                      </a:r>
                      <a:endParaRPr sz="1000" u="none" cap="none" strike="noStrike">
                        <a:latin typeface="Times New Roman"/>
                        <a:ea typeface="Times New Roman"/>
                        <a:cs typeface="Times New Roman"/>
                        <a:sym typeface="Times New Roman"/>
                      </a:endParaRPr>
                    </a:p>
                  </a:txBody>
                  <a:tcPr marT="233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06400">
                <a:tc>
                  <a:txBody>
                    <a:bodyPr/>
                    <a:lstStyle/>
                    <a:p>
                      <a:pPr indent="0" lvl="0" marL="69850" marR="0" rtl="0" algn="l">
                        <a:lnSpc>
                          <a:spcPct val="100000"/>
                        </a:lnSpc>
                        <a:spcBef>
                          <a:spcPts val="0"/>
                        </a:spcBef>
                        <a:spcAft>
                          <a:spcPts val="0"/>
                        </a:spcAft>
                        <a:buNone/>
                      </a:pPr>
                      <a:r>
                        <a:rPr lang="en-US" sz="1000" u="none" cap="none" strike="noStrike">
                          <a:latin typeface="Arial"/>
                          <a:ea typeface="Arial"/>
                          <a:cs typeface="Arial"/>
                          <a:sym typeface="Arial"/>
                        </a:rPr>
                        <a:t>Data Rate/CPRI.</a:t>
                      </a:r>
                      <a:endParaRPr sz="1000" u="none" cap="none" strike="noStrike">
                        <a:latin typeface="Arial"/>
                        <a:ea typeface="Arial"/>
                        <a:cs typeface="Arial"/>
                        <a:sym typeface="Arial"/>
                      </a:endParaRPr>
                    </a:p>
                  </a:txBody>
                  <a:tcPr marT="26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905" marR="0" rtl="0" algn="ctr">
                        <a:lnSpc>
                          <a:spcPct val="120500"/>
                        </a:lnSpc>
                        <a:spcBef>
                          <a:spcPts val="0"/>
                        </a:spcBef>
                        <a:spcAft>
                          <a:spcPts val="0"/>
                        </a:spcAft>
                        <a:buNone/>
                      </a:pPr>
                      <a:r>
                        <a:rPr lang="en-US" sz="1000" u="none" cap="none" strike="noStrike">
                          <a:latin typeface="Times New Roman"/>
                          <a:ea typeface="Times New Roman"/>
                          <a:cs typeface="Times New Roman"/>
                          <a:sym typeface="Times New Roman"/>
                        </a:rPr>
                        <a:t>1.2GBPS per CPRI/Huber</a:t>
                      </a:r>
                      <a:endParaRPr sz="1000" u="none" cap="none" strike="noStrike">
                        <a:latin typeface="Times New Roman"/>
                        <a:ea typeface="Times New Roman"/>
                        <a:cs typeface="Times New Roman"/>
                        <a:sym typeface="Times New Roman"/>
                      </a:endParaRPr>
                    </a:p>
                    <a:p>
                      <a:pPr indent="0" lvl="0" marL="2540" marR="0" rtl="0" algn="ctr">
                        <a:lnSpc>
                          <a:spcPct val="126500"/>
                        </a:lnSpc>
                        <a:spcBef>
                          <a:spcPts val="0"/>
                        </a:spcBef>
                        <a:spcAft>
                          <a:spcPts val="0"/>
                        </a:spcAft>
                        <a:buNone/>
                      </a:pPr>
                      <a:r>
                        <a:rPr lang="en-US" sz="1000" u="none" cap="none" strike="noStrike">
                          <a:latin typeface="Times New Roman"/>
                          <a:ea typeface="Times New Roman"/>
                          <a:cs typeface="Times New Roman"/>
                          <a:sym typeface="Times New Roman"/>
                        </a:rPr>
                        <a:t>+ Suhnu</a:t>
                      </a:r>
                      <a:endParaRPr sz="10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900" u="none" cap="none" strike="noStrike">
                          <a:latin typeface="Times New Roman"/>
                          <a:ea typeface="Times New Roman"/>
                          <a:cs typeface="Times New Roman"/>
                          <a:sym typeface="Times New Roman"/>
                        </a:rPr>
                        <a:t>    </a:t>
                      </a:r>
                      <a:endParaRPr sz="9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11" name="Google Shape;111;p13"/>
          <p:cNvSpPr txBox="1"/>
          <p:nvPr/>
        </p:nvSpPr>
        <p:spPr>
          <a:xfrm>
            <a:off x="1243827" y="6041968"/>
            <a:ext cx="1564307" cy="171940"/>
          </a:xfrm>
          <a:prstGeom prst="rect">
            <a:avLst/>
          </a:prstGeom>
          <a:noFill/>
          <a:ln>
            <a:noFill/>
          </a:ln>
        </p:spPr>
        <p:txBody>
          <a:bodyPr anchorCtr="0" anchor="t" bIns="0" lIns="0" spcFirstLastPara="1" rIns="0" wrap="square" tIns="12525">
            <a:spAutoFit/>
          </a:bodyPr>
          <a:lstStyle/>
          <a:p>
            <a:pPr indent="0" lvl="0" marL="11946" marR="0" rtl="0" algn="l">
              <a:spcBef>
                <a:spcPts val="0"/>
              </a:spcBef>
              <a:spcAft>
                <a:spcPts val="0"/>
              </a:spcAft>
              <a:buNone/>
            </a:pPr>
            <a:r>
              <a:rPr b="1" lang="en-US" sz="1035">
                <a:solidFill>
                  <a:schemeClr val="dk1"/>
                </a:solidFill>
                <a:latin typeface="Arial"/>
                <a:ea typeface="Arial"/>
                <a:cs typeface="Arial"/>
                <a:sym typeface="Arial"/>
              </a:rPr>
              <a:t>3.  Power Measurement:</a:t>
            </a:r>
            <a:endParaRPr sz="1035">
              <a:solidFill>
                <a:schemeClr val="dk1"/>
              </a:solidFill>
              <a:latin typeface="Arial"/>
              <a:ea typeface="Arial"/>
              <a:cs typeface="Arial"/>
              <a:sym typeface="Arial"/>
            </a:endParaRPr>
          </a:p>
        </p:txBody>
      </p:sp>
      <p:graphicFrame>
        <p:nvGraphicFramePr>
          <p:cNvPr id="112" name="Google Shape;112;p13"/>
          <p:cNvGraphicFramePr/>
          <p:nvPr/>
        </p:nvGraphicFramePr>
        <p:xfrm>
          <a:off x="1571453" y="6225934"/>
          <a:ext cx="3000000" cy="3000000"/>
        </p:xfrm>
        <a:graphic>
          <a:graphicData uri="http://schemas.openxmlformats.org/drawingml/2006/table">
            <a:tbl>
              <a:tblPr bandRow="1" firstRow="1">
                <a:noFill/>
                <a:tableStyleId>{FBDFD955-5028-4EC1-B6FB-75A9DF07899A}</a:tableStyleId>
              </a:tblPr>
              <a:tblGrid>
                <a:gridCol w="2580900"/>
                <a:gridCol w="1345100"/>
                <a:gridCol w="1612100"/>
              </a:tblGrid>
              <a:tr h="229350">
                <a:tc>
                  <a:txBody>
                    <a:bodyPr/>
                    <a:lstStyle/>
                    <a:p>
                      <a:pPr indent="0" lvl="0" marL="69850" marR="0" rtl="0" algn="l">
                        <a:lnSpc>
                          <a:spcPct val="100000"/>
                        </a:lnSpc>
                        <a:spcBef>
                          <a:spcPts val="0"/>
                        </a:spcBef>
                        <a:spcAft>
                          <a:spcPts val="0"/>
                        </a:spcAft>
                        <a:buNone/>
                      </a:pPr>
                      <a:r>
                        <a:rPr b="1" lang="en-US" sz="1000" u="none" cap="none" strike="noStrike">
                          <a:latin typeface="Arial"/>
                          <a:ea typeface="Arial"/>
                          <a:cs typeface="Arial"/>
                          <a:sym typeface="Arial"/>
                        </a:rPr>
                        <a:t>CHECK</a:t>
                      </a:r>
                      <a:endParaRPr sz="1000" u="none" cap="none" strike="noStrike">
                        <a:latin typeface="Arial"/>
                        <a:ea typeface="Arial"/>
                        <a:cs typeface="Arial"/>
                        <a:sym typeface="Arial"/>
                      </a:endParaRPr>
                    </a:p>
                  </a:txBody>
                  <a:tcPr marT="26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43180" rtl="0" algn="ctr">
                        <a:lnSpc>
                          <a:spcPct val="100000"/>
                        </a:lnSpc>
                        <a:spcBef>
                          <a:spcPts val="0"/>
                        </a:spcBef>
                        <a:spcAft>
                          <a:spcPts val="0"/>
                        </a:spcAft>
                        <a:buNone/>
                      </a:pPr>
                      <a:r>
                        <a:rPr b="1" lang="en-US" sz="1000" u="none" cap="none" strike="noStrike">
                          <a:latin typeface="Arial"/>
                          <a:ea typeface="Arial"/>
                          <a:cs typeface="Arial"/>
                          <a:sym typeface="Arial"/>
                        </a:rPr>
                        <a:t>STATUS (OK/NOK)</a:t>
                      </a:r>
                      <a:endParaRPr sz="1000" u="none" cap="none" strike="noStrike">
                        <a:latin typeface="Arial"/>
                        <a:ea typeface="Arial"/>
                        <a:cs typeface="Arial"/>
                        <a:sym typeface="Arial"/>
                      </a:endParaRPr>
                    </a:p>
                  </a:txBody>
                  <a:tcPr marT="26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9850" marR="0" rtl="0" algn="l">
                        <a:lnSpc>
                          <a:spcPct val="100000"/>
                        </a:lnSpc>
                        <a:spcBef>
                          <a:spcPts val="0"/>
                        </a:spcBef>
                        <a:spcAft>
                          <a:spcPts val="0"/>
                        </a:spcAft>
                        <a:buNone/>
                      </a:pPr>
                      <a:r>
                        <a:rPr b="1" lang="en-US" sz="1000" u="none" cap="none" strike="noStrike">
                          <a:latin typeface="Arial"/>
                          <a:ea typeface="Arial"/>
                          <a:cs typeface="Arial"/>
                          <a:sym typeface="Arial"/>
                        </a:rPr>
                        <a:t>REMARK</a:t>
                      </a:r>
                      <a:endParaRPr sz="1000" u="none" cap="none" strike="noStrike">
                        <a:latin typeface="Arial"/>
                        <a:ea typeface="Arial"/>
                        <a:cs typeface="Arial"/>
                        <a:sym typeface="Arial"/>
                      </a:endParaRPr>
                    </a:p>
                  </a:txBody>
                  <a:tcPr marT="26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29350">
                <a:tc>
                  <a:txBody>
                    <a:bodyPr/>
                    <a:lstStyle/>
                    <a:p>
                      <a:pPr indent="0" lvl="0" marL="115570" marR="0" rtl="0" algn="l">
                        <a:lnSpc>
                          <a:spcPct val="100000"/>
                        </a:lnSpc>
                        <a:spcBef>
                          <a:spcPts val="0"/>
                        </a:spcBef>
                        <a:spcAft>
                          <a:spcPts val="0"/>
                        </a:spcAft>
                        <a:buNone/>
                      </a:pPr>
                      <a:r>
                        <a:rPr lang="en-US" sz="1000" u="none" cap="none" strike="noStrike">
                          <a:latin typeface="Arial"/>
                          <a:ea typeface="Arial"/>
                          <a:cs typeface="Arial"/>
                          <a:sym typeface="Arial"/>
                        </a:rPr>
                        <a:t>Polarity and labelling of power cables.</a:t>
                      </a:r>
                      <a:endParaRPr sz="1000" u="none" cap="none" strike="noStrike">
                        <a:latin typeface="Arial"/>
                        <a:ea typeface="Arial"/>
                        <a:cs typeface="Arial"/>
                        <a:sym typeface="Arial"/>
                      </a:endParaRPr>
                    </a:p>
                  </a:txBody>
                  <a:tcPr marT="29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25500"/>
                        </a:lnSpc>
                        <a:spcBef>
                          <a:spcPts val="0"/>
                        </a:spcBef>
                        <a:spcAft>
                          <a:spcPts val="0"/>
                        </a:spcAft>
                        <a:buNone/>
                      </a:pPr>
                      <a:r>
                        <a:rPr lang="en-US" sz="1000" u="none" cap="none" strike="noStrike">
                          <a:latin typeface="Times New Roman"/>
                          <a:ea typeface="Times New Roman"/>
                          <a:cs typeface="Times New Roman"/>
                          <a:sym typeface="Times New Roman"/>
                        </a:rPr>
                        <a:t>OK</a:t>
                      </a:r>
                      <a:endParaRPr sz="10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540" marR="0" rtl="0" algn="l">
                        <a:lnSpc>
                          <a:spcPct val="125500"/>
                        </a:lnSpc>
                        <a:spcBef>
                          <a:spcPts val="0"/>
                        </a:spcBef>
                        <a:spcAft>
                          <a:spcPts val="0"/>
                        </a:spcAft>
                        <a:buNone/>
                      </a:pPr>
                      <a:r>
                        <a:rPr lang="en-US" sz="1000" u="none" cap="none" strike="noStrike">
                          <a:latin typeface="Times New Roman"/>
                          <a:ea typeface="Times New Roman"/>
                          <a:cs typeface="Times New Roman"/>
                          <a:sym typeface="Times New Roman"/>
                        </a:rPr>
                        <a:t>Good</a:t>
                      </a:r>
                      <a:endParaRPr sz="10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26375">
                <a:tc>
                  <a:txBody>
                    <a:bodyPr/>
                    <a:lstStyle/>
                    <a:p>
                      <a:pPr indent="0" lvl="0" marL="115570" marR="0" rtl="0" algn="l">
                        <a:lnSpc>
                          <a:spcPct val="100000"/>
                        </a:lnSpc>
                        <a:spcBef>
                          <a:spcPts val="0"/>
                        </a:spcBef>
                        <a:spcAft>
                          <a:spcPts val="0"/>
                        </a:spcAft>
                        <a:buNone/>
                      </a:pPr>
                      <a:r>
                        <a:rPr lang="en-US" sz="1000" u="none" cap="none" strike="noStrike">
                          <a:latin typeface="Arial"/>
                          <a:ea typeface="Arial"/>
                          <a:cs typeface="Arial"/>
                          <a:sym typeface="Arial"/>
                        </a:rPr>
                        <a:t>Measure the voltage at battery point.</a:t>
                      </a:r>
                      <a:endParaRPr sz="1000" u="none" cap="none" strike="noStrike">
                        <a:latin typeface="Arial"/>
                        <a:ea typeface="Arial"/>
                        <a:cs typeface="Arial"/>
                        <a:sym typeface="Arial"/>
                      </a:endParaRPr>
                    </a:p>
                  </a:txBody>
                  <a:tcPr marT="26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23000"/>
                        </a:lnSpc>
                        <a:spcBef>
                          <a:spcPts val="0"/>
                        </a:spcBef>
                        <a:spcAft>
                          <a:spcPts val="0"/>
                        </a:spcAft>
                        <a:buNone/>
                      </a:pPr>
                      <a:r>
                        <a:rPr lang="en-US" sz="1000" u="none" cap="none" strike="noStrike">
                          <a:latin typeface="Times New Roman"/>
                          <a:ea typeface="Times New Roman"/>
                          <a:cs typeface="Times New Roman"/>
                          <a:sym typeface="Times New Roman"/>
                        </a:rPr>
                        <a:t>OK</a:t>
                      </a:r>
                      <a:endParaRPr sz="10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540" marR="0" rtl="0" algn="l">
                        <a:lnSpc>
                          <a:spcPct val="123000"/>
                        </a:lnSpc>
                        <a:spcBef>
                          <a:spcPts val="0"/>
                        </a:spcBef>
                        <a:spcAft>
                          <a:spcPts val="0"/>
                        </a:spcAft>
                        <a:buNone/>
                      </a:pPr>
                      <a:r>
                        <a:rPr lang="en-US" sz="1000" u="none" cap="none" strike="noStrike">
                          <a:latin typeface="Times New Roman"/>
                          <a:ea typeface="Times New Roman"/>
                          <a:cs typeface="Times New Roman"/>
                          <a:sym typeface="Times New Roman"/>
                        </a:rPr>
                        <a:t>52.24 V</a:t>
                      </a:r>
                      <a:endParaRPr sz="10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29350">
                <a:tc>
                  <a:txBody>
                    <a:bodyPr/>
                    <a:lstStyle/>
                    <a:p>
                      <a:pPr indent="0" lvl="0" marL="115570" marR="0" rtl="0" algn="l">
                        <a:lnSpc>
                          <a:spcPct val="100000"/>
                        </a:lnSpc>
                        <a:spcBef>
                          <a:spcPts val="0"/>
                        </a:spcBef>
                        <a:spcAft>
                          <a:spcPts val="0"/>
                        </a:spcAft>
                        <a:buNone/>
                      </a:pPr>
                      <a:r>
                        <a:rPr lang="en-US" sz="1000" u="none" cap="none" strike="noStrike">
                          <a:latin typeface="Arial"/>
                          <a:ea typeface="Arial"/>
                          <a:cs typeface="Arial"/>
                          <a:sym typeface="Arial"/>
                        </a:rPr>
                        <a:t>Measure input voltage to ODC.</a:t>
                      </a:r>
                      <a:endParaRPr sz="1000" u="none" cap="none" strike="noStrike">
                        <a:latin typeface="Arial"/>
                        <a:ea typeface="Arial"/>
                        <a:cs typeface="Arial"/>
                        <a:sym typeface="Arial"/>
                      </a:endParaRPr>
                    </a:p>
                  </a:txBody>
                  <a:tcPr marT="29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25000"/>
                        </a:lnSpc>
                        <a:spcBef>
                          <a:spcPts val="0"/>
                        </a:spcBef>
                        <a:spcAft>
                          <a:spcPts val="0"/>
                        </a:spcAft>
                        <a:buNone/>
                      </a:pPr>
                      <a:r>
                        <a:rPr lang="en-US" sz="1000" u="none" cap="none" strike="noStrike">
                          <a:latin typeface="Times New Roman"/>
                          <a:ea typeface="Times New Roman"/>
                          <a:cs typeface="Times New Roman"/>
                          <a:sym typeface="Times New Roman"/>
                        </a:rPr>
                        <a:t>OK</a:t>
                      </a:r>
                      <a:endParaRPr sz="10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540" marR="0" rtl="0" algn="l">
                        <a:lnSpc>
                          <a:spcPct val="125000"/>
                        </a:lnSpc>
                        <a:spcBef>
                          <a:spcPts val="0"/>
                        </a:spcBef>
                        <a:spcAft>
                          <a:spcPts val="0"/>
                        </a:spcAft>
                        <a:buNone/>
                      </a:pPr>
                      <a:r>
                        <a:rPr lang="en-US" sz="1000" u="none" cap="none" strike="noStrike">
                          <a:latin typeface="Times New Roman"/>
                          <a:ea typeface="Times New Roman"/>
                          <a:cs typeface="Times New Roman"/>
                          <a:sym typeface="Times New Roman"/>
                        </a:rPr>
                        <a:t>52.7 V</a:t>
                      </a:r>
                      <a:endParaRPr sz="10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75">
                <a:tc>
                  <a:txBody>
                    <a:bodyPr/>
                    <a:lstStyle/>
                    <a:p>
                      <a:pPr indent="0" lvl="0" marL="115570" marR="139065" rtl="0" algn="l">
                        <a:lnSpc>
                          <a:spcPct val="127000"/>
                        </a:lnSpc>
                        <a:spcBef>
                          <a:spcPts val="0"/>
                        </a:spcBef>
                        <a:spcAft>
                          <a:spcPts val="0"/>
                        </a:spcAft>
                        <a:buNone/>
                      </a:pPr>
                      <a:r>
                        <a:rPr lang="en-US" sz="1000" u="none" cap="none" strike="noStrike">
                          <a:latin typeface="Arial"/>
                          <a:ea typeface="Arial"/>
                          <a:cs typeface="Arial"/>
                          <a:sym typeface="Arial"/>
                        </a:rPr>
                        <a:t>Calculate voltage drop (Between Battery terminal &amp; eNode-B).</a:t>
                      </a:r>
                      <a:endParaRPr sz="1000" u="none" cap="none" strike="noStrike">
                        <a:latin typeface="Arial"/>
                        <a:ea typeface="Arial"/>
                        <a:cs typeface="Arial"/>
                        <a:sym typeface="Arial"/>
                      </a:endParaRPr>
                    </a:p>
                  </a:txBody>
                  <a:tcPr marT="388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25000"/>
                        </a:lnSpc>
                        <a:spcBef>
                          <a:spcPts val="0"/>
                        </a:spcBef>
                        <a:spcAft>
                          <a:spcPts val="0"/>
                        </a:spcAft>
                        <a:buNone/>
                      </a:pPr>
                      <a:r>
                        <a:rPr lang="en-US" sz="1000" u="none" cap="none" strike="noStrike">
                          <a:latin typeface="Times New Roman"/>
                          <a:ea typeface="Times New Roman"/>
                          <a:cs typeface="Times New Roman"/>
                          <a:sym typeface="Times New Roman"/>
                        </a:rPr>
                        <a:t>OK</a:t>
                      </a:r>
                      <a:endParaRPr sz="10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9850" marR="0" rtl="0" algn="l">
                        <a:lnSpc>
                          <a:spcPct val="100000"/>
                        </a:lnSpc>
                        <a:spcBef>
                          <a:spcPts val="0"/>
                        </a:spcBef>
                        <a:spcAft>
                          <a:spcPts val="0"/>
                        </a:spcAft>
                        <a:buNone/>
                      </a:pPr>
                      <a:r>
                        <a:rPr lang="en-US" sz="1000" u="none" cap="none" strike="noStrike">
                          <a:latin typeface="Times New Roman"/>
                          <a:ea typeface="Times New Roman"/>
                          <a:cs typeface="Times New Roman"/>
                          <a:sym typeface="Times New Roman"/>
                        </a:rPr>
                        <a:t>Should be less than 1V 0.2</a:t>
                      </a:r>
                      <a:endParaRPr sz="1000" u="none" cap="none" strike="noStrike">
                        <a:latin typeface="Times New Roman"/>
                        <a:ea typeface="Times New Roman"/>
                        <a:cs typeface="Times New Roman"/>
                        <a:sym typeface="Times New Roman"/>
                      </a:endParaRPr>
                    </a:p>
                  </a:txBody>
                  <a:tcPr marT="26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13" name="Google Shape;113;p13"/>
          <p:cNvSpPr txBox="1"/>
          <p:nvPr/>
        </p:nvSpPr>
        <p:spPr>
          <a:xfrm>
            <a:off x="1252428" y="7696200"/>
            <a:ext cx="4766989" cy="1218803"/>
          </a:xfrm>
          <a:prstGeom prst="rect">
            <a:avLst/>
          </a:prstGeom>
          <a:noFill/>
          <a:ln>
            <a:noFill/>
          </a:ln>
        </p:spPr>
        <p:txBody>
          <a:bodyPr anchorCtr="0" anchor="t" bIns="0" lIns="0" spcFirstLastPara="1" rIns="0" wrap="square" tIns="11925">
            <a:spAutoFit/>
          </a:bodyPr>
          <a:lstStyle/>
          <a:p>
            <a:pPr indent="-147528" lvl="0" marL="159474" marR="0" rtl="0" algn="l">
              <a:spcBef>
                <a:spcPts val="0"/>
              </a:spcBef>
              <a:spcAft>
                <a:spcPts val="0"/>
              </a:spcAft>
              <a:buClr>
                <a:schemeClr val="dk1"/>
              </a:buClr>
              <a:buSzPts val="1035"/>
              <a:buFont typeface="Arial"/>
              <a:buAutoNum type="arabicPeriod" startAt="4"/>
            </a:pPr>
            <a:r>
              <a:rPr b="1" lang="en-US" sz="1035">
                <a:solidFill>
                  <a:schemeClr val="dk1"/>
                </a:solidFill>
                <a:latin typeface="Arial"/>
                <a:ea typeface="Arial"/>
                <a:cs typeface="Arial"/>
                <a:sym typeface="Arial"/>
              </a:rPr>
              <a:t>Functional &amp; Service Related Test:</a:t>
            </a:r>
            <a:endParaRPr sz="1035">
              <a:solidFill>
                <a:schemeClr val="dk1"/>
              </a:solidFill>
              <a:latin typeface="Arial"/>
              <a:ea typeface="Arial"/>
              <a:cs typeface="Arial"/>
              <a:sym typeface="Arial"/>
            </a:endParaRPr>
          </a:p>
          <a:p>
            <a:pPr indent="0" lvl="0" marL="0" marR="0" rtl="0" algn="l">
              <a:spcBef>
                <a:spcPts val="146"/>
              </a:spcBef>
              <a:spcAft>
                <a:spcPts val="0"/>
              </a:spcAft>
              <a:buClr>
                <a:schemeClr val="dk1"/>
              </a:buClr>
              <a:buSzPts val="1035"/>
              <a:buFont typeface="Arial"/>
              <a:buNone/>
            </a:pPr>
            <a:r>
              <a:t/>
            </a:r>
            <a:endParaRPr sz="1035">
              <a:solidFill>
                <a:schemeClr val="dk1"/>
              </a:solidFill>
              <a:latin typeface="Arial"/>
              <a:ea typeface="Arial"/>
              <a:cs typeface="Arial"/>
              <a:sym typeface="Arial"/>
            </a:endParaRPr>
          </a:p>
          <a:p>
            <a:pPr indent="-370314" lvl="1" marL="834999" marR="0" rtl="0" algn="l">
              <a:spcBef>
                <a:spcPts val="0"/>
              </a:spcBef>
              <a:spcAft>
                <a:spcPts val="0"/>
              </a:spcAft>
              <a:buClr>
                <a:schemeClr val="dk1"/>
              </a:buClr>
              <a:buSzPts val="1035"/>
              <a:buFont typeface="Arial"/>
              <a:buAutoNum type="arabicPeriod"/>
            </a:pPr>
            <a:r>
              <a:rPr b="0" i="0" lang="en-US" sz="1035" u="none" cap="none" strike="noStrike">
                <a:solidFill>
                  <a:schemeClr val="dk1"/>
                </a:solidFill>
                <a:latin typeface="Arial"/>
                <a:ea typeface="Arial"/>
                <a:cs typeface="Arial"/>
                <a:sym typeface="Arial"/>
              </a:rPr>
              <a:t>eNode-B restart test.</a:t>
            </a:r>
            <a:endParaRPr b="0" i="0" sz="1035" u="none" cap="none" strike="noStrike">
              <a:solidFill>
                <a:schemeClr val="dk1"/>
              </a:solidFill>
              <a:latin typeface="Arial"/>
              <a:ea typeface="Arial"/>
              <a:cs typeface="Arial"/>
              <a:sym typeface="Arial"/>
            </a:endParaRPr>
          </a:p>
          <a:p>
            <a:pPr indent="0" lvl="0" marL="416305" marR="0" rtl="0" algn="l">
              <a:spcBef>
                <a:spcPts val="226"/>
              </a:spcBef>
              <a:spcAft>
                <a:spcPts val="0"/>
              </a:spcAft>
              <a:buNone/>
            </a:pPr>
            <a:r>
              <a:rPr lang="en-US" sz="1035">
                <a:solidFill>
                  <a:schemeClr val="dk1"/>
                </a:solidFill>
                <a:latin typeface="Arial"/>
                <a:ea typeface="Arial"/>
                <a:cs typeface="Arial"/>
                <a:sym typeface="Arial"/>
              </a:rPr>
              <a:t>Test procedure (Hardware reset and Power reset):</a:t>
            </a:r>
            <a:endParaRPr sz="1035">
              <a:solidFill>
                <a:schemeClr val="dk1"/>
              </a:solidFill>
              <a:latin typeface="Arial"/>
              <a:ea typeface="Arial"/>
              <a:cs typeface="Arial"/>
              <a:sym typeface="Arial"/>
            </a:endParaRPr>
          </a:p>
          <a:p>
            <a:pPr indent="-252650" lvl="2" marL="834999" marR="4778" rtl="0" algn="l">
              <a:lnSpc>
                <a:spcPct val="118164"/>
              </a:lnSpc>
              <a:spcBef>
                <a:spcPts val="325"/>
              </a:spcBef>
              <a:spcAft>
                <a:spcPts val="0"/>
              </a:spcAft>
              <a:buClr>
                <a:schemeClr val="dk1"/>
              </a:buClr>
              <a:buSzPts val="1035"/>
              <a:buFont typeface="Arial"/>
              <a:buAutoNum type="romanLcPeriod"/>
            </a:pPr>
            <a:r>
              <a:rPr b="0" i="0" lang="en-US" sz="1035" u="none" cap="none" strike="noStrike">
                <a:solidFill>
                  <a:schemeClr val="dk1"/>
                </a:solidFill>
                <a:latin typeface="Arial"/>
                <a:ea typeface="Arial"/>
                <a:cs typeface="Arial"/>
                <a:sym typeface="Arial"/>
              </a:rPr>
              <a:t>Check for eNode-B recovery after switching off the power supply to eNode-B.</a:t>
            </a:r>
            <a:endParaRPr b="0" i="0" sz="1035" u="none" cap="none" strike="noStrike">
              <a:solidFill>
                <a:schemeClr val="dk1"/>
              </a:solidFill>
              <a:latin typeface="Arial"/>
              <a:ea typeface="Arial"/>
              <a:cs typeface="Arial"/>
              <a:sym typeface="Arial"/>
            </a:endParaRPr>
          </a:p>
          <a:p>
            <a:pPr indent="-252650" lvl="2" marL="834999" marR="0" rtl="0" algn="l">
              <a:spcBef>
                <a:spcPts val="212"/>
              </a:spcBef>
              <a:spcAft>
                <a:spcPts val="0"/>
              </a:spcAft>
              <a:buClr>
                <a:schemeClr val="dk1"/>
              </a:buClr>
              <a:buSzPts val="1035"/>
              <a:buFont typeface="Arial"/>
              <a:buAutoNum type="romanLcPeriod"/>
            </a:pPr>
            <a:r>
              <a:rPr b="0" i="0" lang="en-US" sz="1035" u="none" cap="none" strike="noStrike">
                <a:solidFill>
                  <a:schemeClr val="dk1"/>
                </a:solidFill>
                <a:latin typeface="Arial"/>
                <a:ea typeface="Arial"/>
                <a:cs typeface="Arial"/>
                <a:sym typeface="Arial"/>
              </a:rPr>
              <a:t>Check for eNode-B recovery after hardware reset.</a:t>
            </a:r>
            <a:endParaRPr b="0" i="0" sz="1035" u="none" cap="none" strike="noStrike">
              <a:solidFill>
                <a:schemeClr val="dk1"/>
              </a:solidFill>
              <a:latin typeface="Arial"/>
              <a:ea typeface="Arial"/>
              <a:cs typeface="Arial"/>
              <a:sym typeface="Arial"/>
            </a:endParaRPr>
          </a:p>
        </p:txBody>
      </p:sp>
      <p:sp>
        <p:nvSpPr>
          <p:cNvPr id="114" name="Google Shape;114;p13"/>
          <p:cNvSpPr txBox="1"/>
          <p:nvPr/>
        </p:nvSpPr>
        <p:spPr>
          <a:xfrm>
            <a:off x="685596" y="376781"/>
            <a:ext cx="2286204" cy="370999"/>
          </a:xfrm>
          <a:prstGeom prst="rect">
            <a:avLst/>
          </a:prstGeom>
          <a:noFill/>
          <a:ln>
            <a:noFill/>
          </a:ln>
        </p:spPr>
        <p:txBody>
          <a:bodyPr anchorCtr="0" anchor="t" bIns="0" lIns="0" spcFirstLastPara="1" rIns="0" wrap="square" tIns="12050">
            <a:spAutoFit/>
          </a:bodyPr>
          <a:lstStyle/>
          <a:p>
            <a:pPr indent="254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QA &amp; INSPECTION CIRCLE KL 	</a:t>
            </a:r>
            <a:endParaRPr sz="1100">
              <a:solidFill>
                <a:schemeClr val="dk1"/>
              </a:solidFill>
              <a:latin typeface="Arial"/>
              <a:ea typeface="Arial"/>
              <a:cs typeface="Arial"/>
              <a:sym typeface="Arial"/>
            </a:endParaRPr>
          </a:p>
        </p:txBody>
      </p:sp>
      <p:sp>
        <p:nvSpPr>
          <p:cNvPr id="115" name="Google Shape;115;p13"/>
          <p:cNvSpPr txBox="1"/>
          <p:nvPr/>
        </p:nvSpPr>
        <p:spPr>
          <a:xfrm>
            <a:off x="5249926" y="414883"/>
            <a:ext cx="1609725" cy="379095"/>
          </a:xfrm>
          <a:prstGeom prst="rect">
            <a:avLst/>
          </a:prstGeom>
          <a:noFill/>
          <a:ln>
            <a:noFill/>
          </a:ln>
        </p:spPr>
        <p:txBody>
          <a:bodyPr anchorCtr="0" anchor="t" bIns="0" lIns="0" spcFirstLastPara="1" rIns="0" wrap="square" tIns="12050">
            <a:spAutoFit/>
          </a:bodyPr>
          <a:lstStyle/>
          <a:p>
            <a:pPr indent="61595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4G PHASE IX.2  eNode-B A/T SCHEDULE</a:t>
            </a:r>
            <a:endParaRPr/>
          </a:p>
        </p:txBody>
      </p:sp>
      <p:sp>
        <p:nvSpPr>
          <p:cNvPr id="116" name="Google Shape;116;p13"/>
          <p:cNvSpPr txBox="1"/>
          <p:nvPr>
            <p:ph idx="11" type="ftr"/>
          </p:nvPr>
        </p:nvSpPr>
        <p:spPr>
          <a:xfrm>
            <a:off x="868476" y="9083316"/>
            <a:ext cx="1681480" cy="182245"/>
          </a:xfrm>
          <a:prstGeom prst="rect">
            <a:avLst/>
          </a:prstGeom>
          <a:noFill/>
          <a:ln>
            <a:noFill/>
          </a:ln>
        </p:spPr>
        <p:txBody>
          <a:bodyPr anchorCtr="0" anchor="t" bIns="0" lIns="0" spcFirstLastPara="1" rIns="0" wrap="square" tIns="0">
            <a:spAutoFit/>
          </a:bodyPr>
          <a:lstStyle/>
          <a:p>
            <a:pPr indent="0" lvl="0" marL="12700" rtl="0" algn="l">
              <a:lnSpc>
                <a:spcPct val="100000"/>
              </a:lnSpc>
              <a:spcBef>
                <a:spcPts val="0"/>
              </a:spcBef>
              <a:spcAft>
                <a:spcPts val="0"/>
              </a:spcAft>
              <a:buNone/>
            </a:pPr>
            <a:r>
              <a:rPr lang="en-US"/>
              <a:t>QAIN-11/31(14)/1/2023-CM</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4"/>
          <p:cNvSpPr txBox="1"/>
          <p:nvPr/>
        </p:nvSpPr>
        <p:spPr>
          <a:xfrm>
            <a:off x="1490676" y="825457"/>
            <a:ext cx="4480289" cy="330611"/>
          </a:xfrm>
          <a:prstGeom prst="rect">
            <a:avLst/>
          </a:prstGeom>
          <a:noFill/>
          <a:ln>
            <a:noFill/>
          </a:ln>
        </p:spPr>
        <p:txBody>
          <a:bodyPr anchorCtr="0" anchor="t" bIns="0" lIns="0" spcFirstLastPara="1" rIns="0" wrap="square" tIns="11925">
            <a:spAutoFit/>
          </a:bodyPr>
          <a:lstStyle/>
          <a:p>
            <a:pPr indent="-5972" lvl="0" marL="17321" marR="4778" rtl="0" algn="l">
              <a:spcBef>
                <a:spcPts val="0"/>
              </a:spcBef>
              <a:spcAft>
                <a:spcPts val="0"/>
              </a:spcAft>
              <a:buNone/>
            </a:pPr>
            <a:r>
              <a:rPr lang="en-US" sz="1035">
                <a:solidFill>
                  <a:schemeClr val="dk1"/>
                </a:solidFill>
                <a:latin typeface="Arial"/>
                <a:ea typeface="Arial"/>
                <a:cs typeface="Arial"/>
                <a:sym typeface="Arial"/>
              </a:rPr>
              <a:t>The eNode-B should come up and the status of the site should be same as what was before the reset.</a:t>
            </a:r>
            <a:endParaRPr sz="1035">
              <a:solidFill>
                <a:schemeClr val="dk1"/>
              </a:solidFill>
              <a:latin typeface="Arial"/>
              <a:ea typeface="Arial"/>
              <a:cs typeface="Arial"/>
              <a:sym typeface="Arial"/>
            </a:endParaRPr>
          </a:p>
        </p:txBody>
      </p:sp>
      <p:graphicFrame>
        <p:nvGraphicFramePr>
          <p:cNvPr id="122" name="Google Shape;122;p14"/>
          <p:cNvGraphicFramePr/>
          <p:nvPr/>
        </p:nvGraphicFramePr>
        <p:xfrm>
          <a:off x="1763542" y="1915754"/>
          <a:ext cx="3000000" cy="3000000"/>
        </p:xfrm>
        <a:graphic>
          <a:graphicData uri="http://schemas.openxmlformats.org/drawingml/2006/table">
            <a:tbl>
              <a:tblPr bandRow="1" firstRow="1">
                <a:noFill/>
                <a:tableStyleId>{FBDFD955-5028-4EC1-B6FB-75A9DF07899A}</a:tableStyleId>
              </a:tblPr>
              <a:tblGrid>
                <a:gridCol w="1526075"/>
                <a:gridCol w="1695700"/>
                <a:gridCol w="2033775"/>
              </a:tblGrid>
              <a:tr h="320750">
                <a:tc>
                  <a:txBody>
                    <a:bodyPr/>
                    <a:lstStyle/>
                    <a:p>
                      <a:pPr indent="0" lvl="0" marL="207009" marR="0" rtl="0" algn="l">
                        <a:lnSpc>
                          <a:spcPct val="100000"/>
                        </a:lnSpc>
                        <a:spcBef>
                          <a:spcPts val="0"/>
                        </a:spcBef>
                        <a:spcAft>
                          <a:spcPts val="0"/>
                        </a:spcAft>
                        <a:buNone/>
                      </a:pPr>
                      <a:r>
                        <a:rPr b="1" lang="en-US" sz="1000" u="none" cap="none" strike="noStrike">
                          <a:latin typeface="Arial"/>
                          <a:ea typeface="Arial"/>
                          <a:cs typeface="Arial"/>
                          <a:sym typeface="Arial"/>
                        </a:rPr>
                        <a:t>Expected Results:</a:t>
                      </a:r>
                      <a:endParaRPr sz="1000" u="none" cap="none" strike="noStrike">
                        <a:latin typeface="Arial"/>
                        <a:ea typeface="Arial"/>
                        <a:cs typeface="Arial"/>
                        <a:sym typeface="Arial"/>
                      </a:endParaRPr>
                    </a:p>
                  </a:txBody>
                  <a:tcPr marT="29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1000" u="none" cap="none" strike="noStrike">
                          <a:latin typeface="Arial"/>
                          <a:ea typeface="Arial"/>
                          <a:cs typeface="Arial"/>
                          <a:sym typeface="Arial"/>
                        </a:rPr>
                        <a:t>Status</a:t>
                      </a:r>
                      <a:endParaRPr sz="1000" u="none" cap="none" strike="noStrike">
                        <a:latin typeface="Arial"/>
                        <a:ea typeface="Arial"/>
                        <a:cs typeface="Arial"/>
                        <a:sym typeface="Arial"/>
                      </a:endParaRPr>
                    </a:p>
                  </a:txBody>
                  <a:tcPr marT="29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1000" u="none" cap="none" strike="noStrike">
                          <a:latin typeface="Arial"/>
                          <a:ea typeface="Arial"/>
                          <a:cs typeface="Arial"/>
                          <a:sym typeface="Arial"/>
                        </a:rPr>
                        <a:t>OK/NOK</a:t>
                      </a:r>
                      <a:endParaRPr sz="1000" u="none" cap="none" strike="noStrike">
                        <a:latin typeface="Arial"/>
                        <a:ea typeface="Arial"/>
                        <a:cs typeface="Arial"/>
                        <a:sym typeface="Arial"/>
                      </a:endParaRPr>
                    </a:p>
                  </a:txBody>
                  <a:tcPr marT="29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18350">
                <a:tc>
                  <a:txBody>
                    <a:bodyPr/>
                    <a:lstStyle/>
                    <a:p>
                      <a:pPr indent="0" lvl="0" marL="69850" marR="0" rtl="0" algn="l">
                        <a:lnSpc>
                          <a:spcPct val="100000"/>
                        </a:lnSpc>
                        <a:spcBef>
                          <a:spcPts val="0"/>
                        </a:spcBef>
                        <a:spcAft>
                          <a:spcPts val="0"/>
                        </a:spcAft>
                        <a:buNone/>
                      </a:pPr>
                      <a:r>
                        <a:rPr b="1" lang="en-US" sz="1000" u="none" cap="none" strike="noStrike">
                          <a:latin typeface="Arial"/>
                          <a:ea typeface="Arial"/>
                          <a:cs typeface="Arial"/>
                          <a:sym typeface="Arial"/>
                        </a:rPr>
                        <a:t>i</a:t>
                      </a:r>
                      <a:endParaRPr sz="1000" u="none" cap="none" strike="noStrike">
                        <a:latin typeface="Arial"/>
                        <a:ea typeface="Arial"/>
                        <a:cs typeface="Arial"/>
                        <a:sym typeface="Arial"/>
                      </a:endParaRPr>
                    </a:p>
                  </a:txBody>
                  <a:tcPr marT="29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6195" marR="0" rtl="0" algn="ctr">
                        <a:lnSpc>
                          <a:spcPct val="100000"/>
                        </a:lnSpc>
                        <a:spcBef>
                          <a:spcPts val="0"/>
                        </a:spcBef>
                        <a:spcAft>
                          <a:spcPts val="0"/>
                        </a:spcAft>
                        <a:buNone/>
                      </a:pPr>
                      <a:r>
                        <a:rPr lang="en-US" sz="1000" u="none" cap="none" strike="noStrike">
                          <a:latin typeface="Times New Roman"/>
                          <a:ea typeface="Times New Roman"/>
                          <a:cs typeface="Times New Roman"/>
                          <a:sym typeface="Times New Roman"/>
                        </a:rPr>
                        <a:t>5 TO 10 Minute</a:t>
                      </a:r>
                      <a:endParaRPr sz="1000" u="none" cap="none" strike="noStrike">
                        <a:latin typeface="Times New Roman"/>
                        <a:ea typeface="Times New Roman"/>
                        <a:cs typeface="Times New Roman"/>
                        <a:sym typeface="Times New Roman"/>
                      </a:endParaRPr>
                    </a:p>
                  </a:txBody>
                  <a:tcPr marT="29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8735" marR="0" rtl="0" algn="ctr">
                        <a:lnSpc>
                          <a:spcPct val="100000"/>
                        </a:lnSpc>
                        <a:spcBef>
                          <a:spcPts val="0"/>
                        </a:spcBef>
                        <a:spcAft>
                          <a:spcPts val="0"/>
                        </a:spcAft>
                        <a:buNone/>
                      </a:pPr>
                      <a:r>
                        <a:rPr lang="en-US" sz="1000" u="none" cap="none" strike="noStrike">
                          <a:latin typeface="Times New Roman"/>
                          <a:ea typeface="Times New Roman"/>
                          <a:cs typeface="Times New Roman"/>
                          <a:sym typeface="Times New Roman"/>
                        </a:rPr>
                        <a:t>10 Min</a:t>
                      </a:r>
                      <a:endParaRPr sz="1000" u="none" cap="none" strike="noStrike">
                        <a:latin typeface="Times New Roman"/>
                        <a:ea typeface="Times New Roman"/>
                        <a:cs typeface="Times New Roman"/>
                        <a:sym typeface="Times New Roman"/>
                      </a:endParaRPr>
                    </a:p>
                  </a:txBody>
                  <a:tcPr marT="29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20750">
                <a:tc>
                  <a:txBody>
                    <a:bodyPr/>
                    <a:lstStyle/>
                    <a:p>
                      <a:pPr indent="0" lvl="0" marL="69850" marR="0" rtl="0" algn="l">
                        <a:lnSpc>
                          <a:spcPct val="100000"/>
                        </a:lnSpc>
                        <a:spcBef>
                          <a:spcPts val="0"/>
                        </a:spcBef>
                        <a:spcAft>
                          <a:spcPts val="0"/>
                        </a:spcAft>
                        <a:buNone/>
                      </a:pPr>
                      <a:r>
                        <a:rPr b="1" lang="en-US" sz="1000" u="none" cap="none" strike="noStrike">
                          <a:latin typeface="Arial"/>
                          <a:ea typeface="Arial"/>
                          <a:cs typeface="Arial"/>
                          <a:sym typeface="Arial"/>
                        </a:rPr>
                        <a:t>ii</a:t>
                      </a:r>
                      <a:endParaRPr sz="1000" u="none" cap="none" strike="noStrike">
                        <a:latin typeface="Arial"/>
                        <a:ea typeface="Arial"/>
                        <a:cs typeface="Arial"/>
                        <a:sym typeface="Arial"/>
                      </a:endParaRPr>
                    </a:p>
                  </a:txBody>
                  <a:tcPr marT="286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6195" marR="0" rtl="0" algn="ctr">
                        <a:lnSpc>
                          <a:spcPct val="100000"/>
                        </a:lnSpc>
                        <a:spcBef>
                          <a:spcPts val="0"/>
                        </a:spcBef>
                        <a:spcAft>
                          <a:spcPts val="0"/>
                        </a:spcAft>
                        <a:buNone/>
                      </a:pPr>
                      <a:r>
                        <a:rPr lang="en-US" sz="1000" u="none" cap="none" strike="noStrike">
                          <a:latin typeface="Times New Roman"/>
                          <a:ea typeface="Times New Roman"/>
                          <a:cs typeface="Times New Roman"/>
                          <a:sym typeface="Times New Roman"/>
                        </a:rPr>
                        <a:t>5 TO 10 Minute</a:t>
                      </a:r>
                      <a:endParaRPr sz="1000" u="none" cap="none" strike="noStrike">
                        <a:latin typeface="Times New Roman"/>
                        <a:ea typeface="Times New Roman"/>
                        <a:cs typeface="Times New Roman"/>
                        <a:sym typeface="Times New Roman"/>
                      </a:endParaRPr>
                    </a:p>
                  </a:txBody>
                  <a:tcPr marT="286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8735" marR="0" rtl="0" algn="ctr">
                        <a:lnSpc>
                          <a:spcPct val="100000"/>
                        </a:lnSpc>
                        <a:spcBef>
                          <a:spcPts val="0"/>
                        </a:spcBef>
                        <a:spcAft>
                          <a:spcPts val="0"/>
                        </a:spcAft>
                        <a:buNone/>
                      </a:pPr>
                      <a:r>
                        <a:rPr lang="en-US" sz="1000" u="none" cap="none" strike="noStrike">
                          <a:latin typeface="Times New Roman"/>
                          <a:ea typeface="Times New Roman"/>
                          <a:cs typeface="Times New Roman"/>
                          <a:sym typeface="Times New Roman"/>
                        </a:rPr>
                        <a:t>10 Min</a:t>
                      </a:r>
                      <a:endParaRPr sz="1000" u="none" cap="none" strike="noStrike">
                        <a:latin typeface="Times New Roman"/>
                        <a:ea typeface="Times New Roman"/>
                        <a:cs typeface="Times New Roman"/>
                        <a:sym typeface="Times New Roman"/>
                      </a:endParaRPr>
                    </a:p>
                  </a:txBody>
                  <a:tcPr marT="286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23" name="Google Shape;123;p14"/>
          <p:cNvSpPr txBox="1"/>
          <p:nvPr/>
        </p:nvSpPr>
        <p:spPr>
          <a:xfrm>
            <a:off x="1645518" y="3025619"/>
            <a:ext cx="3931973" cy="1162407"/>
          </a:xfrm>
          <a:prstGeom prst="rect">
            <a:avLst/>
          </a:prstGeom>
          <a:noFill/>
          <a:ln>
            <a:noFill/>
          </a:ln>
        </p:spPr>
        <p:txBody>
          <a:bodyPr anchorCtr="0" anchor="t" bIns="0" lIns="0" spcFirstLastPara="1" rIns="0" wrap="square" tIns="37625">
            <a:spAutoFit/>
          </a:bodyPr>
          <a:lstStyle/>
          <a:p>
            <a:pPr indent="0" lvl="0" marL="11946" marR="0" rtl="0" algn="l">
              <a:spcBef>
                <a:spcPts val="0"/>
              </a:spcBef>
              <a:spcAft>
                <a:spcPts val="0"/>
              </a:spcAft>
              <a:buNone/>
            </a:pPr>
            <a:r>
              <a:rPr lang="en-US" sz="1035">
                <a:solidFill>
                  <a:schemeClr val="dk1"/>
                </a:solidFill>
                <a:latin typeface="Arial"/>
                <a:ea typeface="Arial"/>
                <a:cs typeface="Arial"/>
                <a:sym typeface="Arial"/>
              </a:rPr>
              <a:t>Check for the related alarm on OMC-R /LMT Log-in.</a:t>
            </a:r>
            <a:endParaRPr sz="1035">
              <a:solidFill>
                <a:schemeClr val="dk1"/>
              </a:solidFill>
              <a:latin typeface="Arial"/>
              <a:ea typeface="Arial"/>
              <a:cs typeface="Arial"/>
              <a:sym typeface="Arial"/>
            </a:endParaRPr>
          </a:p>
          <a:p>
            <a:pPr indent="-370313" lvl="1" marL="393011" marR="796773" rtl="0" algn="l">
              <a:lnSpc>
                <a:spcPct val="144541"/>
              </a:lnSpc>
              <a:spcBef>
                <a:spcPts val="42"/>
              </a:spcBef>
              <a:spcAft>
                <a:spcPts val="0"/>
              </a:spcAft>
              <a:buClr>
                <a:schemeClr val="dk1"/>
              </a:buClr>
              <a:buSzPts val="1035"/>
              <a:buFont typeface="Arial"/>
              <a:buAutoNum type="arabicPeriod" startAt="2"/>
            </a:pPr>
            <a:r>
              <a:rPr b="0" i="0" lang="en-US" sz="1035" u="none" cap="none" strike="noStrike">
                <a:solidFill>
                  <a:schemeClr val="dk1"/>
                </a:solidFill>
                <a:latin typeface="Arial"/>
                <a:ea typeface="Arial"/>
                <a:cs typeface="Arial"/>
                <a:sym typeface="Arial"/>
              </a:rPr>
              <a:t>Check for Wideband-AMR (HD-voice) enabled. Yes</a:t>
            </a:r>
            <a:endParaRPr b="0" i="0" sz="1035" u="none" cap="none" strike="noStrike">
              <a:solidFill>
                <a:schemeClr val="dk1"/>
              </a:solidFill>
              <a:latin typeface="Arial"/>
              <a:ea typeface="Arial"/>
              <a:cs typeface="Arial"/>
              <a:sym typeface="Arial"/>
            </a:endParaRPr>
          </a:p>
          <a:p>
            <a:pPr indent="-369717" lvl="1" marL="393011" marR="0" rtl="0" algn="l">
              <a:spcBef>
                <a:spcPts val="174"/>
              </a:spcBef>
              <a:spcAft>
                <a:spcPts val="0"/>
              </a:spcAft>
              <a:buClr>
                <a:schemeClr val="dk1"/>
              </a:buClr>
              <a:buSzPts val="1035"/>
              <a:buFont typeface="Arial"/>
              <a:buAutoNum type="arabicPeriod" startAt="2"/>
            </a:pPr>
            <a:r>
              <a:rPr b="1" i="0" lang="en-US" sz="1035" u="none" cap="none" strike="noStrike">
                <a:solidFill>
                  <a:schemeClr val="dk1"/>
                </a:solidFill>
                <a:latin typeface="Arial"/>
                <a:ea typeface="Arial"/>
                <a:cs typeface="Arial"/>
                <a:sym typeface="Arial"/>
              </a:rPr>
              <a:t>Check </a:t>
            </a:r>
            <a:r>
              <a:rPr b="0" i="0" lang="en-US" sz="1035" u="none" cap="none" strike="noStrike">
                <a:solidFill>
                  <a:schemeClr val="dk1"/>
                </a:solidFill>
                <a:latin typeface="Arial"/>
                <a:ea typeface="Arial"/>
                <a:cs typeface="Arial"/>
                <a:sym typeface="Arial"/>
              </a:rPr>
              <a:t>of Clock synchronization ( as per planning document)</a:t>
            </a:r>
            <a:endParaRPr b="0" i="0" sz="1035" u="none" cap="none" strike="noStrike">
              <a:solidFill>
                <a:schemeClr val="dk1"/>
              </a:solidFill>
              <a:latin typeface="Arial"/>
              <a:ea typeface="Arial"/>
              <a:cs typeface="Arial"/>
              <a:sym typeface="Arial"/>
            </a:endParaRPr>
          </a:p>
          <a:p>
            <a:pPr indent="0" lvl="0" marL="23294" marR="0" rtl="0" algn="l">
              <a:spcBef>
                <a:spcPts val="273"/>
              </a:spcBef>
              <a:spcAft>
                <a:spcPts val="0"/>
              </a:spcAft>
              <a:buNone/>
            </a:pPr>
            <a:r>
              <a:rPr lang="en-US" sz="1035">
                <a:solidFill>
                  <a:schemeClr val="dk1"/>
                </a:solidFill>
                <a:latin typeface="Arial"/>
                <a:ea typeface="Arial"/>
                <a:cs typeface="Arial"/>
                <a:sym typeface="Arial"/>
              </a:rPr>
              <a:t>:	OK</a:t>
            </a:r>
            <a:endParaRPr sz="1035">
              <a:solidFill>
                <a:schemeClr val="dk1"/>
              </a:solidFill>
              <a:latin typeface="Arial"/>
              <a:ea typeface="Arial"/>
              <a:cs typeface="Arial"/>
              <a:sym typeface="Arial"/>
            </a:endParaRPr>
          </a:p>
          <a:p>
            <a:pPr indent="-326713" lvl="2" marL="719724" marR="0" rtl="0" algn="l">
              <a:spcBef>
                <a:spcPts val="268"/>
              </a:spcBef>
              <a:spcAft>
                <a:spcPts val="0"/>
              </a:spcAft>
              <a:buClr>
                <a:schemeClr val="dk1"/>
              </a:buClr>
              <a:buSzPts val="1035"/>
              <a:buFont typeface="Arial"/>
              <a:buAutoNum type="arabicPeriod"/>
            </a:pPr>
            <a:r>
              <a:rPr b="0" i="0" lang="en-US" sz="1035" u="none" cap="none" strike="noStrike">
                <a:solidFill>
                  <a:schemeClr val="dk1"/>
                </a:solidFill>
                <a:latin typeface="Arial"/>
                <a:ea typeface="Arial"/>
                <a:cs typeface="Arial"/>
                <a:sym typeface="Arial"/>
              </a:rPr>
              <a:t>Synchronization type : </a:t>
            </a:r>
            <a:r>
              <a:rPr b="1" i="0" lang="en-US" sz="1035" u="none" cap="none" strike="noStrike">
                <a:solidFill>
                  <a:schemeClr val="dk1"/>
                </a:solidFill>
                <a:latin typeface="Arial"/>
                <a:ea typeface="Arial"/>
                <a:cs typeface="Arial"/>
                <a:sym typeface="Arial"/>
              </a:rPr>
              <a:t>GPS Clock</a:t>
            </a:r>
            <a:endParaRPr b="0" i="0" sz="1035" u="none" cap="none" strike="noStrike">
              <a:solidFill>
                <a:schemeClr val="dk1"/>
              </a:solidFill>
              <a:latin typeface="Arial"/>
              <a:ea typeface="Arial"/>
              <a:cs typeface="Arial"/>
              <a:sym typeface="Arial"/>
            </a:endParaRPr>
          </a:p>
        </p:txBody>
      </p:sp>
      <p:sp>
        <p:nvSpPr>
          <p:cNvPr id="124" name="Google Shape;124;p14"/>
          <p:cNvSpPr txBox="1"/>
          <p:nvPr/>
        </p:nvSpPr>
        <p:spPr>
          <a:xfrm>
            <a:off x="1542307" y="4258549"/>
            <a:ext cx="136780" cy="388225"/>
          </a:xfrm>
          <a:prstGeom prst="rect">
            <a:avLst/>
          </a:prstGeom>
          <a:noFill/>
          <a:ln>
            <a:noFill/>
          </a:ln>
        </p:spPr>
        <p:txBody>
          <a:bodyPr anchorCtr="0" anchor="t" bIns="0" lIns="0" spcFirstLastPara="1" rIns="0" wrap="square" tIns="43600">
            <a:spAutoFit/>
          </a:bodyPr>
          <a:lstStyle/>
          <a:p>
            <a:pPr indent="0" lvl="0" marL="11946" marR="0" rtl="0" algn="l">
              <a:spcBef>
                <a:spcPts val="0"/>
              </a:spcBef>
              <a:spcAft>
                <a:spcPts val="0"/>
              </a:spcAft>
              <a:buNone/>
            </a:pPr>
            <a:r>
              <a:rPr b="1" lang="en-US" sz="1035">
                <a:solidFill>
                  <a:schemeClr val="dk1"/>
                </a:solidFill>
                <a:latin typeface="Arial"/>
                <a:ea typeface="Arial"/>
                <a:cs typeface="Arial"/>
                <a:sym typeface="Arial"/>
              </a:rPr>
              <a:t>5.</a:t>
            </a:r>
            <a:endParaRPr sz="1035">
              <a:solidFill>
                <a:schemeClr val="dk1"/>
              </a:solidFill>
              <a:latin typeface="Arial"/>
              <a:ea typeface="Arial"/>
              <a:cs typeface="Arial"/>
              <a:sym typeface="Arial"/>
            </a:endParaRPr>
          </a:p>
          <a:p>
            <a:pPr indent="0" lvl="0" marL="11946" marR="0" rtl="0" algn="l">
              <a:spcBef>
                <a:spcPts val="249"/>
              </a:spcBef>
              <a:spcAft>
                <a:spcPts val="0"/>
              </a:spcAft>
              <a:buNone/>
            </a:pPr>
            <a:r>
              <a:rPr b="1" lang="en-US" sz="1035">
                <a:solidFill>
                  <a:schemeClr val="dk1"/>
                </a:solidFill>
                <a:latin typeface="Arial"/>
                <a:ea typeface="Arial"/>
                <a:cs typeface="Arial"/>
                <a:sym typeface="Arial"/>
              </a:rPr>
              <a:t>6.</a:t>
            </a:r>
            <a:endParaRPr sz="1035">
              <a:solidFill>
                <a:schemeClr val="dk1"/>
              </a:solidFill>
              <a:latin typeface="Arial"/>
              <a:ea typeface="Arial"/>
              <a:cs typeface="Arial"/>
              <a:sym typeface="Arial"/>
            </a:endParaRPr>
          </a:p>
        </p:txBody>
      </p:sp>
      <p:sp>
        <p:nvSpPr>
          <p:cNvPr id="125" name="Google Shape;125;p14"/>
          <p:cNvSpPr txBox="1"/>
          <p:nvPr/>
        </p:nvSpPr>
        <p:spPr>
          <a:xfrm>
            <a:off x="2026830" y="4258549"/>
            <a:ext cx="4263471" cy="388225"/>
          </a:xfrm>
          <a:prstGeom prst="rect">
            <a:avLst/>
          </a:prstGeom>
          <a:noFill/>
          <a:ln>
            <a:noFill/>
          </a:ln>
        </p:spPr>
        <p:txBody>
          <a:bodyPr anchorCtr="0" anchor="t" bIns="0" lIns="0" spcFirstLastPara="1" rIns="0" wrap="square" tIns="43600">
            <a:spAutoFit/>
          </a:bodyPr>
          <a:lstStyle/>
          <a:p>
            <a:pPr indent="0" lvl="0" marL="11946" marR="0" rtl="0" algn="l">
              <a:spcBef>
                <a:spcPts val="0"/>
              </a:spcBef>
              <a:spcAft>
                <a:spcPts val="0"/>
              </a:spcAft>
              <a:buNone/>
            </a:pPr>
            <a:r>
              <a:rPr b="1" lang="en-US" sz="1035">
                <a:solidFill>
                  <a:schemeClr val="dk1"/>
                </a:solidFill>
                <a:latin typeface="Arial"/>
                <a:ea typeface="Arial"/>
                <a:cs typeface="Arial"/>
                <a:sym typeface="Arial"/>
              </a:rPr>
              <a:t>Outdoor eNode-B: </a:t>
            </a:r>
            <a:r>
              <a:rPr lang="en-US" sz="1035">
                <a:solidFill>
                  <a:schemeClr val="dk1"/>
                </a:solidFill>
                <a:latin typeface="Arial"/>
                <a:ea typeface="Arial"/>
                <a:cs typeface="Arial"/>
                <a:sym typeface="Arial"/>
              </a:rPr>
              <a:t>Fan Cooling Unit operational status. (OK / NOK)-OK</a:t>
            </a:r>
            <a:endParaRPr sz="1035">
              <a:solidFill>
                <a:schemeClr val="dk1"/>
              </a:solidFill>
              <a:latin typeface="Arial"/>
              <a:ea typeface="Arial"/>
              <a:cs typeface="Arial"/>
              <a:sym typeface="Arial"/>
            </a:endParaRPr>
          </a:p>
          <a:p>
            <a:pPr indent="0" lvl="0" marL="11946" marR="0" rtl="0" algn="l">
              <a:spcBef>
                <a:spcPts val="249"/>
              </a:spcBef>
              <a:spcAft>
                <a:spcPts val="0"/>
              </a:spcAft>
              <a:buNone/>
            </a:pPr>
            <a:r>
              <a:rPr b="1" lang="en-US" sz="1035">
                <a:solidFill>
                  <a:schemeClr val="dk1"/>
                </a:solidFill>
                <a:latin typeface="Arial"/>
                <a:ea typeface="Arial"/>
                <a:cs typeface="Arial"/>
                <a:sym typeface="Arial"/>
              </a:rPr>
              <a:t>System alarm test: </a:t>
            </a:r>
            <a:r>
              <a:rPr lang="en-US" sz="1035">
                <a:solidFill>
                  <a:schemeClr val="dk1"/>
                </a:solidFill>
                <a:latin typeface="Arial"/>
                <a:ea typeface="Arial"/>
                <a:cs typeface="Arial"/>
                <a:sym typeface="Arial"/>
              </a:rPr>
              <a:t>Generation of alarms for power failure/ media failure/</a:t>
            </a:r>
            <a:endParaRPr sz="1035">
              <a:solidFill>
                <a:schemeClr val="dk1"/>
              </a:solidFill>
              <a:latin typeface="Arial"/>
              <a:ea typeface="Arial"/>
              <a:cs typeface="Arial"/>
              <a:sym typeface="Arial"/>
            </a:endParaRPr>
          </a:p>
        </p:txBody>
      </p:sp>
      <p:sp>
        <p:nvSpPr>
          <p:cNvPr id="126" name="Google Shape;126;p14"/>
          <p:cNvSpPr txBox="1"/>
          <p:nvPr/>
        </p:nvSpPr>
        <p:spPr>
          <a:xfrm>
            <a:off x="1527971" y="4634031"/>
            <a:ext cx="4762210" cy="681823"/>
          </a:xfrm>
          <a:prstGeom prst="rect">
            <a:avLst/>
          </a:prstGeom>
          <a:noFill/>
          <a:ln>
            <a:noFill/>
          </a:ln>
        </p:spPr>
        <p:txBody>
          <a:bodyPr anchorCtr="0" anchor="t" bIns="0" lIns="0" spcFirstLastPara="1" rIns="0" wrap="square" tIns="12525">
            <a:spAutoFit/>
          </a:bodyPr>
          <a:lstStyle/>
          <a:p>
            <a:pPr indent="0" lvl="0" marL="26280" marR="0" rtl="0" algn="l">
              <a:spcBef>
                <a:spcPts val="0"/>
              </a:spcBef>
              <a:spcAft>
                <a:spcPts val="0"/>
              </a:spcAft>
              <a:buNone/>
            </a:pPr>
            <a:r>
              <a:rPr lang="en-US" sz="1035">
                <a:solidFill>
                  <a:schemeClr val="dk1"/>
                </a:solidFill>
                <a:latin typeface="Arial"/>
                <a:ea typeface="Arial"/>
                <a:cs typeface="Arial"/>
                <a:sym typeface="Arial"/>
              </a:rPr>
              <a:t>fan failure alarm by manually switching off or unplugging module. </a:t>
            </a:r>
            <a:r>
              <a:rPr b="1" lang="en-US" sz="1035">
                <a:solidFill>
                  <a:schemeClr val="dk1"/>
                </a:solidFill>
                <a:latin typeface="Arial"/>
                <a:ea typeface="Arial"/>
                <a:cs typeface="Arial"/>
                <a:sym typeface="Arial"/>
              </a:rPr>
              <a:t>-OK</a:t>
            </a:r>
            <a:endParaRPr sz="1035">
              <a:solidFill>
                <a:schemeClr val="dk1"/>
              </a:solidFill>
              <a:latin typeface="Arial"/>
              <a:ea typeface="Arial"/>
              <a:cs typeface="Arial"/>
              <a:sym typeface="Arial"/>
            </a:endParaRPr>
          </a:p>
          <a:p>
            <a:pPr indent="0" lvl="0" marL="26280" marR="4778" rtl="0" algn="l">
              <a:lnSpc>
                <a:spcPct val="101800"/>
              </a:lnSpc>
              <a:spcBef>
                <a:spcPts val="0"/>
              </a:spcBef>
              <a:spcAft>
                <a:spcPts val="0"/>
              </a:spcAft>
              <a:buNone/>
            </a:pPr>
            <a:r>
              <a:rPr b="1" lang="en-US" sz="1035">
                <a:solidFill>
                  <a:schemeClr val="dk1"/>
                </a:solidFill>
                <a:latin typeface="Arial"/>
                <a:ea typeface="Arial"/>
                <a:cs typeface="Arial"/>
                <a:sym typeface="Arial"/>
              </a:rPr>
              <a:t>7.	Transmit Power Outputs: </a:t>
            </a:r>
            <a:r>
              <a:rPr lang="en-US" sz="1035">
                <a:solidFill>
                  <a:schemeClr val="dk1"/>
                </a:solidFill>
                <a:latin typeface="Arial"/>
                <a:ea typeface="Arial"/>
                <a:cs typeface="Arial"/>
                <a:sym typeface="Arial"/>
              </a:rPr>
              <a:t>Configured power to be checked through EMS.</a:t>
            </a:r>
            <a:endParaRPr sz="1035">
              <a:solidFill>
                <a:schemeClr val="dk1"/>
              </a:solidFill>
              <a:latin typeface="Arial"/>
              <a:ea typeface="Arial"/>
              <a:cs typeface="Arial"/>
              <a:sym typeface="Arial"/>
            </a:endParaRPr>
          </a:p>
          <a:p>
            <a:pPr indent="0" lvl="0" marL="11946" marR="0" rtl="0" algn="l">
              <a:spcBef>
                <a:spcPts val="202"/>
              </a:spcBef>
              <a:spcAft>
                <a:spcPts val="0"/>
              </a:spcAft>
              <a:buNone/>
            </a:pPr>
            <a:r>
              <a:rPr b="1" lang="en-US" sz="1035">
                <a:solidFill>
                  <a:schemeClr val="dk1"/>
                </a:solidFill>
                <a:latin typeface="Arial"/>
                <a:ea typeface="Arial"/>
                <a:cs typeface="Arial"/>
                <a:sym typeface="Arial"/>
              </a:rPr>
              <a:t>Integrated module (for RRH type): </a:t>
            </a:r>
            <a:r>
              <a:rPr lang="en-US" sz="1035">
                <a:solidFill>
                  <a:schemeClr val="dk1"/>
                </a:solidFill>
                <a:latin typeface="Arial"/>
                <a:ea typeface="Arial"/>
                <a:cs typeface="Arial"/>
                <a:sym typeface="Arial"/>
              </a:rPr>
              <a:t>Check TX power of eNode-B using LMT.</a:t>
            </a:r>
            <a:endParaRPr sz="1035">
              <a:solidFill>
                <a:schemeClr val="dk1"/>
              </a:solidFill>
              <a:latin typeface="Arial"/>
              <a:ea typeface="Arial"/>
              <a:cs typeface="Arial"/>
              <a:sym typeface="Arial"/>
            </a:endParaRPr>
          </a:p>
        </p:txBody>
      </p:sp>
      <p:graphicFrame>
        <p:nvGraphicFramePr>
          <p:cNvPr id="127" name="Google Shape;127;p14"/>
          <p:cNvGraphicFramePr/>
          <p:nvPr/>
        </p:nvGraphicFramePr>
        <p:xfrm>
          <a:off x="1557119" y="5514918"/>
          <a:ext cx="3000000" cy="3000000"/>
        </p:xfrm>
        <a:graphic>
          <a:graphicData uri="http://schemas.openxmlformats.org/drawingml/2006/table">
            <a:tbl>
              <a:tblPr bandRow="1" firstRow="1">
                <a:noFill/>
                <a:tableStyleId>{FBDFD955-5028-4EC1-B6FB-75A9DF07899A}</a:tableStyleId>
              </a:tblPr>
              <a:tblGrid>
                <a:gridCol w="1612100"/>
                <a:gridCol w="324325"/>
                <a:gridCol w="1612700"/>
                <a:gridCol w="324325"/>
                <a:gridCol w="1560725"/>
              </a:tblGrid>
              <a:tr h="317750">
                <a:tc>
                  <a:txBody>
                    <a:bodyPr/>
                    <a:lstStyle/>
                    <a:p>
                      <a:pPr indent="0" lvl="0" marL="1270" marR="0" rtl="0" algn="ctr">
                        <a:lnSpc>
                          <a:spcPct val="100000"/>
                        </a:lnSpc>
                        <a:spcBef>
                          <a:spcPts val="0"/>
                        </a:spcBef>
                        <a:spcAft>
                          <a:spcPts val="0"/>
                        </a:spcAft>
                        <a:buNone/>
                      </a:pPr>
                      <a:r>
                        <a:rPr b="1" lang="en-US" sz="1000" u="none" cap="none" strike="noStrike">
                          <a:latin typeface="Arial"/>
                          <a:ea typeface="Arial"/>
                          <a:cs typeface="Arial"/>
                          <a:sym typeface="Arial"/>
                        </a:rPr>
                        <a:t>Sector –0</a:t>
                      </a:r>
                      <a:endParaRPr sz="1000" u="none" cap="none" strike="noStrike">
                        <a:latin typeface="Arial"/>
                        <a:ea typeface="Arial"/>
                        <a:cs typeface="Arial"/>
                        <a:sym typeface="Arial"/>
                      </a:endParaRPr>
                    </a:p>
                  </a:txBody>
                  <a:tcPr marT="29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c>
                  <a:txBody>
                    <a:bodyPr/>
                    <a:lstStyle/>
                    <a:p>
                      <a:pPr indent="0" lvl="0" marL="7620" marR="0" rtl="0" algn="ctr">
                        <a:lnSpc>
                          <a:spcPct val="100000"/>
                        </a:lnSpc>
                        <a:spcBef>
                          <a:spcPts val="0"/>
                        </a:spcBef>
                        <a:spcAft>
                          <a:spcPts val="0"/>
                        </a:spcAft>
                        <a:buNone/>
                      </a:pPr>
                      <a:r>
                        <a:rPr b="1" lang="en-US" sz="1000" u="none" cap="none" strike="noStrike">
                          <a:latin typeface="Arial"/>
                          <a:ea typeface="Arial"/>
                          <a:cs typeface="Arial"/>
                          <a:sym typeface="Arial"/>
                        </a:rPr>
                        <a:t>Sector –1</a:t>
                      </a:r>
                      <a:endParaRPr sz="1000" u="none" cap="none" strike="noStrike">
                        <a:latin typeface="Arial"/>
                        <a:ea typeface="Arial"/>
                        <a:cs typeface="Arial"/>
                        <a:sym typeface="Arial"/>
                      </a:endParaRPr>
                    </a:p>
                  </a:txBody>
                  <a:tcPr marT="29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c>
                  <a:txBody>
                    <a:bodyPr/>
                    <a:lstStyle/>
                    <a:p>
                      <a:pPr indent="0" lvl="0" marL="1905" marR="0" rtl="0" algn="ctr">
                        <a:lnSpc>
                          <a:spcPct val="100000"/>
                        </a:lnSpc>
                        <a:spcBef>
                          <a:spcPts val="0"/>
                        </a:spcBef>
                        <a:spcAft>
                          <a:spcPts val="0"/>
                        </a:spcAft>
                        <a:buNone/>
                      </a:pPr>
                      <a:r>
                        <a:rPr b="1" lang="en-US" sz="1000" u="none" cap="none" strike="noStrike">
                          <a:latin typeface="Arial"/>
                          <a:ea typeface="Arial"/>
                          <a:cs typeface="Arial"/>
                          <a:sym typeface="Arial"/>
                        </a:rPr>
                        <a:t>Sector –2</a:t>
                      </a:r>
                      <a:endParaRPr sz="1000" u="none" cap="none" strike="noStrike">
                        <a:latin typeface="Arial"/>
                        <a:ea typeface="Arial"/>
                        <a:cs typeface="Arial"/>
                        <a:sym typeface="Arial"/>
                      </a:endParaRPr>
                    </a:p>
                  </a:txBody>
                  <a:tcPr marT="29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20750">
                <a:tc>
                  <a:txBody>
                    <a:bodyPr/>
                    <a:lstStyle/>
                    <a:p>
                      <a:pPr indent="0" lvl="0" marL="0" marR="0" rtl="0" algn="ctr">
                        <a:lnSpc>
                          <a:spcPct val="100000"/>
                        </a:lnSpc>
                        <a:spcBef>
                          <a:spcPts val="0"/>
                        </a:spcBef>
                        <a:spcAft>
                          <a:spcPts val="0"/>
                        </a:spcAft>
                        <a:buNone/>
                      </a:pPr>
                      <a:r>
                        <a:rPr lang="en-US" sz="1000" u="none" cap="none" strike="noStrike">
                          <a:latin typeface="Times New Roman"/>
                          <a:ea typeface="Times New Roman"/>
                          <a:cs typeface="Times New Roman"/>
                          <a:sym typeface="Times New Roman"/>
                        </a:rPr>
                        <a:t>46</a:t>
                      </a:r>
                      <a:endParaRPr sz="1000" u="none" cap="none" strike="noStrike">
                        <a:latin typeface="Times New Roman"/>
                        <a:ea typeface="Times New Roman"/>
                        <a:cs typeface="Times New Roman"/>
                        <a:sym typeface="Times New Roman"/>
                      </a:endParaRPr>
                    </a:p>
                  </a:txBody>
                  <a:tcPr marT="286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c>
                  <a:txBody>
                    <a:bodyPr/>
                    <a:lstStyle/>
                    <a:p>
                      <a:pPr indent="0" lvl="0" marL="0" marR="0" rtl="0" algn="ctr">
                        <a:lnSpc>
                          <a:spcPct val="100000"/>
                        </a:lnSpc>
                        <a:spcBef>
                          <a:spcPts val="0"/>
                        </a:spcBef>
                        <a:spcAft>
                          <a:spcPts val="0"/>
                        </a:spcAft>
                        <a:buNone/>
                      </a:pPr>
                      <a:r>
                        <a:rPr lang="en-US" sz="1000" u="none" cap="none" strike="noStrike">
                          <a:latin typeface="Times New Roman"/>
                          <a:ea typeface="Times New Roman"/>
                          <a:cs typeface="Times New Roman"/>
                          <a:sym typeface="Times New Roman"/>
                        </a:rPr>
                        <a:t>46</a:t>
                      </a:r>
                      <a:endParaRPr sz="1000" u="none" cap="none" strike="noStrike">
                        <a:latin typeface="Times New Roman"/>
                        <a:ea typeface="Times New Roman"/>
                        <a:cs typeface="Times New Roman"/>
                        <a:sym typeface="Times New Roman"/>
                      </a:endParaRPr>
                    </a:p>
                  </a:txBody>
                  <a:tcPr marT="286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c>
                  <a:txBody>
                    <a:bodyPr/>
                    <a:lstStyle/>
                    <a:p>
                      <a:pPr indent="0" lvl="0" marL="0" marR="0" rtl="0" algn="ctr">
                        <a:lnSpc>
                          <a:spcPct val="100000"/>
                        </a:lnSpc>
                        <a:spcBef>
                          <a:spcPts val="0"/>
                        </a:spcBef>
                        <a:spcAft>
                          <a:spcPts val="0"/>
                        </a:spcAft>
                        <a:buNone/>
                      </a:pPr>
                      <a:r>
                        <a:rPr lang="en-US" sz="1000" u="none" cap="none" strike="noStrike">
                          <a:latin typeface="Times New Roman"/>
                          <a:ea typeface="Times New Roman"/>
                          <a:cs typeface="Times New Roman"/>
                          <a:sym typeface="Times New Roman"/>
                        </a:rPr>
                        <a:t>46</a:t>
                      </a:r>
                      <a:endParaRPr sz="1000" u="none" cap="none" strike="noStrike">
                        <a:latin typeface="Times New Roman"/>
                        <a:ea typeface="Times New Roman"/>
                        <a:cs typeface="Times New Roman"/>
                        <a:sym typeface="Times New Roman"/>
                      </a:endParaRPr>
                    </a:p>
                  </a:txBody>
                  <a:tcPr marT="286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28" name="Google Shape;128;p14"/>
          <p:cNvSpPr txBox="1"/>
          <p:nvPr/>
        </p:nvSpPr>
        <p:spPr>
          <a:xfrm>
            <a:off x="1542307" y="6136580"/>
            <a:ext cx="136780" cy="171940"/>
          </a:xfrm>
          <a:prstGeom prst="rect">
            <a:avLst/>
          </a:prstGeom>
          <a:noFill/>
          <a:ln>
            <a:noFill/>
          </a:ln>
        </p:spPr>
        <p:txBody>
          <a:bodyPr anchorCtr="0" anchor="t" bIns="0" lIns="0" spcFirstLastPara="1" rIns="0" wrap="square" tIns="12525">
            <a:spAutoFit/>
          </a:bodyPr>
          <a:lstStyle/>
          <a:p>
            <a:pPr indent="0" lvl="0" marL="11946" marR="0" rtl="0" algn="l">
              <a:spcBef>
                <a:spcPts val="0"/>
              </a:spcBef>
              <a:spcAft>
                <a:spcPts val="0"/>
              </a:spcAft>
              <a:buNone/>
            </a:pPr>
            <a:r>
              <a:rPr b="1" lang="en-US" sz="1035">
                <a:solidFill>
                  <a:schemeClr val="dk1"/>
                </a:solidFill>
                <a:latin typeface="Arial"/>
                <a:ea typeface="Arial"/>
                <a:cs typeface="Arial"/>
                <a:sym typeface="Arial"/>
              </a:rPr>
              <a:t>8.</a:t>
            </a:r>
            <a:endParaRPr sz="1035">
              <a:solidFill>
                <a:schemeClr val="dk1"/>
              </a:solidFill>
              <a:latin typeface="Arial"/>
              <a:ea typeface="Arial"/>
              <a:cs typeface="Arial"/>
              <a:sym typeface="Arial"/>
            </a:endParaRPr>
          </a:p>
        </p:txBody>
      </p:sp>
      <p:sp>
        <p:nvSpPr>
          <p:cNvPr id="129" name="Google Shape;129;p14"/>
          <p:cNvSpPr txBox="1"/>
          <p:nvPr/>
        </p:nvSpPr>
        <p:spPr>
          <a:xfrm>
            <a:off x="1760197" y="6105615"/>
            <a:ext cx="4719803" cy="744643"/>
          </a:xfrm>
          <a:prstGeom prst="rect">
            <a:avLst/>
          </a:prstGeom>
          <a:noFill/>
          <a:ln>
            <a:noFill/>
          </a:ln>
        </p:spPr>
        <p:txBody>
          <a:bodyPr anchorCtr="0" anchor="t" bIns="0" lIns="0" spcFirstLastPara="1" rIns="0" wrap="square" tIns="43000">
            <a:spAutoFit/>
          </a:bodyPr>
          <a:lstStyle/>
          <a:p>
            <a:pPr indent="0" lvl="0" marL="278333" marR="0" rtl="0" algn="l">
              <a:spcBef>
                <a:spcPts val="0"/>
              </a:spcBef>
              <a:spcAft>
                <a:spcPts val="0"/>
              </a:spcAft>
              <a:buNone/>
            </a:pPr>
            <a:r>
              <a:rPr b="1" lang="en-US" sz="1035">
                <a:solidFill>
                  <a:schemeClr val="dk1"/>
                </a:solidFill>
                <a:latin typeface="Arial"/>
                <a:ea typeface="Arial"/>
                <a:cs typeface="Arial"/>
                <a:sym typeface="Arial"/>
              </a:rPr>
              <a:t>VSWR Measurements:</a:t>
            </a:r>
            <a:endParaRPr sz="1035">
              <a:solidFill>
                <a:schemeClr val="dk1"/>
              </a:solidFill>
              <a:latin typeface="Arial"/>
              <a:ea typeface="Arial"/>
              <a:cs typeface="Arial"/>
              <a:sym typeface="Arial"/>
            </a:endParaRPr>
          </a:p>
          <a:p>
            <a:pPr indent="0" lvl="0" marL="11946" marR="0" rtl="0" algn="l">
              <a:spcBef>
                <a:spcPts val="249"/>
              </a:spcBef>
              <a:spcAft>
                <a:spcPts val="0"/>
              </a:spcAft>
              <a:buNone/>
            </a:pPr>
            <a:r>
              <a:rPr lang="en-US" sz="1035">
                <a:solidFill>
                  <a:schemeClr val="dk1"/>
                </a:solidFill>
                <a:latin typeface="Arial"/>
                <a:ea typeface="Arial"/>
                <a:cs typeface="Arial"/>
                <a:sym typeface="Arial"/>
              </a:rPr>
              <a:t>Check feeder grounding is done properly, if applicable. Status	(OK/Not:- OK)</a:t>
            </a:r>
            <a:endParaRPr sz="1035">
              <a:solidFill>
                <a:schemeClr val="dk1"/>
              </a:solidFill>
              <a:latin typeface="Arial"/>
              <a:ea typeface="Arial"/>
              <a:cs typeface="Arial"/>
              <a:sym typeface="Arial"/>
            </a:endParaRPr>
          </a:p>
          <a:p>
            <a:pPr indent="-160669" lvl="0" marL="172017" marR="516051" rtl="0" algn="l">
              <a:spcBef>
                <a:spcPts val="254"/>
              </a:spcBef>
              <a:spcAft>
                <a:spcPts val="0"/>
              </a:spcAft>
              <a:buNone/>
            </a:pPr>
            <a:r>
              <a:rPr lang="en-US" sz="1035">
                <a:solidFill>
                  <a:schemeClr val="dk1"/>
                </a:solidFill>
                <a:latin typeface="Arial"/>
                <a:ea typeface="Arial"/>
                <a:cs typeface="Arial"/>
                <a:sym typeface="Arial"/>
              </a:rPr>
              <a:t>i. Measure the VSWR values of each sector (&lt;=1.3). Measurement can be done through LMT/EMS/NMS/CLI.</a:t>
            </a:r>
            <a:endParaRPr sz="1035">
              <a:solidFill>
                <a:schemeClr val="dk1"/>
              </a:solidFill>
              <a:latin typeface="Arial"/>
              <a:ea typeface="Arial"/>
              <a:cs typeface="Arial"/>
              <a:sym typeface="Arial"/>
            </a:endParaRPr>
          </a:p>
        </p:txBody>
      </p:sp>
      <p:graphicFrame>
        <p:nvGraphicFramePr>
          <p:cNvPr id="130" name="Google Shape;130;p14"/>
          <p:cNvGraphicFramePr/>
          <p:nvPr/>
        </p:nvGraphicFramePr>
        <p:xfrm>
          <a:off x="1717670" y="7046255"/>
          <a:ext cx="3000000" cy="3000000"/>
        </p:xfrm>
        <a:graphic>
          <a:graphicData uri="http://schemas.openxmlformats.org/drawingml/2006/table">
            <a:tbl>
              <a:tblPr bandRow="1" firstRow="1">
                <a:noFill/>
                <a:tableStyleId>{FBDFD955-5028-4EC1-B6FB-75A9DF07899A}</a:tableStyleId>
              </a:tblPr>
              <a:tblGrid>
                <a:gridCol w="1775150"/>
                <a:gridCol w="915050"/>
                <a:gridCol w="1505775"/>
                <a:gridCol w="1075725"/>
              </a:tblGrid>
              <a:tr h="320750">
                <a:tc>
                  <a:txBody>
                    <a:bodyPr/>
                    <a:lstStyle/>
                    <a:p>
                      <a:pPr indent="0" lvl="0" marL="66675" marR="0" rtl="0" algn="l">
                        <a:lnSpc>
                          <a:spcPct val="100000"/>
                        </a:lnSpc>
                        <a:spcBef>
                          <a:spcPts val="0"/>
                        </a:spcBef>
                        <a:spcAft>
                          <a:spcPts val="0"/>
                        </a:spcAft>
                        <a:buNone/>
                      </a:pPr>
                      <a:r>
                        <a:rPr b="1" lang="en-US" sz="1000" u="none" cap="none" strike="noStrike">
                          <a:latin typeface="Arial"/>
                          <a:ea typeface="Arial"/>
                          <a:cs typeface="Arial"/>
                          <a:sym typeface="Arial"/>
                        </a:rPr>
                        <a:t>Antennas &amp; Cables</a:t>
                      </a:r>
                      <a:endParaRPr sz="1000" u="none" cap="none" strike="noStrike">
                        <a:latin typeface="Arial"/>
                        <a:ea typeface="Arial"/>
                        <a:cs typeface="Arial"/>
                        <a:sym typeface="Arial"/>
                      </a:endParaRPr>
                    </a:p>
                  </a:txBody>
                  <a:tcPr marT="286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1000" u="none" cap="none" strike="noStrike">
                          <a:latin typeface="Arial"/>
                          <a:ea typeface="Arial"/>
                          <a:cs typeface="Arial"/>
                          <a:sym typeface="Arial"/>
                        </a:rPr>
                        <a:t>VSWR</a:t>
                      </a:r>
                      <a:endParaRPr sz="1000" u="none" cap="none" strike="noStrike">
                        <a:latin typeface="Arial"/>
                        <a:ea typeface="Arial"/>
                        <a:cs typeface="Arial"/>
                        <a:sym typeface="Arial"/>
                      </a:endParaRPr>
                    </a:p>
                  </a:txBody>
                  <a:tcPr marT="286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6675" marR="0" rtl="0" algn="l">
                        <a:lnSpc>
                          <a:spcPct val="100000"/>
                        </a:lnSpc>
                        <a:spcBef>
                          <a:spcPts val="0"/>
                        </a:spcBef>
                        <a:spcAft>
                          <a:spcPts val="0"/>
                        </a:spcAft>
                        <a:buNone/>
                      </a:pPr>
                      <a:r>
                        <a:rPr b="1" lang="en-US" sz="1000" u="none" cap="none" strike="noStrike">
                          <a:latin typeface="Arial"/>
                          <a:ea typeface="Arial"/>
                          <a:cs typeface="Arial"/>
                          <a:sym typeface="Arial"/>
                        </a:rPr>
                        <a:t>Antennas &amp; Cables</a:t>
                      </a:r>
                      <a:endParaRPr sz="1000" u="none" cap="none" strike="noStrike">
                        <a:latin typeface="Arial"/>
                        <a:ea typeface="Arial"/>
                        <a:cs typeface="Arial"/>
                        <a:sym typeface="Arial"/>
                      </a:endParaRPr>
                    </a:p>
                  </a:txBody>
                  <a:tcPr marT="286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6675" marR="0" rtl="0" algn="l">
                        <a:lnSpc>
                          <a:spcPct val="100000"/>
                        </a:lnSpc>
                        <a:spcBef>
                          <a:spcPts val="0"/>
                        </a:spcBef>
                        <a:spcAft>
                          <a:spcPts val="0"/>
                        </a:spcAft>
                        <a:buNone/>
                      </a:pPr>
                      <a:r>
                        <a:rPr b="1" lang="en-US" sz="1000" u="none" cap="none" strike="noStrike">
                          <a:latin typeface="Arial"/>
                          <a:ea typeface="Arial"/>
                          <a:cs typeface="Arial"/>
                          <a:sym typeface="Arial"/>
                        </a:rPr>
                        <a:t>VSWR</a:t>
                      </a:r>
                      <a:endParaRPr sz="1000" u="none" cap="none" strike="noStrike">
                        <a:latin typeface="Arial"/>
                        <a:ea typeface="Arial"/>
                        <a:cs typeface="Arial"/>
                        <a:sym typeface="Arial"/>
                      </a:endParaRPr>
                    </a:p>
                  </a:txBody>
                  <a:tcPr marT="286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18350">
                <a:tc>
                  <a:txBody>
                    <a:bodyPr/>
                    <a:lstStyle/>
                    <a:p>
                      <a:pPr indent="0" lvl="0" marL="66675" marR="0" rtl="0" algn="l">
                        <a:lnSpc>
                          <a:spcPct val="100000"/>
                        </a:lnSpc>
                        <a:spcBef>
                          <a:spcPts val="0"/>
                        </a:spcBef>
                        <a:spcAft>
                          <a:spcPts val="0"/>
                        </a:spcAft>
                        <a:buNone/>
                      </a:pPr>
                      <a:r>
                        <a:rPr lang="en-US" sz="1000" u="none" cap="none" strike="noStrike">
                          <a:latin typeface="Arial"/>
                          <a:ea typeface="Arial"/>
                          <a:cs typeface="Arial"/>
                          <a:sym typeface="Arial"/>
                        </a:rPr>
                        <a:t>Sector 0	Main</a:t>
                      </a:r>
                      <a:endParaRPr sz="1000" u="none" cap="none" strike="noStrike">
                        <a:latin typeface="Arial"/>
                        <a:ea typeface="Arial"/>
                        <a:cs typeface="Arial"/>
                        <a:sym typeface="Arial"/>
                      </a:endParaRPr>
                    </a:p>
                  </a:txBody>
                  <a:tcPr marT="322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6195" marR="0" rtl="0" algn="ctr">
                        <a:lnSpc>
                          <a:spcPct val="100000"/>
                        </a:lnSpc>
                        <a:spcBef>
                          <a:spcPts val="0"/>
                        </a:spcBef>
                        <a:spcAft>
                          <a:spcPts val="0"/>
                        </a:spcAft>
                        <a:buNone/>
                      </a:pPr>
                      <a:r>
                        <a:rPr lang="en-US" sz="1000" u="none" cap="none" strike="noStrike">
                          <a:latin typeface="Times New Roman"/>
                          <a:ea typeface="Times New Roman"/>
                          <a:cs typeface="Times New Roman"/>
                          <a:sym typeface="Times New Roman"/>
                        </a:rPr>
                        <a:t>1.10</a:t>
                      </a:r>
                      <a:endParaRPr sz="1000" u="none" cap="none" strike="noStrike">
                        <a:latin typeface="Times New Roman"/>
                        <a:ea typeface="Times New Roman"/>
                        <a:cs typeface="Times New Roman"/>
                        <a:sym typeface="Times New Roman"/>
                      </a:endParaRPr>
                    </a:p>
                  </a:txBody>
                  <a:tcPr marT="29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6675" marR="0" rtl="0" algn="l">
                        <a:lnSpc>
                          <a:spcPct val="100000"/>
                        </a:lnSpc>
                        <a:spcBef>
                          <a:spcPts val="0"/>
                        </a:spcBef>
                        <a:spcAft>
                          <a:spcPts val="0"/>
                        </a:spcAft>
                        <a:buNone/>
                      </a:pPr>
                      <a:r>
                        <a:rPr lang="en-US" sz="1000" u="none" cap="none" strike="noStrike">
                          <a:latin typeface="Arial"/>
                          <a:ea typeface="Arial"/>
                          <a:cs typeface="Arial"/>
                          <a:sym typeface="Arial"/>
                        </a:rPr>
                        <a:t>Sector 0	Div</a:t>
                      </a:r>
                      <a:endParaRPr sz="1000" u="none" cap="none" strike="noStrike">
                        <a:latin typeface="Arial"/>
                        <a:ea typeface="Arial"/>
                        <a:cs typeface="Arial"/>
                        <a:sym typeface="Arial"/>
                      </a:endParaRPr>
                    </a:p>
                  </a:txBody>
                  <a:tcPr marT="322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422275" rtl="0" algn="r">
                        <a:lnSpc>
                          <a:spcPct val="100000"/>
                        </a:lnSpc>
                        <a:spcBef>
                          <a:spcPts val="0"/>
                        </a:spcBef>
                        <a:spcAft>
                          <a:spcPts val="0"/>
                        </a:spcAft>
                        <a:buNone/>
                      </a:pPr>
                      <a:r>
                        <a:rPr lang="en-US" sz="1000" u="none" cap="none" strike="noStrike">
                          <a:latin typeface="Times New Roman"/>
                          <a:ea typeface="Times New Roman"/>
                          <a:cs typeface="Times New Roman"/>
                          <a:sym typeface="Times New Roman"/>
                        </a:rPr>
                        <a:t>1.10</a:t>
                      </a:r>
                      <a:endParaRPr sz="1000" u="none" cap="none" strike="noStrike">
                        <a:latin typeface="Times New Roman"/>
                        <a:ea typeface="Times New Roman"/>
                        <a:cs typeface="Times New Roman"/>
                        <a:sym typeface="Times New Roman"/>
                      </a:endParaRPr>
                    </a:p>
                  </a:txBody>
                  <a:tcPr marT="29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20750">
                <a:tc>
                  <a:txBody>
                    <a:bodyPr/>
                    <a:lstStyle/>
                    <a:p>
                      <a:pPr indent="0" lvl="0" marL="66675" marR="0" rtl="0" algn="l">
                        <a:lnSpc>
                          <a:spcPct val="100000"/>
                        </a:lnSpc>
                        <a:spcBef>
                          <a:spcPts val="0"/>
                        </a:spcBef>
                        <a:spcAft>
                          <a:spcPts val="0"/>
                        </a:spcAft>
                        <a:buNone/>
                      </a:pPr>
                      <a:r>
                        <a:rPr lang="en-US" sz="1000" u="none" cap="none" strike="noStrike">
                          <a:latin typeface="Arial"/>
                          <a:ea typeface="Arial"/>
                          <a:cs typeface="Arial"/>
                          <a:sym typeface="Arial"/>
                        </a:rPr>
                        <a:t>Sector 1	Main</a:t>
                      </a:r>
                      <a:endParaRPr sz="1000" u="none" cap="none" strike="noStrike">
                        <a:latin typeface="Arial"/>
                        <a:ea typeface="Arial"/>
                        <a:cs typeface="Arial"/>
                        <a:sym typeface="Arial"/>
                      </a:endParaRPr>
                    </a:p>
                  </a:txBody>
                  <a:tcPr marT="316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6195" marR="0" rtl="0" algn="ctr">
                        <a:lnSpc>
                          <a:spcPct val="100000"/>
                        </a:lnSpc>
                        <a:spcBef>
                          <a:spcPts val="0"/>
                        </a:spcBef>
                        <a:spcAft>
                          <a:spcPts val="0"/>
                        </a:spcAft>
                        <a:buNone/>
                      </a:pPr>
                      <a:r>
                        <a:rPr lang="en-US" sz="1000" u="none" cap="none" strike="noStrike">
                          <a:latin typeface="Times New Roman"/>
                          <a:ea typeface="Times New Roman"/>
                          <a:cs typeface="Times New Roman"/>
                          <a:sym typeface="Times New Roman"/>
                        </a:rPr>
                        <a:t>1.11</a:t>
                      </a:r>
                      <a:endParaRPr sz="1000" u="none" cap="none" strike="noStrike">
                        <a:latin typeface="Times New Roman"/>
                        <a:ea typeface="Times New Roman"/>
                        <a:cs typeface="Times New Roman"/>
                        <a:sym typeface="Times New Roman"/>
                      </a:endParaRPr>
                    </a:p>
                  </a:txBody>
                  <a:tcPr marT="286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6675" marR="0" rtl="0" algn="l">
                        <a:lnSpc>
                          <a:spcPct val="100000"/>
                        </a:lnSpc>
                        <a:spcBef>
                          <a:spcPts val="0"/>
                        </a:spcBef>
                        <a:spcAft>
                          <a:spcPts val="0"/>
                        </a:spcAft>
                        <a:buNone/>
                      </a:pPr>
                      <a:r>
                        <a:rPr lang="en-US" sz="1000" u="none" cap="none" strike="noStrike">
                          <a:latin typeface="Arial"/>
                          <a:ea typeface="Arial"/>
                          <a:cs typeface="Arial"/>
                          <a:sym typeface="Arial"/>
                        </a:rPr>
                        <a:t>Sector 1	Div</a:t>
                      </a:r>
                      <a:endParaRPr sz="1000" u="none" cap="none" strike="noStrike">
                        <a:latin typeface="Arial"/>
                        <a:ea typeface="Arial"/>
                        <a:cs typeface="Arial"/>
                        <a:sym typeface="Arial"/>
                      </a:endParaRPr>
                    </a:p>
                  </a:txBody>
                  <a:tcPr marT="316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421640" rtl="0" algn="r">
                        <a:lnSpc>
                          <a:spcPct val="100000"/>
                        </a:lnSpc>
                        <a:spcBef>
                          <a:spcPts val="0"/>
                        </a:spcBef>
                        <a:spcAft>
                          <a:spcPts val="0"/>
                        </a:spcAft>
                        <a:buNone/>
                      </a:pPr>
                      <a:r>
                        <a:rPr lang="en-US" sz="1000" u="none" cap="none" strike="noStrike">
                          <a:latin typeface="Times New Roman"/>
                          <a:ea typeface="Times New Roman"/>
                          <a:cs typeface="Times New Roman"/>
                          <a:sym typeface="Times New Roman"/>
                        </a:rPr>
                        <a:t>1.12</a:t>
                      </a:r>
                      <a:endParaRPr sz="1000" u="none" cap="none" strike="noStrike">
                        <a:latin typeface="Times New Roman"/>
                        <a:ea typeface="Times New Roman"/>
                        <a:cs typeface="Times New Roman"/>
                        <a:sym typeface="Times New Roman"/>
                      </a:endParaRPr>
                    </a:p>
                  </a:txBody>
                  <a:tcPr marT="286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17750">
                <a:tc>
                  <a:txBody>
                    <a:bodyPr/>
                    <a:lstStyle/>
                    <a:p>
                      <a:pPr indent="0" lvl="0" marL="66675" marR="0" rtl="0" algn="l">
                        <a:lnSpc>
                          <a:spcPct val="100000"/>
                        </a:lnSpc>
                        <a:spcBef>
                          <a:spcPts val="0"/>
                        </a:spcBef>
                        <a:spcAft>
                          <a:spcPts val="0"/>
                        </a:spcAft>
                        <a:buNone/>
                      </a:pPr>
                      <a:r>
                        <a:rPr lang="en-US" sz="1000" u="none" cap="none" strike="noStrike">
                          <a:latin typeface="Arial"/>
                          <a:ea typeface="Arial"/>
                          <a:cs typeface="Arial"/>
                          <a:sym typeface="Arial"/>
                        </a:rPr>
                        <a:t>Sector 2	Main</a:t>
                      </a:r>
                      <a:endParaRPr sz="1000" u="none" cap="none" strike="noStrike">
                        <a:latin typeface="Arial"/>
                        <a:ea typeface="Arial"/>
                        <a:cs typeface="Arial"/>
                        <a:sym typeface="Arial"/>
                      </a:endParaRPr>
                    </a:p>
                  </a:txBody>
                  <a:tcPr marT="316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6195" marR="0" rtl="0" algn="ctr">
                        <a:lnSpc>
                          <a:spcPct val="100000"/>
                        </a:lnSpc>
                        <a:spcBef>
                          <a:spcPts val="0"/>
                        </a:spcBef>
                        <a:spcAft>
                          <a:spcPts val="0"/>
                        </a:spcAft>
                        <a:buNone/>
                      </a:pPr>
                      <a:r>
                        <a:rPr lang="en-US" sz="1000" u="none" cap="none" strike="noStrike">
                          <a:latin typeface="Times New Roman"/>
                          <a:ea typeface="Times New Roman"/>
                          <a:cs typeface="Times New Roman"/>
                          <a:sym typeface="Times New Roman"/>
                        </a:rPr>
                        <a:t>1.12</a:t>
                      </a:r>
                      <a:endParaRPr sz="1000" u="none" cap="none" strike="noStrike">
                        <a:latin typeface="Times New Roman"/>
                        <a:ea typeface="Times New Roman"/>
                        <a:cs typeface="Times New Roman"/>
                        <a:sym typeface="Times New Roman"/>
                      </a:endParaRPr>
                    </a:p>
                  </a:txBody>
                  <a:tcPr marT="286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6675" marR="0" rtl="0" algn="l">
                        <a:lnSpc>
                          <a:spcPct val="100000"/>
                        </a:lnSpc>
                        <a:spcBef>
                          <a:spcPts val="0"/>
                        </a:spcBef>
                        <a:spcAft>
                          <a:spcPts val="0"/>
                        </a:spcAft>
                        <a:buNone/>
                      </a:pPr>
                      <a:r>
                        <a:rPr lang="en-US" sz="1000" u="none" cap="none" strike="noStrike">
                          <a:latin typeface="Arial"/>
                          <a:ea typeface="Arial"/>
                          <a:cs typeface="Arial"/>
                          <a:sym typeface="Arial"/>
                        </a:rPr>
                        <a:t>Sector 2	Div</a:t>
                      </a:r>
                      <a:endParaRPr sz="1000" u="none" cap="none" strike="noStrike">
                        <a:latin typeface="Arial"/>
                        <a:ea typeface="Arial"/>
                        <a:cs typeface="Arial"/>
                        <a:sym typeface="Arial"/>
                      </a:endParaRPr>
                    </a:p>
                  </a:txBody>
                  <a:tcPr marT="316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422275" rtl="0" algn="r">
                        <a:lnSpc>
                          <a:spcPct val="100000"/>
                        </a:lnSpc>
                        <a:spcBef>
                          <a:spcPts val="0"/>
                        </a:spcBef>
                        <a:spcAft>
                          <a:spcPts val="0"/>
                        </a:spcAft>
                        <a:buNone/>
                      </a:pPr>
                      <a:r>
                        <a:rPr lang="en-US" sz="1000" u="none" cap="none" strike="noStrike">
                          <a:latin typeface="Times New Roman"/>
                          <a:ea typeface="Times New Roman"/>
                          <a:cs typeface="Times New Roman"/>
                          <a:sym typeface="Times New Roman"/>
                        </a:rPr>
                        <a:t>1.11</a:t>
                      </a:r>
                      <a:endParaRPr sz="1000" u="none" cap="none" strike="noStrike">
                        <a:latin typeface="Times New Roman"/>
                        <a:ea typeface="Times New Roman"/>
                        <a:cs typeface="Times New Roman"/>
                        <a:sym typeface="Times New Roman"/>
                      </a:endParaRPr>
                    </a:p>
                  </a:txBody>
                  <a:tcPr marT="286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31" name="Google Shape;131;p14"/>
          <p:cNvSpPr txBox="1"/>
          <p:nvPr/>
        </p:nvSpPr>
        <p:spPr>
          <a:xfrm>
            <a:off x="685596" y="376781"/>
            <a:ext cx="2286204" cy="370999"/>
          </a:xfrm>
          <a:prstGeom prst="rect">
            <a:avLst/>
          </a:prstGeom>
          <a:noFill/>
          <a:ln>
            <a:noFill/>
          </a:ln>
        </p:spPr>
        <p:txBody>
          <a:bodyPr anchorCtr="0" anchor="t" bIns="0" lIns="0" spcFirstLastPara="1" rIns="0" wrap="square" tIns="12050">
            <a:spAutoFit/>
          </a:bodyPr>
          <a:lstStyle/>
          <a:p>
            <a:pPr indent="254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QA &amp; INSPECTION CIRCLE KL 	</a:t>
            </a:r>
            <a:endParaRPr sz="1100">
              <a:solidFill>
                <a:schemeClr val="dk1"/>
              </a:solidFill>
              <a:latin typeface="Arial"/>
              <a:ea typeface="Arial"/>
              <a:cs typeface="Arial"/>
              <a:sym typeface="Arial"/>
            </a:endParaRPr>
          </a:p>
        </p:txBody>
      </p:sp>
      <p:sp>
        <p:nvSpPr>
          <p:cNvPr id="132" name="Google Shape;132;p14"/>
          <p:cNvSpPr txBox="1"/>
          <p:nvPr/>
        </p:nvSpPr>
        <p:spPr>
          <a:xfrm>
            <a:off x="5249926" y="414883"/>
            <a:ext cx="1609725" cy="379095"/>
          </a:xfrm>
          <a:prstGeom prst="rect">
            <a:avLst/>
          </a:prstGeom>
          <a:noFill/>
          <a:ln>
            <a:noFill/>
          </a:ln>
        </p:spPr>
        <p:txBody>
          <a:bodyPr anchorCtr="0" anchor="t" bIns="0" lIns="0" spcFirstLastPara="1" rIns="0" wrap="square" tIns="12050">
            <a:spAutoFit/>
          </a:bodyPr>
          <a:lstStyle/>
          <a:p>
            <a:pPr indent="61595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4G PHASE IX.2  eNode-B A/T SCHEDULE</a:t>
            </a:r>
            <a:endParaRPr/>
          </a:p>
        </p:txBody>
      </p:sp>
      <p:sp>
        <p:nvSpPr>
          <p:cNvPr id="133" name="Google Shape;133;p14"/>
          <p:cNvSpPr txBox="1"/>
          <p:nvPr>
            <p:ph idx="11" type="ftr"/>
          </p:nvPr>
        </p:nvSpPr>
        <p:spPr>
          <a:xfrm>
            <a:off x="868476" y="9083316"/>
            <a:ext cx="1681480" cy="182245"/>
          </a:xfrm>
          <a:prstGeom prst="rect">
            <a:avLst/>
          </a:prstGeom>
          <a:noFill/>
          <a:ln>
            <a:noFill/>
          </a:ln>
        </p:spPr>
        <p:txBody>
          <a:bodyPr anchorCtr="0" anchor="t" bIns="0" lIns="0" spcFirstLastPara="1" rIns="0" wrap="square" tIns="0">
            <a:spAutoFit/>
          </a:bodyPr>
          <a:lstStyle/>
          <a:p>
            <a:pPr indent="0" lvl="0" marL="12700" rtl="0" algn="l">
              <a:lnSpc>
                <a:spcPct val="100000"/>
              </a:lnSpc>
              <a:spcBef>
                <a:spcPts val="0"/>
              </a:spcBef>
              <a:spcAft>
                <a:spcPts val="0"/>
              </a:spcAft>
              <a:buNone/>
            </a:pPr>
            <a:r>
              <a:rPr lang="en-US"/>
              <a:t>QAIN-11/31(14)/1/2023-CM</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5"/>
          <p:cNvSpPr txBox="1"/>
          <p:nvPr>
            <p:ph idx="11" type="ftr"/>
          </p:nvPr>
        </p:nvSpPr>
        <p:spPr>
          <a:xfrm>
            <a:off x="868476" y="9083316"/>
            <a:ext cx="1681480" cy="182245"/>
          </a:xfrm>
          <a:prstGeom prst="rect">
            <a:avLst/>
          </a:prstGeom>
          <a:noFill/>
          <a:ln>
            <a:noFill/>
          </a:ln>
        </p:spPr>
        <p:txBody>
          <a:bodyPr anchorCtr="0" anchor="t" bIns="0" lIns="0" spcFirstLastPara="1" rIns="0" wrap="square" tIns="0">
            <a:spAutoFit/>
          </a:bodyPr>
          <a:lstStyle/>
          <a:p>
            <a:pPr indent="0" lvl="0" marL="12700" rtl="0" algn="l">
              <a:lnSpc>
                <a:spcPct val="100000"/>
              </a:lnSpc>
              <a:spcBef>
                <a:spcPts val="0"/>
              </a:spcBef>
              <a:spcAft>
                <a:spcPts val="0"/>
              </a:spcAft>
              <a:buNone/>
            </a:pPr>
            <a:r>
              <a:rPr lang="en-US"/>
              <a:t>QAIN-11/31(14)/1/2023-CM</a:t>
            </a:r>
            <a:endParaRPr/>
          </a:p>
        </p:txBody>
      </p:sp>
      <p:sp>
        <p:nvSpPr>
          <p:cNvPr id="139" name="Google Shape;139;p15"/>
          <p:cNvSpPr txBox="1"/>
          <p:nvPr/>
        </p:nvSpPr>
        <p:spPr>
          <a:xfrm>
            <a:off x="5249926" y="414883"/>
            <a:ext cx="1609725" cy="379095"/>
          </a:xfrm>
          <a:prstGeom prst="rect">
            <a:avLst/>
          </a:prstGeom>
          <a:noFill/>
          <a:ln>
            <a:noFill/>
          </a:ln>
        </p:spPr>
        <p:txBody>
          <a:bodyPr anchorCtr="0" anchor="t" bIns="0" lIns="0" spcFirstLastPara="1" rIns="0" wrap="square" tIns="12050">
            <a:spAutoFit/>
          </a:bodyPr>
          <a:lstStyle/>
          <a:p>
            <a:pPr indent="61595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4G PHASE IX.2  eNode-B A/T SCHEDULE</a:t>
            </a:r>
            <a:endParaRPr sz="1100">
              <a:solidFill>
                <a:schemeClr val="dk1"/>
              </a:solidFill>
              <a:latin typeface="Arial"/>
              <a:ea typeface="Arial"/>
              <a:cs typeface="Arial"/>
              <a:sym typeface="Arial"/>
            </a:endParaRPr>
          </a:p>
        </p:txBody>
      </p:sp>
      <p:sp>
        <p:nvSpPr>
          <p:cNvPr id="140" name="Google Shape;140;p15"/>
          <p:cNvSpPr txBox="1"/>
          <p:nvPr/>
        </p:nvSpPr>
        <p:spPr>
          <a:xfrm>
            <a:off x="892860" y="1151889"/>
            <a:ext cx="2750820" cy="184666"/>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lang="en-US" sz="1200">
                <a:solidFill>
                  <a:schemeClr val="dk1"/>
                </a:solidFill>
                <a:latin typeface="Arial"/>
                <a:ea typeface="Arial"/>
                <a:cs typeface="Arial"/>
                <a:sym typeface="Arial"/>
              </a:rPr>
              <a:t>9.   </a:t>
            </a:r>
            <a:r>
              <a:rPr b="1" lang="en-US" sz="1100">
                <a:solidFill>
                  <a:schemeClr val="dk1"/>
                </a:solidFill>
                <a:latin typeface="Arial"/>
                <a:ea typeface="Arial"/>
                <a:cs typeface="Arial"/>
                <a:sym typeface="Arial"/>
              </a:rPr>
              <a:t>4G services to be tested in all sectors.</a:t>
            </a:r>
            <a:endParaRPr sz="1100">
              <a:solidFill>
                <a:schemeClr val="dk1"/>
              </a:solidFill>
              <a:latin typeface="Arial"/>
              <a:ea typeface="Arial"/>
              <a:cs typeface="Arial"/>
              <a:sym typeface="Arial"/>
            </a:endParaRPr>
          </a:p>
        </p:txBody>
      </p:sp>
      <p:graphicFrame>
        <p:nvGraphicFramePr>
          <p:cNvPr id="141" name="Google Shape;141;p15"/>
          <p:cNvGraphicFramePr/>
          <p:nvPr/>
        </p:nvGraphicFramePr>
        <p:xfrm>
          <a:off x="734872" y="2000123"/>
          <a:ext cx="3000000" cy="3000000"/>
        </p:xfrm>
        <a:graphic>
          <a:graphicData uri="http://schemas.openxmlformats.org/drawingml/2006/table">
            <a:tbl>
              <a:tblPr bandRow="1" firstRow="1">
                <a:noFill/>
                <a:tableStyleId>{FBDFD955-5028-4EC1-B6FB-75A9DF07899A}</a:tableStyleId>
              </a:tblPr>
              <a:tblGrid>
                <a:gridCol w="485775"/>
                <a:gridCol w="5938525"/>
              </a:tblGrid>
              <a:tr h="224200">
                <a:tc>
                  <a:txBody>
                    <a:bodyPr/>
                    <a:lstStyle/>
                    <a:p>
                      <a:pPr indent="0" lvl="0" marL="0" marR="81915" rtl="0" algn="r">
                        <a:lnSpc>
                          <a:spcPct val="100000"/>
                        </a:lnSpc>
                        <a:spcBef>
                          <a:spcPts val="0"/>
                        </a:spcBef>
                        <a:spcAft>
                          <a:spcPts val="0"/>
                        </a:spcAft>
                        <a:buNone/>
                      </a:pPr>
                      <a:r>
                        <a:rPr lang="en-US" sz="1100" u="none" cap="none" strike="noStrike">
                          <a:latin typeface="Arial"/>
                          <a:ea typeface="Arial"/>
                          <a:cs typeface="Arial"/>
                          <a:sym typeface="Arial"/>
                        </a:rPr>
                        <a:t>I.</a:t>
                      </a:r>
                      <a:endParaRPr sz="1100" u="none" cap="none" strike="noStrike">
                        <a:latin typeface="Arial"/>
                        <a:ea typeface="Arial"/>
                        <a:cs typeface="Arial"/>
                        <a:sym typeface="Arial"/>
                      </a:endParaRPr>
                    </a:p>
                  </a:txBody>
                  <a:tcPr marT="12700" marB="0" marR="0" marL="0">
                    <a:lnL cap="flat" cmpd="sng" w="9525">
                      <a:solidFill>
                        <a:srgbClr val="000000"/>
                      </a:solidFill>
                      <a:prstDash val="solid"/>
                      <a:round/>
                      <a:headEnd len="sm" w="sm" type="none"/>
                      <a:tailEnd len="sm" w="sm" type="none"/>
                    </a:lnL>
                    <a:lnT cap="flat" cmpd="sng" w="9525">
                      <a:solidFill>
                        <a:srgbClr val="000000"/>
                      </a:solidFill>
                      <a:prstDash val="solid"/>
                      <a:round/>
                      <a:headEnd len="sm" w="sm" type="none"/>
                      <a:tailEnd len="sm" w="sm" type="none"/>
                    </a:lnT>
                  </a:tcPr>
                </a:tc>
                <a:tc>
                  <a:txBody>
                    <a:bodyPr/>
                    <a:lstStyle/>
                    <a:p>
                      <a:pPr indent="0" lvl="0" marL="81280" marR="0" rtl="0" algn="l">
                        <a:lnSpc>
                          <a:spcPct val="100000"/>
                        </a:lnSpc>
                        <a:spcBef>
                          <a:spcPts val="0"/>
                        </a:spcBef>
                        <a:spcAft>
                          <a:spcPts val="0"/>
                        </a:spcAft>
                        <a:buNone/>
                      </a:pPr>
                      <a:r>
                        <a:rPr lang="en-US" sz="1100" u="none" cap="none" strike="noStrike">
                          <a:latin typeface="Arial"/>
                          <a:ea typeface="Arial"/>
                          <a:cs typeface="Arial"/>
                          <a:sym typeface="Arial"/>
                        </a:rPr>
                        <a:t>VoLTE/ CSFB/ SRVCC/eSRVCC /Fast return to LTE– O/G and I/C call : </a:t>
                      </a:r>
                      <a:endParaRPr sz="1100" u="none" cap="none" strike="noStrike">
                        <a:latin typeface="Arial"/>
                        <a:ea typeface="Arial"/>
                        <a:cs typeface="Arial"/>
                        <a:sym typeface="Arial"/>
                      </a:endParaRPr>
                    </a:p>
                  </a:txBody>
                  <a:tcPr marT="12700" marB="0" marR="0" marL="0">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tcPr>
                </a:tc>
              </a:tr>
              <a:tr h="227075">
                <a:tc>
                  <a:txBody>
                    <a:bodyPr/>
                    <a:lstStyle/>
                    <a:p>
                      <a:pPr indent="0" lvl="0" marL="0" marR="81915" rtl="0" algn="r">
                        <a:lnSpc>
                          <a:spcPct val="100000"/>
                        </a:lnSpc>
                        <a:spcBef>
                          <a:spcPts val="0"/>
                        </a:spcBef>
                        <a:spcAft>
                          <a:spcPts val="0"/>
                        </a:spcAft>
                        <a:buNone/>
                      </a:pPr>
                      <a:r>
                        <a:rPr lang="en-US" sz="1100" u="none" cap="none" strike="noStrike">
                          <a:latin typeface="Arial"/>
                          <a:ea typeface="Arial"/>
                          <a:cs typeface="Arial"/>
                          <a:sym typeface="Arial"/>
                        </a:rPr>
                        <a:t>II.</a:t>
                      </a:r>
                      <a:endParaRPr sz="1100" u="none" cap="none" strike="noStrike">
                        <a:latin typeface="Arial"/>
                        <a:ea typeface="Arial"/>
                        <a:cs typeface="Arial"/>
                        <a:sym typeface="Arial"/>
                      </a:endParaRPr>
                    </a:p>
                  </a:txBody>
                  <a:tcPr marT="29200" marB="0" marR="0" marL="0">
                    <a:lnL cap="flat" cmpd="sng" w="9525">
                      <a:solidFill>
                        <a:srgbClr val="000000"/>
                      </a:solidFill>
                      <a:prstDash val="solid"/>
                      <a:round/>
                      <a:headEnd len="sm" w="sm" type="none"/>
                      <a:tailEnd len="sm" w="sm" type="none"/>
                    </a:lnL>
                  </a:tcPr>
                </a:tc>
                <a:tc>
                  <a:txBody>
                    <a:bodyPr/>
                    <a:lstStyle/>
                    <a:p>
                      <a:pPr indent="0" lvl="0" marL="81280" marR="0" rtl="0" algn="l">
                        <a:lnSpc>
                          <a:spcPct val="100000"/>
                        </a:lnSpc>
                        <a:spcBef>
                          <a:spcPts val="0"/>
                        </a:spcBef>
                        <a:spcAft>
                          <a:spcPts val="0"/>
                        </a:spcAft>
                        <a:buNone/>
                      </a:pPr>
                      <a:r>
                        <a:rPr lang="en-US" sz="1100" u="none" cap="none" strike="noStrike">
                          <a:latin typeface="Arial"/>
                          <a:ea typeface="Arial"/>
                          <a:cs typeface="Arial"/>
                          <a:sym typeface="Arial"/>
                        </a:rPr>
                        <a:t>ViLTE : Under Discussion</a:t>
                      </a:r>
                      <a:endParaRPr sz="1100" u="none" cap="none" strike="noStrike">
                        <a:latin typeface="Arial"/>
                        <a:ea typeface="Arial"/>
                        <a:cs typeface="Arial"/>
                        <a:sym typeface="Arial"/>
                      </a:endParaRPr>
                    </a:p>
                  </a:txBody>
                  <a:tcPr marT="29200" marB="0" marR="0" marL="0">
                    <a:lnR cap="flat" cmpd="sng" w="9525">
                      <a:solidFill>
                        <a:srgbClr val="000000"/>
                      </a:solidFill>
                      <a:prstDash val="solid"/>
                      <a:round/>
                      <a:headEnd len="sm" w="sm" type="none"/>
                      <a:tailEnd len="sm" w="sm" type="none"/>
                    </a:lnR>
                  </a:tcPr>
                </a:tc>
              </a:tr>
              <a:tr h="215000">
                <a:tc>
                  <a:txBody>
                    <a:bodyPr/>
                    <a:lstStyle/>
                    <a:p>
                      <a:pPr indent="0" lvl="0" marL="0" marR="76200" rtl="0" algn="r">
                        <a:lnSpc>
                          <a:spcPct val="100000"/>
                        </a:lnSpc>
                        <a:spcBef>
                          <a:spcPts val="0"/>
                        </a:spcBef>
                        <a:spcAft>
                          <a:spcPts val="0"/>
                        </a:spcAft>
                        <a:buNone/>
                      </a:pPr>
                      <a:r>
                        <a:rPr lang="en-US" sz="1100" u="none" cap="none" strike="noStrike">
                          <a:latin typeface="Arial"/>
                          <a:ea typeface="Arial"/>
                          <a:cs typeface="Arial"/>
                          <a:sym typeface="Arial"/>
                        </a:rPr>
                        <a:t>III.</a:t>
                      </a:r>
                      <a:endParaRPr sz="1100" u="none" cap="none" strike="noStrike">
                        <a:latin typeface="Arial"/>
                        <a:ea typeface="Arial"/>
                        <a:cs typeface="Arial"/>
                        <a:sym typeface="Arial"/>
                      </a:endParaRPr>
                    </a:p>
                  </a:txBody>
                  <a:tcPr marT="15250" marB="0" marR="0" marL="0">
                    <a:lnL cap="flat" cmpd="sng" w="9525">
                      <a:solidFill>
                        <a:srgbClr val="000000"/>
                      </a:solidFill>
                      <a:prstDash val="solid"/>
                      <a:round/>
                      <a:headEnd len="sm" w="sm" type="none"/>
                      <a:tailEnd len="sm" w="sm" type="none"/>
                    </a:lnL>
                  </a:tcPr>
                </a:tc>
                <a:tc>
                  <a:txBody>
                    <a:bodyPr/>
                    <a:lstStyle/>
                    <a:p>
                      <a:pPr indent="0" lvl="0" marL="81280" marR="0" rtl="0" algn="l">
                        <a:lnSpc>
                          <a:spcPct val="100000"/>
                        </a:lnSpc>
                        <a:spcBef>
                          <a:spcPts val="0"/>
                        </a:spcBef>
                        <a:spcAft>
                          <a:spcPts val="0"/>
                        </a:spcAft>
                        <a:buNone/>
                      </a:pPr>
                      <a:r>
                        <a:rPr lang="en-US" sz="1100" u="none" cap="none" strike="noStrike">
                          <a:latin typeface="Arial"/>
                          <a:ea typeface="Arial"/>
                          <a:cs typeface="Arial"/>
                          <a:sym typeface="Arial"/>
                        </a:rPr>
                        <a:t>DATA, Video and Audio Streaming/Web Browsing : Pass</a:t>
                      </a:r>
                      <a:endParaRPr sz="1100" u="none" cap="none" strike="noStrike">
                        <a:latin typeface="Arial"/>
                        <a:ea typeface="Arial"/>
                        <a:cs typeface="Arial"/>
                        <a:sym typeface="Arial"/>
                      </a:endParaRPr>
                    </a:p>
                  </a:txBody>
                  <a:tcPr marT="15250" marB="0" marR="0" marL="0">
                    <a:lnR cap="flat" cmpd="sng" w="9525">
                      <a:solidFill>
                        <a:srgbClr val="000000"/>
                      </a:solidFill>
                      <a:prstDash val="solid"/>
                      <a:round/>
                      <a:headEnd len="sm" w="sm" type="none"/>
                      <a:tailEnd len="sm" w="sm" type="none"/>
                    </a:lnR>
                  </a:tcPr>
                </a:tc>
              </a:tr>
              <a:tr h="216525">
                <a:tc>
                  <a:txBody>
                    <a:bodyPr/>
                    <a:lstStyle/>
                    <a:p>
                      <a:pPr indent="0" lvl="0" marL="0" marR="79375" rtl="0" algn="r">
                        <a:lnSpc>
                          <a:spcPct val="100000"/>
                        </a:lnSpc>
                        <a:spcBef>
                          <a:spcPts val="0"/>
                        </a:spcBef>
                        <a:spcAft>
                          <a:spcPts val="0"/>
                        </a:spcAft>
                        <a:buNone/>
                      </a:pPr>
                      <a:r>
                        <a:rPr lang="en-US" sz="1100" u="none" cap="none" strike="noStrike">
                          <a:latin typeface="Arial"/>
                          <a:ea typeface="Arial"/>
                          <a:cs typeface="Arial"/>
                          <a:sym typeface="Arial"/>
                        </a:rPr>
                        <a:t>IV.</a:t>
                      </a:r>
                      <a:endParaRPr sz="1100" u="none" cap="none" strike="noStrike">
                        <a:latin typeface="Arial"/>
                        <a:ea typeface="Arial"/>
                        <a:cs typeface="Arial"/>
                        <a:sym typeface="Arial"/>
                      </a:endParaRPr>
                    </a:p>
                  </a:txBody>
                  <a:tcPr marT="17150" marB="0" marR="0" marL="0">
                    <a:lnL cap="flat" cmpd="sng" w="9525">
                      <a:solidFill>
                        <a:srgbClr val="000000"/>
                      </a:solidFill>
                      <a:prstDash val="solid"/>
                      <a:round/>
                      <a:headEnd len="sm" w="sm" type="none"/>
                      <a:tailEnd len="sm" w="sm" type="none"/>
                    </a:lnL>
                  </a:tcPr>
                </a:tc>
                <a:tc>
                  <a:txBody>
                    <a:bodyPr/>
                    <a:lstStyle/>
                    <a:p>
                      <a:pPr indent="0" lvl="0" marL="81280" marR="0" rtl="0" algn="l">
                        <a:lnSpc>
                          <a:spcPct val="100000"/>
                        </a:lnSpc>
                        <a:spcBef>
                          <a:spcPts val="0"/>
                        </a:spcBef>
                        <a:spcAft>
                          <a:spcPts val="0"/>
                        </a:spcAft>
                        <a:buNone/>
                      </a:pPr>
                      <a:r>
                        <a:rPr lang="en-US" sz="1100" u="none" cap="none" strike="noStrike">
                          <a:latin typeface="Arial"/>
                          <a:ea typeface="Arial"/>
                          <a:cs typeface="Arial"/>
                          <a:sym typeface="Arial"/>
                        </a:rPr>
                        <a:t>SMS, USSD : Pass, NA</a:t>
                      </a:r>
                      <a:endParaRPr sz="1100" u="none" cap="none" strike="noStrike">
                        <a:latin typeface="Arial"/>
                        <a:ea typeface="Arial"/>
                        <a:cs typeface="Arial"/>
                        <a:sym typeface="Arial"/>
                      </a:endParaRPr>
                    </a:p>
                  </a:txBody>
                  <a:tcPr marT="17150" marB="0" marR="0" marL="0">
                    <a:lnR cap="flat" cmpd="sng" w="9525">
                      <a:solidFill>
                        <a:srgbClr val="000000"/>
                      </a:solidFill>
                      <a:prstDash val="solid"/>
                      <a:round/>
                      <a:headEnd len="sm" w="sm" type="none"/>
                      <a:tailEnd len="sm" w="sm" type="none"/>
                    </a:lnR>
                  </a:tcPr>
                </a:tc>
              </a:tr>
              <a:tr h="216400">
                <a:tc>
                  <a:txBody>
                    <a:bodyPr/>
                    <a:lstStyle/>
                    <a:p>
                      <a:pPr indent="0" lvl="0" marL="0" marR="84455" rtl="0" algn="r">
                        <a:lnSpc>
                          <a:spcPct val="100000"/>
                        </a:lnSpc>
                        <a:spcBef>
                          <a:spcPts val="0"/>
                        </a:spcBef>
                        <a:spcAft>
                          <a:spcPts val="0"/>
                        </a:spcAft>
                        <a:buNone/>
                      </a:pPr>
                      <a:r>
                        <a:rPr lang="en-US" sz="1100" u="none" cap="none" strike="noStrike">
                          <a:latin typeface="Arial"/>
                          <a:ea typeface="Arial"/>
                          <a:cs typeface="Arial"/>
                          <a:sym typeface="Arial"/>
                        </a:rPr>
                        <a:t>V.</a:t>
                      </a:r>
                      <a:endParaRPr sz="1100" u="none" cap="none" strike="noStrike">
                        <a:latin typeface="Arial"/>
                        <a:ea typeface="Arial"/>
                        <a:cs typeface="Arial"/>
                        <a:sym typeface="Arial"/>
                      </a:endParaRPr>
                    </a:p>
                  </a:txBody>
                  <a:tcPr marT="17150" marB="0" marR="0" marL="0">
                    <a:lnL cap="flat" cmpd="sng" w="9525">
                      <a:solidFill>
                        <a:srgbClr val="000000"/>
                      </a:solidFill>
                      <a:prstDash val="solid"/>
                      <a:round/>
                      <a:headEnd len="sm" w="sm" type="none"/>
                      <a:tailEnd len="sm" w="sm" type="none"/>
                    </a:lnL>
                  </a:tcPr>
                </a:tc>
                <a:tc>
                  <a:txBody>
                    <a:bodyPr/>
                    <a:lstStyle/>
                    <a:p>
                      <a:pPr indent="0" lvl="0" marL="81280" marR="0" rtl="0" algn="l">
                        <a:lnSpc>
                          <a:spcPct val="100000"/>
                        </a:lnSpc>
                        <a:spcBef>
                          <a:spcPts val="0"/>
                        </a:spcBef>
                        <a:spcAft>
                          <a:spcPts val="0"/>
                        </a:spcAft>
                        <a:buNone/>
                      </a:pPr>
                      <a:r>
                        <a:rPr lang="en-US" sz="1100" u="none" cap="none" strike="noStrike">
                          <a:latin typeface="Arial"/>
                          <a:ea typeface="Arial"/>
                          <a:cs typeface="Arial"/>
                          <a:sym typeface="Arial"/>
                        </a:rPr>
                        <a:t>Emergency call (112) : Pass</a:t>
                      </a:r>
                      <a:endParaRPr sz="1100" u="none" cap="none" strike="noStrike">
                        <a:latin typeface="Arial"/>
                        <a:ea typeface="Arial"/>
                        <a:cs typeface="Arial"/>
                        <a:sym typeface="Arial"/>
                      </a:endParaRPr>
                    </a:p>
                  </a:txBody>
                  <a:tcPr marT="17150" marB="0" marR="0" marL="0">
                    <a:lnR cap="flat" cmpd="sng" w="9525">
                      <a:solidFill>
                        <a:srgbClr val="000000"/>
                      </a:solidFill>
                      <a:prstDash val="solid"/>
                      <a:round/>
                      <a:headEnd len="sm" w="sm" type="none"/>
                      <a:tailEnd len="sm" w="sm" type="none"/>
                    </a:lnR>
                  </a:tcPr>
                </a:tc>
              </a:tr>
              <a:tr h="216400">
                <a:tc>
                  <a:txBody>
                    <a:bodyPr/>
                    <a:lstStyle/>
                    <a:p>
                      <a:pPr indent="0" lvl="0" marL="0" marR="76200" rtl="0" algn="r">
                        <a:lnSpc>
                          <a:spcPct val="100000"/>
                        </a:lnSpc>
                        <a:spcBef>
                          <a:spcPts val="0"/>
                        </a:spcBef>
                        <a:spcAft>
                          <a:spcPts val="0"/>
                        </a:spcAft>
                        <a:buNone/>
                      </a:pPr>
                      <a:r>
                        <a:rPr lang="en-US" sz="1100" u="none" cap="none" strike="noStrike">
                          <a:latin typeface="Arial"/>
                          <a:ea typeface="Arial"/>
                          <a:cs typeface="Arial"/>
                          <a:sym typeface="Arial"/>
                        </a:rPr>
                        <a:t>VI.</a:t>
                      </a:r>
                      <a:endParaRPr sz="1100" u="none" cap="none" strike="noStrike">
                        <a:latin typeface="Arial"/>
                        <a:ea typeface="Arial"/>
                        <a:cs typeface="Arial"/>
                        <a:sym typeface="Arial"/>
                      </a:endParaRPr>
                    </a:p>
                  </a:txBody>
                  <a:tcPr marT="17150" marB="0" marR="0" marL="0">
                    <a:lnL cap="flat" cmpd="sng" w="9525">
                      <a:solidFill>
                        <a:srgbClr val="000000"/>
                      </a:solidFill>
                      <a:prstDash val="solid"/>
                      <a:round/>
                      <a:headEnd len="sm" w="sm" type="none"/>
                      <a:tailEnd len="sm" w="sm" type="none"/>
                    </a:lnL>
                  </a:tcPr>
                </a:tc>
                <a:tc>
                  <a:txBody>
                    <a:bodyPr/>
                    <a:lstStyle/>
                    <a:p>
                      <a:pPr indent="0" lvl="0" marL="81280" marR="0" rtl="0" algn="l">
                        <a:lnSpc>
                          <a:spcPct val="100000"/>
                        </a:lnSpc>
                        <a:spcBef>
                          <a:spcPts val="0"/>
                        </a:spcBef>
                        <a:spcAft>
                          <a:spcPts val="0"/>
                        </a:spcAft>
                        <a:buNone/>
                      </a:pPr>
                      <a:r>
                        <a:rPr lang="en-US" sz="1100" u="none" cap="none" strike="noStrike">
                          <a:latin typeface="Arial"/>
                          <a:ea typeface="Arial"/>
                          <a:cs typeface="Arial"/>
                          <a:sym typeface="Arial"/>
                        </a:rPr>
                        <a:t>LBS services : Under Discussion</a:t>
                      </a:r>
                      <a:endParaRPr sz="1100" u="none" cap="none" strike="noStrike">
                        <a:latin typeface="Arial"/>
                        <a:ea typeface="Arial"/>
                        <a:cs typeface="Arial"/>
                        <a:sym typeface="Arial"/>
                      </a:endParaRPr>
                    </a:p>
                  </a:txBody>
                  <a:tcPr marT="17150" marB="0" marR="0" marL="0">
                    <a:lnR cap="flat" cmpd="sng" w="9525">
                      <a:solidFill>
                        <a:srgbClr val="000000"/>
                      </a:solidFill>
                      <a:prstDash val="solid"/>
                      <a:round/>
                      <a:headEnd len="sm" w="sm" type="none"/>
                      <a:tailEnd len="sm" w="sm" type="none"/>
                    </a:lnR>
                  </a:tcPr>
                </a:tc>
              </a:tr>
              <a:tr h="216600">
                <a:tc>
                  <a:txBody>
                    <a:bodyPr/>
                    <a:lstStyle/>
                    <a:p>
                      <a:pPr indent="0" lvl="0" marL="0" marR="76200" rtl="0" algn="r">
                        <a:lnSpc>
                          <a:spcPct val="100000"/>
                        </a:lnSpc>
                        <a:spcBef>
                          <a:spcPts val="0"/>
                        </a:spcBef>
                        <a:spcAft>
                          <a:spcPts val="0"/>
                        </a:spcAft>
                        <a:buNone/>
                      </a:pPr>
                      <a:r>
                        <a:rPr lang="en-US" sz="1100" u="none" cap="none" strike="noStrike">
                          <a:latin typeface="Arial"/>
                          <a:ea typeface="Arial"/>
                          <a:cs typeface="Arial"/>
                          <a:sym typeface="Arial"/>
                        </a:rPr>
                        <a:t>VII.</a:t>
                      </a:r>
                      <a:endParaRPr sz="1100" u="none" cap="none" strike="noStrike">
                        <a:latin typeface="Arial"/>
                        <a:ea typeface="Arial"/>
                        <a:cs typeface="Arial"/>
                        <a:sym typeface="Arial"/>
                      </a:endParaRPr>
                    </a:p>
                  </a:txBody>
                  <a:tcPr marT="17150" marB="0" marR="0" marL="0">
                    <a:lnL cap="flat" cmpd="sng" w="9525">
                      <a:solidFill>
                        <a:srgbClr val="000000"/>
                      </a:solidFill>
                      <a:prstDash val="solid"/>
                      <a:round/>
                      <a:headEnd len="sm" w="sm" type="none"/>
                      <a:tailEnd len="sm" w="sm" type="none"/>
                    </a:lnL>
                  </a:tcPr>
                </a:tc>
                <a:tc>
                  <a:txBody>
                    <a:bodyPr/>
                    <a:lstStyle/>
                    <a:p>
                      <a:pPr indent="0" lvl="0" marL="81280" marR="0" rtl="0" algn="l">
                        <a:lnSpc>
                          <a:spcPct val="100000"/>
                        </a:lnSpc>
                        <a:spcBef>
                          <a:spcPts val="0"/>
                        </a:spcBef>
                        <a:spcAft>
                          <a:spcPts val="0"/>
                        </a:spcAft>
                        <a:buSzPts val="1100"/>
                        <a:buFont typeface="Arial"/>
                        <a:buNone/>
                      </a:pPr>
                      <a:r>
                        <a:rPr lang="en-US" sz="1100" u="none" cap="none" strike="noStrike">
                          <a:latin typeface="Arial"/>
                          <a:ea typeface="Arial"/>
                          <a:cs typeface="Arial"/>
                          <a:sym typeface="Arial"/>
                        </a:rPr>
                        <a:t>Cell Broadcast on handset.: Under Discussion</a:t>
                      </a:r>
                      <a:endParaRPr sz="1100" u="none" cap="none" strike="noStrike">
                        <a:latin typeface="Arial"/>
                        <a:ea typeface="Arial"/>
                        <a:cs typeface="Arial"/>
                        <a:sym typeface="Arial"/>
                      </a:endParaRPr>
                    </a:p>
                  </a:txBody>
                  <a:tcPr marT="17150" marB="0" marR="0" marL="0">
                    <a:lnR cap="flat" cmpd="sng" w="9525">
                      <a:solidFill>
                        <a:srgbClr val="000000"/>
                      </a:solidFill>
                      <a:prstDash val="solid"/>
                      <a:round/>
                      <a:headEnd len="sm" w="sm" type="none"/>
                      <a:tailEnd len="sm" w="sm" type="none"/>
                    </a:lnR>
                  </a:tcPr>
                </a:tc>
              </a:tr>
              <a:tr h="251500">
                <a:tc>
                  <a:txBody>
                    <a:bodyPr/>
                    <a:lstStyle/>
                    <a:p>
                      <a:pPr indent="0" lvl="0" marL="0" marR="73660" rtl="0" algn="r">
                        <a:lnSpc>
                          <a:spcPct val="100000"/>
                        </a:lnSpc>
                        <a:spcBef>
                          <a:spcPts val="0"/>
                        </a:spcBef>
                        <a:spcAft>
                          <a:spcPts val="0"/>
                        </a:spcAft>
                        <a:buNone/>
                      </a:pPr>
                      <a:r>
                        <a:rPr lang="en-US" sz="1100" u="none" cap="none" strike="noStrike">
                          <a:latin typeface="Arial"/>
                          <a:ea typeface="Arial"/>
                          <a:cs typeface="Arial"/>
                          <a:sym typeface="Arial"/>
                        </a:rPr>
                        <a:t>VIII.</a:t>
                      </a:r>
                      <a:endParaRPr sz="1100" u="none" cap="none" strike="noStrike">
                        <a:latin typeface="Arial"/>
                        <a:ea typeface="Arial"/>
                        <a:cs typeface="Arial"/>
                        <a:sym typeface="Arial"/>
                      </a:endParaRPr>
                    </a:p>
                  </a:txBody>
                  <a:tcPr marT="17150" marB="0" marR="0" marL="0">
                    <a:lnL cap="flat" cmpd="sng" w="9525">
                      <a:solidFill>
                        <a:srgbClr val="000000"/>
                      </a:solidFill>
                      <a:prstDash val="solid"/>
                      <a:round/>
                      <a:headEnd len="sm" w="sm" type="none"/>
                      <a:tailEnd len="sm" w="sm" type="none"/>
                    </a:lnL>
                    <a:lnB cap="flat" cmpd="sng" w="9525">
                      <a:solidFill>
                        <a:srgbClr val="000000"/>
                      </a:solidFill>
                      <a:prstDash val="solid"/>
                      <a:round/>
                      <a:headEnd len="sm" w="sm" type="none"/>
                      <a:tailEnd len="sm" w="sm" type="none"/>
                    </a:lnB>
                  </a:tcPr>
                </a:tc>
                <a:tc>
                  <a:txBody>
                    <a:bodyPr/>
                    <a:lstStyle/>
                    <a:p>
                      <a:pPr indent="0" lvl="0" marL="81280" marR="0" rtl="0" algn="l">
                        <a:lnSpc>
                          <a:spcPct val="100000"/>
                        </a:lnSpc>
                        <a:spcBef>
                          <a:spcPts val="0"/>
                        </a:spcBef>
                        <a:spcAft>
                          <a:spcPts val="0"/>
                        </a:spcAft>
                        <a:buSzPts val="1100"/>
                        <a:buFont typeface="Arial"/>
                        <a:buNone/>
                      </a:pPr>
                      <a:r>
                        <a:rPr lang="en-US" sz="1100" u="none" cap="none" strike="noStrike">
                          <a:latin typeface="Arial"/>
                          <a:ea typeface="Arial"/>
                          <a:cs typeface="Arial"/>
                          <a:sym typeface="Arial"/>
                        </a:rPr>
                        <a:t>Check NB-IoT / M2M service : Under Discussion</a:t>
                      </a:r>
                      <a:endParaRPr sz="1100" u="none" cap="none" strike="noStrike">
                        <a:latin typeface="Arial"/>
                        <a:ea typeface="Arial"/>
                        <a:cs typeface="Arial"/>
                        <a:sym typeface="Arial"/>
                      </a:endParaRPr>
                    </a:p>
                  </a:txBody>
                  <a:tcPr marT="17150" marB="0" marR="0" marL="0">
                    <a:lnR cap="flat" cmpd="sng" w="9525">
                      <a:solidFill>
                        <a:srgbClr val="000000"/>
                      </a:solidFill>
                      <a:prstDash val="solid"/>
                      <a:round/>
                      <a:headEnd len="sm" w="sm" type="none"/>
                      <a:tailEnd len="sm" w="sm" type="none"/>
                    </a:lnR>
                    <a:lnB cap="flat" cmpd="sng" w="9525">
                      <a:solidFill>
                        <a:srgbClr val="000000"/>
                      </a:solidFill>
                      <a:prstDash val="solid"/>
                      <a:round/>
                      <a:headEnd len="sm" w="sm" type="none"/>
                      <a:tailEnd len="sm" w="sm" type="none"/>
                    </a:lnB>
                  </a:tcPr>
                </a:tc>
              </a:tr>
            </a:tbl>
          </a:graphicData>
        </a:graphic>
      </p:graphicFrame>
      <p:graphicFrame>
        <p:nvGraphicFramePr>
          <p:cNvPr id="142" name="Google Shape;142;p15"/>
          <p:cNvGraphicFramePr/>
          <p:nvPr/>
        </p:nvGraphicFramePr>
        <p:xfrm>
          <a:off x="683056" y="4201414"/>
          <a:ext cx="3000000" cy="3000000"/>
        </p:xfrm>
        <a:graphic>
          <a:graphicData uri="http://schemas.openxmlformats.org/drawingml/2006/table">
            <a:tbl>
              <a:tblPr bandRow="1" firstRow="1">
                <a:noFill/>
                <a:tableStyleId>{FBDFD955-5028-4EC1-B6FB-75A9DF07899A}</a:tableStyleId>
              </a:tblPr>
              <a:tblGrid>
                <a:gridCol w="3052450"/>
                <a:gridCol w="3411850"/>
              </a:tblGrid>
              <a:tr h="280425">
                <a:tc>
                  <a:txBody>
                    <a:bodyPr/>
                    <a:lstStyle/>
                    <a:p>
                      <a:pPr indent="0" lvl="0" marL="643255" marR="0" rtl="0" algn="l">
                        <a:lnSpc>
                          <a:spcPct val="100000"/>
                        </a:lnSpc>
                        <a:spcBef>
                          <a:spcPts val="0"/>
                        </a:spcBef>
                        <a:spcAft>
                          <a:spcPts val="0"/>
                        </a:spcAft>
                        <a:buNone/>
                      </a:pPr>
                      <a:r>
                        <a:rPr b="1" lang="en-US" sz="1100" u="none" cap="none" strike="noStrike">
                          <a:latin typeface="Arial"/>
                          <a:ea typeface="Arial"/>
                          <a:cs typeface="Arial"/>
                          <a:sym typeface="Arial"/>
                        </a:rPr>
                        <a:t>Sec 1</a:t>
                      </a:r>
                      <a:endParaRPr sz="1100" u="none" cap="none" strike="noStrike">
                        <a:latin typeface="Arial"/>
                        <a:ea typeface="Arial"/>
                        <a:cs typeface="Arial"/>
                        <a:sym typeface="Arial"/>
                      </a:endParaRPr>
                    </a:p>
                  </a:txBody>
                  <a:tcPr marT="304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45795" marR="0" rtl="0" algn="l">
                        <a:lnSpc>
                          <a:spcPct val="100000"/>
                        </a:lnSpc>
                        <a:spcBef>
                          <a:spcPts val="0"/>
                        </a:spcBef>
                        <a:spcAft>
                          <a:spcPts val="0"/>
                        </a:spcAft>
                        <a:buNone/>
                      </a:pPr>
                      <a:r>
                        <a:rPr b="1" lang="en-US" sz="1100" u="none" cap="none" strike="noStrike">
                          <a:latin typeface="Arial"/>
                          <a:ea typeface="Arial"/>
                          <a:cs typeface="Arial"/>
                          <a:sym typeface="Arial"/>
                        </a:rPr>
                        <a:t>OK</a:t>
                      </a:r>
                      <a:endParaRPr sz="1100" u="none" cap="none" strike="noStrike">
                        <a:latin typeface="Arial"/>
                        <a:ea typeface="Arial"/>
                        <a:cs typeface="Arial"/>
                        <a:sym typeface="Arial"/>
                      </a:endParaRPr>
                    </a:p>
                  </a:txBody>
                  <a:tcPr marT="304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77625">
                <a:tc>
                  <a:txBody>
                    <a:bodyPr/>
                    <a:lstStyle/>
                    <a:p>
                      <a:pPr indent="0" lvl="0" marL="643255" marR="0" rtl="0" algn="l">
                        <a:lnSpc>
                          <a:spcPct val="100000"/>
                        </a:lnSpc>
                        <a:spcBef>
                          <a:spcPts val="0"/>
                        </a:spcBef>
                        <a:spcAft>
                          <a:spcPts val="0"/>
                        </a:spcAft>
                        <a:buNone/>
                      </a:pPr>
                      <a:r>
                        <a:rPr b="1" lang="en-US" sz="1100" u="none" cap="none" strike="noStrike">
                          <a:latin typeface="Arial"/>
                          <a:ea typeface="Arial"/>
                          <a:cs typeface="Arial"/>
                          <a:sym typeface="Arial"/>
                        </a:rPr>
                        <a:t>Sec 2</a:t>
                      </a:r>
                      <a:endParaRPr sz="1100" u="none" cap="none" strike="noStrike">
                        <a:latin typeface="Arial"/>
                        <a:ea typeface="Arial"/>
                        <a:cs typeface="Arial"/>
                        <a:sym typeface="Arial"/>
                      </a:endParaRPr>
                    </a:p>
                  </a:txBody>
                  <a:tcPr marT="304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45795" marR="0" rtl="0" algn="l">
                        <a:lnSpc>
                          <a:spcPct val="100000"/>
                        </a:lnSpc>
                        <a:spcBef>
                          <a:spcPts val="0"/>
                        </a:spcBef>
                        <a:spcAft>
                          <a:spcPts val="0"/>
                        </a:spcAft>
                        <a:buNone/>
                      </a:pPr>
                      <a:r>
                        <a:rPr b="1" lang="en-US" sz="1100" u="none" cap="none" strike="noStrike">
                          <a:latin typeface="Arial"/>
                          <a:ea typeface="Arial"/>
                          <a:cs typeface="Arial"/>
                          <a:sym typeface="Arial"/>
                        </a:rPr>
                        <a:t>OK</a:t>
                      </a:r>
                      <a:endParaRPr sz="1100" u="none" cap="none" strike="noStrike">
                        <a:latin typeface="Arial"/>
                        <a:ea typeface="Arial"/>
                        <a:cs typeface="Arial"/>
                        <a:sym typeface="Arial"/>
                      </a:endParaRPr>
                    </a:p>
                  </a:txBody>
                  <a:tcPr marT="304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80425">
                <a:tc>
                  <a:txBody>
                    <a:bodyPr/>
                    <a:lstStyle/>
                    <a:p>
                      <a:pPr indent="0" lvl="0" marL="643255" marR="0" rtl="0" algn="l">
                        <a:lnSpc>
                          <a:spcPct val="100000"/>
                        </a:lnSpc>
                        <a:spcBef>
                          <a:spcPts val="0"/>
                        </a:spcBef>
                        <a:spcAft>
                          <a:spcPts val="0"/>
                        </a:spcAft>
                        <a:buNone/>
                      </a:pPr>
                      <a:r>
                        <a:rPr b="1" lang="en-US" sz="1100" u="none" cap="none" strike="noStrike">
                          <a:latin typeface="Arial"/>
                          <a:ea typeface="Arial"/>
                          <a:cs typeface="Arial"/>
                          <a:sym typeface="Arial"/>
                        </a:rPr>
                        <a:t>Sec 3</a:t>
                      </a:r>
                      <a:endParaRPr sz="1100" u="none" cap="none" strike="noStrike">
                        <a:latin typeface="Arial"/>
                        <a:ea typeface="Arial"/>
                        <a:cs typeface="Arial"/>
                        <a:sym typeface="Arial"/>
                      </a:endParaRPr>
                    </a:p>
                  </a:txBody>
                  <a:tcPr marT="304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45795" marR="0" rtl="0" algn="l">
                        <a:lnSpc>
                          <a:spcPct val="100000"/>
                        </a:lnSpc>
                        <a:spcBef>
                          <a:spcPts val="0"/>
                        </a:spcBef>
                        <a:spcAft>
                          <a:spcPts val="0"/>
                        </a:spcAft>
                        <a:buNone/>
                      </a:pPr>
                      <a:r>
                        <a:rPr b="1" lang="en-US" sz="1100" u="none" cap="none" strike="noStrike">
                          <a:latin typeface="Arial"/>
                          <a:ea typeface="Arial"/>
                          <a:cs typeface="Arial"/>
                          <a:sym typeface="Arial"/>
                        </a:rPr>
                        <a:t>OK</a:t>
                      </a:r>
                      <a:endParaRPr sz="1100" u="none" cap="none" strike="noStrike">
                        <a:latin typeface="Arial"/>
                        <a:ea typeface="Arial"/>
                        <a:cs typeface="Arial"/>
                        <a:sym typeface="Arial"/>
                      </a:endParaRPr>
                    </a:p>
                  </a:txBody>
                  <a:tcPr marT="304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43" name="Google Shape;143;p15"/>
          <p:cNvSpPr txBox="1"/>
          <p:nvPr/>
        </p:nvSpPr>
        <p:spPr>
          <a:xfrm>
            <a:off x="683056" y="5457448"/>
            <a:ext cx="2288744" cy="185307"/>
          </a:xfrm>
          <a:prstGeom prst="rect">
            <a:avLst/>
          </a:prstGeom>
          <a:noFill/>
          <a:ln>
            <a:noFill/>
          </a:ln>
        </p:spPr>
        <p:txBody>
          <a:bodyPr anchorCtr="0" anchor="t" bIns="0" lIns="0" spcFirstLastPara="1" rIns="0" wrap="square" tIns="625">
            <a:spAutoFit/>
          </a:bodyPr>
          <a:lstStyle/>
          <a:p>
            <a:pPr indent="0" lvl="0" marL="12700" marR="0" rtl="0" algn="l">
              <a:lnSpc>
                <a:spcPct val="100000"/>
              </a:lnSpc>
              <a:spcBef>
                <a:spcPts val="0"/>
              </a:spcBef>
              <a:spcAft>
                <a:spcPts val="0"/>
              </a:spcAft>
              <a:buNone/>
            </a:pPr>
            <a:r>
              <a:rPr lang="en-US" sz="1200">
                <a:solidFill>
                  <a:schemeClr val="dk1"/>
                </a:solidFill>
                <a:latin typeface="Arial"/>
                <a:ea typeface="Arial"/>
                <a:cs typeface="Arial"/>
                <a:sym typeface="Arial"/>
              </a:rPr>
              <a:t>10.  </a:t>
            </a:r>
            <a:r>
              <a:rPr b="1" lang="en-US" sz="1100">
                <a:solidFill>
                  <a:schemeClr val="dk1"/>
                </a:solidFill>
                <a:latin typeface="Arial"/>
                <a:ea typeface="Arial"/>
                <a:cs typeface="Arial"/>
                <a:sym typeface="Arial"/>
              </a:rPr>
              <a:t>Calls for Handover (4G to 4G)</a:t>
            </a:r>
            <a:endParaRPr sz="1100">
              <a:solidFill>
                <a:schemeClr val="dk1"/>
              </a:solidFill>
              <a:latin typeface="Arial"/>
              <a:ea typeface="Arial"/>
              <a:cs typeface="Arial"/>
              <a:sym typeface="Arial"/>
            </a:endParaRPr>
          </a:p>
        </p:txBody>
      </p:sp>
      <p:graphicFrame>
        <p:nvGraphicFramePr>
          <p:cNvPr id="144" name="Google Shape;144;p15"/>
          <p:cNvGraphicFramePr/>
          <p:nvPr/>
        </p:nvGraphicFramePr>
        <p:xfrm>
          <a:off x="683056" y="5853938"/>
          <a:ext cx="3000000" cy="3000000"/>
        </p:xfrm>
        <a:graphic>
          <a:graphicData uri="http://schemas.openxmlformats.org/drawingml/2006/table">
            <a:tbl>
              <a:tblPr bandRow="1" firstRow="1">
                <a:noFill/>
                <a:tableStyleId>{FBDFD955-5028-4EC1-B6FB-75A9DF07899A}</a:tableStyleId>
              </a:tblPr>
              <a:tblGrid>
                <a:gridCol w="1707525"/>
                <a:gridCol w="1588775"/>
                <a:gridCol w="1588775"/>
                <a:gridCol w="1595125"/>
              </a:tblGrid>
              <a:tr h="204225">
                <a:tc gridSpan="4">
                  <a:txBody>
                    <a:bodyPr/>
                    <a:lstStyle/>
                    <a:p>
                      <a:pPr indent="0" lvl="0" marL="184150" marR="0" rtl="0" algn="ctr">
                        <a:lnSpc>
                          <a:spcPct val="118181"/>
                        </a:lnSpc>
                        <a:spcBef>
                          <a:spcPts val="0"/>
                        </a:spcBef>
                        <a:spcAft>
                          <a:spcPts val="0"/>
                        </a:spcAft>
                        <a:buNone/>
                      </a:pPr>
                      <a:r>
                        <a:rPr lang="en-US" sz="1100" u="none" cap="none" strike="noStrike">
                          <a:latin typeface="Calibri"/>
                          <a:ea typeface="Calibri"/>
                          <a:cs typeface="Calibri"/>
                          <a:sym typeface="Calibri"/>
                        </a:rPr>
                        <a:t>Intra Enb Handover Call</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xBody>
                    <a:bodyPr/>
                    <a:p/>
                  </a:txBody>
                </a:tc>
                <a:tc hMerge="1">
                  <a:txBody>
                    <a:bodyPr/>
                    <a:p/>
                  </a:txBody>
                </a:tc>
                <a:tc hMerge="1">
                  <a:txBody>
                    <a:bodyPr/>
                    <a:p/>
                  </a:txBody>
                </a:tc>
              </a:tr>
              <a:tr h="201175">
                <a:tc>
                  <a:txBody>
                    <a:bodyPr/>
                    <a:lstStyle/>
                    <a:p>
                      <a:pPr indent="0" lvl="0" marL="0" marR="0" rtl="0" algn="l">
                        <a:lnSpc>
                          <a:spcPct val="100000"/>
                        </a:lnSpc>
                        <a:spcBef>
                          <a:spcPts val="0"/>
                        </a:spcBef>
                        <a:spcAft>
                          <a:spcPts val="0"/>
                        </a:spcAft>
                        <a:buNone/>
                      </a:pPr>
                      <a:r>
                        <a:t/>
                      </a:r>
                      <a:endParaRPr sz="10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36905" marR="0" rtl="0" algn="l">
                        <a:lnSpc>
                          <a:spcPct val="115909"/>
                        </a:lnSpc>
                        <a:spcBef>
                          <a:spcPts val="0"/>
                        </a:spcBef>
                        <a:spcAft>
                          <a:spcPts val="0"/>
                        </a:spcAft>
                        <a:buNone/>
                      </a:pPr>
                      <a:r>
                        <a:rPr lang="en-US" sz="1100" u="none" cap="none" strike="noStrike">
                          <a:latin typeface="Calibri"/>
                          <a:ea typeface="Calibri"/>
                          <a:cs typeface="Calibri"/>
                          <a:sym typeface="Calibri"/>
                        </a:rPr>
                        <a:t>Sector -1</a:t>
                      </a:r>
                      <a:endParaRPr sz="1100" u="none" cap="none" strike="noStrike">
                        <a:latin typeface="Calibri"/>
                        <a:ea typeface="Calibri"/>
                        <a:cs typeface="Calibri"/>
                        <a:sym typeface="Calibri"/>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36905" marR="0" rtl="0" algn="l">
                        <a:lnSpc>
                          <a:spcPct val="115909"/>
                        </a:lnSpc>
                        <a:spcBef>
                          <a:spcPts val="0"/>
                        </a:spcBef>
                        <a:spcAft>
                          <a:spcPts val="0"/>
                        </a:spcAft>
                        <a:buNone/>
                      </a:pPr>
                      <a:r>
                        <a:rPr lang="en-US" sz="1100" u="none" cap="none" strike="noStrike">
                          <a:latin typeface="Calibri"/>
                          <a:ea typeface="Calibri"/>
                          <a:cs typeface="Calibri"/>
                          <a:sym typeface="Calibri"/>
                        </a:rPr>
                        <a:t>Sector -2</a:t>
                      </a:r>
                      <a:endParaRPr sz="1100" u="none" cap="none" strike="noStrike">
                        <a:latin typeface="Calibri"/>
                        <a:ea typeface="Calibri"/>
                        <a:cs typeface="Calibri"/>
                        <a:sym typeface="Calibri"/>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61035" marR="0" rtl="0" algn="l">
                        <a:lnSpc>
                          <a:spcPct val="115909"/>
                        </a:lnSpc>
                        <a:spcBef>
                          <a:spcPts val="0"/>
                        </a:spcBef>
                        <a:spcAft>
                          <a:spcPts val="0"/>
                        </a:spcAft>
                        <a:buNone/>
                      </a:pPr>
                      <a:r>
                        <a:rPr lang="en-US" sz="1100" u="none" cap="none" strike="noStrike">
                          <a:latin typeface="Calibri"/>
                          <a:ea typeface="Calibri"/>
                          <a:cs typeface="Calibri"/>
                          <a:sym typeface="Calibri"/>
                        </a:rPr>
                        <a:t>Sector-3</a:t>
                      </a:r>
                      <a:endParaRPr sz="1100" u="none" cap="none" strike="noStrike">
                        <a:latin typeface="Calibri"/>
                        <a:ea typeface="Calibri"/>
                        <a:cs typeface="Calibri"/>
                        <a:sym typeface="Calibri"/>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26725">
                <a:tc>
                  <a:txBody>
                    <a:bodyPr/>
                    <a:lstStyle/>
                    <a:p>
                      <a:pPr indent="-344805" lvl="0" marL="722630" marR="242570" rtl="0" algn="l">
                        <a:lnSpc>
                          <a:spcPct val="104000"/>
                        </a:lnSpc>
                        <a:spcBef>
                          <a:spcPts val="0"/>
                        </a:spcBef>
                        <a:spcAft>
                          <a:spcPts val="0"/>
                        </a:spcAft>
                        <a:buNone/>
                      </a:pPr>
                      <a:r>
                        <a:rPr b="1" lang="en-US" sz="1000" u="none" cap="none" strike="noStrike">
                          <a:latin typeface="Calibri"/>
                          <a:ea typeface="Calibri"/>
                          <a:cs typeface="Calibri"/>
                          <a:sym typeface="Calibri"/>
                        </a:rPr>
                        <a:t>Intra eNB Handover -  Sector 1</a:t>
                      </a:r>
                      <a:endParaRPr sz="1000" u="none" cap="none" strike="noStrike">
                        <a:latin typeface="Calibri"/>
                        <a:ea typeface="Calibri"/>
                        <a:cs typeface="Calibri"/>
                        <a:sym typeface="Calibri"/>
                      </a:endParaRPr>
                    </a:p>
                  </a:txBody>
                  <a:tcPr marT="101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19075" marR="0" rtl="0" algn="just">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-pass</a:t>
                      </a:r>
                      <a:endParaRPr b="0" i="0" sz="1100" u="none" cap="none" strike="noStrike">
                        <a:solidFill>
                          <a:srgbClr val="000000"/>
                        </a:solidFill>
                        <a:latin typeface="Times New Roman"/>
                        <a:ea typeface="Times New Roman"/>
                        <a:cs typeface="Times New Roman"/>
                        <a:sym typeface="Times New Roman"/>
                      </a:endParaRPr>
                    </a:p>
                  </a:txBody>
                  <a:tcPr marT="311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219075" marR="0" rtl="0" algn="just">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Pass</a:t>
                      </a:r>
                      <a:endParaRPr b="0" i="0" sz="1100" u="none" cap="none" strike="noStrike">
                        <a:solidFill>
                          <a:srgbClr val="000000"/>
                        </a:solidFill>
                        <a:latin typeface="Times New Roman"/>
                        <a:ea typeface="Times New Roman"/>
                        <a:cs typeface="Times New Roman"/>
                        <a:sym typeface="Times New Roman"/>
                      </a:endParaRPr>
                    </a:p>
                  </a:txBody>
                  <a:tcPr marT="304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219075" marR="0" rtl="0" algn="just">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pass</a:t>
                      </a:r>
                      <a:endParaRPr b="0" i="0" sz="1100" u="none" cap="none" strike="noStrike">
                        <a:solidFill>
                          <a:srgbClr val="000000"/>
                        </a:solidFill>
                        <a:latin typeface="Times New Roman"/>
                        <a:ea typeface="Times New Roman"/>
                        <a:cs typeface="Times New Roman"/>
                        <a:sym typeface="Times New Roman"/>
                      </a:endParaRPr>
                    </a:p>
                  </a:txBody>
                  <a:tcPr marT="304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r>
              <a:tr h="427100">
                <a:tc>
                  <a:txBody>
                    <a:bodyPr/>
                    <a:lstStyle/>
                    <a:p>
                      <a:pPr indent="-344805" lvl="0" marL="722630" marR="242570" rtl="0" algn="l">
                        <a:lnSpc>
                          <a:spcPct val="106300"/>
                        </a:lnSpc>
                        <a:spcBef>
                          <a:spcPts val="0"/>
                        </a:spcBef>
                        <a:spcAft>
                          <a:spcPts val="0"/>
                        </a:spcAft>
                        <a:buNone/>
                      </a:pPr>
                      <a:r>
                        <a:rPr b="1" lang="en-US" sz="1000" u="none" cap="none" strike="noStrike">
                          <a:latin typeface="Calibri"/>
                          <a:ea typeface="Calibri"/>
                          <a:cs typeface="Calibri"/>
                          <a:sym typeface="Calibri"/>
                        </a:rPr>
                        <a:t>Intra eNB Handover -  Sector 2</a:t>
                      </a:r>
                      <a:endParaRPr sz="1000" u="none" cap="none" strike="noStrike">
                        <a:latin typeface="Calibri"/>
                        <a:ea typeface="Calibri"/>
                        <a:cs typeface="Calibri"/>
                        <a:sym typeface="Calibri"/>
                      </a:endParaRPr>
                    </a:p>
                  </a:txBody>
                  <a:tcPr marT="6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19075" marR="0" rtl="0" algn="just">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Pass</a:t>
                      </a:r>
                      <a:endParaRPr b="0" i="0" sz="1100" u="none" cap="none" strike="noStrike">
                        <a:solidFill>
                          <a:srgbClr val="000000"/>
                        </a:solidFill>
                        <a:latin typeface="Times New Roman"/>
                        <a:ea typeface="Times New Roman"/>
                        <a:cs typeface="Times New Roman"/>
                        <a:sym typeface="Times New Roman"/>
                      </a:endParaRPr>
                    </a:p>
                  </a:txBody>
                  <a:tcPr marT="311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219075" marR="0" rtl="0" algn="just">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pass</a:t>
                      </a:r>
                      <a:endParaRPr b="0" i="0" sz="1100" u="none" cap="none" strike="noStrike">
                        <a:solidFill>
                          <a:srgbClr val="000000"/>
                        </a:solidFill>
                        <a:latin typeface="Times New Roman"/>
                        <a:ea typeface="Times New Roman"/>
                        <a:cs typeface="Times New Roman"/>
                        <a:sym typeface="Times New Roman"/>
                      </a:endParaRPr>
                    </a:p>
                  </a:txBody>
                  <a:tcPr marT="304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219075" marR="0" rtl="0" algn="just">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Pass</a:t>
                      </a:r>
                      <a:endParaRPr b="0" i="0" sz="1100" u="none" cap="none" strike="noStrike">
                        <a:solidFill>
                          <a:srgbClr val="000000"/>
                        </a:solidFill>
                        <a:latin typeface="Times New Roman"/>
                        <a:ea typeface="Times New Roman"/>
                        <a:cs typeface="Times New Roman"/>
                        <a:sym typeface="Times New Roman"/>
                      </a:endParaRPr>
                    </a:p>
                  </a:txBody>
                  <a:tcPr marT="304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r>
              <a:tr h="426725">
                <a:tc>
                  <a:txBody>
                    <a:bodyPr/>
                    <a:lstStyle/>
                    <a:p>
                      <a:pPr indent="-344805" lvl="0" marL="722630" marR="242570" rtl="0" algn="l">
                        <a:lnSpc>
                          <a:spcPct val="104000"/>
                        </a:lnSpc>
                        <a:spcBef>
                          <a:spcPts val="0"/>
                        </a:spcBef>
                        <a:spcAft>
                          <a:spcPts val="0"/>
                        </a:spcAft>
                        <a:buNone/>
                      </a:pPr>
                      <a:r>
                        <a:rPr b="1" lang="en-US" sz="1000" u="none" cap="none" strike="noStrike">
                          <a:latin typeface="Calibri"/>
                          <a:ea typeface="Calibri"/>
                          <a:cs typeface="Calibri"/>
                          <a:sym typeface="Calibri"/>
                        </a:rPr>
                        <a:t>Intra eNB Handover -  Sector 3</a:t>
                      </a:r>
                      <a:endParaRPr sz="1000" u="none" cap="none" strike="noStrike">
                        <a:latin typeface="Calibri"/>
                        <a:ea typeface="Calibri"/>
                        <a:cs typeface="Calibri"/>
                        <a:sym typeface="Calibri"/>
                      </a:endParaRPr>
                    </a:p>
                  </a:txBody>
                  <a:tcPr marT="101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19075" marR="0" rtl="0" algn="just">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Pass</a:t>
                      </a:r>
                      <a:endParaRPr b="0" i="0" sz="1100" u="none" cap="none" strike="noStrike">
                        <a:solidFill>
                          <a:srgbClr val="000000"/>
                        </a:solidFill>
                        <a:latin typeface="Times New Roman"/>
                        <a:ea typeface="Times New Roman"/>
                        <a:cs typeface="Times New Roman"/>
                        <a:sym typeface="Times New Roman"/>
                      </a:endParaRPr>
                    </a:p>
                  </a:txBody>
                  <a:tcPr marT="336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219075" marR="0" rtl="0" algn="just">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Pass</a:t>
                      </a:r>
                      <a:endParaRPr b="0" i="0" sz="1100" u="none" cap="none" strike="noStrike">
                        <a:solidFill>
                          <a:srgbClr val="000000"/>
                        </a:solidFill>
                        <a:latin typeface="Times New Roman"/>
                        <a:ea typeface="Times New Roman"/>
                        <a:cs typeface="Times New Roman"/>
                        <a:sym typeface="Times New Roman"/>
                      </a:endParaRPr>
                    </a:p>
                  </a:txBody>
                  <a:tcPr marT="304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219075" marR="0" rtl="0" algn="just">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Pass</a:t>
                      </a:r>
                      <a:endParaRPr b="0" i="0" sz="1100" u="none" cap="none" strike="noStrike">
                        <a:solidFill>
                          <a:srgbClr val="000000"/>
                        </a:solidFill>
                        <a:latin typeface="Times New Roman"/>
                        <a:ea typeface="Times New Roman"/>
                        <a:cs typeface="Times New Roman"/>
                        <a:sym typeface="Times New Roman"/>
                      </a:endParaRPr>
                    </a:p>
                  </a:txBody>
                  <a:tcPr marT="304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r>
              <a:tr h="201175">
                <a:tc gridSpan="4">
                  <a:txBody>
                    <a:bodyPr/>
                    <a:lstStyle/>
                    <a:p>
                      <a:pPr indent="0" lvl="0" marL="0" marR="0" rtl="0" algn="l">
                        <a:lnSpc>
                          <a:spcPct val="100000"/>
                        </a:lnSpc>
                        <a:spcBef>
                          <a:spcPts val="0"/>
                        </a:spcBef>
                        <a:spcAft>
                          <a:spcPts val="0"/>
                        </a:spcAft>
                        <a:buNone/>
                      </a:pPr>
                      <a:r>
                        <a:t/>
                      </a:r>
                      <a:endParaRPr sz="10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xBody>
                    <a:bodyPr/>
                    <a:p/>
                  </a:txBody>
                </a:tc>
                <a:tc hMerge="1">
                  <a:txBody>
                    <a:bodyPr/>
                    <a:p/>
                  </a:txBody>
                </a:tc>
                <a:tc hMerge="1">
                  <a:txBody>
                    <a:bodyPr/>
                    <a:p/>
                  </a:txBody>
                </a:tc>
              </a:tr>
              <a:tr h="484875">
                <a:tc>
                  <a:txBody>
                    <a:bodyPr/>
                    <a:lstStyle/>
                    <a:p>
                      <a:pPr indent="0" lvl="0" marL="396240" marR="0" rtl="0" algn="l">
                        <a:lnSpc>
                          <a:spcPct val="100000"/>
                        </a:lnSpc>
                        <a:spcBef>
                          <a:spcPts val="0"/>
                        </a:spcBef>
                        <a:spcAft>
                          <a:spcPts val="0"/>
                        </a:spcAft>
                        <a:buNone/>
                      </a:pPr>
                      <a:r>
                        <a:rPr b="1" lang="en-US" sz="1000" u="none" cap="none" strike="noStrike">
                          <a:latin typeface="Calibri"/>
                          <a:ea typeface="Calibri"/>
                          <a:cs typeface="Calibri"/>
                          <a:sym typeface="Calibri"/>
                        </a:rPr>
                        <a:t>Inter eNB Handover</a:t>
                      </a:r>
                      <a:endParaRPr sz="1000" u="none" cap="none" strike="noStrike">
                        <a:latin typeface="Calibri"/>
                        <a:ea typeface="Calibri"/>
                        <a:cs typeface="Calibri"/>
                        <a:sym typeface="Calibri"/>
                      </a:endParaRPr>
                    </a:p>
                  </a:txBody>
                  <a:tcPr marT="374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19075" marR="0" rtl="0" algn="ctr">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Pass</a:t>
                      </a:r>
                      <a:endParaRPr b="0" i="0" sz="1100" u="none" cap="none" strike="noStrike">
                        <a:solidFill>
                          <a:srgbClr val="000000"/>
                        </a:solidFill>
                        <a:latin typeface="Times New Roman"/>
                        <a:ea typeface="Times New Roman"/>
                        <a:cs typeface="Times New Roman"/>
                        <a:sym typeface="Times New Roman"/>
                      </a:endParaRPr>
                    </a:p>
                  </a:txBody>
                  <a:tcPr marT="336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19075" marR="0" rtl="0" algn="ctr">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Pass</a:t>
                      </a:r>
                      <a:endParaRPr b="0" i="0" sz="1100" u="none" cap="none" strike="noStrike">
                        <a:solidFill>
                          <a:srgbClr val="000000"/>
                        </a:solidFill>
                        <a:latin typeface="Times New Roman"/>
                        <a:ea typeface="Times New Roman"/>
                        <a:cs typeface="Times New Roman"/>
                        <a:sym typeface="Times New Roman"/>
                      </a:endParaRPr>
                    </a:p>
                    <a:p>
                      <a:pPr indent="0" lvl="0" marL="219075" marR="0" rtl="0" algn="ctr">
                        <a:lnSpc>
                          <a:spcPct val="100000"/>
                        </a:lnSpc>
                        <a:spcBef>
                          <a:spcPts val="244"/>
                        </a:spcBef>
                        <a:spcAft>
                          <a:spcPts val="0"/>
                        </a:spcAft>
                        <a:buSzPts val="1100"/>
                        <a:buFont typeface="Calibri"/>
                        <a:buNone/>
                      </a:pPr>
                      <a:r>
                        <a:t/>
                      </a:r>
                      <a:endParaRPr b="0" i="0" sz="1100" u="none" cap="none" strike="noStrike">
                        <a:solidFill>
                          <a:srgbClr val="000000"/>
                        </a:solidFill>
                        <a:latin typeface="Times New Roman"/>
                        <a:ea typeface="Times New Roman"/>
                        <a:cs typeface="Times New Roman"/>
                        <a:sym typeface="Times New Roman"/>
                      </a:endParaRPr>
                    </a:p>
                  </a:txBody>
                  <a:tcPr marT="336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19075" marR="0" rtl="0" algn="ctr">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Pass</a:t>
                      </a:r>
                      <a:endParaRPr b="0" i="0" sz="1100" u="none" cap="none" strike="noStrike">
                        <a:solidFill>
                          <a:srgbClr val="000000"/>
                        </a:solidFill>
                        <a:latin typeface="Times New Roman"/>
                        <a:ea typeface="Times New Roman"/>
                        <a:cs typeface="Times New Roman"/>
                        <a:sym typeface="Times New Roman"/>
                      </a:endParaRPr>
                    </a:p>
                  </a:txBody>
                  <a:tcPr marT="336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45" name="Google Shape;145;p15"/>
          <p:cNvSpPr txBox="1"/>
          <p:nvPr/>
        </p:nvSpPr>
        <p:spPr>
          <a:xfrm>
            <a:off x="685596" y="376781"/>
            <a:ext cx="2286204" cy="370999"/>
          </a:xfrm>
          <a:prstGeom prst="rect">
            <a:avLst/>
          </a:prstGeom>
          <a:noFill/>
          <a:ln>
            <a:noFill/>
          </a:ln>
        </p:spPr>
        <p:txBody>
          <a:bodyPr anchorCtr="0" anchor="t" bIns="0" lIns="0" spcFirstLastPara="1" rIns="0" wrap="square" tIns="12050">
            <a:spAutoFit/>
          </a:bodyPr>
          <a:lstStyle/>
          <a:p>
            <a:pPr indent="254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QA &amp; INSPECTION CIRCLE KL 	</a:t>
            </a:r>
            <a:endParaRPr sz="1100">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6"/>
          <p:cNvSpPr/>
          <p:nvPr/>
        </p:nvSpPr>
        <p:spPr>
          <a:xfrm>
            <a:off x="4845570" y="3296961"/>
            <a:ext cx="123639" cy="123639"/>
          </a:xfrm>
          <a:custGeom>
            <a:rect b="b" l="l" r="r" t="t"/>
            <a:pathLst>
              <a:path extrusionOk="0" h="131444" w="131445">
                <a:moveTo>
                  <a:pt x="0" y="131064"/>
                </a:moveTo>
                <a:lnTo>
                  <a:pt x="131063" y="131064"/>
                </a:lnTo>
                <a:lnTo>
                  <a:pt x="131063" y="0"/>
                </a:lnTo>
                <a:lnTo>
                  <a:pt x="0" y="0"/>
                </a:lnTo>
                <a:lnTo>
                  <a:pt x="0" y="131064"/>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693">
              <a:solidFill>
                <a:schemeClr val="dk1"/>
              </a:solidFill>
              <a:latin typeface="Calibri"/>
              <a:ea typeface="Calibri"/>
              <a:cs typeface="Calibri"/>
              <a:sym typeface="Calibri"/>
            </a:endParaRPr>
          </a:p>
        </p:txBody>
      </p:sp>
      <p:sp>
        <p:nvSpPr>
          <p:cNvPr id="151" name="Google Shape;151;p16"/>
          <p:cNvSpPr/>
          <p:nvPr/>
        </p:nvSpPr>
        <p:spPr>
          <a:xfrm>
            <a:off x="4845570" y="5494947"/>
            <a:ext cx="123639" cy="123639"/>
          </a:xfrm>
          <a:custGeom>
            <a:rect b="b" l="l" r="r" t="t"/>
            <a:pathLst>
              <a:path extrusionOk="0" h="131445" w="131445">
                <a:moveTo>
                  <a:pt x="0" y="131063"/>
                </a:moveTo>
                <a:lnTo>
                  <a:pt x="131063" y="131063"/>
                </a:lnTo>
                <a:lnTo>
                  <a:pt x="131063" y="0"/>
                </a:lnTo>
                <a:lnTo>
                  <a:pt x="0" y="0"/>
                </a:lnTo>
                <a:lnTo>
                  <a:pt x="0" y="131063"/>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693">
              <a:solidFill>
                <a:schemeClr val="dk1"/>
              </a:solidFill>
              <a:latin typeface="Calibri"/>
              <a:ea typeface="Calibri"/>
              <a:cs typeface="Calibri"/>
              <a:sym typeface="Calibri"/>
            </a:endParaRPr>
          </a:p>
        </p:txBody>
      </p:sp>
      <p:sp>
        <p:nvSpPr>
          <p:cNvPr id="152" name="Google Shape;152;p16"/>
          <p:cNvSpPr txBox="1"/>
          <p:nvPr/>
        </p:nvSpPr>
        <p:spPr>
          <a:xfrm>
            <a:off x="1066800" y="1379747"/>
            <a:ext cx="4660073" cy="1735856"/>
          </a:xfrm>
          <a:prstGeom prst="rect">
            <a:avLst/>
          </a:prstGeom>
          <a:noFill/>
          <a:ln>
            <a:noFill/>
          </a:ln>
        </p:spPr>
        <p:txBody>
          <a:bodyPr anchorCtr="0" anchor="t" bIns="0" lIns="0" spcFirstLastPara="1" rIns="0" wrap="square" tIns="13125">
            <a:spAutoFit/>
          </a:bodyPr>
          <a:lstStyle/>
          <a:p>
            <a:pPr indent="0" lvl="0" marL="232940" marR="4778" rtl="0" algn="just">
              <a:lnSpc>
                <a:spcPct val="99400"/>
              </a:lnSpc>
              <a:spcBef>
                <a:spcPts val="0"/>
              </a:spcBef>
              <a:spcAft>
                <a:spcPts val="0"/>
              </a:spcAft>
              <a:buNone/>
            </a:pPr>
            <a:r>
              <a:rPr lang="en-US" sz="1035">
                <a:solidFill>
                  <a:schemeClr val="dk1"/>
                </a:solidFill>
                <a:latin typeface="Arial"/>
                <a:ea typeface="Arial"/>
                <a:cs typeface="Arial"/>
                <a:sym typeface="Arial"/>
              </a:rPr>
              <a:t>Vendor is responsible in all types of sites (NBSNL, IP and BSNL) for extending external alarm termination from eNode-B to the nearest KRONE- box. For eNode-B A/T external alarm generation may be verified from the KRONE box.</a:t>
            </a:r>
            <a:endParaRPr sz="1035">
              <a:solidFill>
                <a:schemeClr val="dk1"/>
              </a:solidFill>
              <a:latin typeface="Arial"/>
              <a:ea typeface="Arial"/>
              <a:cs typeface="Arial"/>
              <a:sym typeface="Arial"/>
            </a:endParaRPr>
          </a:p>
          <a:p>
            <a:pPr indent="0" lvl="0" marL="232940" marR="11946" rtl="0" algn="just">
              <a:lnSpc>
                <a:spcPct val="99100"/>
              </a:lnSpc>
              <a:spcBef>
                <a:spcPts val="263"/>
              </a:spcBef>
              <a:spcAft>
                <a:spcPts val="0"/>
              </a:spcAft>
              <a:buNone/>
            </a:pPr>
            <a:r>
              <a:rPr lang="en-US" sz="1035">
                <a:solidFill>
                  <a:schemeClr val="dk1"/>
                </a:solidFill>
                <a:latin typeface="Arial"/>
                <a:ea typeface="Arial"/>
                <a:cs typeface="Arial"/>
                <a:sym typeface="Arial"/>
              </a:rPr>
              <a:t>In the case of sites where infra items are supplied by the vendor, the vendor should extend external alarms from elements like PP/Bty etc all the way to eNode-B.</a:t>
            </a:r>
            <a:endParaRPr sz="1035">
              <a:solidFill>
                <a:schemeClr val="dk1"/>
              </a:solidFill>
              <a:latin typeface="Arial"/>
              <a:ea typeface="Arial"/>
              <a:cs typeface="Arial"/>
              <a:sym typeface="Arial"/>
            </a:endParaRPr>
          </a:p>
          <a:p>
            <a:pPr indent="0" lvl="0" marL="341645" marR="0" rtl="0" algn="just">
              <a:spcBef>
                <a:spcPts val="226"/>
              </a:spcBef>
              <a:spcAft>
                <a:spcPts val="0"/>
              </a:spcAft>
              <a:buNone/>
            </a:pPr>
            <a:r>
              <a:rPr lang="en-US" sz="1035">
                <a:solidFill>
                  <a:schemeClr val="dk1"/>
                </a:solidFill>
                <a:latin typeface="Arial"/>
                <a:ea typeface="Arial"/>
                <a:cs typeface="Arial"/>
                <a:sym typeface="Arial"/>
              </a:rPr>
              <a:t>Alarm cables are punched firmly and correctly. Status (OK/NOK)</a:t>
            </a:r>
            <a:endParaRPr sz="1035">
              <a:solidFill>
                <a:schemeClr val="dk1"/>
              </a:solidFill>
              <a:latin typeface="Arial"/>
              <a:ea typeface="Arial"/>
              <a:cs typeface="Arial"/>
              <a:sym typeface="Arial"/>
            </a:endParaRPr>
          </a:p>
          <a:p>
            <a:pPr indent="0" lvl="0" marL="0" marR="0" rtl="0" algn="l">
              <a:spcBef>
                <a:spcPts val="550"/>
              </a:spcBef>
              <a:spcAft>
                <a:spcPts val="0"/>
              </a:spcAft>
              <a:buNone/>
            </a:pPr>
            <a:r>
              <a:t/>
            </a:r>
            <a:endParaRPr sz="1035">
              <a:solidFill>
                <a:schemeClr val="dk1"/>
              </a:solidFill>
              <a:latin typeface="Arial"/>
              <a:ea typeface="Arial"/>
              <a:cs typeface="Arial"/>
              <a:sym typeface="Arial"/>
            </a:endParaRPr>
          </a:p>
          <a:p>
            <a:pPr indent="0" lvl="0" marL="11946" marR="0" rtl="0" algn="l">
              <a:spcBef>
                <a:spcPts val="0"/>
              </a:spcBef>
              <a:spcAft>
                <a:spcPts val="0"/>
              </a:spcAft>
              <a:buNone/>
            </a:pPr>
            <a:r>
              <a:rPr lang="en-US" sz="1035">
                <a:solidFill>
                  <a:schemeClr val="dk1"/>
                </a:solidFill>
                <a:latin typeface="Arial"/>
                <a:ea typeface="Arial"/>
                <a:cs typeface="Arial"/>
                <a:sym typeface="Arial"/>
              </a:rPr>
              <a:t>List of External alarms to be extended–</a:t>
            </a:r>
            <a:endParaRPr sz="1035">
              <a:solidFill>
                <a:schemeClr val="dk1"/>
              </a:solidFill>
              <a:latin typeface="Arial"/>
              <a:ea typeface="Arial"/>
              <a:cs typeface="Arial"/>
              <a:sym typeface="Arial"/>
            </a:endParaRPr>
          </a:p>
        </p:txBody>
      </p:sp>
      <p:graphicFrame>
        <p:nvGraphicFramePr>
          <p:cNvPr id="153" name="Google Shape;153;p16"/>
          <p:cNvGraphicFramePr/>
          <p:nvPr/>
        </p:nvGraphicFramePr>
        <p:xfrm>
          <a:off x="1066800" y="3296961"/>
          <a:ext cx="3000000" cy="3000000"/>
        </p:xfrm>
        <a:graphic>
          <a:graphicData uri="http://schemas.openxmlformats.org/drawingml/2006/table">
            <a:tbl>
              <a:tblPr bandRow="1" firstRow="1">
                <a:noFill/>
                <a:tableStyleId>{FBDFD955-5028-4EC1-B6FB-75A9DF07899A}</a:tableStyleId>
              </a:tblPr>
              <a:tblGrid>
                <a:gridCol w="2636450"/>
                <a:gridCol w="1364225"/>
                <a:gridCol w="1941200"/>
              </a:tblGrid>
              <a:tr h="215025">
                <a:tc>
                  <a:txBody>
                    <a:bodyPr/>
                    <a:lstStyle/>
                    <a:p>
                      <a:pPr indent="0" lvl="0" marL="73025" marR="0" rtl="0" algn="l">
                        <a:lnSpc>
                          <a:spcPct val="100000"/>
                        </a:lnSpc>
                        <a:spcBef>
                          <a:spcPts val="0"/>
                        </a:spcBef>
                        <a:spcAft>
                          <a:spcPts val="0"/>
                        </a:spcAft>
                        <a:buNone/>
                      </a:pPr>
                      <a:r>
                        <a:rPr lang="en-US" sz="1000" u="none" cap="none" strike="noStrike">
                          <a:latin typeface="Arial"/>
                          <a:ea typeface="Arial"/>
                          <a:cs typeface="Arial"/>
                          <a:sym typeface="Arial"/>
                        </a:rPr>
                        <a:t>1.	AC Main Fail</a:t>
                      </a:r>
                      <a:endParaRPr sz="1000" u="none" cap="none" strike="noStrike">
                        <a:latin typeface="Arial"/>
                        <a:ea typeface="Arial"/>
                        <a:cs typeface="Arial"/>
                        <a:sym typeface="Arial"/>
                      </a:endParaRPr>
                    </a:p>
                  </a:txBody>
                  <a:tcPr marT="2975" marB="0" marR="0" marL="0">
                    <a:lnL cap="flat" cmpd="sng" w="9525">
                      <a:solidFill>
                        <a:srgbClr val="000000"/>
                      </a:solidFill>
                      <a:prstDash val="solid"/>
                      <a:round/>
                      <a:headEnd len="sm" w="sm" type="none"/>
                      <a:tailEnd len="sm" w="sm" type="none"/>
                    </a:lnL>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7145" marR="0" rtl="0" algn="l">
                        <a:lnSpc>
                          <a:spcPct val="100000"/>
                        </a:lnSpc>
                        <a:spcBef>
                          <a:spcPts val="0"/>
                        </a:spcBef>
                        <a:spcAft>
                          <a:spcPts val="0"/>
                        </a:spcAft>
                        <a:buNone/>
                      </a:pPr>
                      <a:r>
                        <a:rPr lang="en-US" sz="1000" u="none" cap="none" strike="noStrike">
                          <a:latin typeface="Arial"/>
                          <a:ea typeface="Arial"/>
                          <a:cs typeface="Arial"/>
                          <a:sym typeface="Arial"/>
                        </a:rPr>
                        <a:t>OK</a:t>
                      </a:r>
                      <a:endParaRPr sz="1000" u="none" cap="none" strike="noStrike">
                        <a:latin typeface="Arial"/>
                        <a:ea typeface="Arial"/>
                        <a:cs typeface="Arial"/>
                        <a:sym typeface="Arial"/>
                      </a:endParaRPr>
                    </a:p>
                  </a:txBody>
                  <a:tcPr marT="2975" marB="0" marR="0" marL="0">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96240" marR="0" rtl="0" algn="l">
                        <a:lnSpc>
                          <a:spcPct val="100000"/>
                        </a:lnSpc>
                        <a:spcBef>
                          <a:spcPts val="0"/>
                        </a:spcBef>
                        <a:spcAft>
                          <a:spcPts val="0"/>
                        </a:spcAft>
                        <a:buNone/>
                      </a:pPr>
                      <a:r>
                        <a:rPr lang="en-US" sz="1000" u="none" cap="none" strike="noStrike">
                          <a:latin typeface="Arial"/>
                          <a:ea typeface="Arial"/>
                          <a:cs typeface="Arial"/>
                          <a:sym typeface="Arial"/>
                        </a:rPr>
                        <a:t>Actual</a:t>
                      </a:r>
                      <a:endParaRPr sz="1000" u="none" cap="none" strike="noStrike">
                        <a:latin typeface="Arial"/>
                        <a:ea typeface="Arial"/>
                        <a:cs typeface="Arial"/>
                        <a:sym typeface="Arial"/>
                      </a:endParaRPr>
                    </a:p>
                  </a:txBody>
                  <a:tcPr marT="2975" marB="0" marR="0" marL="0">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7425">
                <a:tc>
                  <a:txBody>
                    <a:bodyPr/>
                    <a:lstStyle/>
                    <a:p>
                      <a:pPr indent="0" lvl="0" marL="73025" marR="0" rtl="0" algn="l">
                        <a:lnSpc>
                          <a:spcPct val="100000"/>
                        </a:lnSpc>
                        <a:spcBef>
                          <a:spcPts val="0"/>
                        </a:spcBef>
                        <a:spcAft>
                          <a:spcPts val="0"/>
                        </a:spcAft>
                        <a:buNone/>
                      </a:pPr>
                      <a:r>
                        <a:rPr lang="en-US" sz="1000" u="none" cap="none" strike="noStrike">
                          <a:latin typeface="Arial"/>
                          <a:ea typeface="Arial"/>
                          <a:cs typeface="Arial"/>
                          <a:sym typeface="Arial"/>
                        </a:rPr>
                        <a:t>2.	DG on Load</a:t>
                      </a:r>
                      <a:endParaRPr sz="1000" u="none" cap="none" strike="noStrike">
                        <a:latin typeface="Arial"/>
                        <a:ea typeface="Arial"/>
                        <a:cs typeface="Arial"/>
                        <a:sym typeface="Arial"/>
                      </a:endParaRPr>
                    </a:p>
                  </a:txBody>
                  <a:tcPr marT="5975" marB="0" marR="0" marL="0">
                    <a:lnL cap="flat" cmpd="sng" w="9525">
                      <a:solidFill>
                        <a:srgbClr val="000000"/>
                      </a:solidFill>
                      <a:prstDash val="solid"/>
                      <a:round/>
                      <a:headEnd len="sm" w="sm" type="none"/>
                      <a:tailEnd len="sm" w="sm" type="none"/>
                    </a:lnL>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7145" marR="0" rtl="0" algn="l">
                        <a:lnSpc>
                          <a:spcPct val="100000"/>
                        </a:lnSpc>
                        <a:spcBef>
                          <a:spcPts val="0"/>
                        </a:spcBef>
                        <a:spcAft>
                          <a:spcPts val="0"/>
                        </a:spcAft>
                        <a:buNone/>
                      </a:pPr>
                      <a:r>
                        <a:rPr lang="en-US" sz="1000" u="none" cap="none" strike="noStrike">
                          <a:latin typeface="Arial"/>
                          <a:ea typeface="Arial"/>
                          <a:cs typeface="Arial"/>
                          <a:sym typeface="Arial"/>
                        </a:rPr>
                        <a:t>OK</a:t>
                      </a:r>
                      <a:endParaRPr sz="1000" u="none" cap="none" strike="noStrike">
                        <a:latin typeface="Arial"/>
                        <a:ea typeface="Arial"/>
                        <a:cs typeface="Arial"/>
                        <a:sym typeface="Arial"/>
                      </a:endParaRPr>
                    </a:p>
                  </a:txBody>
                  <a:tcPr marT="5975" marB="0" marR="0" marL="0">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96240" marR="0" rtl="0" algn="l">
                        <a:lnSpc>
                          <a:spcPct val="100000"/>
                        </a:lnSpc>
                        <a:spcBef>
                          <a:spcPts val="0"/>
                        </a:spcBef>
                        <a:spcAft>
                          <a:spcPts val="0"/>
                        </a:spcAft>
                        <a:buNone/>
                      </a:pPr>
                      <a:r>
                        <a:rPr lang="en-US" sz="1000" u="none" cap="none" strike="noStrike">
                          <a:latin typeface="Arial"/>
                          <a:ea typeface="Arial"/>
                          <a:cs typeface="Arial"/>
                          <a:sym typeface="Arial"/>
                        </a:rPr>
                        <a:t>Actual</a:t>
                      </a:r>
                      <a:endParaRPr sz="1000" u="none" cap="none" strike="noStrike">
                        <a:latin typeface="Arial"/>
                        <a:ea typeface="Arial"/>
                        <a:cs typeface="Arial"/>
                        <a:sym typeface="Arial"/>
                      </a:endParaRPr>
                    </a:p>
                  </a:txBody>
                  <a:tcPr marT="5975" marB="0" marR="0" marL="0">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4425">
                <a:tc>
                  <a:txBody>
                    <a:bodyPr/>
                    <a:lstStyle/>
                    <a:p>
                      <a:pPr indent="0" lvl="0" marL="73025" marR="0" rtl="0" algn="l">
                        <a:lnSpc>
                          <a:spcPct val="100000"/>
                        </a:lnSpc>
                        <a:spcBef>
                          <a:spcPts val="0"/>
                        </a:spcBef>
                        <a:spcAft>
                          <a:spcPts val="0"/>
                        </a:spcAft>
                        <a:buNone/>
                      </a:pPr>
                      <a:r>
                        <a:rPr lang="en-US" sz="1000" u="none" cap="none" strike="noStrike">
                          <a:latin typeface="Arial"/>
                          <a:ea typeface="Arial"/>
                          <a:cs typeface="Arial"/>
                          <a:sym typeface="Arial"/>
                        </a:rPr>
                        <a:t>3.	Diesel Low (below a threshold level)</a:t>
                      </a:r>
                      <a:endParaRPr sz="1000" u="none" cap="none" strike="noStrike">
                        <a:latin typeface="Arial"/>
                        <a:ea typeface="Arial"/>
                        <a:cs typeface="Arial"/>
                        <a:sym typeface="Arial"/>
                      </a:endParaRPr>
                    </a:p>
                  </a:txBody>
                  <a:tcPr marT="5975" marB="0" marR="0" marL="0">
                    <a:lnL cap="flat" cmpd="sng" w="9525">
                      <a:solidFill>
                        <a:srgbClr val="000000"/>
                      </a:solidFill>
                      <a:prstDash val="solid"/>
                      <a:round/>
                      <a:headEnd len="sm" w="sm" type="none"/>
                      <a:tailEnd len="sm" w="sm" type="none"/>
                    </a:lnL>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7145" marR="0" rtl="0" algn="l">
                        <a:lnSpc>
                          <a:spcPct val="100000"/>
                        </a:lnSpc>
                        <a:spcBef>
                          <a:spcPts val="0"/>
                        </a:spcBef>
                        <a:spcAft>
                          <a:spcPts val="0"/>
                        </a:spcAft>
                        <a:buNone/>
                      </a:pPr>
                      <a:r>
                        <a:rPr lang="en-US" sz="1000" u="none" cap="none" strike="noStrike">
                          <a:latin typeface="Arial"/>
                          <a:ea typeface="Arial"/>
                          <a:cs typeface="Arial"/>
                          <a:sym typeface="Arial"/>
                        </a:rPr>
                        <a:t>OK</a:t>
                      </a:r>
                      <a:endParaRPr sz="1000" u="none" cap="none" strike="noStrike">
                        <a:latin typeface="Arial"/>
                        <a:ea typeface="Arial"/>
                        <a:cs typeface="Arial"/>
                        <a:sym typeface="Arial"/>
                      </a:endParaRPr>
                    </a:p>
                  </a:txBody>
                  <a:tcPr marT="5975" marB="0" marR="0" marL="0">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96240" marR="0" rtl="0" algn="l">
                        <a:lnSpc>
                          <a:spcPct val="100000"/>
                        </a:lnSpc>
                        <a:spcBef>
                          <a:spcPts val="0"/>
                        </a:spcBef>
                        <a:spcAft>
                          <a:spcPts val="0"/>
                        </a:spcAft>
                        <a:buNone/>
                      </a:pPr>
                      <a:r>
                        <a:rPr lang="en-US" sz="1000" u="none" cap="none" strike="noStrike">
                          <a:latin typeface="Arial"/>
                          <a:ea typeface="Arial"/>
                          <a:cs typeface="Arial"/>
                          <a:sym typeface="Arial"/>
                        </a:rPr>
                        <a:t>Actual</a:t>
                      </a:r>
                      <a:endParaRPr sz="1000" u="none" cap="none" strike="noStrike">
                        <a:latin typeface="Arial"/>
                        <a:ea typeface="Arial"/>
                        <a:cs typeface="Arial"/>
                        <a:sym typeface="Arial"/>
                      </a:endParaRPr>
                    </a:p>
                  </a:txBody>
                  <a:tcPr marT="5975" marB="0" marR="0" marL="0">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7425">
                <a:tc>
                  <a:txBody>
                    <a:bodyPr/>
                    <a:lstStyle/>
                    <a:p>
                      <a:pPr indent="0" lvl="0" marL="73025" marR="0" rtl="0" algn="l">
                        <a:lnSpc>
                          <a:spcPct val="100000"/>
                        </a:lnSpc>
                        <a:spcBef>
                          <a:spcPts val="0"/>
                        </a:spcBef>
                        <a:spcAft>
                          <a:spcPts val="0"/>
                        </a:spcAft>
                        <a:buNone/>
                      </a:pPr>
                      <a:r>
                        <a:rPr lang="en-US" sz="1000" u="none" cap="none" strike="noStrike">
                          <a:latin typeface="Arial"/>
                          <a:ea typeface="Arial"/>
                          <a:cs typeface="Arial"/>
                          <a:sym typeface="Arial"/>
                        </a:rPr>
                        <a:t>4.	High Temperature</a:t>
                      </a:r>
                      <a:endParaRPr sz="1000" u="none" cap="none" strike="noStrike">
                        <a:latin typeface="Arial"/>
                        <a:ea typeface="Arial"/>
                        <a:cs typeface="Arial"/>
                        <a:sym typeface="Arial"/>
                      </a:endParaRPr>
                    </a:p>
                  </a:txBody>
                  <a:tcPr marT="5975" marB="0" marR="0" marL="0">
                    <a:lnL cap="flat" cmpd="sng" w="9525">
                      <a:solidFill>
                        <a:srgbClr val="000000"/>
                      </a:solidFill>
                      <a:prstDash val="solid"/>
                      <a:round/>
                      <a:headEnd len="sm" w="sm" type="none"/>
                      <a:tailEnd len="sm" w="sm" type="none"/>
                    </a:lnL>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7145" marR="0" rtl="0" algn="l">
                        <a:lnSpc>
                          <a:spcPct val="100000"/>
                        </a:lnSpc>
                        <a:spcBef>
                          <a:spcPts val="0"/>
                        </a:spcBef>
                        <a:spcAft>
                          <a:spcPts val="0"/>
                        </a:spcAft>
                        <a:buNone/>
                      </a:pPr>
                      <a:r>
                        <a:rPr lang="en-US" sz="1000" u="none" cap="none" strike="noStrike">
                          <a:latin typeface="Arial"/>
                          <a:ea typeface="Arial"/>
                          <a:cs typeface="Arial"/>
                          <a:sym typeface="Arial"/>
                        </a:rPr>
                        <a:t>OK</a:t>
                      </a:r>
                      <a:endParaRPr sz="1000" u="none" cap="none" strike="noStrike">
                        <a:latin typeface="Arial"/>
                        <a:ea typeface="Arial"/>
                        <a:cs typeface="Arial"/>
                        <a:sym typeface="Arial"/>
                      </a:endParaRPr>
                    </a:p>
                  </a:txBody>
                  <a:tcPr marT="5975" marB="0" marR="0" marL="0">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96240" marR="0" rtl="0" algn="l">
                        <a:lnSpc>
                          <a:spcPct val="100000"/>
                        </a:lnSpc>
                        <a:spcBef>
                          <a:spcPts val="0"/>
                        </a:spcBef>
                        <a:spcAft>
                          <a:spcPts val="0"/>
                        </a:spcAft>
                        <a:buNone/>
                      </a:pPr>
                      <a:r>
                        <a:rPr lang="en-US" sz="1000" u="none" cap="none" strike="noStrike">
                          <a:latin typeface="Arial"/>
                          <a:ea typeface="Arial"/>
                          <a:cs typeface="Arial"/>
                          <a:sym typeface="Arial"/>
                        </a:rPr>
                        <a:t>Actual</a:t>
                      </a:r>
                      <a:endParaRPr sz="1000" u="none" cap="none" strike="noStrike">
                        <a:latin typeface="Arial"/>
                        <a:ea typeface="Arial"/>
                        <a:cs typeface="Arial"/>
                        <a:sym typeface="Arial"/>
                      </a:endParaRPr>
                    </a:p>
                  </a:txBody>
                  <a:tcPr marT="5975" marB="0" marR="0" marL="0">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79025">
                <a:tc>
                  <a:txBody>
                    <a:bodyPr/>
                    <a:lstStyle/>
                    <a:p>
                      <a:pPr indent="0" lvl="0" marL="73025" marR="9525" rtl="0" algn="l">
                        <a:lnSpc>
                          <a:spcPct val="127000"/>
                        </a:lnSpc>
                        <a:spcBef>
                          <a:spcPts val="0"/>
                        </a:spcBef>
                        <a:spcAft>
                          <a:spcPts val="0"/>
                        </a:spcAft>
                        <a:buNone/>
                      </a:pPr>
                      <a:r>
                        <a:rPr lang="en-US" sz="1000" u="none" cap="none" strike="noStrike">
                          <a:latin typeface="Arial"/>
                          <a:ea typeface="Arial"/>
                          <a:cs typeface="Arial"/>
                          <a:sym typeface="Arial"/>
                        </a:rPr>
                        <a:t>5.	eNode-B Battery Low (Voltage of the battery bank below a threshold level)</a:t>
                      </a:r>
                      <a:endParaRPr sz="1000" u="none" cap="none" strike="noStrike">
                        <a:latin typeface="Arial"/>
                        <a:ea typeface="Arial"/>
                        <a:cs typeface="Arial"/>
                        <a:sym typeface="Arial"/>
                      </a:endParaRPr>
                    </a:p>
                  </a:txBody>
                  <a:tcPr marT="13750" marB="0" marR="0" marL="0">
                    <a:lnL cap="flat" cmpd="sng" w="9525">
                      <a:solidFill>
                        <a:srgbClr val="000000"/>
                      </a:solidFill>
                      <a:prstDash val="solid"/>
                      <a:round/>
                      <a:headEnd len="sm" w="sm" type="none"/>
                      <a:tailEnd len="sm" w="sm" type="none"/>
                    </a:lnL>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7145" marR="0" rtl="0" algn="l">
                        <a:lnSpc>
                          <a:spcPct val="100000"/>
                        </a:lnSpc>
                        <a:spcBef>
                          <a:spcPts val="0"/>
                        </a:spcBef>
                        <a:spcAft>
                          <a:spcPts val="0"/>
                        </a:spcAft>
                        <a:buNone/>
                      </a:pPr>
                      <a:r>
                        <a:rPr lang="en-US" sz="1000" u="none" cap="none" strike="noStrike">
                          <a:latin typeface="Arial"/>
                          <a:ea typeface="Arial"/>
                          <a:cs typeface="Arial"/>
                          <a:sym typeface="Arial"/>
                        </a:rPr>
                        <a:t>OK</a:t>
                      </a:r>
                      <a:endParaRPr sz="1000" u="none" cap="none" strike="noStrike">
                        <a:latin typeface="Arial"/>
                        <a:ea typeface="Arial"/>
                        <a:cs typeface="Arial"/>
                        <a:sym typeface="Arial"/>
                      </a:endParaRPr>
                    </a:p>
                  </a:txBody>
                  <a:tcPr marT="6575" marB="0" marR="0" marL="0">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96240" marR="0" rtl="0" algn="l">
                        <a:lnSpc>
                          <a:spcPct val="100000"/>
                        </a:lnSpc>
                        <a:spcBef>
                          <a:spcPts val="0"/>
                        </a:spcBef>
                        <a:spcAft>
                          <a:spcPts val="0"/>
                        </a:spcAft>
                        <a:buNone/>
                      </a:pPr>
                      <a:r>
                        <a:rPr lang="en-US" sz="1000" u="none" cap="none" strike="noStrike">
                          <a:latin typeface="Arial"/>
                          <a:ea typeface="Arial"/>
                          <a:cs typeface="Arial"/>
                          <a:sym typeface="Arial"/>
                        </a:rPr>
                        <a:t>Actual</a:t>
                      </a:r>
                      <a:endParaRPr sz="1000" u="none" cap="none" strike="noStrike">
                        <a:latin typeface="Arial"/>
                        <a:ea typeface="Arial"/>
                        <a:cs typeface="Arial"/>
                        <a:sym typeface="Arial"/>
                      </a:endParaRPr>
                    </a:p>
                  </a:txBody>
                  <a:tcPr marT="6575" marB="0" marR="0" marL="0">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7425">
                <a:tc>
                  <a:txBody>
                    <a:bodyPr/>
                    <a:lstStyle/>
                    <a:p>
                      <a:pPr indent="0" lvl="0" marL="73025" marR="0" rtl="0" algn="l">
                        <a:lnSpc>
                          <a:spcPct val="100000"/>
                        </a:lnSpc>
                        <a:spcBef>
                          <a:spcPts val="0"/>
                        </a:spcBef>
                        <a:spcAft>
                          <a:spcPts val="0"/>
                        </a:spcAft>
                        <a:buNone/>
                      </a:pPr>
                      <a:r>
                        <a:rPr lang="en-US" sz="1000" u="none" cap="none" strike="noStrike">
                          <a:latin typeface="Arial"/>
                          <a:ea typeface="Arial"/>
                          <a:cs typeface="Arial"/>
                          <a:sym typeface="Arial"/>
                        </a:rPr>
                        <a:t>6.	Cabin Door Open</a:t>
                      </a:r>
                      <a:endParaRPr sz="1000" u="none" cap="none" strike="noStrike">
                        <a:latin typeface="Arial"/>
                        <a:ea typeface="Arial"/>
                        <a:cs typeface="Arial"/>
                        <a:sym typeface="Arial"/>
                      </a:endParaRPr>
                    </a:p>
                  </a:txBody>
                  <a:tcPr marT="5975" marB="0" marR="0" marL="0">
                    <a:lnL cap="flat" cmpd="sng" w="9525">
                      <a:solidFill>
                        <a:srgbClr val="000000"/>
                      </a:solidFill>
                      <a:prstDash val="solid"/>
                      <a:round/>
                      <a:headEnd len="sm" w="sm" type="none"/>
                      <a:tailEnd len="sm" w="sm" type="none"/>
                    </a:lnL>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7145" marR="0" rtl="0" algn="l">
                        <a:lnSpc>
                          <a:spcPct val="100000"/>
                        </a:lnSpc>
                        <a:spcBef>
                          <a:spcPts val="0"/>
                        </a:spcBef>
                        <a:spcAft>
                          <a:spcPts val="0"/>
                        </a:spcAft>
                        <a:buNone/>
                      </a:pPr>
                      <a:r>
                        <a:rPr lang="en-US" sz="1000" u="none" cap="none" strike="noStrike">
                          <a:latin typeface="Arial"/>
                          <a:ea typeface="Arial"/>
                          <a:cs typeface="Arial"/>
                          <a:sym typeface="Arial"/>
                        </a:rPr>
                        <a:t>OK</a:t>
                      </a:r>
                      <a:endParaRPr sz="1000" u="none" cap="none" strike="noStrike">
                        <a:latin typeface="Arial"/>
                        <a:ea typeface="Arial"/>
                        <a:cs typeface="Arial"/>
                        <a:sym typeface="Arial"/>
                      </a:endParaRPr>
                    </a:p>
                  </a:txBody>
                  <a:tcPr marT="5975" marB="0" marR="0" marL="0">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96240" marR="0" rtl="0" algn="l">
                        <a:lnSpc>
                          <a:spcPct val="100000"/>
                        </a:lnSpc>
                        <a:spcBef>
                          <a:spcPts val="0"/>
                        </a:spcBef>
                        <a:spcAft>
                          <a:spcPts val="0"/>
                        </a:spcAft>
                        <a:buNone/>
                      </a:pPr>
                      <a:r>
                        <a:rPr lang="en-US" sz="1000" u="none" cap="none" strike="noStrike">
                          <a:latin typeface="Arial"/>
                          <a:ea typeface="Arial"/>
                          <a:cs typeface="Arial"/>
                          <a:sym typeface="Arial"/>
                        </a:rPr>
                        <a:t>Actual</a:t>
                      </a:r>
                      <a:endParaRPr sz="1000" u="none" cap="none" strike="noStrike">
                        <a:latin typeface="Arial"/>
                        <a:ea typeface="Arial"/>
                        <a:cs typeface="Arial"/>
                        <a:sym typeface="Arial"/>
                      </a:endParaRPr>
                    </a:p>
                  </a:txBody>
                  <a:tcPr marT="5975" marB="0" marR="0" marL="0">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30750">
                <a:tc>
                  <a:txBody>
                    <a:bodyPr/>
                    <a:lstStyle/>
                    <a:p>
                      <a:pPr indent="0" lvl="0" marL="73025" marR="314960" rtl="0" algn="just">
                        <a:lnSpc>
                          <a:spcPct val="95500"/>
                        </a:lnSpc>
                        <a:spcBef>
                          <a:spcPts val="0"/>
                        </a:spcBef>
                        <a:spcAft>
                          <a:spcPts val="0"/>
                        </a:spcAft>
                        <a:buNone/>
                      </a:pPr>
                      <a:r>
                        <a:rPr lang="en-US" sz="1000" u="none" cap="none" strike="noStrike">
                          <a:latin typeface="Arial"/>
                          <a:ea typeface="Arial"/>
                          <a:cs typeface="Arial"/>
                          <a:sym typeface="Arial"/>
                        </a:rPr>
                        <a:t>7.    DG Battery Low (Voltage of the battery of the DG set below a threshold level</a:t>
                      </a:r>
                      <a:endParaRPr sz="1000" u="none" cap="none" strike="noStrike">
                        <a:latin typeface="Arial"/>
                        <a:ea typeface="Arial"/>
                        <a:cs typeface="Arial"/>
                        <a:sym typeface="Arial"/>
                      </a:endParaRPr>
                    </a:p>
                  </a:txBody>
                  <a:tcPr marT="10150" marB="0" marR="0" marL="0">
                    <a:lnL cap="flat" cmpd="sng" w="9525">
                      <a:solidFill>
                        <a:srgbClr val="000000"/>
                      </a:solidFill>
                      <a:prstDash val="solid"/>
                      <a:round/>
                      <a:headEnd len="sm" w="sm" type="none"/>
                      <a:tailEnd len="sm" w="sm" type="none"/>
                    </a:lnL>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7145" marR="0" rtl="0" algn="l">
                        <a:lnSpc>
                          <a:spcPct val="100000"/>
                        </a:lnSpc>
                        <a:spcBef>
                          <a:spcPts val="0"/>
                        </a:spcBef>
                        <a:spcAft>
                          <a:spcPts val="0"/>
                        </a:spcAft>
                        <a:buNone/>
                      </a:pPr>
                      <a:r>
                        <a:rPr lang="en-US" sz="1000" u="none" cap="none" strike="noStrike">
                          <a:latin typeface="Arial"/>
                          <a:ea typeface="Arial"/>
                          <a:cs typeface="Arial"/>
                          <a:sym typeface="Arial"/>
                        </a:rPr>
                        <a:t>OK</a:t>
                      </a:r>
                      <a:endParaRPr sz="1000" u="none" cap="none" strike="noStrike">
                        <a:latin typeface="Arial"/>
                        <a:ea typeface="Arial"/>
                        <a:cs typeface="Arial"/>
                        <a:sym typeface="Arial"/>
                      </a:endParaRPr>
                    </a:p>
                  </a:txBody>
                  <a:tcPr marT="2975" marB="0" marR="0" marL="0">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96240" marR="0" rtl="0" algn="l">
                        <a:lnSpc>
                          <a:spcPct val="100000"/>
                        </a:lnSpc>
                        <a:spcBef>
                          <a:spcPts val="0"/>
                        </a:spcBef>
                        <a:spcAft>
                          <a:spcPts val="0"/>
                        </a:spcAft>
                        <a:buNone/>
                      </a:pPr>
                      <a:r>
                        <a:rPr lang="en-US" sz="1000" u="none" cap="none" strike="noStrike">
                          <a:latin typeface="Arial"/>
                          <a:ea typeface="Arial"/>
                          <a:cs typeface="Arial"/>
                          <a:sym typeface="Arial"/>
                        </a:rPr>
                        <a:t>Actual</a:t>
                      </a:r>
                      <a:endParaRPr sz="1000" u="none" cap="none" strike="noStrike">
                        <a:latin typeface="Arial"/>
                        <a:ea typeface="Arial"/>
                        <a:cs typeface="Arial"/>
                        <a:sym typeface="Arial"/>
                      </a:endParaRPr>
                    </a:p>
                  </a:txBody>
                  <a:tcPr marT="2975" marB="0" marR="0" marL="0">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0375">
                <a:tc>
                  <a:txBody>
                    <a:bodyPr/>
                    <a:lstStyle/>
                    <a:p>
                      <a:pPr indent="0" lvl="0" marL="73025" marR="0" rtl="0" algn="l">
                        <a:lnSpc>
                          <a:spcPct val="100000"/>
                        </a:lnSpc>
                        <a:spcBef>
                          <a:spcPts val="0"/>
                        </a:spcBef>
                        <a:spcAft>
                          <a:spcPts val="0"/>
                        </a:spcAft>
                        <a:buNone/>
                      </a:pPr>
                      <a:r>
                        <a:rPr lang="en-US" sz="1000" u="none" cap="none" strike="noStrike">
                          <a:latin typeface="Arial"/>
                          <a:ea typeface="Arial"/>
                          <a:cs typeface="Arial"/>
                          <a:sym typeface="Arial"/>
                        </a:rPr>
                        <a:t>8.	Fire</a:t>
                      </a:r>
                      <a:endParaRPr sz="1000" u="none" cap="none" strike="noStrike">
                        <a:latin typeface="Arial"/>
                        <a:ea typeface="Arial"/>
                        <a:cs typeface="Arial"/>
                        <a:sym typeface="Arial"/>
                      </a:endParaRPr>
                    </a:p>
                  </a:txBody>
                  <a:tcPr marT="5975" marB="0" marR="0" marL="0">
                    <a:lnL cap="flat" cmpd="sng" w="9525">
                      <a:solidFill>
                        <a:srgbClr val="000000"/>
                      </a:solidFill>
                      <a:prstDash val="solid"/>
                      <a:round/>
                      <a:headEnd len="sm" w="sm" type="none"/>
                      <a:tailEnd len="sm" w="sm" type="none"/>
                    </a:lnL>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7145" marR="0" rtl="0" algn="l">
                        <a:lnSpc>
                          <a:spcPct val="100000"/>
                        </a:lnSpc>
                        <a:spcBef>
                          <a:spcPts val="0"/>
                        </a:spcBef>
                        <a:spcAft>
                          <a:spcPts val="0"/>
                        </a:spcAft>
                        <a:buNone/>
                      </a:pPr>
                      <a:r>
                        <a:rPr lang="en-US" sz="1000" u="none" cap="none" strike="noStrike">
                          <a:latin typeface="Arial"/>
                          <a:ea typeface="Arial"/>
                          <a:cs typeface="Arial"/>
                          <a:sym typeface="Arial"/>
                        </a:rPr>
                        <a:t>OK</a:t>
                      </a:r>
                      <a:endParaRPr sz="1000" u="none" cap="none" strike="noStrike">
                        <a:latin typeface="Arial"/>
                        <a:ea typeface="Arial"/>
                        <a:cs typeface="Arial"/>
                        <a:sym typeface="Arial"/>
                      </a:endParaRPr>
                    </a:p>
                  </a:txBody>
                  <a:tcPr marT="5975" marB="0" marR="0" marL="0">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96240" marR="0" rtl="0" algn="l">
                        <a:lnSpc>
                          <a:spcPct val="100000"/>
                        </a:lnSpc>
                        <a:spcBef>
                          <a:spcPts val="0"/>
                        </a:spcBef>
                        <a:spcAft>
                          <a:spcPts val="0"/>
                        </a:spcAft>
                        <a:buNone/>
                      </a:pPr>
                      <a:r>
                        <a:rPr lang="en-US" sz="1000" u="none" cap="none" strike="noStrike">
                          <a:latin typeface="Arial"/>
                          <a:ea typeface="Arial"/>
                          <a:cs typeface="Arial"/>
                          <a:sym typeface="Arial"/>
                        </a:rPr>
                        <a:t>Actual</a:t>
                      </a:r>
                      <a:endParaRPr sz="1000" u="none" cap="none" strike="noStrike">
                        <a:latin typeface="Arial"/>
                        <a:ea typeface="Arial"/>
                        <a:cs typeface="Arial"/>
                        <a:sym typeface="Arial"/>
                      </a:endParaRPr>
                    </a:p>
                  </a:txBody>
                  <a:tcPr marT="5975" marB="0" marR="0" marL="0">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54" name="Google Shape;154;p16"/>
          <p:cNvSpPr txBox="1"/>
          <p:nvPr/>
        </p:nvSpPr>
        <p:spPr>
          <a:xfrm>
            <a:off x="780306" y="901291"/>
            <a:ext cx="286494" cy="171337"/>
          </a:xfrm>
          <a:prstGeom prst="rect">
            <a:avLst/>
          </a:prstGeom>
          <a:noFill/>
          <a:ln>
            <a:noFill/>
          </a:ln>
        </p:spPr>
        <p:txBody>
          <a:bodyPr anchorCtr="0" anchor="t" bIns="0" lIns="0" spcFirstLastPara="1" rIns="0" wrap="square" tIns="11925">
            <a:spAutoFit/>
          </a:bodyPr>
          <a:lstStyle/>
          <a:p>
            <a:pPr indent="0" lvl="0" marL="11946" marR="0" rtl="0" algn="l">
              <a:spcBef>
                <a:spcPts val="0"/>
              </a:spcBef>
              <a:spcAft>
                <a:spcPts val="0"/>
              </a:spcAft>
              <a:buNone/>
            </a:pPr>
            <a:r>
              <a:rPr b="1" lang="en-US" sz="1035">
                <a:solidFill>
                  <a:schemeClr val="dk1"/>
                </a:solidFill>
                <a:latin typeface="Arial"/>
                <a:ea typeface="Arial"/>
                <a:cs typeface="Arial"/>
                <a:sym typeface="Arial"/>
              </a:rPr>
              <a:t>11.</a:t>
            </a:r>
            <a:endParaRPr sz="1035">
              <a:solidFill>
                <a:schemeClr val="dk1"/>
              </a:solidFill>
              <a:latin typeface="Arial"/>
              <a:ea typeface="Arial"/>
              <a:cs typeface="Arial"/>
              <a:sym typeface="Arial"/>
            </a:endParaRPr>
          </a:p>
        </p:txBody>
      </p:sp>
      <p:sp>
        <p:nvSpPr>
          <p:cNvPr id="155" name="Google Shape;155;p16"/>
          <p:cNvSpPr txBox="1"/>
          <p:nvPr/>
        </p:nvSpPr>
        <p:spPr>
          <a:xfrm>
            <a:off x="1098645" y="901290"/>
            <a:ext cx="1314043" cy="171337"/>
          </a:xfrm>
          <a:prstGeom prst="rect">
            <a:avLst/>
          </a:prstGeom>
          <a:noFill/>
          <a:ln>
            <a:noFill/>
          </a:ln>
        </p:spPr>
        <p:txBody>
          <a:bodyPr anchorCtr="0" anchor="t" bIns="0" lIns="0" spcFirstLastPara="1" rIns="0" wrap="square" tIns="11925">
            <a:spAutoFit/>
          </a:bodyPr>
          <a:lstStyle/>
          <a:p>
            <a:pPr indent="0" lvl="0" marL="11946" marR="0" rtl="0" algn="l">
              <a:spcBef>
                <a:spcPts val="0"/>
              </a:spcBef>
              <a:spcAft>
                <a:spcPts val="0"/>
              </a:spcAft>
              <a:buNone/>
            </a:pPr>
            <a:r>
              <a:rPr b="1" lang="en-US" sz="1035">
                <a:solidFill>
                  <a:schemeClr val="dk1"/>
                </a:solidFill>
                <a:latin typeface="Arial"/>
                <a:ea typeface="Arial"/>
                <a:cs typeface="Arial"/>
                <a:sym typeface="Arial"/>
              </a:rPr>
              <a:t>External alarm tests:</a:t>
            </a:r>
            <a:endParaRPr sz="1035">
              <a:solidFill>
                <a:schemeClr val="dk1"/>
              </a:solidFill>
              <a:latin typeface="Arial"/>
              <a:ea typeface="Arial"/>
              <a:cs typeface="Arial"/>
              <a:sym typeface="Arial"/>
            </a:endParaRPr>
          </a:p>
        </p:txBody>
      </p:sp>
      <p:sp>
        <p:nvSpPr>
          <p:cNvPr id="156" name="Google Shape;156;p16"/>
          <p:cNvSpPr txBox="1"/>
          <p:nvPr/>
        </p:nvSpPr>
        <p:spPr>
          <a:xfrm>
            <a:off x="685596" y="376781"/>
            <a:ext cx="2286204" cy="370999"/>
          </a:xfrm>
          <a:prstGeom prst="rect">
            <a:avLst/>
          </a:prstGeom>
          <a:noFill/>
          <a:ln>
            <a:noFill/>
          </a:ln>
        </p:spPr>
        <p:txBody>
          <a:bodyPr anchorCtr="0" anchor="t" bIns="0" lIns="0" spcFirstLastPara="1" rIns="0" wrap="square" tIns="12050">
            <a:spAutoFit/>
          </a:bodyPr>
          <a:lstStyle/>
          <a:p>
            <a:pPr indent="254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QA &amp; INSPECTION CIRCLE KL 	</a:t>
            </a:r>
            <a:endParaRPr sz="1100">
              <a:solidFill>
                <a:schemeClr val="dk1"/>
              </a:solidFill>
              <a:latin typeface="Arial"/>
              <a:ea typeface="Arial"/>
              <a:cs typeface="Arial"/>
              <a:sym typeface="Arial"/>
            </a:endParaRPr>
          </a:p>
        </p:txBody>
      </p:sp>
      <p:sp>
        <p:nvSpPr>
          <p:cNvPr id="157" name="Google Shape;157;p16"/>
          <p:cNvSpPr txBox="1"/>
          <p:nvPr/>
        </p:nvSpPr>
        <p:spPr>
          <a:xfrm>
            <a:off x="5249926" y="414883"/>
            <a:ext cx="1609725" cy="379095"/>
          </a:xfrm>
          <a:prstGeom prst="rect">
            <a:avLst/>
          </a:prstGeom>
          <a:noFill/>
          <a:ln>
            <a:noFill/>
          </a:ln>
        </p:spPr>
        <p:txBody>
          <a:bodyPr anchorCtr="0" anchor="t" bIns="0" lIns="0" spcFirstLastPara="1" rIns="0" wrap="square" tIns="12050">
            <a:spAutoFit/>
          </a:bodyPr>
          <a:lstStyle/>
          <a:p>
            <a:pPr indent="61595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4G PHASE IX.2  eNode-B A/T SCHEDULE</a:t>
            </a:r>
            <a:endParaRPr/>
          </a:p>
        </p:txBody>
      </p:sp>
      <p:sp>
        <p:nvSpPr>
          <p:cNvPr id="158" name="Google Shape;158;p16"/>
          <p:cNvSpPr txBox="1"/>
          <p:nvPr>
            <p:ph idx="11" type="ftr"/>
          </p:nvPr>
        </p:nvSpPr>
        <p:spPr>
          <a:xfrm>
            <a:off x="868476" y="9083316"/>
            <a:ext cx="1681480" cy="182245"/>
          </a:xfrm>
          <a:prstGeom prst="rect">
            <a:avLst/>
          </a:prstGeom>
          <a:noFill/>
          <a:ln>
            <a:noFill/>
          </a:ln>
        </p:spPr>
        <p:txBody>
          <a:bodyPr anchorCtr="0" anchor="t" bIns="0" lIns="0" spcFirstLastPara="1" rIns="0" wrap="square" tIns="0">
            <a:spAutoFit/>
          </a:bodyPr>
          <a:lstStyle/>
          <a:p>
            <a:pPr indent="0" lvl="0" marL="12700" rtl="0" algn="l">
              <a:lnSpc>
                <a:spcPct val="100000"/>
              </a:lnSpc>
              <a:spcBef>
                <a:spcPts val="0"/>
              </a:spcBef>
              <a:spcAft>
                <a:spcPts val="0"/>
              </a:spcAft>
              <a:buNone/>
            </a:pPr>
            <a:r>
              <a:rPr lang="en-US"/>
              <a:t>QAIN-11/31(14)/1/2023-CM</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7"/>
          <p:cNvSpPr txBox="1"/>
          <p:nvPr/>
        </p:nvSpPr>
        <p:spPr>
          <a:xfrm>
            <a:off x="5249926" y="414883"/>
            <a:ext cx="1609725" cy="379095"/>
          </a:xfrm>
          <a:prstGeom prst="rect">
            <a:avLst/>
          </a:prstGeom>
          <a:noFill/>
          <a:ln>
            <a:noFill/>
          </a:ln>
        </p:spPr>
        <p:txBody>
          <a:bodyPr anchorCtr="0" anchor="t" bIns="0" lIns="0" spcFirstLastPara="1" rIns="0" wrap="square" tIns="12050">
            <a:spAutoFit/>
          </a:bodyPr>
          <a:lstStyle/>
          <a:p>
            <a:pPr indent="61595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4G PHASE IX.2  eNode-B A/T SCHEDULE</a:t>
            </a:r>
            <a:endParaRPr sz="1100">
              <a:solidFill>
                <a:schemeClr val="dk1"/>
              </a:solidFill>
              <a:latin typeface="Arial"/>
              <a:ea typeface="Arial"/>
              <a:cs typeface="Arial"/>
              <a:sym typeface="Arial"/>
            </a:endParaRPr>
          </a:p>
        </p:txBody>
      </p:sp>
      <p:sp>
        <p:nvSpPr>
          <p:cNvPr id="164" name="Google Shape;164;p17"/>
          <p:cNvSpPr txBox="1"/>
          <p:nvPr/>
        </p:nvSpPr>
        <p:spPr>
          <a:xfrm>
            <a:off x="746556" y="1240282"/>
            <a:ext cx="6574790" cy="3468370"/>
          </a:xfrm>
          <a:prstGeom prst="rect">
            <a:avLst/>
          </a:prstGeom>
          <a:noFill/>
          <a:ln>
            <a:noFill/>
          </a:ln>
        </p:spPr>
        <p:txBody>
          <a:bodyPr anchorCtr="0" anchor="t" bIns="0" lIns="0" spcFirstLastPara="1" rIns="0" wrap="square" tIns="12700">
            <a:spAutoFit/>
          </a:bodyPr>
          <a:lstStyle/>
          <a:p>
            <a:pPr indent="0" lvl="0" marL="12700" marR="0" rtl="0" algn="just">
              <a:lnSpc>
                <a:spcPct val="100000"/>
              </a:lnSpc>
              <a:spcBef>
                <a:spcPts val="0"/>
              </a:spcBef>
              <a:spcAft>
                <a:spcPts val="0"/>
              </a:spcAft>
              <a:buNone/>
            </a:pPr>
            <a:r>
              <a:rPr b="1" lang="en-US" sz="1100">
                <a:solidFill>
                  <a:schemeClr val="dk1"/>
                </a:solidFill>
                <a:latin typeface="Arial"/>
                <a:ea typeface="Arial"/>
                <a:cs typeface="Arial"/>
                <a:sym typeface="Arial"/>
              </a:rPr>
              <a:t>PART C: COVERAGE TEST</a:t>
            </a:r>
            <a:endParaRPr sz="1100">
              <a:solidFill>
                <a:schemeClr val="dk1"/>
              </a:solidFill>
              <a:latin typeface="Arial"/>
              <a:ea typeface="Arial"/>
              <a:cs typeface="Arial"/>
              <a:sym typeface="Arial"/>
            </a:endParaRPr>
          </a:p>
          <a:p>
            <a:pPr indent="0" lvl="0" marL="0" marR="0" rtl="0" algn="l">
              <a:lnSpc>
                <a:spcPct val="100000"/>
              </a:lnSpc>
              <a:spcBef>
                <a:spcPts val="35"/>
              </a:spcBef>
              <a:spcAft>
                <a:spcPts val="0"/>
              </a:spcAft>
              <a:buNone/>
            </a:pPr>
            <a:r>
              <a:t/>
            </a:r>
            <a:endParaRPr sz="1600">
              <a:solidFill>
                <a:schemeClr val="dk1"/>
              </a:solidFill>
              <a:latin typeface="Arial"/>
              <a:ea typeface="Arial"/>
              <a:cs typeface="Arial"/>
              <a:sym typeface="Arial"/>
            </a:endParaRPr>
          </a:p>
          <a:p>
            <a:pPr indent="-6350" lvl="0" marL="18415" marR="5080" rtl="0" algn="just">
              <a:lnSpc>
                <a:spcPct val="100000"/>
              </a:lnSpc>
              <a:spcBef>
                <a:spcPts val="5"/>
              </a:spcBef>
              <a:spcAft>
                <a:spcPts val="0"/>
              </a:spcAft>
              <a:buNone/>
            </a:pPr>
            <a:r>
              <a:rPr lang="en-US" sz="1100">
                <a:solidFill>
                  <a:schemeClr val="dk1"/>
                </a:solidFill>
                <a:latin typeface="Arial"/>
                <a:ea typeface="Arial"/>
                <a:cs typeface="Arial"/>
                <a:sym typeface="Arial"/>
              </a:rPr>
              <a:t>The vendor shall carry out the simulation of coverage and generate prediction maps of the cities with the  existing and identified sites to be specified by the purchaser. The supplier shall indicate additional  locations, if any, required to meet the coverage requirements of the purchaser. The prediction map so  generated and agreed upon shall form the basis for acceptance testing of the coverage.</a:t>
            </a:r>
            <a:endParaRPr sz="1100">
              <a:solidFill>
                <a:schemeClr val="dk1"/>
              </a:solidFill>
              <a:latin typeface="Arial"/>
              <a:ea typeface="Arial"/>
              <a:cs typeface="Arial"/>
              <a:sym typeface="Arial"/>
            </a:endParaRPr>
          </a:p>
          <a:p>
            <a:pPr indent="0" lvl="0" marL="12700" marR="0" rtl="0" algn="just">
              <a:lnSpc>
                <a:spcPct val="100000"/>
              </a:lnSpc>
              <a:spcBef>
                <a:spcPts val="165"/>
              </a:spcBef>
              <a:spcAft>
                <a:spcPts val="0"/>
              </a:spcAft>
              <a:buNone/>
            </a:pPr>
            <a:r>
              <a:rPr b="1" lang="en-US" sz="1100">
                <a:solidFill>
                  <a:schemeClr val="dk1"/>
                </a:solidFill>
                <a:latin typeface="Arial"/>
                <a:ea typeface="Arial"/>
                <a:cs typeface="Arial"/>
                <a:sym typeface="Arial"/>
              </a:rPr>
              <a:t>Prior requisite to start coverage test:</a:t>
            </a:r>
            <a:endParaRPr sz="1100">
              <a:solidFill>
                <a:schemeClr val="dk1"/>
              </a:solidFill>
              <a:latin typeface="Arial"/>
              <a:ea typeface="Arial"/>
              <a:cs typeface="Arial"/>
              <a:sym typeface="Arial"/>
            </a:endParaRPr>
          </a:p>
          <a:p>
            <a:pPr indent="-287020" lvl="0" marL="424180" marR="10160" rtl="0" algn="just">
              <a:lnSpc>
                <a:spcPct val="101800"/>
              </a:lnSpc>
              <a:spcBef>
                <a:spcPts val="290"/>
              </a:spcBef>
              <a:spcAft>
                <a:spcPts val="0"/>
              </a:spcAft>
              <a:buClr>
                <a:schemeClr val="dk1"/>
              </a:buClr>
              <a:buSzPts val="1100"/>
              <a:buFont typeface="Arial"/>
              <a:buChar char="•"/>
            </a:pPr>
            <a:r>
              <a:rPr lang="en-US" sz="1100">
                <a:solidFill>
                  <a:schemeClr val="dk1"/>
                </a:solidFill>
                <a:latin typeface="Arial"/>
                <a:ea typeface="Arial"/>
                <a:cs typeface="Arial"/>
                <a:sym typeface="Arial"/>
              </a:rPr>
              <a:t>Basic calls / messages / data may be checked. Geographical clusters and size of cluster may be  finalized by the Circle RF Planning teams in consultation with the vendor.</a:t>
            </a:r>
            <a:endParaRPr sz="1100">
              <a:solidFill>
                <a:schemeClr val="dk1"/>
              </a:solidFill>
              <a:latin typeface="Arial"/>
              <a:ea typeface="Arial"/>
              <a:cs typeface="Arial"/>
              <a:sym typeface="Arial"/>
            </a:endParaRPr>
          </a:p>
          <a:p>
            <a:pPr indent="-287020" lvl="0" marL="424180" marR="0" rtl="0" algn="just">
              <a:lnSpc>
                <a:spcPct val="100000"/>
              </a:lnSpc>
              <a:spcBef>
                <a:spcPts val="290"/>
              </a:spcBef>
              <a:spcAft>
                <a:spcPts val="0"/>
              </a:spcAft>
              <a:buClr>
                <a:schemeClr val="dk1"/>
              </a:buClr>
              <a:buSzPts val="1100"/>
              <a:buFont typeface="Arial"/>
              <a:buChar char="•"/>
            </a:pPr>
            <a:r>
              <a:rPr lang="en-US" sz="1100">
                <a:solidFill>
                  <a:schemeClr val="dk1"/>
                </a:solidFill>
                <a:latin typeface="Arial"/>
                <a:ea typeface="Arial"/>
                <a:cs typeface="Arial"/>
                <a:sym typeface="Arial"/>
              </a:rPr>
              <a:t>Link budget should be submitted for all bands as mentioned in the PO &amp; DTR.</a:t>
            </a:r>
            <a:endParaRPr sz="1100">
              <a:solidFill>
                <a:schemeClr val="dk1"/>
              </a:solidFill>
              <a:latin typeface="Arial"/>
              <a:ea typeface="Arial"/>
              <a:cs typeface="Arial"/>
              <a:sym typeface="Arial"/>
            </a:endParaRPr>
          </a:p>
          <a:p>
            <a:pPr indent="-287020" lvl="0" marL="424180" marR="5080" rtl="0" algn="just">
              <a:lnSpc>
                <a:spcPct val="98900"/>
              </a:lnSpc>
              <a:spcBef>
                <a:spcPts val="180"/>
              </a:spcBef>
              <a:spcAft>
                <a:spcPts val="0"/>
              </a:spcAft>
              <a:buClr>
                <a:schemeClr val="dk1"/>
              </a:buClr>
              <a:buSzPts val="1100"/>
              <a:buFont typeface="Arial"/>
              <a:buChar char="•"/>
            </a:pPr>
            <a:r>
              <a:rPr lang="en-US" sz="1100">
                <a:solidFill>
                  <a:schemeClr val="dk1"/>
                </a:solidFill>
                <a:latin typeface="Arial"/>
                <a:ea typeface="Arial"/>
                <a:cs typeface="Arial"/>
                <a:sym typeface="Arial"/>
              </a:rPr>
              <a:t>Coverage A/T should cover all sectors of the sites included in the cluster and plots may be  prepared cluster wise. Event based KPIs may be performed as static tests for each of the sectors  and cell wise statistics may also be submitted as part of the A/T reports along with cluster wise  plots and KPI statistics.</a:t>
            </a:r>
            <a:endParaRPr sz="1100">
              <a:solidFill>
                <a:schemeClr val="dk1"/>
              </a:solidFill>
              <a:latin typeface="Arial"/>
              <a:ea typeface="Arial"/>
              <a:cs typeface="Arial"/>
              <a:sym typeface="Arial"/>
            </a:endParaRPr>
          </a:p>
          <a:p>
            <a:pPr indent="-287020" lvl="0" marL="424180" marR="57785" rtl="0" algn="just">
              <a:lnSpc>
                <a:spcPct val="100000"/>
              </a:lnSpc>
              <a:spcBef>
                <a:spcPts val="315"/>
              </a:spcBef>
              <a:spcAft>
                <a:spcPts val="0"/>
              </a:spcAft>
              <a:buClr>
                <a:schemeClr val="dk1"/>
              </a:buClr>
              <a:buSzPts val="1100"/>
              <a:buFont typeface="Arial"/>
              <a:buChar char="•"/>
            </a:pPr>
            <a:r>
              <a:rPr lang="en-US" sz="1100">
                <a:solidFill>
                  <a:schemeClr val="dk1"/>
                </a:solidFill>
                <a:latin typeface="Arial"/>
                <a:ea typeface="Arial"/>
                <a:cs typeface="Arial"/>
                <a:sym typeface="Arial"/>
              </a:rPr>
              <a:t>80% [minimum] of technology-specified throughput shall be demonstrated in field drive tests as  applicable.</a:t>
            </a:r>
            <a:endParaRPr sz="1100">
              <a:solidFill>
                <a:schemeClr val="dk1"/>
              </a:solidFill>
              <a:latin typeface="Arial"/>
              <a:ea typeface="Arial"/>
              <a:cs typeface="Arial"/>
              <a:sym typeface="Arial"/>
            </a:endParaRPr>
          </a:p>
          <a:p>
            <a:pPr indent="-287020" lvl="0" marL="424180" marR="0" rtl="0" algn="just">
              <a:lnSpc>
                <a:spcPct val="119090"/>
              </a:lnSpc>
              <a:spcBef>
                <a:spcPts val="285"/>
              </a:spcBef>
              <a:spcAft>
                <a:spcPts val="0"/>
              </a:spcAft>
              <a:buClr>
                <a:schemeClr val="dk1"/>
              </a:buClr>
              <a:buSzPts val="1100"/>
              <a:buFont typeface="Arial"/>
              <a:buChar char="•"/>
            </a:pPr>
            <a:r>
              <a:rPr lang="en-US" sz="1100">
                <a:solidFill>
                  <a:schemeClr val="dk1"/>
                </a:solidFill>
                <a:latin typeface="Arial"/>
                <a:ea typeface="Arial"/>
                <a:cs typeface="Arial"/>
                <a:sym typeface="Arial"/>
              </a:rPr>
              <a:t>The coverage A/T reports submitted by the vendor should be evaluated &amp; approved by the BA</a:t>
            </a:r>
            <a:endParaRPr sz="1100">
              <a:solidFill>
                <a:schemeClr val="dk1"/>
              </a:solidFill>
              <a:latin typeface="Arial"/>
              <a:ea typeface="Arial"/>
              <a:cs typeface="Arial"/>
              <a:sym typeface="Arial"/>
            </a:endParaRPr>
          </a:p>
          <a:p>
            <a:pPr indent="0" lvl="0" marL="424180" marR="186055" rtl="0" algn="just">
              <a:lnSpc>
                <a:spcPct val="118181"/>
              </a:lnSpc>
              <a:spcBef>
                <a:spcPts val="50"/>
              </a:spcBef>
              <a:spcAft>
                <a:spcPts val="0"/>
              </a:spcAft>
              <a:buNone/>
            </a:pPr>
            <a:r>
              <a:rPr lang="en-US" sz="1100">
                <a:solidFill>
                  <a:schemeClr val="dk1"/>
                </a:solidFill>
                <a:latin typeface="Arial"/>
                <a:ea typeface="Arial"/>
                <a:cs typeface="Arial"/>
                <a:sym typeface="Arial"/>
              </a:rPr>
              <a:t>/ Circle RF teams after ensuring that suitable measures to improve the QoS are incorporated, in  case issues are identified during A/T.</a:t>
            </a:r>
            <a:endParaRPr sz="1100">
              <a:solidFill>
                <a:schemeClr val="dk1"/>
              </a:solidFill>
              <a:latin typeface="Arial"/>
              <a:ea typeface="Arial"/>
              <a:cs typeface="Arial"/>
              <a:sym typeface="Arial"/>
            </a:endParaRPr>
          </a:p>
        </p:txBody>
      </p:sp>
      <p:sp>
        <p:nvSpPr>
          <p:cNvPr id="165" name="Google Shape;165;p17"/>
          <p:cNvSpPr txBox="1"/>
          <p:nvPr/>
        </p:nvSpPr>
        <p:spPr>
          <a:xfrm>
            <a:off x="746556" y="5292953"/>
            <a:ext cx="6266180" cy="1632585"/>
          </a:xfrm>
          <a:prstGeom prst="rect">
            <a:avLst/>
          </a:prstGeom>
          <a:noFill/>
          <a:ln>
            <a:noFill/>
          </a:ln>
        </p:spPr>
        <p:txBody>
          <a:bodyPr anchorCtr="0" anchor="t" bIns="0" lIns="0" spcFirstLastPara="1" rIns="0" wrap="square" tIns="52050">
            <a:spAutoFit/>
          </a:bodyPr>
          <a:lstStyle/>
          <a:p>
            <a:pPr indent="-344805" lvl="0" marL="356870" marR="0" rtl="0" algn="l">
              <a:lnSpc>
                <a:spcPct val="100000"/>
              </a:lnSpc>
              <a:spcBef>
                <a:spcPts val="0"/>
              </a:spcBef>
              <a:spcAft>
                <a:spcPts val="0"/>
              </a:spcAft>
              <a:buClr>
                <a:schemeClr val="dk1"/>
              </a:buClr>
              <a:buSzPts val="1100"/>
              <a:buFont typeface="Arial"/>
              <a:buAutoNum type="arabicPeriod"/>
            </a:pPr>
            <a:r>
              <a:rPr b="1" lang="en-US" sz="1100">
                <a:solidFill>
                  <a:schemeClr val="dk1"/>
                </a:solidFill>
                <a:latin typeface="Arial"/>
                <a:ea typeface="Arial"/>
                <a:cs typeface="Arial"/>
                <a:sym typeface="Arial"/>
              </a:rPr>
              <a:t>Drive Test Results: The following drive test results plots are prepared.</a:t>
            </a:r>
            <a:endParaRPr sz="1100">
              <a:solidFill>
                <a:schemeClr val="dk1"/>
              </a:solidFill>
              <a:latin typeface="Arial"/>
              <a:ea typeface="Arial"/>
              <a:cs typeface="Arial"/>
              <a:sym typeface="Arial"/>
            </a:endParaRPr>
          </a:p>
          <a:p>
            <a:pPr indent="-400050" lvl="1" marL="1076325" marR="0" rtl="0" algn="l">
              <a:lnSpc>
                <a:spcPct val="100000"/>
              </a:lnSpc>
              <a:spcBef>
                <a:spcPts val="310"/>
              </a:spcBef>
              <a:spcAft>
                <a:spcPts val="0"/>
              </a:spcAft>
              <a:buClr>
                <a:schemeClr val="dk1"/>
              </a:buClr>
              <a:buSzPts val="1100"/>
              <a:buFont typeface="Arial"/>
              <a:buAutoNum type="romanUcPeriod"/>
            </a:pPr>
            <a:r>
              <a:rPr b="0" i="0" lang="en-US" sz="1100" u="none" cap="none" strike="noStrike">
                <a:solidFill>
                  <a:schemeClr val="dk1"/>
                </a:solidFill>
                <a:latin typeface="Arial"/>
                <a:ea typeface="Arial"/>
                <a:cs typeface="Arial"/>
                <a:sym typeface="Arial"/>
              </a:rPr>
              <a:t>RSRP Plot (As per Prediction Plot)</a:t>
            </a:r>
            <a:endParaRPr b="0" i="0" sz="1100" u="none" cap="none" strike="noStrike">
              <a:solidFill>
                <a:schemeClr val="dk1"/>
              </a:solidFill>
              <a:latin typeface="Arial"/>
              <a:ea typeface="Arial"/>
              <a:cs typeface="Arial"/>
              <a:sym typeface="Arial"/>
            </a:endParaRPr>
          </a:p>
          <a:p>
            <a:pPr indent="-400050" lvl="1" marL="1076325" marR="0" rtl="0" algn="l">
              <a:lnSpc>
                <a:spcPct val="100000"/>
              </a:lnSpc>
              <a:spcBef>
                <a:spcPts val="315"/>
              </a:spcBef>
              <a:spcAft>
                <a:spcPts val="0"/>
              </a:spcAft>
              <a:buClr>
                <a:schemeClr val="dk1"/>
              </a:buClr>
              <a:buSzPts val="1100"/>
              <a:buFont typeface="Arial"/>
              <a:buAutoNum type="romanUcPeriod"/>
            </a:pPr>
            <a:r>
              <a:rPr b="0" i="0" lang="en-US" sz="1100" u="none" cap="none" strike="noStrike">
                <a:solidFill>
                  <a:schemeClr val="dk1"/>
                </a:solidFill>
                <a:latin typeface="Arial"/>
                <a:ea typeface="Arial"/>
                <a:cs typeface="Arial"/>
                <a:sym typeface="Arial"/>
              </a:rPr>
              <a:t>RSRQ Plot</a:t>
            </a:r>
            <a:endParaRPr b="0" i="0" sz="1100" u="none" cap="none" strike="noStrike">
              <a:solidFill>
                <a:schemeClr val="dk1"/>
              </a:solidFill>
              <a:latin typeface="Arial"/>
              <a:ea typeface="Arial"/>
              <a:cs typeface="Arial"/>
              <a:sym typeface="Arial"/>
            </a:endParaRPr>
          </a:p>
          <a:p>
            <a:pPr indent="-400050" lvl="1" marL="1076325" marR="0" rtl="0" algn="l">
              <a:lnSpc>
                <a:spcPct val="100000"/>
              </a:lnSpc>
              <a:spcBef>
                <a:spcPts val="290"/>
              </a:spcBef>
              <a:spcAft>
                <a:spcPts val="0"/>
              </a:spcAft>
              <a:buClr>
                <a:schemeClr val="dk1"/>
              </a:buClr>
              <a:buSzPts val="1100"/>
              <a:buFont typeface="Arial"/>
              <a:buAutoNum type="romanUcPeriod"/>
            </a:pPr>
            <a:r>
              <a:rPr b="0" i="0" lang="en-US" sz="1100" u="none" cap="none" strike="noStrike">
                <a:solidFill>
                  <a:schemeClr val="dk1"/>
                </a:solidFill>
                <a:latin typeface="Arial"/>
                <a:ea typeface="Arial"/>
                <a:cs typeface="Arial"/>
                <a:sym typeface="Arial"/>
              </a:rPr>
              <a:t>SINR Plot</a:t>
            </a:r>
            <a:endParaRPr b="0" i="0" sz="1100" u="none" cap="none" strike="noStrike">
              <a:solidFill>
                <a:schemeClr val="dk1"/>
              </a:solidFill>
              <a:latin typeface="Arial"/>
              <a:ea typeface="Arial"/>
              <a:cs typeface="Arial"/>
              <a:sym typeface="Arial"/>
            </a:endParaRPr>
          </a:p>
          <a:p>
            <a:pPr indent="-400050" lvl="1" marL="1076325" marR="0" rtl="0" algn="l">
              <a:lnSpc>
                <a:spcPct val="100000"/>
              </a:lnSpc>
              <a:spcBef>
                <a:spcPts val="310"/>
              </a:spcBef>
              <a:spcAft>
                <a:spcPts val="0"/>
              </a:spcAft>
              <a:buClr>
                <a:schemeClr val="dk1"/>
              </a:buClr>
              <a:buSzPts val="1100"/>
              <a:buFont typeface="Arial"/>
              <a:buAutoNum type="romanUcPeriod"/>
            </a:pPr>
            <a:r>
              <a:rPr b="0" i="0" lang="en-US" sz="1100" u="none" cap="none" strike="noStrike">
                <a:solidFill>
                  <a:schemeClr val="dk1"/>
                </a:solidFill>
                <a:latin typeface="Arial"/>
                <a:ea typeface="Arial"/>
                <a:cs typeface="Arial"/>
                <a:sym typeface="Arial"/>
              </a:rPr>
              <a:t>DL Throughput plot</a:t>
            </a:r>
            <a:endParaRPr b="0" i="0" sz="1100" u="none" cap="none" strike="noStrike">
              <a:solidFill>
                <a:schemeClr val="dk1"/>
              </a:solidFill>
              <a:latin typeface="Arial"/>
              <a:ea typeface="Arial"/>
              <a:cs typeface="Arial"/>
              <a:sym typeface="Arial"/>
            </a:endParaRPr>
          </a:p>
          <a:p>
            <a:pPr indent="0" lvl="0" marL="0" marR="0" rtl="0" algn="l">
              <a:lnSpc>
                <a:spcPct val="100000"/>
              </a:lnSpc>
              <a:spcBef>
                <a:spcPts val="30"/>
              </a:spcBef>
              <a:spcAft>
                <a:spcPts val="0"/>
              </a:spcAft>
              <a:buNone/>
            </a:pPr>
            <a:r>
              <a:t/>
            </a:r>
            <a:endParaRPr sz="1600">
              <a:solidFill>
                <a:schemeClr val="dk1"/>
              </a:solidFill>
              <a:latin typeface="Arial"/>
              <a:ea typeface="Arial"/>
              <a:cs typeface="Arial"/>
              <a:sym typeface="Arial"/>
            </a:endParaRPr>
          </a:p>
          <a:p>
            <a:pPr indent="-6350" lvl="0" marL="591820" marR="5080" rtl="0" algn="l">
              <a:lnSpc>
                <a:spcPct val="100000"/>
              </a:lnSpc>
              <a:spcBef>
                <a:spcPts val="5"/>
              </a:spcBef>
              <a:spcAft>
                <a:spcPts val="0"/>
              </a:spcAft>
              <a:buNone/>
            </a:pPr>
            <a:r>
              <a:rPr lang="en-US" sz="1100">
                <a:solidFill>
                  <a:schemeClr val="dk1"/>
                </a:solidFill>
                <a:latin typeface="Arial"/>
                <a:ea typeface="Arial"/>
                <a:cs typeface="Arial"/>
                <a:sym typeface="Arial"/>
              </a:rPr>
              <a:t>The plot indicates the coverage parameters marked by different colours for different levels e.g.  Excellent, Good, Poor etc.</a:t>
            </a:r>
            <a:endParaRPr sz="1100">
              <a:solidFill>
                <a:schemeClr val="dk1"/>
              </a:solidFill>
              <a:latin typeface="Arial"/>
              <a:ea typeface="Arial"/>
              <a:cs typeface="Arial"/>
              <a:sym typeface="Arial"/>
            </a:endParaRPr>
          </a:p>
        </p:txBody>
      </p:sp>
      <p:sp>
        <p:nvSpPr>
          <p:cNvPr id="166" name="Google Shape;166;p17"/>
          <p:cNvSpPr txBox="1"/>
          <p:nvPr/>
        </p:nvSpPr>
        <p:spPr>
          <a:xfrm>
            <a:off x="1124508" y="7627746"/>
            <a:ext cx="485775" cy="19367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100">
                <a:solidFill>
                  <a:schemeClr val="dk1"/>
                </a:solidFill>
                <a:latin typeface="Arial"/>
                <a:ea typeface="Arial"/>
                <a:cs typeface="Arial"/>
                <a:sym typeface="Arial"/>
              </a:rPr>
              <a:t>Results</a:t>
            </a:r>
            <a:endParaRPr/>
          </a:p>
        </p:txBody>
      </p:sp>
      <p:sp>
        <p:nvSpPr>
          <p:cNvPr id="167" name="Google Shape;167;p17"/>
          <p:cNvSpPr txBox="1"/>
          <p:nvPr/>
        </p:nvSpPr>
        <p:spPr>
          <a:xfrm>
            <a:off x="3396234" y="7606410"/>
            <a:ext cx="509905" cy="19367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100">
                <a:solidFill>
                  <a:schemeClr val="dk1"/>
                </a:solidFill>
                <a:latin typeface="Arial"/>
                <a:ea typeface="Arial"/>
                <a:cs typeface="Arial"/>
                <a:sym typeface="Arial"/>
              </a:rPr>
              <a:t>Remark</a:t>
            </a:r>
            <a:endParaRPr sz="1100">
              <a:solidFill>
                <a:schemeClr val="dk1"/>
              </a:solidFill>
              <a:latin typeface="Arial"/>
              <a:ea typeface="Arial"/>
              <a:cs typeface="Arial"/>
              <a:sym typeface="Arial"/>
            </a:endParaRPr>
          </a:p>
        </p:txBody>
      </p:sp>
      <p:sp>
        <p:nvSpPr>
          <p:cNvPr id="168" name="Google Shape;168;p17"/>
          <p:cNvSpPr txBox="1"/>
          <p:nvPr/>
        </p:nvSpPr>
        <p:spPr>
          <a:xfrm>
            <a:off x="959916" y="8274177"/>
            <a:ext cx="5888355" cy="516890"/>
          </a:xfrm>
          <a:prstGeom prst="rect">
            <a:avLst/>
          </a:prstGeom>
          <a:noFill/>
          <a:ln>
            <a:noFill/>
          </a:ln>
        </p:spPr>
        <p:txBody>
          <a:bodyPr anchorCtr="0" anchor="t" bIns="0" lIns="0" spcFirstLastPara="1" rIns="0" wrap="square" tIns="23475">
            <a:spAutoFit/>
          </a:bodyPr>
          <a:lstStyle/>
          <a:p>
            <a:pPr indent="0" lvl="0" marL="12700" marR="5080" rtl="0" algn="just">
              <a:lnSpc>
                <a:spcPct val="115454"/>
              </a:lnSpc>
              <a:spcBef>
                <a:spcPts val="0"/>
              </a:spcBef>
              <a:spcAft>
                <a:spcPts val="0"/>
              </a:spcAft>
              <a:buNone/>
            </a:pPr>
            <a:r>
              <a:rPr lang="en-US" sz="1100">
                <a:solidFill>
                  <a:schemeClr val="dk1"/>
                </a:solidFill>
                <a:latin typeface="Arial"/>
                <a:ea typeface="Arial"/>
                <a:cs typeface="Arial"/>
                <a:sym typeface="Arial"/>
              </a:rPr>
              <a:t>Passing criteria as per approved prediction plot by BSNL RF planning teams for RSRP, RSRQ,  SINR, DL &amp; UL Throughput. Colour legends (Green, Yellow, and Red etc.) for different levels of  respective coverage parameters to be decided by planning in consultation with the vendor.</a:t>
            </a:r>
            <a:endParaRPr sz="1100">
              <a:solidFill>
                <a:schemeClr val="dk1"/>
              </a:solidFill>
              <a:latin typeface="Arial"/>
              <a:ea typeface="Arial"/>
              <a:cs typeface="Arial"/>
              <a:sym typeface="Arial"/>
            </a:endParaRPr>
          </a:p>
        </p:txBody>
      </p:sp>
      <p:sp>
        <p:nvSpPr>
          <p:cNvPr id="169" name="Google Shape;169;p17"/>
          <p:cNvSpPr/>
          <p:nvPr/>
        </p:nvSpPr>
        <p:spPr>
          <a:xfrm>
            <a:off x="1758950" y="7606410"/>
            <a:ext cx="984250" cy="215011"/>
          </a:xfrm>
          <a:custGeom>
            <a:rect b="b" l="l" r="r" t="t"/>
            <a:pathLst>
              <a:path extrusionOk="0" h="262254" w="984250">
                <a:moveTo>
                  <a:pt x="0" y="262254"/>
                </a:moveTo>
                <a:lnTo>
                  <a:pt x="984250" y="262254"/>
                </a:lnTo>
                <a:lnTo>
                  <a:pt x="984250" y="0"/>
                </a:lnTo>
                <a:lnTo>
                  <a:pt x="0" y="0"/>
                </a:lnTo>
                <a:lnTo>
                  <a:pt x="0" y="262254"/>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ctr">
              <a:spcBef>
                <a:spcPts val="0"/>
              </a:spcBef>
              <a:spcAft>
                <a:spcPts val="0"/>
              </a:spcAft>
              <a:buNone/>
            </a:pPr>
            <a:r>
              <a:rPr lang="en-US" sz="1100">
                <a:solidFill>
                  <a:schemeClr val="dk1"/>
                </a:solidFill>
                <a:latin typeface="Arial"/>
                <a:ea typeface="Arial"/>
                <a:cs typeface="Arial"/>
                <a:sym typeface="Arial"/>
              </a:rPr>
              <a:t>Pass</a:t>
            </a:r>
            <a:endParaRPr sz="1100">
              <a:solidFill>
                <a:schemeClr val="dk1"/>
              </a:solidFill>
              <a:latin typeface="Arial"/>
              <a:ea typeface="Arial"/>
              <a:cs typeface="Arial"/>
              <a:sym typeface="Arial"/>
            </a:endParaRPr>
          </a:p>
        </p:txBody>
      </p:sp>
      <p:sp>
        <p:nvSpPr>
          <p:cNvPr id="170" name="Google Shape;170;p17"/>
          <p:cNvSpPr/>
          <p:nvPr/>
        </p:nvSpPr>
        <p:spPr>
          <a:xfrm>
            <a:off x="4044315" y="7532369"/>
            <a:ext cx="1974850" cy="368935"/>
          </a:xfrm>
          <a:custGeom>
            <a:rect b="b" l="l" r="r" t="t"/>
            <a:pathLst>
              <a:path extrusionOk="0" h="368934" w="1974850">
                <a:moveTo>
                  <a:pt x="0" y="368934"/>
                </a:moveTo>
                <a:lnTo>
                  <a:pt x="984250" y="368934"/>
                </a:lnTo>
                <a:lnTo>
                  <a:pt x="984250" y="0"/>
                </a:lnTo>
                <a:lnTo>
                  <a:pt x="0" y="0"/>
                </a:lnTo>
                <a:lnTo>
                  <a:pt x="0" y="368934"/>
                </a:lnTo>
                <a:close/>
              </a:path>
              <a:path extrusionOk="0" h="368934" w="1974850">
                <a:moveTo>
                  <a:pt x="990600" y="368934"/>
                </a:moveTo>
                <a:lnTo>
                  <a:pt x="1974850" y="368934"/>
                </a:lnTo>
                <a:lnTo>
                  <a:pt x="1974850" y="0"/>
                </a:lnTo>
                <a:lnTo>
                  <a:pt x="990600" y="0"/>
                </a:lnTo>
                <a:lnTo>
                  <a:pt x="990600" y="368934"/>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1" name="Google Shape;171;p17"/>
          <p:cNvSpPr txBox="1"/>
          <p:nvPr>
            <p:ph idx="11" type="ftr"/>
          </p:nvPr>
        </p:nvSpPr>
        <p:spPr>
          <a:xfrm>
            <a:off x="868476" y="9083316"/>
            <a:ext cx="1681480" cy="182245"/>
          </a:xfrm>
          <a:prstGeom prst="rect">
            <a:avLst/>
          </a:prstGeom>
          <a:noFill/>
          <a:ln>
            <a:noFill/>
          </a:ln>
        </p:spPr>
        <p:txBody>
          <a:bodyPr anchorCtr="0" anchor="t" bIns="0" lIns="0" spcFirstLastPara="1" rIns="0" wrap="square" tIns="0">
            <a:spAutoFit/>
          </a:bodyPr>
          <a:lstStyle/>
          <a:p>
            <a:pPr indent="0" lvl="0" marL="12700" rtl="0" algn="l">
              <a:lnSpc>
                <a:spcPct val="100000"/>
              </a:lnSpc>
              <a:spcBef>
                <a:spcPts val="0"/>
              </a:spcBef>
              <a:spcAft>
                <a:spcPts val="0"/>
              </a:spcAft>
              <a:buNone/>
            </a:pPr>
            <a:r>
              <a:rPr lang="en-US"/>
              <a:t>QAIN-11/31(14)/1/2023-CM</a:t>
            </a:r>
            <a:endParaRPr/>
          </a:p>
        </p:txBody>
      </p:sp>
      <p:sp>
        <p:nvSpPr>
          <p:cNvPr id="172" name="Google Shape;172;p17"/>
          <p:cNvSpPr txBox="1"/>
          <p:nvPr/>
        </p:nvSpPr>
        <p:spPr>
          <a:xfrm>
            <a:off x="4343400" y="7590299"/>
            <a:ext cx="485775" cy="182101"/>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100">
                <a:solidFill>
                  <a:schemeClr val="dk1"/>
                </a:solidFill>
                <a:latin typeface="Arial"/>
                <a:ea typeface="Arial"/>
                <a:cs typeface="Arial"/>
                <a:sym typeface="Arial"/>
              </a:rPr>
              <a:t>Pass</a:t>
            </a:r>
            <a:endParaRPr sz="1100">
              <a:solidFill>
                <a:schemeClr val="dk1"/>
              </a:solidFill>
              <a:latin typeface="Arial"/>
              <a:ea typeface="Arial"/>
              <a:cs typeface="Arial"/>
              <a:sym typeface="Arial"/>
            </a:endParaRPr>
          </a:p>
        </p:txBody>
      </p:sp>
      <p:sp>
        <p:nvSpPr>
          <p:cNvPr id="173" name="Google Shape;173;p17"/>
          <p:cNvSpPr txBox="1"/>
          <p:nvPr/>
        </p:nvSpPr>
        <p:spPr>
          <a:xfrm>
            <a:off x="5381625" y="7590299"/>
            <a:ext cx="485775" cy="182101"/>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100">
                <a:solidFill>
                  <a:schemeClr val="dk1"/>
                </a:solidFill>
                <a:latin typeface="Arial"/>
                <a:ea typeface="Arial"/>
                <a:cs typeface="Arial"/>
                <a:sym typeface="Arial"/>
              </a:rPr>
              <a:t>Fail</a:t>
            </a:r>
            <a:endParaRPr sz="1100">
              <a:solidFill>
                <a:schemeClr val="dk1"/>
              </a:solidFill>
              <a:latin typeface="Arial"/>
              <a:ea typeface="Arial"/>
              <a:cs typeface="Arial"/>
              <a:sym typeface="Arial"/>
            </a:endParaRPr>
          </a:p>
        </p:txBody>
      </p:sp>
      <p:sp>
        <p:nvSpPr>
          <p:cNvPr id="174" name="Google Shape;174;p17"/>
          <p:cNvSpPr txBox="1"/>
          <p:nvPr/>
        </p:nvSpPr>
        <p:spPr>
          <a:xfrm>
            <a:off x="685596" y="376781"/>
            <a:ext cx="2286204" cy="370999"/>
          </a:xfrm>
          <a:prstGeom prst="rect">
            <a:avLst/>
          </a:prstGeom>
          <a:noFill/>
          <a:ln>
            <a:noFill/>
          </a:ln>
        </p:spPr>
        <p:txBody>
          <a:bodyPr anchorCtr="0" anchor="t" bIns="0" lIns="0" spcFirstLastPara="1" rIns="0" wrap="square" tIns="12050">
            <a:spAutoFit/>
          </a:bodyPr>
          <a:lstStyle/>
          <a:p>
            <a:pPr indent="254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QA &amp; INSPECTION CIRCLE KL 	</a:t>
            </a:r>
            <a:endParaRPr sz="1100">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8"/>
          <p:cNvSpPr txBox="1"/>
          <p:nvPr>
            <p:ph idx="11" type="ftr"/>
          </p:nvPr>
        </p:nvSpPr>
        <p:spPr>
          <a:xfrm>
            <a:off x="868476" y="9083316"/>
            <a:ext cx="1681480" cy="182245"/>
          </a:xfrm>
          <a:prstGeom prst="rect">
            <a:avLst/>
          </a:prstGeom>
          <a:noFill/>
          <a:ln>
            <a:noFill/>
          </a:ln>
        </p:spPr>
        <p:txBody>
          <a:bodyPr anchorCtr="0" anchor="t" bIns="0" lIns="0" spcFirstLastPara="1" rIns="0" wrap="square" tIns="0">
            <a:spAutoFit/>
          </a:bodyPr>
          <a:lstStyle/>
          <a:p>
            <a:pPr indent="0" lvl="0" marL="12700" rtl="0" algn="l">
              <a:lnSpc>
                <a:spcPct val="100000"/>
              </a:lnSpc>
              <a:spcBef>
                <a:spcPts val="0"/>
              </a:spcBef>
              <a:spcAft>
                <a:spcPts val="0"/>
              </a:spcAft>
              <a:buNone/>
            </a:pPr>
            <a:r>
              <a:rPr lang="en-US"/>
              <a:t>QAIN-11/31(14)/1/2023-CM</a:t>
            </a:r>
            <a:endParaRPr/>
          </a:p>
        </p:txBody>
      </p:sp>
      <p:sp>
        <p:nvSpPr>
          <p:cNvPr id="180" name="Google Shape;180;p18"/>
          <p:cNvSpPr txBox="1"/>
          <p:nvPr/>
        </p:nvSpPr>
        <p:spPr>
          <a:xfrm>
            <a:off x="5249926" y="414883"/>
            <a:ext cx="1609725" cy="379095"/>
          </a:xfrm>
          <a:prstGeom prst="rect">
            <a:avLst/>
          </a:prstGeom>
          <a:noFill/>
          <a:ln>
            <a:noFill/>
          </a:ln>
        </p:spPr>
        <p:txBody>
          <a:bodyPr anchorCtr="0" anchor="t" bIns="0" lIns="0" spcFirstLastPara="1" rIns="0" wrap="square" tIns="12050">
            <a:spAutoFit/>
          </a:bodyPr>
          <a:lstStyle/>
          <a:p>
            <a:pPr indent="61595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4G PHASE IX.2  eNode-B A/T SCHEDULE</a:t>
            </a:r>
            <a:endParaRPr sz="1100">
              <a:solidFill>
                <a:schemeClr val="dk1"/>
              </a:solidFill>
              <a:latin typeface="Arial"/>
              <a:ea typeface="Arial"/>
              <a:cs typeface="Arial"/>
              <a:sym typeface="Arial"/>
            </a:endParaRPr>
          </a:p>
        </p:txBody>
      </p:sp>
      <p:sp>
        <p:nvSpPr>
          <p:cNvPr id="181" name="Google Shape;181;p18"/>
          <p:cNvSpPr txBox="1"/>
          <p:nvPr/>
        </p:nvSpPr>
        <p:spPr>
          <a:xfrm>
            <a:off x="685596" y="990955"/>
            <a:ext cx="2610485" cy="221855"/>
          </a:xfrm>
          <a:prstGeom prst="rect">
            <a:avLst/>
          </a:prstGeom>
          <a:noFill/>
          <a:ln>
            <a:noFill/>
          </a:ln>
        </p:spPr>
        <p:txBody>
          <a:bodyPr anchorCtr="0" anchor="t" bIns="0" lIns="0" spcFirstLastPara="1" rIns="0" wrap="square" tIns="52050">
            <a:spAutoFit/>
          </a:bodyPr>
          <a:lstStyle/>
          <a:p>
            <a:pPr indent="0" lvl="0" marL="12700" marR="0" rtl="0" algn="l">
              <a:lnSpc>
                <a:spcPct val="100000"/>
              </a:lnSpc>
              <a:spcBef>
                <a:spcPts val="0"/>
              </a:spcBef>
              <a:spcAft>
                <a:spcPts val="0"/>
              </a:spcAft>
              <a:buNone/>
            </a:pPr>
            <a:r>
              <a:rPr b="1" lang="en-US" sz="1100">
                <a:solidFill>
                  <a:schemeClr val="dk1"/>
                </a:solidFill>
                <a:latin typeface="Arial"/>
                <a:ea typeface="Arial"/>
                <a:cs typeface="Arial"/>
                <a:sym typeface="Arial"/>
              </a:rPr>
              <a:t>2.	Physical site information</a:t>
            </a:r>
            <a:r>
              <a:rPr lang="en-US" sz="1100">
                <a:solidFill>
                  <a:schemeClr val="dk1"/>
                </a:solidFill>
                <a:latin typeface="Arial"/>
                <a:ea typeface="Arial"/>
                <a:cs typeface="Arial"/>
                <a:sym typeface="Arial"/>
              </a:rPr>
              <a:t>.</a:t>
            </a:r>
            <a:endParaRPr sz="1100">
              <a:solidFill>
                <a:schemeClr val="dk1"/>
              </a:solidFill>
              <a:latin typeface="Arial"/>
              <a:ea typeface="Arial"/>
              <a:cs typeface="Arial"/>
              <a:sym typeface="Arial"/>
            </a:endParaRPr>
          </a:p>
        </p:txBody>
      </p:sp>
      <p:sp>
        <p:nvSpPr>
          <p:cNvPr id="182" name="Google Shape;182;p18"/>
          <p:cNvSpPr txBox="1"/>
          <p:nvPr/>
        </p:nvSpPr>
        <p:spPr>
          <a:xfrm>
            <a:off x="589334" y="4677181"/>
            <a:ext cx="3644265" cy="352019"/>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b="1" lang="en-US" sz="1100">
                <a:solidFill>
                  <a:schemeClr val="dk1"/>
                </a:solidFill>
                <a:latin typeface="Arial"/>
                <a:ea typeface="Arial"/>
                <a:cs typeface="Arial"/>
                <a:sym typeface="Arial"/>
              </a:rPr>
              <a:t>3.	Technical site information</a:t>
            </a:r>
            <a:endParaRPr sz="1100">
              <a:solidFill>
                <a:schemeClr val="dk1"/>
              </a:solidFill>
              <a:latin typeface="Arial"/>
              <a:ea typeface="Arial"/>
              <a:cs typeface="Arial"/>
              <a:sym typeface="Arial"/>
            </a:endParaRPr>
          </a:p>
          <a:p>
            <a:pPr indent="0" lvl="0" marL="299085" marR="0" rtl="0" algn="l">
              <a:lnSpc>
                <a:spcPct val="100000"/>
              </a:lnSpc>
              <a:spcBef>
                <a:spcPts val="0"/>
              </a:spcBef>
              <a:spcAft>
                <a:spcPts val="0"/>
              </a:spcAft>
              <a:buNone/>
            </a:pPr>
            <a:r>
              <a:rPr lang="en-US" sz="1100">
                <a:solidFill>
                  <a:schemeClr val="dk1"/>
                </a:solidFill>
                <a:latin typeface="Arial"/>
                <a:ea typeface="Arial"/>
                <a:cs typeface="Arial"/>
                <a:sym typeface="Arial"/>
              </a:rPr>
              <a:t>.</a:t>
            </a:r>
            <a:endParaRPr sz="1100">
              <a:solidFill>
                <a:schemeClr val="dk1"/>
              </a:solidFill>
              <a:latin typeface="Arial"/>
              <a:ea typeface="Arial"/>
              <a:cs typeface="Arial"/>
              <a:sym typeface="Arial"/>
            </a:endParaRPr>
          </a:p>
        </p:txBody>
      </p:sp>
      <p:sp>
        <p:nvSpPr>
          <p:cNvPr id="183" name="Google Shape;183;p18"/>
          <p:cNvSpPr txBox="1"/>
          <p:nvPr/>
        </p:nvSpPr>
        <p:spPr>
          <a:xfrm>
            <a:off x="685596" y="376781"/>
            <a:ext cx="2286204" cy="370999"/>
          </a:xfrm>
          <a:prstGeom prst="rect">
            <a:avLst/>
          </a:prstGeom>
          <a:noFill/>
          <a:ln>
            <a:noFill/>
          </a:ln>
        </p:spPr>
        <p:txBody>
          <a:bodyPr anchorCtr="0" anchor="t" bIns="0" lIns="0" spcFirstLastPara="1" rIns="0" wrap="square" tIns="12050">
            <a:spAutoFit/>
          </a:bodyPr>
          <a:lstStyle/>
          <a:p>
            <a:pPr indent="254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QA &amp; INSPECTION CIRCLE KL 	</a:t>
            </a:r>
            <a:endParaRPr sz="1100">
              <a:solidFill>
                <a:schemeClr val="dk1"/>
              </a:solidFill>
              <a:latin typeface="Arial"/>
              <a:ea typeface="Arial"/>
              <a:cs typeface="Arial"/>
              <a:sym typeface="Arial"/>
            </a:endParaRPr>
          </a:p>
        </p:txBody>
      </p:sp>
      <p:graphicFrame>
        <p:nvGraphicFramePr>
          <p:cNvPr id="184" name="Google Shape;184;p18"/>
          <p:cNvGraphicFramePr/>
          <p:nvPr/>
        </p:nvGraphicFramePr>
        <p:xfrm>
          <a:off x="188540" y="1372316"/>
          <a:ext cx="3000000" cy="3000000"/>
        </p:xfrm>
        <a:graphic>
          <a:graphicData uri="http://schemas.openxmlformats.org/drawingml/2006/table">
            <a:tbl>
              <a:tblPr>
                <a:noFill/>
                <a:tableStyleId>{D2C2C31C-BB3A-4677-B747-F5C60967CC61}</a:tableStyleId>
              </a:tblPr>
              <a:tblGrid>
                <a:gridCol w="617900"/>
                <a:gridCol w="386725"/>
                <a:gridCol w="522825"/>
                <a:gridCol w="1010000"/>
                <a:gridCol w="499075"/>
                <a:gridCol w="737350"/>
                <a:gridCol w="914400"/>
                <a:gridCol w="838200"/>
                <a:gridCol w="914400"/>
                <a:gridCol w="683225"/>
                <a:gridCol w="261425"/>
              </a:tblGrid>
              <a:tr h="168375">
                <a:tc rowSpan="2">
                  <a:txBody>
                    <a:bodyPr/>
                    <a:lstStyle/>
                    <a:p>
                      <a:pPr indent="0" lvl="0" marL="0" marR="0" rtl="0" algn="ctr">
                        <a:spcBef>
                          <a:spcPts val="0"/>
                        </a:spcBef>
                        <a:spcAft>
                          <a:spcPts val="0"/>
                        </a:spcAft>
                        <a:buNone/>
                      </a:pPr>
                      <a:r>
                        <a:rPr b="1" i="0" lang="en-US" sz="1100" u="none" cap="none" strike="noStrike">
                          <a:solidFill>
                            <a:srgbClr val="000000"/>
                          </a:solidFill>
                          <a:latin typeface="Times New Roman"/>
                          <a:ea typeface="Times New Roman"/>
                          <a:cs typeface="Times New Roman"/>
                          <a:sym typeface="Times New Roman"/>
                        </a:rPr>
                        <a:t>Circle</a:t>
                      </a:r>
                      <a:endParaRPr/>
                    </a:p>
                  </a:txBody>
                  <a:tcPr marT="5650" marB="0" marR="5650" marL="56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2">
                  <a:txBody>
                    <a:bodyPr/>
                    <a:lstStyle/>
                    <a:p>
                      <a:pPr indent="0" lvl="0" marL="0" marR="0" rtl="0" algn="ctr">
                        <a:spcBef>
                          <a:spcPts val="0"/>
                        </a:spcBef>
                        <a:spcAft>
                          <a:spcPts val="0"/>
                        </a:spcAft>
                        <a:buNone/>
                      </a:pPr>
                      <a:r>
                        <a:rPr b="1" i="0" lang="en-US" sz="1100" u="none" cap="none" strike="noStrike">
                          <a:solidFill>
                            <a:srgbClr val="000000"/>
                          </a:solidFill>
                          <a:latin typeface="Times New Roman"/>
                          <a:ea typeface="Times New Roman"/>
                          <a:cs typeface="Times New Roman"/>
                          <a:sym typeface="Times New Roman"/>
                        </a:rPr>
                        <a:t>SSA</a:t>
                      </a:r>
                      <a:endParaRPr/>
                    </a:p>
                  </a:txBody>
                  <a:tcPr marT="5650" marB="0" marR="5650" marL="56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1" i="0" lang="en-US" sz="1100" u="none" cap="none" strike="noStrike">
                          <a:solidFill>
                            <a:srgbClr val="000000"/>
                          </a:solidFill>
                          <a:latin typeface="Times New Roman"/>
                          <a:ea typeface="Times New Roman"/>
                          <a:cs typeface="Times New Roman"/>
                          <a:sym typeface="Times New Roman"/>
                        </a:rPr>
                        <a:t>City</a:t>
                      </a:r>
                      <a:endParaRPr/>
                    </a:p>
                  </a:txBody>
                  <a:tcPr marT="5650" marB="0" marR="5650" marL="56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2">
                  <a:txBody>
                    <a:bodyPr/>
                    <a:lstStyle/>
                    <a:p>
                      <a:pPr indent="0" lvl="0" marL="0" marR="0" rtl="0" algn="ctr">
                        <a:spcBef>
                          <a:spcPts val="0"/>
                        </a:spcBef>
                        <a:spcAft>
                          <a:spcPts val="0"/>
                        </a:spcAft>
                        <a:buNone/>
                      </a:pPr>
                      <a:r>
                        <a:rPr b="1" i="0" lang="en-US" sz="1100" u="none" cap="none" strike="noStrike">
                          <a:solidFill>
                            <a:srgbClr val="000000"/>
                          </a:solidFill>
                          <a:latin typeface="Times New Roman"/>
                          <a:ea typeface="Times New Roman"/>
                          <a:cs typeface="Times New Roman"/>
                          <a:sym typeface="Times New Roman"/>
                        </a:rPr>
                        <a:t>eNodeB Name</a:t>
                      </a:r>
                      <a:endParaRPr/>
                    </a:p>
                  </a:txBody>
                  <a:tcPr marT="5650" marB="0" marR="5650" marL="56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2">
                  <a:txBody>
                    <a:bodyPr/>
                    <a:lstStyle/>
                    <a:p>
                      <a:pPr indent="0" lvl="0" marL="0" marR="0" rtl="0" algn="ctr">
                        <a:spcBef>
                          <a:spcPts val="0"/>
                        </a:spcBef>
                        <a:spcAft>
                          <a:spcPts val="0"/>
                        </a:spcAft>
                        <a:buNone/>
                      </a:pPr>
                      <a:r>
                        <a:rPr b="1" i="0" lang="en-US" sz="1100" u="none" cap="none" strike="noStrike">
                          <a:solidFill>
                            <a:srgbClr val="000000"/>
                          </a:solidFill>
                          <a:latin typeface="Times New Roman"/>
                          <a:ea typeface="Times New Roman"/>
                          <a:cs typeface="Times New Roman"/>
                          <a:sym typeface="Times New Roman"/>
                        </a:rPr>
                        <a:t>Site ID</a:t>
                      </a:r>
                      <a:endParaRPr/>
                    </a:p>
                  </a:txBody>
                  <a:tcPr marT="5650" marB="0" marR="5650" marL="56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2">
                  <a:txBody>
                    <a:bodyPr/>
                    <a:lstStyle/>
                    <a:p>
                      <a:pPr indent="0" lvl="0" marL="0" marR="0" rtl="0" algn="ctr">
                        <a:spcBef>
                          <a:spcPts val="0"/>
                        </a:spcBef>
                        <a:spcAft>
                          <a:spcPts val="0"/>
                        </a:spcAft>
                        <a:buNone/>
                      </a:pPr>
                      <a:r>
                        <a:rPr b="1" i="0" lang="en-US" sz="1100" u="none" cap="none" strike="noStrike">
                          <a:solidFill>
                            <a:srgbClr val="000000"/>
                          </a:solidFill>
                          <a:latin typeface="Times New Roman"/>
                          <a:ea typeface="Times New Roman"/>
                          <a:cs typeface="Times New Roman"/>
                          <a:sym typeface="Times New Roman"/>
                        </a:rPr>
                        <a:t>Cell ID</a:t>
                      </a:r>
                      <a:endParaRPr/>
                    </a:p>
                  </a:txBody>
                  <a:tcPr marT="5650" marB="0" marR="5650" marL="56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2">
                  <a:txBody>
                    <a:bodyPr/>
                    <a:lstStyle/>
                    <a:p>
                      <a:pPr indent="0" lvl="0" marL="0" marR="0" rtl="0" algn="ctr">
                        <a:spcBef>
                          <a:spcPts val="0"/>
                        </a:spcBef>
                        <a:spcAft>
                          <a:spcPts val="0"/>
                        </a:spcAft>
                        <a:buNone/>
                      </a:pPr>
                      <a:r>
                        <a:rPr b="1" i="0" lang="en-US" sz="1100" u="none" cap="none" strike="noStrike">
                          <a:solidFill>
                            <a:srgbClr val="000000"/>
                          </a:solidFill>
                          <a:latin typeface="Times New Roman"/>
                          <a:ea typeface="Times New Roman"/>
                          <a:cs typeface="Times New Roman"/>
                          <a:sym typeface="Times New Roman"/>
                        </a:rPr>
                        <a:t>Site  Name</a:t>
                      </a:r>
                      <a:endParaRPr/>
                    </a:p>
                  </a:txBody>
                  <a:tcPr marT="5650" marB="0" marR="5650" marL="56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2">
                  <a:txBody>
                    <a:bodyPr/>
                    <a:lstStyle/>
                    <a:p>
                      <a:pPr indent="0" lvl="0" marL="0" marR="0" rtl="0" algn="ctr">
                        <a:spcBef>
                          <a:spcPts val="0"/>
                        </a:spcBef>
                        <a:spcAft>
                          <a:spcPts val="0"/>
                        </a:spcAft>
                        <a:buNone/>
                      </a:pPr>
                      <a:r>
                        <a:rPr b="1" i="0" lang="en-US" sz="1100" u="none" cap="none" strike="noStrike">
                          <a:solidFill>
                            <a:srgbClr val="000000"/>
                          </a:solidFill>
                          <a:latin typeface="Times New Roman"/>
                          <a:ea typeface="Times New Roman"/>
                          <a:cs typeface="Times New Roman"/>
                          <a:sym typeface="Times New Roman"/>
                        </a:rPr>
                        <a:t>Lat</a:t>
                      </a:r>
                      <a:endParaRPr/>
                    </a:p>
                  </a:txBody>
                  <a:tcPr marT="5650" marB="0" marR="5650" marL="56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2">
                  <a:txBody>
                    <a:bodyPr/>
                    <a:lstStyle/>
                    <a:p>
                      <a:pPr indent="0" lvl="0" marL="0" marR="0" rtl="0" algn="ctr">
                        <a:spcBef>
                          <a:spcPts val="0"/>
                        </a:spcBef>
                        <a:spcAft>
                          <a:spcPts val="0"/>
                        </a:spcAft>
                        <a:buNone/>
                      </a:pPr>
                      <a:r>
                        <a:rPr b="1" i="0" lang="en-US" sz="1100" u="none" cap="none" strike="noStrike">
                          <a:solidFill>
                            <a:srgbClr val="000000"/>
                          </a:solidFill>
                          <a:latin typeface="Times New Roman"/>
                          <a:ea typeface="Times New Roman"/>
                          <a:cs typeface="Times New Roman"/>
                          <a:sym typeface="Times New Roman"/>
                        </a:rPr>
                        <a:t>Long</a:t>
                      </a:r>
                      <a:endParaRPr/>
                    </a:p>
                  </a:txBody>
                  <a:tcPr marT="5650" marB="0" marR="5650" marL="56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2">
                  <a:txBody>
                    <a:bodyPr/>
                    <a:lstStyle/>
                    <a:p>
                      <a:pPr indent="0" lvl="0" marL="0" marR="0" rtl="0" algn="ctr">
                        <a:spcBef>
                          <a:spcPts val="0"/>
                        </a:spcBef>
                        <a:spcAft>
                          <a:spcPts val="0"/>
                        </a:spcAft>
                        <a:buNone/>
                      </a:pPr>
                      <a:r>
                        <a:rPr b="1" i="0" lang="en-US" sz="1100" u="none" cap="none" strike="noStrike">
                          <a:solidFill>
                            <a:srgbClr val="000000"/>
                          </a:solidFill>
                          <a:latin typeface="Times New Roman"/>
                          <a:ea typeface="Times New Roman"/>
                          <a:cs typeface="Times New Roman"/>
                          <a:sym typeface="Times New Roman"/>
                        </a:rPr>
                        <a:t>Orientation</a:t>
                      </a:r>
                      <a:endParaRPr/>
                    </a:p>
                  </a:txBody>
                  <a:tcPr marT="5650" marB="0" marR="5650" marL="56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1" i="0" lang="en-US" sz="1100" u="none" cap="none" strike="noStrike">
                          <a:solidFill>
                            <a:srgbClr val="000000"/>
                          </a:solidFill>
                          <a:latin typeface="Times New Roman"/>
                          <a:ea typeface="Times New Roman"/>
                          <a:cs typeface="Times New Roman"/>
                          <a:sym typeface="Times New Roman"/>
                        </a:rPr>
                        <a:t>M-</a:t>
                      </a:r>
                      <a:endParaRPr/>
                    </a:p>
                  </a:txBody>
                  <a:tcPr marT="5650" marB="0" marR="5650" marL="56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72750">
                <a:tc vMerge="1">
                  <a:txBody>
                    <a:bodyPr/>
                    <a:p/>
                  </a:txBody>
                </a:tc>
                <a:tc vMerge="1">
                  <a:txBody>
                    <a:bodyPr/>
                    <a:p/>
                  </a:txBody>
                </a:tc>
                <a:tc>
                  <a:txBody>
                    <a:bodyPr/>
                    <a:lstStyle/>
                    <a:p>
                      <a:pPr indent="0" lvl="0" marL="0" marR="0" rtl="0" algn="ctr">
                        <a:spcBef>
                          <a:spcPts val="0"/>
                        </a:spcBef>
                        <a:spcAft>
                          <a:spcPts val="0"/>
                        </a:spcAft>
                        <a:buNone/>
                      </a:pPr>
                      <a:r>
                        <a:rPr b="1" i="0" lang="en-US" sz="1100" u="none" cap="none" strike="noStrike">
                          <a:solidFill>
                            <a:srgbClr val="000000"/>
                          </a:solidFill>
                          <a:latin typeface="Times New Roman"/>
                          <a:ea typeface="Times New Roman"/>
                          <a:cs typeface="Times New Roman"/>
                          <a:sym typeface="Times New Roman"/>
                        </a:rPr>
                        <a:t>/Town</a:t>
                      </a:r>
                      <a:endParaRPr/>
                    </a:p>
                  </a:txBody>
                  <a:tcPr marT="5650" marB="0" marR="5650" marL="56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vMerge="1">
                  <a:txBody>
                    <a:bodyPr/>
                    <a:p/>
                  </a:txBody>
                </a:tc>
                <a:tc vMerge="1">
                  <a:txBody>
                    <a:bodyPr/>
                    <a:p/>
                  </a:txBody>
                </a:tc>
                <a:tc vMerge="1">
                  <a:txBody>
                    <a:bodyPr/>
                    <a:p/>
                  </a:txBody>
                </a:tc>
                <a:tc vMerge="1">
                  <a:txBody>
                    <a:bodyPr/>
                    <a:p/>
                  </a:txBody>
                </a:tc>
                <a:tc vMerge="1">
                  <a:txBody>
                    <a:bodyPr/>
                    <a:p/>
                  </a:txBody>
                </a:tc>
                <a:tc vMerge="1">
                  <a:txBody>
                    <a:bodyPr/>
                    <a:p/>
                  </a:txBody>
                </a:tc>
                <a:tc vMerge="1">
                  <a:txBody>
                    <a:bodyPr/>
                    <a:p/>
                  </a:txBody>
                </a:tc>
                <a:tc>
                  <a:txBody>
                    <a:bodyPr/>
                    <a:lstStyle/>
                    <a:p>
                      <a:pPr indent="0" lvl="0" marL="0" marR="0" rtl="0" algn="ctr">
                        <a:spcBef>
                          <a:spcPts val="0"/>
                        </a:spcBef>
                        <a:spcAft>
                          <a:spcPts val="0"/>
                        </a:spcAft>
                        <a:buNone/>
                      </a:pPr>
                      <a:r>
                        <a:rPr b="1" i="0" lang="en-US" sz="1100" u="none" cap="none" strike="noStrike">
                          <a:solidFill>
                            <a:srgbClr val="000000"/>
                          </a:solidFill>
                          <a:latin typeface="Times New Roman"/>
                          <a:ea typeface="Times New Roman"/>
                          <a:cs typeface="Times New Roman"/>
                          <a:sym typeface="Times New Roman"/>
                        </a:rPr>
                        <a:t>Tilt</a:t>
                      </a:r>
                      <a:endParaRPr/>
                    </a:p>
                  </a:txBody>
                  <a:tcPr marT="5650" marB="0" marR="5650" marL="56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04875">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186055" lvl="0" marL="234950" marR="46355" rtl="0" algn="l">
                        <a:lnSpc>
                          <a:spcPct val="100000"/>
                        </a:lnSpc>
                        <a:spcBef>
                          <a:spcPts val="5"/>
                        </a:spcBef>
                        <a:spcAft>
                          <a:spcPts val="0"/>
                        </a:spcAft>
                        <a:buNone/>
                      </a:pPr>
                      <a:r>
                        <a:rPr lang="en-US" sz="1100" u="none" cap="none" strike="noStrike">
                          <a:latin typeface="Helvetica Neue"/>
                          <a:ea typeface="Helvetica Neue"/>
                          <a:cs typeface="Helvetica Neue"/>
                          <a:sym typeface="Helvetica Neue"/>
                        </a:rPr>
                        <a:t>KERAL A</a:t>
                      </a:r>
                      <a:endParaRPr sz="1100" u="none" cap="none" strike="noStrike">
                        <a:latin typeface="Helvetica Neue"/>
                        <a:ea typeface="Helvetica Neue"/>
                        <a:cs typeface="Helvetica Neue"/>
                        <a:sym typeface="Helvetica Neue"/>
                      </a:endParaRPr>
                    </a:p>
                  </a:txBody>
                  <a:tcPr marT="552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635" marR="0" rtl="0" algn="ctr">
                        <a:lnSpc>
                          <a:spcPct val="100000"/>
                        </a:lnSpc>
                        <a:spcBef>
                          <a:spcPts val="5"/>
                        </a:spcBef>
                        <a:spcAft>
                          <a:spcPts val="0"/>
                        </a:spcAft>
                        <a:buNone/>
                      </a:pPr>
                      <a:r>
                        <a:rPr lang="en-US" sz="1100" u="none" cap="none" strike="noStrike">
                          <a:latin typeface="Helvetica Neue"/>
                          <a:ea typeface="Helvetica Neue"/>
                          <a:cs typeface="Helvetica Neue"/>
                          <a:sym typeface="Helvetica Neue"/>
                        </a:rPr>
                        <a:t>KNR</a:t>
                      </a:r>
                      <a:endParaRPr sz="1100" u="none" cap="none" strike="noStrike">
                        <a:latin typeface="Helvetica Neue"/>
                        <a:ea typeface="Helvetica Neue"/>
                        <a:cs typeface="Helvetica Neue"/>
                        <a:sym typeface="Helvetica Neue"/>
                      </a:endParaRPr>
                    </a:p>
                  </a:txBody>
                  <a:tcPr marT="1390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3810" marR="0" rtl="0" algn="ctr">
                        <a:lnSpc>
                          <a:spcPct val="100000"/>
                        </a:lnSpc>
                        <a:spcBef>
                          <a:spcPts val="5"/>
                        </a:spcBef>
                        <a:spcAft>
                          <a:spcPts val="0"/>
                        </a:spcAft>
                        <a:buNone/>
                      </a:pPr>
                      <a:r>
                        <a:rPr lang="en-US" sz="1100" u="none" cap="none" strike="noStrike">
                          <a:latin typeface="Helvetica Neue"/>
                          <a:ea typeface="Helvetica Neue"/>
                          <a:cs typeface="Helvetica Neue"/>
                          <a:sym typeface="Helvetica Neue"/>
                        </a:rPr>
                        <a:t>KANNUR</a:t>
                      </a:r>
                      <a:endParaRPr sz="1100" u="none" cap="none" strike="noStrike">
                        <a:latin typeface="Helvetica Neue"/>
                        <a:ea typeface="Helvetica Neue"/>
                        <a:cs typeface="Helvetica Neue"/>
                        <a:sym typeface="Helvetica Neue"/>
                      </a:endParaRPr>
                    </a:p>
                  </a:txBody>
                  <a:tcPr marT="1390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6350" lvl="0" marL="6985" marR="0" rtl="0" algn="ctr">
                        <a:lnSpc>
                          <a:spcPct val="100000"/>
                        </a:lnSpc>
                        <a:spcBef>
                          <a:spcPts val="0"/>
                        </a:spcBef>
                        <a:spcAft>
                          <a:spcPts val="0"/>
                        </a:spcAft>
                        <a:buNone/>
                      </a:pPr>
                      <a:r>
                        <a:rPr lang="en-US" sz="1100" u="none" cap="none" strike="noStrike">
                          <a:latin typeface="Helvetica Neue"/>
                          <a:ea typeface="Helvetica Neue"/>
                          <a:cs typeface="Helvetica Neue"/>
                          <a:sym typeface="Helvetica Neue"/>
                        </a:rPr>
                        <a:t>T4KL01KNTH AP09R01287_ A</a:t>
                      </a:r>
                      <a:endParaRPr sz="1100" u="none" cap="none" strike="noStrike">
                        <a:latin typeface="Helvetica Neue"/>
                        <a:ea typeface="Helvetica Neue"/>
                        <a:cs typeface="Helvetica Neue"/>
                        <a:sym typeface="Helvetica Neue"/>
                      </a:endParaRPr>
                    </a:p>
                  </a:txBody>
                  <a:tcPr marT="1320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lang="en-US" sz="1100" u="none" cap="none" strike="noStrike">
                          <a:latin typeface="Arial"/>
                          <a:ea typeface="Arial"/>
                          <a:cs typeface="Arial"/>
                          <a:sym typeface="Arial"/>
                        </a:rPr>
                        <a:t>RP-01287</a:t>
                      </a:r>
                      <a:endParaRPr sz="1100" u="none" cap="none" strike="noStrike">
                        <a:latin typeface="Arial"/>
                        <a:ea typeface="Arial"/>
                        <a:cs typeface="Arial"/>
                        <a:sym typeface="Arial"/>
                      </a:endParaRPr>
                    </a:p>
                  </a:txBody>
                  <a:tcPr marT="1397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1905" marR="0" rtl="0" algn="ctr">
                        <a:lnSpc>
                          <a:spcPct val="100000"/>
                        </a:lnSpc>
                        <a:spcBef>
                          <a:spcPts val="5"/>
                        </a:spcBef>
                        <a:spcAft>
                          <a:spcPts val="0"/>
                        </a:spcAft>
                        <a:buNone/>
                      </a:pPr>
                      <a:r>
                        <a:rPr lang="en-US" sz="1100" u="none" cap="none" strike="noStrike">
                          <a:latin typeface="Arial"/>
                          <a:ea typeface="Arial"/>
                          <a:cs typeface="Arial"/>
                          <a:sym typeface="Arial"/>
                        </a:rPr>
                        <a:t>674971-0</a:t>
                      </a:r>
                      <a:endParaRPr sz="1100" u="none" cap="none" strike="noStrike">
                        <a:latin typeface="Arial"/>
                        <a:ea typeface="Arial"/>
                        <a:cs typeface="Arial"/>
                        <a:sym typeface="Arial"/>
                      </a:endParaRPr>
                    </a:p>
                  </a:txBody>
                  <a:tcPr marT="1390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634" lvl="0" marL="22860" marR="13334" rtl="0" algn="ctr">
                        <a:lnSpc>
                          <a:spcPct val="100000"/>
                        </a:lnSpc>
                        <a:spcBef>
                          <a:spcPts val="0"/>
                        </a:spcBef>
                        <a:spcAft>
                          <a:spcPts val="0"/>
                        </a:spcAft>
                        <a:buNone/>
                      </a:pPr>
                      <a:r>
                        <a:rPr lang="en-US" sz="1100" u="none" cap="none" strike="noStrike">
                          <a:latin typeface="Helvetica Neue"/>
                          <a:ea typeface="Helvetica Neue"/>
                          <a:cs typeface="Helvetica Neue"/>
                          <a:sym typeface="Helvetica Neue"/>
                        </a:rPr>
                        <a:t>RP-01287- CHORUKKA LA</a:t>
                      </a:r>
                      <a:endParaRPr sz="1100" u="none" cap="none" strike="noStrike">
                        <a:latin typeface="Helvetica Neue"/>
                        <a:ea typeface="Helvetica Neue"/>
                        <a:cs typeface="Helvetica Neue"/>
                        <a:sym typeface="Helvetica Neue"/>
                      </a:endParaRPr>
                    </a:p>
                  </a:txBody>
                  <a:tcPr marT="489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1270" marR="0" rtl="0" algn="ctr">
                        <a:lnSpc>
                          <a:spcPct val="100000"/>
                        </a:lnSpc>
                        <a:spcBef>
                          <a:spcPts val="5"/>
                        </a:spcBef>
                        <a:spcAft>
                          <a:spcPts val="0"/>
                        </a:spcAft>
                        <a:buNone/>
                      </a:pPr>
                      <a:r>
                        <a:rPr lang="en-US" sz="1100" u="none" cap="none" strike="noStrike">
                          <a:latin typeface="Helvetica Neue"/>
                          <a:ea typeface="Helvetica Neue"/>
                          <a:cs typeface="Helvetica Neue"/>
                          <a:sym typeface="Helvetica Neue"/>
                        </a:rPr>
                        <a:t>12.0739318</a:t>
                      </a:r>
                      <a:endParaRPr sz="1100" u="none" cap="none" strike="noStrike">
                        <a:latin typeface="Helvetica Neue"/>
                        <a:ea typeface="Helvetica Neue"/>
                        <a:cs typeface="Helvetica Neue"/>
                        <a:sym typeface="Helvetica Neue"/>
                      </a:endParaRPr>
                    </a:p>
                    <a:p>
                      <a:pPr indent="0" lvl="0" marL="3175" marR="0" rtl="0" algn="ctr">
                        <a:lnSpc>
                          <a:spcPct val="100000"/>
                        </a:lnSpc>
                        <a:spcBef>
                          <a:spcPts val="0"/>
                        </a:spcBef>
                        <a:spcAft>
                          <a:spcPts val="0"/>
                        </a:spcAft>
                        <a:buNone/>
                      </a:pPr>
                      <a:r>
                        <a:rPr lang="en-US" sz="1100" u="none" cap="none" strike="noStrike">
                          <a:latin typeface="Helvetica Neue"/>
                          <a:ea typeface="Helvetica Neue"/>
                          <a:cs typeface="Helvetica Neue"/>
                          <a:sym typeface="Helvetica Neue"/>
                        </a:rPr>
                        <a:t>5</a:t>
                      </a:r>
                      <a:endParaRPr sz="1100" u="none" cap="none" strike="noStrike">
                        <a:latin typeface="Helvetica Neue"/>
                        <a:ea typeface="Helvetica Neue"/>
                        <a:cs typeface="Helvetica Neue"/>
                        <a:sym typeface="Helvetica Neue"/>
                      </a:endParaRPr>
                    </a:p>
                  </a:txBody>
                  <a:tcPr marT="552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1905" marR="0" rtl="0" algn="ctr">
                        <a:lnSpc>
                          <a:spcPct val="100000"/>
                        </a:lnSpc>
                        <a:spcBef>
                          <a:spcPts val="5"/>
                        </a:spcBef>
                        <a:spcAft>
                          <a:spcPts val="0"/>
                        </a:spcAft>
                        <a:buNone/>
                      </a:pPr>
                      <a:r>
                        <a:rPr lang="en-US" sz="1100" u="none" cap="none" strike="noStrike">
                          <a:latin typeface="Helvetica Neue"/>
                          <a:ea typeface="Helvetica Neue"/>
                          <a:cs typeface="Helvetica Neue"/>
                          <a:sym typeface="Helvetica Neue"/>
                        </a:rPr>
                        <a:t>75.41092776</a:t>
                      </a:r>
                      <a:endParaRPr sz="1100" u="none" cap="none" strike="noStrike">
                        <a:latin typeface="Helvetica Neue"/>
                        <a:ea typeface="Helvetica Neue"/>
                        <a:cs typeface="Helvetica Neue"/>
                        <a:sym typeface="Helvetica Neue"/>
                      </a:endParaRPr>
                    </a:p>
                  </a:txBody>
                  <a:tcPr marT="1390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3810" marR="0" rtl="0" algn="ctr">
                        <a:lnSpc>
                          <a:spcPct val="100000"/>
                        </a:lnSpc>
                        <a:spcBef>
                          <a:spcPts val="5"/>
                        </a:spcBef>
                        <a:spcAft>
                          <a:spcPts val="0"/>
                        </a:spcAft>
                        <a:buNone/>
                      </a:pPr>
                      <a:r>
                        <a:rPr lang="en-US" sz="1100" u="none" cap="none" strike="noStrike">
                          <a:latin typeface="Helvetica Neue"/>
                          <a:ea typeface="Helvetica Neue"/>
                          <a:cs typeface="Helvetica Neue"/>
                          <a:sym typeface="Helvetica Neue"/>
                        </a:rPr>
                        <a:t>330</a:t>
                      </a:r>
                      <a:endParaRPr sz="1100" u="none" cap="none" strike="noStrike">
                        <a:latin typeface="Helvetica Neue"/>
                        <a:ea typeface="Helvetica Neue"/>
                        <a:cs typeface="Helvetica Neue"/>
                        <a:sym typeface="Helvetica Neue"/>
                      </a:endParaRPr>
                    </a:p>
                  </a:txBody>
                  <a:tcPr marT="1390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1905" marR="0" rtl="0" algn="ctr">
                        <a:lnSpc>
                          <a:spcPct val="100000"/>
                        </a:lnSpc>
                        <a:spcBef>
                          <a:spcPts val="5"/>
                        </a:spcBef>
                        <a:spcAft>
                          <a:spcPts val="0"/>
                        </a:spcAft>
                        <a:buNone/>
                      </a:pPr>
                      <a:r>
                        <a:rPr lang="en-US" sz="1100" u="none" cap="none" strike="noStrike">
                          <a:latin typeface="Helvetica Neue"/>
                          <a:ea typeface="Helvetica Neue"/>
                          <a:cs typeface="Helvetica Neue"/>
                          <a:sym typeface="Helvetica Neue"/>
                        </a:rPr>
                        <a:t>2</a:t>
                      </a:r>
                      <a:endParaRPr sz="1100" u="none" cap="none" strike="noStrike">
                        <a:latin typeface="Helvetica Neue"/>
                        <a:ea typeface="Helvetica Neue"/>
                        <a:cs typeface="Helvetica Neue"/>
                        <a:sym typeface="Helvetica Neue"/>
                      </a:endParaRPr>
                    </a:p>
                  </a:txBody>
                  <a:tcPr marT="1390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895325">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l">
                        <a:lnSpc>
                          <a:spcPct val="100000"/>
                        </a:lnSpc>
                        <a:spcBef>
                          <a:spcPts val="175"/>
                        </a:spcBef>
                        <a:spcAft>
                          <a:spcPts val="0"/>
                        </a:spcAft>
                        <a:buNone/>
                      </a:pPr>
                      <a:r>
                        <a:t/>
                      </a:r>
                      <a:endParaRPr sz="1100" u="none" cap="none" strike="noStrike">
                        <a:latin typeface="Times New Roman"/>
                        <a:ea typeface="Times New Roman"/>
                        <a:cs typeface="Times New Roman"/>
                        <a:sym typeface="Times New Roman"/>
                      </a:endParaRPr>
                    </a:p>
                    <a:p>
                      <a:pPr indent="-186055" lvl="0" marL="234950" marR="46355" rtl="0" algn="l">
                        <a:lnSpc>
                          <a:spcPct val="100000"/>
                        </a:lnSpc>
                        <a:spcBef>
                          <a:spcPts val="5"/>
                        </a:spcBef>
                        <a:spcAft>
                          <a:spcPts val="0"/>
                        </a:spcAft>
                        <a:buNone/>
                      </a:pPr>
                      <a:r>
                        <a:rPr lang="en-US" sz="1100" u="none" cap="none" strike="noStrike">
                          <a:latin typeface="Helvetica Neue"/>
                          <a:ea typeface="Helvetica Neue"/>
                          <a:cs typeface="Helvetica Neue"/>
                          <a:sym typeface="Helvetica Neue"/>
                        </a:rPr>
                        <a:t>KERAL A</a:t>
                      </a:r>
                      <a:endParaRPr sz="1100" u="none" cap="none" strike="noStrike">
                        <a:latin typeface="Helvetica Neue"/>
                        <a:ea typeface="Helvetica Neue"/>
                        <a:cs typeface="Helvetica Neue"/>
                        <a:sym typeface="Helvetica Neue"/>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l">
                        <a:lnSpc>
                          <a:spcPct val="100000"/>
                        </a:lnSpc>
                        <a:spcBef>
                          <a:spcPts val="835"/>
                        </a:spcBef>
                        <a:spcAft>
                          <a:spcPts val="0"/>
                        </a:spcAft>
                        <a:buNone/>
                      </a:pPr>
                      <a:r>
                        <a:t/>
                      </a:r>
                      <a:endParaRPr sz="1100" u="none" cap="none" strike="noStrike">
                        <a:latin typeface="Times New Roman"/>
                        <a:ea typeface="Times New Roman"/>
                        <a:cs typeface="Times New Roman"/>
                        <a:sym typeface="Times New Roman"/>
                      </a:endParaRPr>
                    </a:p>
                    <a:p>
                      <a:pPr indent="0" lvl="0" marL="635" marR="0" rtl="0" algn="ctr">
                        <a:lnSpc>
                          <a:spcPct val="100000"/>
                        </a:lnSpc>
                        <a:spcBef>
                          <a:spcPts val="5"/>
                        </a:spcBef>
                        <a:spcAft>
                          <a:spcPts val="0"/>
                        </a:spcAft>
                        <a:buNone/>
                      </a:pPr>
                      <a:r>
                        <a:rPr lang="en-US" sz="1100" u="none" cap="none" strike="noStrike">
                          <a:latin typeface="Helvetica Neue"/>
                          <a:ea typeface="Helvetica Neue"/>
                          <a:cs typeface="Helvetica Neue"/>
                          <a:sym typeface="Helvetica Neue"/>
                        </a:rPr>
                        <a:t>KNR</a:t>
                      </a:r>
                      <a:endParaRPr sz="1100" u="none" cap="none" strike="noStrike">
                        <a:latin typeface="Helvetica Neue"/>
                        <a:ea typeface="Helvetica Neue"/>
                        <a:cs typeface="Helvetica Neue"/>
                        <a:sym typeface="Helvetica Neue"/>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l">
                        <a:lnSpc>
                          <a:spcPct val="100000"/>
                        </a:lnSpc>
                        <a:spcBef>
                          <a:spcPts val="175"/>
                        </a:spcBef>
                        <a:spcAft>
                          <a:spcPts val="0"/>
                        </a:spcAft>
                        <a:buNone/>
                      </a:pPr>
                      <a:r>
                        <a:t/>
                      </a:r>
                      <a:endParaRPr sz="1100" u="none" cap="none" strike="noStrike">
                        <a:latin typeface="Times New Roman"/>
                        <a:ea typeface="Times New Roman"/>
                        <a:cs typeface="Times New Roman"/>
                        <a:sym typeface="Times New Roman"/>
                      </a:endParaRPr>
                    </a:p>
                    <a:p>
                      <a:pPr indent="0" lvl="0" marL="3810" marR="0" rtl="0" algn="ctr">
                        <a:lnSpc>
                          <a:spcPct val="100000"/>
                        </a:lnSpc>
                        <a:spcBef>
                          <a:spcPts val="5"/>
                        </a:spcBef>
                        <a:spcAft>
                          <a:spcPts val="0"/>
                        </a:spcAft>
                        <a:buNone/>
                      </a:pPr>
                      <a:r>
                        <a:rPr lang="en-US" sz="1100" u="none" cap="none" strike="noStrike">
                          <a:latin typeface="Helvetica Neue"/>
                          <a:ea typeface="Helvetica Neue"/>
                          <a:cs typeface="Helvetica Neue"/>
                          <a:sym typeface="Helvetica Neue"/>
                        </a:rPr>
                        <a:t>KANNUR</a:t>
                      </a:r>
                      <a:endParaRPr sz="1100" u="none" cap="none" strike="noStrike">
                        <a:latin typeface="Helvetica Neue"/>
                        <a:ea typeface="Helvetica Neue"/>
                        <a:cs typeface="Helvetica Neue"/>
                        <a:sym typeface="Helvetica Neue"/>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6350" lvl="0" marL="6985" marR="0" rtl="0" algn="ctr">
                        <a:lnSpc>
                          <a:spcPct val="100000"/>
                        </a:lnSpc>
                        <a:spcBef>
                          <a:spcPts val="5"/>
                        </a:spcBef>
                        <a:spcAft>
                          <a:spcPts val="0"/>
                        </a:spcAft>
                        <a:buNone/>
                      </a:pPr>
                      <a:r>
                        <a:rPr lang="en-US" sz="1100" u="none" cap="none" strike="noStrike">
                          <a:latin typeface="Helvetica Neue"/>
                          <a:ea typeface="Helvetica Neue"/>
                          <a:cs typeface="Helvetica Neue"/>
                          <a:sym typeface="Helvetica Neue"/>
                        </a:rPr>
                        <a:t>T4KL01KNTH AP09R01287_ B</a:t>
                      </a:r>
                      <a:endParaRPr sz="1100" u="none" cap="none" strike="noStrike">
                        <a:latin typeface="Helvetica Neue"/>
                        <a:ea typeface="Helvetica Neue"/>
                        <a:cs typeface="Helvetica Neue"/>
                        <a:sym typeface="Helvetica Neue"/>
                      </a:endParaRPr>
                    </a:p>
                  </a:txBody>
                  <a:tcPr marT="990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l">
                        <a:lnSpc>
                          <a:spcPct val="100000"/>
                        </a:lnSpc>
                        <a:spcBef>
                          <a:spcPts val="84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lang="en-US" sz="1100" u="none" cap="none" strike="noStrike">
                          <a:latin typeface="Arial"/>
                          <a:ea typeface="Arial"/>
                          <a:cs typeface="Arial"/>
                          <a:sym typeface="Arial"/>
                        </a:rPr>
                        <a:t>RP-01287</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l">
                        <a:lnSpc>
                          <a:spcPct val="100000"/>
                        </a:lnSpc>
                        <a:spcBef>
                          <a:spcPts val="835"/>
                        </a:spcBef>
                        <a:spcAft>
                          <a:spcPts val="0"/>
                        </a:spcAft>
                        <a:buNone/>
                      </a:pPr>
                      <a:r>
                        <a:t/>
                      </a:r>
                      <a:endParaRPr sz="1100" u="none" cap="none" strike="noStrike">
                        <a:latin typeface="Times New Roman"/>
                        <a:ea typeface="Times New Roman"/>
                        <a:cs typeface="Times New Roman"/>
                        <a:sym typeface="Times New Roman"/>
                      </a:endParaRPr>
                    </a:p>
                    <a:p>
                      <a:pPr indent="0" lvl="0" marL="1905" marR="0" rtl="0" algn="ctr">
                        <a:lnSpc>
                          <a:spcPct val="100000"/>
                        </a:lnSpc>
                        <a:spcBef>
                          <a:spcPts val="5"/>
                        </a:spcBef>
                        <a:spcAft>
                          <a:spcPts val="0"/>
                        </a:spcAft>
                        <a:buNone/>
                      </a:pPr>
                      <a:r>
                        <a:rPr lang="en-US" sz="1100" u="none" cap="none" strike="noStrike">
                          <a:latin typeface="Arial"/>
                          <a:ea typeface="Arial"/>
                          <a:cs typeface="Arial"/>
                          <a:sym typeface="Arial"/>
                        </a:rPr>
                        <a:t>674971-1</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634" lvl="0" marL="22860" marR="13334" rtl="0" algn="ctr">
                        <a:lnSpc>
                          <a:spcPct val="100000"/>
                        </a:lnSpc>
                        <a:spcBef>
                          <a:spcPts val="0"/>
                        </a:spcBef>
                        <a:spcAft>
                          <a:spcPts val="0"/>
                        </a:spcAft>
                        <a:buNone/>
                      </a:pPr>
                      <a:r>
                        <a:rPr lang="en-US" sz="1100" u="none" cap="none" strike="noStrike">
                          <a:latin typeface="Helvetica Neue"/>
                          <a:ea typeface="Helvetica Neue"/>
                          <a:cs typeface="Helvetica Neue"/>
                          <a:sym typeface="Helvetica Neue"/>
                        </a:rPr>
                        <a:t>RP-01287- CHORUKKA LA</a:t>
                      </a:r>
                      <a:endParaRPr sz="1100" u="none" cap="none" strike="noStrike">
                        <a:latin typeface="Helvetica Neue"/>
                        <a:ea typeface="Helvetica Neue"/>
                        <a:cs typeface="Helvetica Neue"/>
                        <a:sym typeface="Helvetica Neue"/>
                      </a:endParaRPr>
                    </a:p>
                  </a:txBody>
                  <a:tcPr marT="158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l">
                        <a:lnSpc>
                          <a:spcPct val="100000"/>
                        </a:lnSpc>
                        <a:spcBef>
                          <a:spcPts val="175"/>
                        </a:spcBef>
                        <a:spcAft>
                          <a:spcPts val="0"/>
                        </a:spcAft>
                        <a:buNone/>
                      </a:pPr>
                      <a:r>
                        <a:t/>
                      </a:r>
                      <a:endParaRPr sz="1100" u="none" cap="none" strike="noStrike">
                        <a:latin typeface="Times New Roman"/>
                        <a:ea typeface="Times New Roman"/>
                        <a:cs typeface="Times New Roman"/>
                        <a:sym typeface="Times New Roman"/>
                      </a:endParaRPr>
                    </a:p>
                    <a:p>
                      <a:pPr indent="0" lvl="0" marL="1270" marR="0" rtl="0" algn="ctr">
                        <a:lnSpc>
                          <a:spcPct val="100000"/>
                        </a:lnSpc>
                        <a:spcBef>
                          <a:spcPts val="5"/>
                        </a:spcBef>
                        <a:spcAft>
                          <a:spcPts val="0"/>
                        </a:spcAft>
                        <a:buNone/>
                      </a:pPr>
                      <a:r>
                        <a:rPr lang="en-US" sz="1100" u="none" cap="none" strike="noStrike">
                          <a:latin typeface="Helvetica Neue"/>
                          <a:ea typeface="Helvetica Neue"/>
                          <a:cs typeface="Helvetica Neue"/>
                          <a:sym typeface="Helvetica Neue"/>
                        </a:rPr>
                        <a:t>12.0400319</a:t>
                      </a:r>
                      <a:endParaRPr sz="1100" u="none" cap="none" strike="noStrike">
                        <a:latin typeface="Helvetica Neue"/>
                        <a:ea typeface="Helvetica Neue"/>
                        <a:cs typeface="Helvetica Neue"/>
                        <a:sym typeface="Helvetica Neue"/>
                      </a:endParaRPr>
                    </a:p>
                    <a:p>
                      <a:pPr indent="0" lvl="0" marL="3175" marR="0" rtl="0" algn="ctr">
                        <a:lnSpc>
                          <a:spcPct val="100000"/>
                        </a:lnSpc>
                        <a:spcBef>
                          <a:spcPts val="0"/>
                        </a:spcBef>
                        <a:spcAft>
                          <a:spcPts val="0"/>
                        </a:spcAft>
                        <a:buNone/>
                      </a:pPr>
                      <a:r>
                        <a:rPr lang="en-US" sz="1100" u="none" cap="none" strike="noStrike">
                          <a:latin typeface="Helvetica Neue"/>
                          <a:ea typeface="Helvetica Neue"/>
                          <a:cs typeface="Helvetica Neue"/>
                          <a:sym typeface="Helvetica Neue"/>
                        </a:rPr>
                        <a:t>1</a:t>
                      </a:r>
                      <a:endParaRPr sz="1100" u="none" cap="none" strike="noStrike">
                        <a:latin typeface="Helvetica Neue"/>
                        <a:ea typeface="Helvetica Neue"/>
                        <a:cs typeface="Helvetica Neue"/>
                        <a:sym typeface="Helvetica Neue"/>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l">
                        <a:lnSpc>
                          <a:spcPct val="100000"/>
                        </a:lnSpc>
                        <a:spcBef>
                          <a:spcPts val="835"/>
                        </a:spcBef>
                        <a:spcAft>
                          <a:spcPts val="0"/>
                        </a:spcAft>
                        <a:buNone/>
                      </a:pPr>
                      <a:r>
                        <a:t/>
                      </a:r>
                      <a:endParaRPr sz="1100" u="none" cap="none" strike="noStrike">
                        <a:latin typeface="Times New Roman"/>
                        <a:ea typeface="Times New Roman"/>
                        <a:cs typeface="Times New Roman"/>
                        <a:sym typeface="Times New Roman"/>
                      </a:endParaRPr>
                    </a:p>
                    <a:p>
                      <a:pPr indent="0" lvl="0" marL="1905" marR="0" rtl="0" algn="ctr">
                        <a:lnSpc>
                          <a:spcPct val="100000"/>
                        </a:lnSpc>
                        <a:spcBef>
                          <a:spcPts val="5"/>
                        </a:spcBef>
                        <a:spcAft>
                          <a:spcPts val="0"/>
                        </a:spcAft>
                        <a:buNone/>
                      </a:pPr>
                      <a:r>
                        <a:rPr lang="en-US" sz="1100" u="none" cap="none" strike="noStrike">
                          <a:latin typeface="Helvetica Neue"/>
                          <a:ea typeface="Helvetica Neue"/>
                          <a:cs typeface="Helvetica Neue"/>
                          <a:sym typeface="Helvetica Neue"/>
                        </a:rPr>
                        <a:t>75.41092776</a:t>
                      </a:r>
                      <a:endParaRPr sz="1100" u="none" cap="none" strike="noStrike">
                        <a:latin typeface="Helvetica Neue"/>
                        <a:ea typeface="Helvetica Neue"/>
                        <a:cs typeface="Helvetica Neue"/>
                        <a:sym typeface="Helvetica Neue"/>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l">
                        <a:lnSpc>
                          <a:spcPct val="100000"/>
                        </a:lnSpc>
                        <a:spcBef>
                          <a:spcPts val="835"/>
                        </a:spcBef>
                        <a:spcAft>
                          <a:spcPts val="0"/>
                        </a:spcAft>
                        <a:buNone/>
                      </a:pPr>
                      <a:r>
                        <a:t/>
                      </a:r>
                      <a:endParaRPr sz="1100" u="none" cap="none" strike="noStrike">
                        <a:latin typeface="Times New Roman"/>
                        <a:ea typeface="Times New Roman"/>
                        <a:cs typeface="Times New Roman"/>
                        <a:sym typeface="Times New Roman"/>
                      </a:endParaRPr>
                    </a:p>
                    <a:p>
                      <a:pPr indent="0" lvl="0" marL="4445" marR="0" rtl="0" algn="ctr">
                        <a:lnSpc>
                          <a:spcPct val="100000"/>
                        </a:lnSpc>
                        <a:spcBef>
                          <a:spcPts val="5"/>
                        </a:spcBef>
                        <a:spcAft>
                          <a:spcPts val="0"/>
                        </a:spcAft>
                        <a:buNone/>
                      </a:pPr>
                      <a:r>
                        <a:rPr lang="en-US" sz="1100" u="none" cap="none" strike="noStrike">
                          <a:latin typeface="Helvetica Neue"/>
                          <a:ea typeface="Helvetica Neue"/>
                          <a:cs typeface="Helvetica Neue"/>
                          <a:sym typeface="Helvetica Neue"/>
                        </a:rPr>
                        <a:t>80</a:t>
                      </a:r>
                      <a:endParaRPr sz="1100" u="none" cap="none" strike="noStrike">
                        <a:latin typeface="Helvetica Neue"/>
                        <a:ea typeface="Helvetica Neue"/>
                        <a:cs typeface="Helvetica Neue"/>
                        <a:sym typeface="Helvetica Neue"/>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l">
                        <a:lnSpc>
                          <a:spcPct val="100000"/>
                        </a:lnSpc>
                        <a:spcBef>
                          <a:spcPts val="835"/>
                        </a:spcBef>
                        <a:spcAft>
                          <a:spcPts val="0"/>
                        </a:spcAft>
                        <a:buNone/>
                      </a:pPr>
                      <a:r>
                        <a:t/>
                      </a:r>
                      <a:endParaRPr sz="1100" u="none" cap="none" strike="noStrike">
                        <a:latin typeface="Times New Roman"/>
                        <a:ea typeface="Times New Roman"/>
                        <a:cs typeface="Times New Roman"/>
                        <a:sym typeface="Times New Roman"/>
                      </a:endParaRPr>
                    </a:p>
                    <a:p>
                      <a:pPr indent="0" lvl="0" marL="1905" marR="0" rtl="0" algn="ctr">
                        <a:lnSpc>
                          <a:spcPct val="100000"/>
                        </a:lnSpc>
                        <a:spcBef>
                          <a:spcPts val="5"/>
                        </a:spcBef>
                        <a:spcAft>
                          <a:spcPts val="0"/>
                        </a:spcAft>
                        <a:buNone/>
                      </a:pPr>
                      <a:r>
                        <a:rPr lang="en-US" sz="1100" u="none" cap="none" strike="noStrike">
                          <a:latin typeface="Helvetica Neue"/>
                          <a:ea typeface="Helvetica Neue"/>
                          <a:cs typeface="Helvetica Neue"/>
                          <a:sym typeface="Helvetica Neue"/>
                        </a:rPr>
                        <a:t>2</a:t>
                      </a:r>
                      <a:endParaRPr sz="1100" u="none" cap="none" strike="noStrike">
                        <a:latin typeface="Helvetica Neue"/>
                        <a:ea typeface="Helvetica Neue"/>
                        <a:cs typeface="Helvetica Neue"/>
                        <a:sym typeface="Helvetica Neue"/>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21475">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lang="en-US" sz="1100" u="none" cap="none" strike="noStrike">
                          <a:latin typeface="Helvetica Neue"/>
                          <a:ea typeface="Helvetica Neue"/>
                          <a:cs typeface="Helvetica Neue"/>
                          <a:sym typeface="Helvetica Neue"/>
                        </a:rPr>
                        <a:t>KERAL</a:t>
                      </a:r>
                      <a:endParaRPr sz="1100" u="none" cap="none" strike="noStrike">
                        <a:latin typeface="Helvetica Neue"/>
                        <a:ea typeface="Helvetica Neue"/>
                        <a:cs typeface="Helvetica Neue"/>
                        <a:sym typeface="Helvetica Neue"/>
                      </a:endParaRPr>
                    </a:p>
                    <a:p>
                      <a:pPr indent="0" lvl="0" marL="0" marR="0" rtl="0" algn="ctr">
                        <a:lnSpc>
                          <a:spcPct val="100000"/>
                        </a:lnSpc>
                        <a:spcBef>
                          <a:spcPts val="5"/>
                        </a:spcBef>
                        <a:spcAft>
                          <a:spcPts val="0"/>
                        </a:spcAft>
                        <a:buNone/>
                      </a:pPr>
                      <a:r>
                        <a:rPr lang="en-US" sz="1100" u="none" cap="none" strike="noStrike">
                          <a:latin typeface="Helvetica Neue"/>
                          <a:ea typeface="Helvetica Neue"/>
                          <a:cs typeface="Helvetica Neue"/>
                          <a:sym typeface="Helvetica Neue"/>
                        </a:rPr>
                        <a:t>A</a:t>
                      </a:r>
                      <a:endParaRPr sz="1100" u="none" cap="none" strike="noStrike">
                        <a:latin typeface="Helvetica Neue"/>
                        <a:ea typeface="Helvetica Neue"/>
                        <a:cs typeface="Helvetica Neue"/>
                        <a:sym typeface="Helvetica Neue"/>
                      </a:endParaRPr>
                    </a:p>
                  </a:txBody>
                  <a:tcPr marT="82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635" marR="0" rtl="0" algn="ctr">
                        <a:lnSpc>
                          <a:spcPct val="100000"/>
                        </a:lnSpc>
                        <a:spcBef>
                          <a:spcPts val="5"/>
                        </a:spcBef>
                        <a:spcAft>
                          <a:spcPts val="0"/>
                        </a:spcAft>
                        <a:buNone/>
                      </a:pPr>
                      <a:r>
                        <a:rPr lang="en-US" sz="1100" u="none" cap="none" strike="noStrike">
                          <a:latin typeface="Helvetica Neue"/>
                          <a:ea typeface="Helvetica Neue"/>
                          <a:cs typeface="Helvetica Neue"/>
                          <a:sym typeface="Helvetica Neue"/>
                        </a:rPr>
                        <a:t>KNR</a:t>
                      </a:r>
                      <a:endParaRPr sz="1100" u="none" cap="none" strike="noStrike">
                        <a:latin typeface="Helvetica Neue"/>
                        <a:ea typeface="Helvetica Neue"/>
                        <a:cs typeface="Helvetica Neue"/>
                        <a:sym typeface="Helvetica Neue"/>
                      </a:endParaRPr>
                    </a:p>
                  </a:txBody>
                  <a:tcPr marT="920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3810" marR="0" rtl="0" algn="ctr">
                        <a:lnSpc>
                          <a:spcPct val="100000"/>
                        </a:lnSpc>
                        <a:spcBef>
                          <a:spcPts val="5"/>
                        </a:spcBef>
                        <a:spcAft>
                          <a:spcPts val="0"/>
                        </a:spcAft>
                        <a:buNone/>
                      </a:pPr>
                      <a:r>
                        <a:rPr lang="en-US" sz="1100" u="none" cap="none" strike="noStrike">
                          <a:latin typeface="Helvetica Neue"/>
                          <a:ea typeface="Helvetica Neue"/>
                          <a:cs typeface="Helvetica Neue"/>
                          <a:sym typeface="Helvetica Neue"/>
                        </a:rPr>
                        <a:t>KANNUR</a:t>
                      </a:r>
                      <a:endParaRPr sz="1100" u="none" cap="none" strike="noStrike">
                        <a:latin typeface="Helvetica Neue"/>
                        <a:ea typeface="Helvetica Neue"/>
                        <a:cs typeface="Helvetica Neue"/>
                        <a:sym typeface="Helvetica Neue"/>
                      </a:endParaRPr>
                    </a:p>
                  </a:txBody>
                  <a:tcPr marT="920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6350" lvl="0" marL="6985" marR="0" rtl="0" algn="ctr">
                        <a:lnSpc>
                          <a:spcPct val="100000"/>
                        </a:lnSpc>
                        <a:spcBef>
                          <a:spcPts val="0"/>
                        </a:spcBef>
                        <a:spcAft>
                          <a:spcPts val="0"/>
                        </a:spcAft>
                        <a:buNone/>
                      </a:pPr>
                      <a:r>
                        <a:rPr lang="en-US" sz="1100" u="none" cap="none" strike="noStrike">
                          <a:latin typeface="Helvetica Neue"/>
                          <a:ea typeface="Helvetica Neue"/>
                          <a:cs typeface="Helvetica Neue"/>
                          <a:sym typeface="Helvetica Neue"/>
                        </a:rPr>
                        <a:t>T4KL01KNTH AP09R01287_ C</a:t>
                      </a:r>
                      <a:endParaRPr sz="1100" u="none" cap="none" strike="noStrike">
                        <a:latin typeface="Helvetica Neue"/>
                        <a:ea typeface="Helvetica Neue"/>
                        <a:cs typeface="Helvetica Neue"/>
                        <a:sym typeface="Helvetica Neue"/>
                      </a:endParaRPr>
                    </a:p>
                  </a:txBody>
                  <a:tcPr marT="851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lang="en-US" sz="1100" u="none" cap="none" strike="noStrike">
                          <a:latin typeface="Arial"/>
                          <a:ea typeface="Arial"/>
                          <a:cs typeface="Arial"/>
                          <a:sym typeface="Arial"/>
                        </a:rPr>
                        <a:t>RP-01287</a:t>
                      </a:r>
                      <a:endParaRPr sz="1100" u="none" cap="none" strike="noStrike">
                        <a:latin typeface="Arial"/>
                        <a:ea typeface="Arial"/>
                        <a:cs typeface="Arial"/>
                        <a:sym typeface="Arial"/>
                      </a:endParaRPr>
                    </a:p>
                  </a:txBody>
                  <a:tcPr marT="927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1905" marR="0" rtl="0" algn="ctr">
                        <a:lnSpc>
                          <a:spcPct val="100000"/>
                        </a:lnSpc>
                        <a:spcBef>
                          <a:spcPts val="5"/>
                        </a:spcBef>
                        <a:spcAft>
                          <a:spcPts val="0"/>
                        </a:spcAft>
                        <a:buNone/>
                      </a:pPr>
                      <a:r>
                        <a:rPr lang="en-US" sz="1100" u="none" cap="none" strike="noStrike">
                          <a:latin typeface="Arial"/>
                          <a:ea typeface="Arial"/>
                          <a:cs typeface="Arial"/>
                          <a:sym typeface="Arial"/>
                        </a:rPr>
                        <a:t>674971-2</a:t>
                      </a:r>
                      <a:endParaRPr sz="1100" u="none" cap="none" strike="noStrike">
                        <a:latin typeface="Arial"/>
                        <a:ea typeface="Arial"/>
                        <a:cs typeface="Arial"/>
                        <a:sym typeface="Arial"/>
                      </a:endParaRPr>
                    </a:p>
                  </a:txBody>
                  <a:tcPr marT="920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634" lvl="0" marL="22860" marR="13334" rtl="0" algn="ctr">
                        <a:lnSpc>
                          <a:spcPct val="100000"/>
                        </a:lnSpc>
                        <a:spcBef>
                          <a:spcPts val="0"/>
                        </a:spcBef>
                        <a:spcAft>
                          <a:spcPts val="0"/>
                        </a:spcAft>
                        <a:buNone/>
                      </a:pPr>
                      <a:r>
                        <a:rPr lang="en-US" sz="1100" u="none" cap="none" strike="noStrike">
                          <a:latin typeface="Helvetica Neue"/>
                          <a:ea typeface="Helvetica Neue"/>
                          <a:cs typeface="Helvetica Neue"/>
                          <a:sym typeface="Helvetica Neue"/>
                        </a:rPr>
                        <a:t>RP-01287- CHORUKKA LA</a:t>
                      </a:r>
                      <a:endParaRPr sz="1100" u="none" cap="none" strike="noStrike">
                        <a:latin typeface="Helvetica Neue"/>
                        <a:ea typeface="Helvetica Neue"/>
                        <a:cs typeface="Helvetica Neue"/>
                        <a:sym typeface="Helvetica Neue"/>
                      </a:endParaRPr>
                    </a:p>
                  </a:txBody>
                  <a:tcPr marT="19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1905" marR="0" rtl="0" algn="ctr">
                        <a:lnSpc>
                          <a:spcPct val="100000"/>
                        </a:lnSpc>
                        <a:spcBef>
                          <a:spcPts val="0"/>
                        </a:spcBef>
                        <a:spcAft>
                          <a:spcPts val="0"/>
                        </a:spcAft>
                        <a:buNone/>
                      </a:pPr>
                      <a:r>
                        <a:rPr lang="en-US" sz="1100" u="none" cap="none" strike="noStrike">
                          <a:latin typeface="Helvetica Neue"/>
                          <a:ea typeface="Helvetica Neue"/>
                          <a:cs typeface="Helvetica Neue"/>
                          <a:sym typeface="Helvetica Neue"/>
                        </a:rPr>
                        <a:t>12.0400319</a:t>
                      </a:r>
                      <a:endParaRPr sz="1100" u="none" cap="none" strike="noStrike">
                        <a:latin typeface="Helvetica Neue"/>
                        <a:ea typeface="Helvetica Neue"/>
                        <a:cs typeface="Helvetica Neue"/>
                        <a:sym typeface="Helvetica Neue"/>
                      </a:endParaRPr>
                    </a:p>
                    <a:p>
                      <a:pPr indent="0" lvl="0" marL="3175" marR="0" rtl="0" algn="ctr">
                        <a:lnSpc>
                          <a:spcPct val="100000"/>
                        </a:lnSpc>
                        <a:spcBef>
                          <a:spcPts val="5"/>
                        </a:spcBef>
                        <a:spcAft>
                          <a:spcPts val="0"/>
                        </a:spcAft>
                        <a:buNone/>
                      </a:pPr>
                      <a:r>
                        <a:rPr lang="en-US" sz="1100" u="none" cap="none" strike="noStrike">
                          <a:latin typeface="Helvetica Neue"/>
                          <a:ea typeface="Helvetica Neue"/>
                          <a:cs typeface="Helvetica Neue"/>
                          <a:sym typeface="Helvetica Neue"/>
                        </a:rPr>
                        <a:t>1</a:t>
                      </a:r>
                      <a:endParaRPr sz="1100" u="none" cap="none" strike="noStrike">
                        <a:latin typeface="Helvetica Neue"/>
                        <a:ea typeface="Helvetica Neue"/>
                        <a:cs typeface="Helvetica Neue"/>
                        <a:sym typeface="Helvetica Neue"/>
                      </a:endParaRPr>
                    </a:p>
                  </a:txBody>
                  <a:tcPr marT="82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1905" marR="0" rtl="0" algn="ctr">
                        <a:lnSpc>
                          <a:spcPct val="100000"/>
                        </a:lnSpc>
                        <a:spcBef>
                          <a:spcPts val="5"/>
                        </a:spcBef>
                        <a:spcAft>
                          <a:spcPts val="0"/>
                        </a:spcAft>
                        <a:buNone/>
                      </a:pPr>
                      <a:r>
                        <a:rPr lang="en-US" sz="1100" u="none" cap="none" strike="noStrike">
                          <a:latin typeface="Helvetica Neue"/>
                          <a:ea typeface="Helvetica Neue"/>
                          <a:cs typeface="Helvetica Neue"/>
                          <a:sym typeface="Helvetica Neue"/>
                        </a:rPr>
                        <a:t>75.41092776</a:t>
                      </a:r>
                      <a:endParaRPr sz="1100" u="none" cap="none" strike="noStrike">
                        <a:latin typeface="Helvetica Neue"/>
                        <a:ea typeface="Helvetica Neue"/>
                        <a:cs typeface="Helvetica Neue"/>
                        <a:sym typeface="Helvetica Neue"/>
                      </a:endParaRPr>
                    </a:p>
                  </a:txBody>
                  <a:tcPr marT="920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3810" marR="0" rtl="0" algn="ctr">
                        <a:lnSpc>
                          <a:spcPct val="100000"/>
                        </a:lnSpc>
                        <a:spcBef>
                          <a:spcPts val="5"/>
                        </a:spcBef>
                        <a:spcAft>
                          <a:spcPts val="0"/>
                        </a:spcAft>
                        <a:buNone/>
                      </a:pPr>
                      <a:r>
                        <a:rPr lang="en-US" sz="1100" u="none" cap="none" strike="noStrike">
                          <a:latin typeface="Helvetica Neue"/>
                          <a:ea typeface="Helvetica Neue"/>
                          <a:cs typeface="Helvetica Neue"/>
                          <a:sym typeface="Helvetica Neue"/>
                        </a:rPr>
                        <a:t>255</a:t>
                      </a:r>
                      <a:endParaRPr sz="1100" u="none" cap="none" strike="noStrike">
                        <a:latin typeface="Helvetica Neue"/>
                        <a:ea typeface="Helvetica Neue"/>
                        <a:cs typeface="Helvetica Neue"/>
                        <a:sym typeface="Helvetica Neue"/>
                      </a:endParaRPr>
                    </a:p>
                  </a:txBody>
                  <a:tcPr marT="920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1905" marR="0" rtl="0" algn="ctr">
                        <a:lnSpc>
                          <a:spcPct val="100000"/>
                        </a:lnSpc>
                        <a:spcBef>
                          <a:spcPts val="5"/>
                        </a:spcBef>
                        <a:spcAft>
                          <a:spcPts val="0"/>
                        </a:spcAft>
                        <a:buNone/>
                      </a:pPr>
                      <a:r>
                        <a:rPr lang="en-US" sz="1100" u="none" cap="none" strike="noStrike">
                          <a:latin typeface="Helvetica Neue"/>
                          <a:ea typeface="Helvetica Neue"/>
                          <a:cs typeface="Helvetica Neue"/>
                          <a:sym typeface="Helvetica Neue"/>
                        </a:rPr>
                        <a:t>2</a:t>
                      </a:r>
                      <a:endParaRPr sz="1100" u="none" cap="none" strike="noStrike">
                        <a:latin typeface="Helvetica Neue"/>
                        <a:ea typeface="Helvetica Neue"/>
                        <a:cs typeface="Helvetica Neue"/>
                        <a:sym typeface="Helvetica Neue"/>
                      </a:endParaRPr>
                    </a:p>
                  </a:txBody>
                  <a:tcPr marT="920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graphicFrame>
        <p:nvGraphicFramePr>
          <p:cNvPr id="185" name="Google Shape;185;p18"/>
          <p:cNvGraphicFramePr/>
          <p:nvPr/>
        </p:nvGraphicFramePr>
        <p:xfrm>
          <a:off x="228600" y="4864076"/>
          <a:ext cx="3000000" cy="3000000"/>
        </p:xfrm>
        <a:graphic>
          <a:graphicData uri="http://schemas.openxmlformats.org/drawingml/2006/table">
            <a:tbl>
              <a:tblPr>
                <a:noFill/>
                <a:tableStyleId>{D2C2C31C-BB3A-4677-B747-F5C60967CC61}</a:tableStyleId>
              </a:tblPr>
              <a:tblGrid>
                <a:gridCol w="838200"/>
                <a:gridCol w="609600"/>
                <a:gridCol w="457200"/>
                <a:gridCol w="457200"/>
                <a:gridCol w="382225"/>
                <a:gridCol w="532175"/>
                <a:gridCol w="384150"/>
                <a:gridCol w="454050"/>
                <a:gridCol w="529325"/>
                <a:gridCol w="536400"/>
                <a:gridCol w="536400"/>
                <a:gridCol w="771050"/>
                <a:gridCol w="771050"/>
              </a:tblGrid>
              <a:tr h="487500">
                <a:tc rowSpan="2">
                  <a:txBody>
                    <a:bodyPr/>
                    <a:lstStyle/>
                    <a:p>
                      <a:pPr indent="0" lvl="0" marL="0" marR="0" rtl="0" algn="ctr">
                        <a:spcBef>
                          <a:spcPts val="0"/>
                        </a:spcBef>
                        <a:spcAft>
                          <a:spcPts val="0"/>
                        </a:spcAft>
                        <a:buNone/>
                      </a:pPr>
                      <a:r>
                        <a:rPr b="1" i="0" lang="en-US" sz="1000" u="none" cap="none" strike="noStrike">
                          <a:solidFill>
                            <a:srgbClr val="000000"/>
                          </a:solidFill>
                          <a:latin typeface="Arial"/>
                          <a:ea typeface="Arial"/>
                          <a:cs typeface="Arial"/>
                          <a:sym typeface="Arial"/>
                        </a:rPr>
                        <a:t>eNodeB  Name</a:t>
                      </a:r>
                      <a:endParaRPr/>
                    </a:p>
                  </a:txBody>
                  <a:tcPr marT="5575" marB="0" marR="5575" marL="5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2">
                  <a:txBody>
                    <a:bodyPr/>
                    <a:lstStyle/>
                    <a:p>
                      <a:pPr indent="0" lvl="0" marL="0" marR="0" rtl="0" algn="ctr">
                        <a:spcBef>
                          <a:spcPts val="0"/>
                        </a:spcBef>
                        <a:spcAft>
                          <a:spcPts val="0"/>
                        </a:spcAft>
                        <a:buNone/>
                      </a:pPr>
                      <a:r>
                        <a:rPr b="1" i="0" lang="en-US" sz="1000" u="none" cap="none" strike="noStrike">
                          <a:solidFill>
                            <a:srgbClr val="000000"/>
                          </a:solidFill>
                          <a:latin typeface="Arial"/>
                          <a:ea typeface="Arial"/>
                          <a:cs typeface="Arial"/>
                          <a:sym typeface="Arial"/>
                        </a:rPr>
                        <a:t>eNode B  Cell  name</a:t>
                      </a:r>
                      <a:endParaRPr/>
                    </a:p>
                  </a:txBody>
                  <a:tcPr marT="5575" marB="0" marR="5575" marL="5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2">
                  <a:txBody>
                    <a:bodyPr/>
                    <a:lstStyle/>
                    <a:p>
                      <a:pPr indent="0" lvl="0" marL="0" marR="0" rtl="0" algn="ctr">
                        <a:spcBef>
                          <a:spcPts val="0"/>
                        </a:spcBef>
                        <a:spcAft>
                          <a:spcPts val="0"/>
                        </a:spcAft>
                        <a:buNone/>
                      </a:pPr>
                      <a:r>
                        <a:rPr b="1" i="0" lang="en-US" sz="1000" u="none" cap="none" strike="noStrike">
                          <a:solidFill>
                            <a:srgbClr val="000000"/>
                          </a:solidFill>
                          <a:latin typeface="Arial"/>
                          <a:ea typeface="Arial"/>
                          <a:cs typeface="Arial"/>
                          <a:sym typeface="Arial"/>
                        </a:rPr>
                        <a:t>eNode B ID</a:t>
                      </a:r>
                      <a:endParaRPr/>
                    </a:p>
                  </a:txBody>
                  <a:tcPr marT="5575" marB="0" marR="5575" marL="5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2">
                  <a:txBody>
                    <a:bodyPr/>
                    <a:lstStyle/>
                    <a:p>
                      <a:pPr indent="0" lvl="0" marL="0" marR="0" rtl="0" algn="ctr">
                        <a:spcBef>
                          <a:spcPts val="0"/>
                        </a:spcBef>
                        <a:spcAft>
                          <a:spcPts val="0"/>
                        </a:spcAft>
                        <a:buNone/>
                      </a:pPr>
                      <a:r>
                        <a:rPr b="1" i="0" lang="en-US" sz="1000" u="none" cap="none" strike="noStrike">
                          <a:solidFill>
                            <a:srgbClr val="000000"/>
                          </a:solidFill>
                          <a:latin typeface="Arial"/>
                          <a:ea typeface="Arial"/>
                          <a:cs typeface="Arial"/>
                          <a:sym typeface="Arial"/>
                        </a:rPr>
                        <a:t>eNode  B Cell ID</a:t>
                      </a:r>
                      <a:endParaRPr/>
                    </a:p>
                  </a:txBody>
                  <a:tcPr marT="5575" marB="0" marR="5575" marL="5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2">
                  <a:txBody>
                    <a:bodyPr/>
                    <a:lstStyle/>
                    <a:p>
                      <a:pPr indent="0" lvl="0" marL="0" marR="0" rtl="0" algn="ctr">
                        <a:spcBef>
                          <a:spcPts val="0"/>
                        </a:spcBef>
                        <a:spcAft>
                          <a:spcPts val="0"/>
                        </a:spcAft>
                        <a:buNone/>
                      </a:pPr>
                      <a:r>
                        <a:rPr b="1" i="0" lang="en-US" sz="1000" u="none" cap="none" strike="noStrike">
                          <a:solidFill>
                            <a:srgbClr val="000000"/>
                          </a:solidFill>
                          <a:latin typeface="Arial"/>
                          <a:ea typeface="Arial"/>
                          <a:cs typeface="Arial"/>
                          <a:sym typeface="Arial"/>
                        </a:rPr>
                        <a:t>Sector Id</a:t>
                      </a:r>
                      <a:endParaRPr/>
                    </a:p>
                  </a:txBody>
                  <a:tcPr marT="5575" marB="0" marR="5575" marL="5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2">
                  <a:txBody>
                    <a:bodyPr/>
                    <a:lstStyle/>
                    <a:p>
                      <a:pPr indent="0" lvl="0" marL="0" marR="0" rtl="0" algn="ctr">
                        <a:spcBef>
                          <a:spcPts val="0"/>
                        </a:spcBef>
                        <a:spcAft>
                          <a:spcPts val="0"/>
                        </a:spcAft>
                        <a:buNone/>
                      </a:pPr>
                      <a:r>
                        <a:rPr b="1" i="0" lang="en-US" sz="1000" u="none" cap="none" strike="noStrike">
                          <a:solidFill>
                            <a:srgbClr val="000000"/>
                          </a:solidFill>
                          <a:latin typeface="Arial"/>
                          <a:ea typeface="Arial"/>
                          <a:cs typeface="Arial"/>
                          <a:sym typeface="Arial"/>
                        </a:rPr>
                        <a:t>TAC</a:t>
                      </a:r>
                      <a:endParaRPr/>
                    </a:p>
                  </a:txBody>
                  <a:tcPr marT="5575" marB="0" marR="5575" marL="5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2">
                  <a:txBody>
                    <a:bodyPr/>
                    <a:lstStyle/>
                    <a:p>
                      <a:pPr indent="0" lvl="0" marL="0" marR="0" rtl="0" algn="ctr">
                        <a:spcBef>
                          <a:spcPts val="0"/>
                        </a:spcBef>
                        <a:spcAft>
                          <a:spcPts val="0"/>
                        </a:spcAft>
                        <a:buNone/>
                      </a:pPr>
                      <a:r>
                        <a:rPr b="1" i="0" lang="en-US" sz="1000" u="none" cap="none" strike="noStrike">
                          <a:solidFill>
                            <a:srgbClr val="000000"/>
                          </a:solidFill>
                          <a:latin typeface="Arial"/>
                          <a:ea typeface="Arial"/>
                          <a:cs typeface="Arial"/>
                          <a:sym typeface="Arial"/>
                        </a:rPr>
                        <a:t>PCI</a:t>
                      </a:r>
                      <a:endParaRPr/>
                    </a:p>
                  </a:txBody>
                  <a:tcPr marT="5575" marB="0" marR="5575" marL="5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2">
                  <a:txBody>
                    <a:bodyPr/>
                    <a:lstStyle/>
                    <a:p>
                      <a:pPr indent="0" lvl="0" marL="0" marR="0" rtl="0" algn="ctr">
                        <a:spcBef>
                          <a:spcPts val="0"/>
                        </a:spcBef>
                        <a:spcAft>
                          <a:spcPts val="0"/>
                        </a:spcAft>
                        <a:buNone/>
                      </a:pPr>
                      <a:r>
                        <a:rPr b="1" i="0" lang="en-US" sz="1000" u="none" cap="none" strike="noStrike">
                          <a:solidFill>
                            <a:srgbClr val="000000"/>
                          </a:solidFill>
                          <a:latin typeface="Arial"/>
                          <a:ea typeface="Arial"/>
                          <a:cs typeface="Arial"/>
                          <a:sym typeface="Arial"/>
                        </a:rPr>
                        <a:t>RSI</a:t>
                      </a:r>
                      <a:endParaRPr/>
                    </a:p>
                  </a:txBody>
                  <a:tcPr marT="5575" marB="0" marR="5575" marL="5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2">
                  <a:txBody>
                    <a:bodyPr/>
                    <a:lstStyle/>
                    <a:p>
                      <a:pPr indent="0" lvl="0" marL="0" marR="0" rtl="0" algn="ctr">
                        <a:spcBef>
                          <a:spcPts val="0"/>
                        </a:spcBef>
                        <a:spcAft>
                          <a:spcPts val="0"/>
                        </a:spcAft>
                        <a:buNone/>
                      </a:pPr>
                      <a:r>
                        <a:rPr b="1" i="0" lang="en-US" sz="1000" u="none" cap="none" strike="noStrike">
                          <a:solidFill>
                            <a:srgbClr val="000000"/>
                          </a:solidFill>
                          <a:latin typeface="Arial"/>
                          <a:ea typeface="Arial"/>
                          <a:cs typeface="Arial"/>
                          <a:sym typeface="Arial"/>
                        </a:rPr>
                        <a:t>RS Power</a:t>
                      </a:r>
                      <a:endParaRPr/>
                    </a:p>
                  </a:txBody>
                  <a:tcPr marT="5575" marB="0" marR="5575" marL="5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2">
                  <a:txBody>
                    <a:bodyPr/>
                    <a:lstStyle/>
                    <a:p>
                      <a:pPr indent="0" lvl="0" marL="0" marR="0" rtl="0" algn="ctr">
                        <a:spcBef>
                          <a:spcPts val="0"/>
                        </a:spcBef>
                        <a:spcAft>
                          <a:spcPts val="0"/>
                        </a:spcAft>
                        <a:buNone/>
                      </a:pPr>
                      <a:r>
                        <a:rPr b="1" i="0" lang="en-US" sz="1000" u="none" cap="none" strike="noStrike">
                          <a:solidFill>
                            <a:srgbClr val="000000"/>
                          </a:solidFill>
                          <a:latin typeface="Arial"/>
                          <a:ea typeface="Arial"/>
                          <a:cs typeface="Arial"/>
                          <a:sym typeface="Arial"/>
                        </a:rPr>
                        <a:t>EUARFCN  UL</a:t>
                      </a:r>
                      <a:endParaRPr/>
                    </a:p>
                  </a:txBody>
                  <a:tcPr marT="5575" marB="0" marR="5575" marL="5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2">
                  <a:txBody>
                    <a:bodyPr/>
                    <a:lstStyle/>
                    <a:p>
                      <a:pPr indent="0" lvl="0" marL="0" marR="0" rtl="0" algn="ctr">
                        <a:spcBef>
                          <a:spcPts val="0"/>
                        </a:spcBef>
                        <a:spcAft>
                          <a:spcPts val="0"/>
                        </a:spcAft>
                        <a:buNone/>
                      </a:pPr>
                      <a:r>
                        <a:rPr b="1" i="0" lang="en-US" sz="1000" u="none" cap="none" strike="noStrike">
                          <a:solidFill>
                            <a:srgbClr val="000000"/>
                          </a:solidFill>
                          <a:latin typeface="Arial"/>
                          <a:ea typeface="Arial"/>
                          <a:cs typeface="Arial"/>
                          <a:sym typeface="Arial"/>
                        </a:rPr>
                        <a:t>EUARFCN  DL</a:t>
                      </a:r>
                      <a:endParaRPr/>
                    </a:p>
                  </a:txBody>
                  <a:tcPr marT="5575" marB="0" marR="5575" marL="5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marR="0" rtl="0" algn="ctr">
                        <a:spcBef>
                          <a:spcPts val="0"/>
                        </a:spcBef>
                        <a:spcAft>
                          <a:spcPts val="0"/>
                        </a:spcAft>
                        <a:buNone/>
                      </a:pPr>
                      <a:r>
                        <a:rPr b="1" i="0" lang="en-US" sz="1000" u="none" cap="none" strike="noStrike">
                          <a:solidFill>
                            <a:srgbClr val="000000"/>
                          </a:solidFill>
                          <a:latin typeface="Arial"/>
                          <a:ea typeface="Arial"/>
                          <a:cs typeface="Arial"/>
                          <a:sym typeface="Arial"/>
                        </a:rPr>
                        <a:t>Neighbour Verified  and Corrected from EMS including X2</a:t>
                      </a:r>
                      <a:endParaRPr/>
                    </a:p>
                  </a:txBody>
                  <a:tcPr marT="5575" marB="0" marR="5575" marL="5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xBody>
                    <a:bodyPr/>
                    <a:p/>
                  </a:txBody>
                </a:tc>
              </a:tr>
              <a:tr h="345825">
                <a:tc vMerge="1">
                  <a:txBody>
                    <a:bodyPr/>
                    <a:p/>
                  </a:txBody>
                </a:tc>
                <a:tc vMerge="1">
                  <a:txBody>
                    <a:bodyPr/>
                    <a:p/>
                  </a:txBody>
                </a:tc>
                <a:tc vMerge="1">
                  <a:txBody>
                    <a:bodyPr/>
                    <a:p/>
                  </a:txBody>
                </a:tc>
                <a:tc vMerge="1">
                  <a:txBody>
                    <a:bodyPr/>
                    <a:p/>
                  </a:txBody>
                </a:tc>
                <a:tc vMerge="1">
                  <a:txBody>
                    <a:bodyPr/>
                    <a:p/>
                  </a:txBody>
                </a:tc>
                <a:tc vMerge="1">
                  <a:txBody>
                    <a:bodyPr/>
                    <a:p/>
                  </a:txBody>
                </a:tc>
                <a:tc vMerge="1">
                  <a:txBody>
                    <a:bodyPr/>
                    <a:p/>
                  </a:txBody>
                </a:tc>
                <a:tc vMerge="1">
                  <a:txBody>
                    <a:bodyPr/>
                    <a:p/>
                  </a:txBody>
                </a:tc>
                <a:tc vMerge="1">
                  <a:txBody>
                    <a:bodyPr/>
                    <a:p/>
                  </a:txBody>
                </a:tc>
                <a:tc vMerge="1">
                  <a:txBody>
                    <a:bodyPr/>
                    <a:p/>
                  </a:txBody>
                </a:tc>
                <a:tc vMerge="1">
                  <a:txBody>
                    <a:bodyPr/>
                    <a:p/>
                  </a:txBody>
                </a:tc>
                <a:tc>
                  <a:txBody>
                    <a:bodyPr/>
                    <a:lstStyle/>
                    <a:p>
                      <a:pPr indent="0" lvl="0" marL="0" marR="0" rtl="0" algn="ctr">
                        <a:spcBef>
                          <a:spcPts val="0"/>
                        </a:spcBef>
                        <a:spcAft>
                          <a:spcPts val="0"/>
                        </a:spcAft>
                        <a:buNone/>
                      </a:pPr>
                      <a:r>
                        <a:rPr b="1" i="0" lang="en-US" sz="1000" u="none" cap="none" strike="noStrike">
                          <a:solidFill>
                            <a:srgbClr val="000000"/>
                          </a:solidFill>
                          <a:latin typeface="Arial"/>
                          <a:ea typeface="Arial"/>
                          <a:cs typeface="Arial"/>
                          <a:sym typeface="Arial"/>
                        </a:rPr>
                        <a:t>4G-4G</a:t>
                      </a:r>
                      <a:endParaRPr/>
                    </a:p>
                  </a:txBody>
                  <a:tcPr marT="5575" marB="0" marR="5575" marL="5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1" i="0" lang="en-US" sz="1000" u="none" cap="none" strike="noStrike">
                          <a:solidFill>
                            <a:srgbClr val="000000"/>
                          </a:solidFill>
                          <a:latin typeface="Arial"/>
                          <a:ea typeface="Arial"/>
                          <a:cs typeface="Arial"/>
                          <a:sym typeface="Arial"/>
                        </a:rPr>
                        <a:t>4G-3G/4G-2G</a:t>
                      </a:r>
                      <a:endParaRPr/>
                    </a:p>
                  </a:txBody>
                  <a:tcPr marT="5575" marB="0" marR="5575" marL="5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842250">
                <a:tc>
                  <a:txBody>
                    <a:bodyPr/>
                    <a:lstStyle/>
                    <a:p>
                      <a:pPr indent="-2539" lvl="0" marL="5715" marR="0" rtl="0" algn="ctr">
                        <a:lnSpc>
                          <a:spcPct val="100000"/>
                        </a:lnSpc>
                        <a:spcBef>
                          <a:spcPts val="0"/>
                        </a:spcBef>
                        <a:spcAft>
                          <a:spcPts val="0"/>
                        </a:spcAft>
                        <a:buNone/>
                      </a:pPr>
                      <a:r>
                        <a:rPr lang="en-US" sz="900" u="none" cap="none" strike="noStrike">
                          <a:latin typeface="Arial"/>
                          <a:ea typeface="Arial"/>
                          <a:cs typeface="Arial"/>
                          <a:sym typeface="Arial"/>
                        </a:rPr>
                        <a:t>T4KL01 KNTHA P09R01 287</a:t>
                      </a:r>
                      <a:endParaRPr sz="900" u="none" cap="none" strike="noStrike">
                        <a:latin typeface="Arial"/>
                        <a:ea typeface="Arial"/>
                        <a:cs typeface="Arial"/>
                        <a:sym typeface="Arial"/>
                      </a:endParaRPr>
                    </a:p>
                  </a:txBody>
                  <a:tcPr marT="476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42545" lvl="0" marL="6350" marR="0" rtl="0" algn="just">
                        <a:lnSpc>
                          <a:spcPct val="100000"/>
                        </a:lnSpc>
                        <a:spcBef>
                          <a:spcPts val="0"/>
                        </a:spcBef>
                        <a:spcAft>
                          <a:spcPts val="0"/>
                        </a:spcAft>
                        <a:buNone/>
                      </a:pPr>
                      <a:r>
                        <a:rPr lang="en-US" sz="900" u="none" cap="none" strike="noStrike">
                          <a:latin typeface="Arial"/>
                          <a:ea typeface="Arial"/>
                          <a:cs typeface="Arial"/>
                          <a:sym typeface="Arial"/>
                        </a:rPr>
                        <a:t>T4KL01 KNTHAP 09R01287_A</a:t>
                      </a:r>
                      <a:endParaRPr sz="900" u="none" cap="none" strike="noStrike">
                        <a:latin typeface="Arial"/>
                        <a:ea typeface="Arial"/>
                        <a:cs typeface="Arial"/>
                        <a:sym typeface="Arial"/>
                      </a:endParaRPr>
                    </a:p>
                  </a:txBody>
                  <a:tcPr marT="476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p>
                      <a:pPr indent="0" lvl="0" marL="1905" marR="0" rtl="0" algn="ctr">
                        <a:lnSpc>
                          <a:spcPct val="100000"/>
                        </a:lnSpc>
                        <a:spcBef>
                          <a:spcPts val="0"/>
                        </a:spcBef>
                        <a:spcAft>
                          <a:spcPts val="0"/>
                        </a:spcAft>
                        <a:buNone/>
                      </a:pPr>
                      <a:r>
                        <a:rPr lang="en-US" sz="900" u="none" cap="none" strike="noStrike">
                          <a:latin typeface="Arial"/>
                          <a:ea typeface="Arial"/>
                          <a:cs typeface="Arial"/>
                          <a:sym typeface="Arial"/>
                        </a:rPr>
                        <a:t>674971</a:t>
                      </a:r>
                      <a:endParaRPr sz="900" u="none" cap="none" strike="noStrike">
                        <a:latin typeface="Arial"/>
                        <a:ea typeface="Arial"/>
                        <a:cs typeface="Arial"/>
                        <a:sym typeface="Arial"/>
                      </a:endParaRPr>
                    </a:p>
                  </a:txBody>
                  <a:tcPr marT="552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lang="en-US" sz="900" u="none" cap="none" strike="noStrike">
                          <a:latin typeface="Arial"/>
                          <a:ea typeface="Arial"/>
                          <a:cs typeface="Arial"/>
                          <a:sym typeface="Arial"/>
                        </a:rPr>
                        <a:t>674971-0</a:t>
                      </a:r>
                      <a:endParaRPr sz="900" u="none" cap="none" strike="noStrike">
                        <a:latin typeface="Arial"/>
                        <a:ea typeface="Arial"/>
                        <a:cs typeface="Arial"/>
                        <a:sym typeface="Arial"/>
                      </a:endParaRPr>
                    </a:p>
                  </a:txBody>
                  <a:tcPr marT="1466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lang="en-US" sz="900" u="none" cap="none" strike="noStrike">
                          <a:latin typeface="Arial"/>
                          <a:ea typeface="Arial"/>
                          <a:cs typeface="Arial"/>
                          <a:sym typeface="Arial"/>
                        </a:rPr>
                        <a:t>0</a:t>
                      </a:r>
                      <a:endParaRPr sz="900" u="none" cap="none" strike="noStrike">
                        <a:latin typeface="Arial"/>
                        <a:ea typeface="Arial"/>
                        <a:cs typeface="Arial"/>
                        <a:sym typeface="Arial"/>
                      </a:endParaRPr>
                    </a:p>
                  </a:txBody>
                  <a:tcPr marT="1466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p>
                      <a:pPr indent="0" lvl="0" marL="3810" marR="0" rtl="0" algn="ctr">
                        <a:lnSpc>
                          <a:spcPct val="100000"/>
                        </a:lnSpc>
                        <a:spcBef>
                          <a:spcPts val="0"/>
                        </a:spcBef>
                        <a:spcAft>
                          <a:spcPts val="0"/>
                        </a:spcAft>
                        <a:buNone/>
                      </a:pPr>
                      <a:r>
                        <a:rPr lang="en-US" sz="900" u="none" cap="none" strike="noStrike">
                          <a:latin typeface="Arial"/>
                          <a:ea typeface="Arial"/>
                          <a:cs typeface="Arial"/>
                          <a:sym typeface="Arial"/>
                        </a:rPr>
                        <a:t>31743</a:t>
                      </a:r>
                      <a:endParaRPr sz="900" u="none" cap="none" strike="noStrike">
                        <a:latin typeface="Arial"/>
                        <a:ea typeface="Arial"/>
                        <a:cs typeface="Arial"/>
                        <a:sym typeface="Arial"/>
                      </a:endParaRPr>
                    </a:p>
                  </a:txBody>
                  <a:tcPr marT="1466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p>
                      <a:pPr indent="0" lvl="0" marL="1905" marR="0" rtl="0" algn="ctr">
                        <a:lnSpc>
                          <a:spcPct val="100000"/>
                        </a:lnSpc>
                        <a:spcBef>
                          <a:spcPts val="0"/>
                        </a:spcBef>
                        <a:spcAft>
                          <a:spcPts val="0"/>
                        </a:spcAft>
                        <a:buNone/>
                      </a:pPr>
                      <a:r>
                        <a:rPr lang="en-US" sz="900" u="none" cap="none" strike="noStrike">
                          <a:latin typeface="Arial"/>
                          <a:ea typeface="Arial"/>
                          <a:cs typeface="Arial"/>
                          <a:sym typeface="Arial"/>
                        </a:rPr>
                        <a:t>37</a:t>
                      </a:r>
                      <a:endParaRPr sz="900" u="none" cap="none" strike="noStrike">
                        <a:latin typeface="Arial"/>
                        <a:ea typeface="Arial"/>
                        <a:cs typeface="Arial"/>
                        <a:sym typeface="Arial"/>
                      </a:endParaRPr>
                    </a:p>
                  </a:txBody>
                  <a:tcPr marT="1466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p>
                      <a:pPr indent="0" lvl="0" marL="3810" marR="0" rtl="0" algn="ctr">
                        <a:lnSpc>
                          <a:spcPct val="100000"/>
                        </a:lnSpc>
                        <a:spcBef>
                          <a:spcPts val="0"/>
                        </a:spcBef>
                        <a:spcAft>
                          <a:spcPts val="0"/>
                        </a:spcAft>
                        <a:buNone/>
                      </a:pPr>
                      <a:r>
                        <a:rPr lang="en-US" sz="900" u="none" cap="none" strike="noStrike">
                          <a:latin typeface="Arial"/>
                          <a:ea typeface="Arial"/>
                          <a:cs typeface="Arial"/>
                          <a:sym typeface="Arial"/>
                        </a:rPr>
                        <a:t>124</a:t>
                      </a:r>
                      <a:endParaRPr sz="900" u="none" cap="none" strike="noStrike">
                        <a:latin typeface="Arial"/>
                        <a:ea typeface="Arial"/>
                        <a:cs typeface="Arial"/>
                        <a:sym typeface="Arial"/>
                      </a:endParaRPr>
                    </a:p>
                  </a:txBody>
                  <a:tcPr marT="1466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p>
                      <a:pPr indent="0" lvl="0" marL="3810" marR="0" rtl="0" algn="ctr">
                        <a:lnSpc>
                          <a:spcPct val="100000"/>
                        </a:lnSpc>
                        <a:spcBef>
                          <a:spcPts val="0"/>
                        </a:spcBef>
                        <a:spcAft>
                          <a:spcPts val="0"/>
                        </a:spcAft>
                        <a:buNone/>
                      </a:pPr>
                      <a:r>
                        <a:rPr lang="en-US" sz="900" u="none" cap="none" strike="noStrike">
                          <a:latin typeface="Arial"/>
                          <a:ea typeface="Arial"/>
                          <a:cs typeface="Arial"/>
                          <a:sym typeface="Arial"/>
                        </a:rPr>
                        <a:t>15</a:t>
                      </a:r>
                      <a:endParaRPr sz="900" u="none" cap="none" strike="noStrike">
                        <a:latin typeface="Arial"/>
                        <a:ea typeface="Arial"/>
                        <a:cs typeface="Arial"/>
                        <a:sym typeface="Arial"/>
                      </a:endParaRPr>
                    </a:p>
                  </a:txBody>
                  <a:tcPr marT="1466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p>
                      <a:pPr indent="0" lvl="0" marL="4445" marR="0" rtl="0" algn="ctr">
                        <a:lnSpc>
                          <a:spcPct val="100000"/>
                        </a:lnSpc>
                        <a:spcBef>
                          <a:spcPts val="0"/>
                        </a:spcBef>
                        <a:spcAft>
                          <a:spcPts val="0"/>
                        </a:spcAft>
                        <a:buNone/>
                      </a:pPr>
                      <a:r>
                        <a:rPr lang="en-US" sz="900" u="none" cap="none" strike="noStrike">
                          <a:latin typeface="Arial"/>
                          <a:ea typeface="Arial"/>
                          <a:cs typeface="Arial"/>
                          <a:sym typeface="Arial"/>
                        </a:rPr>
                        <a:t>18515</a:t>
                      </a:r>
                      <a:endParaRPr sz="900" u="none" cap="none" strike="noStrike">
                        <a:latin typeface="Arial"/>
                        <a:ea typeface="Arial"/>
                        <a:cs typeface="Arial"/>
                        <a:sym typeface="Arial"/>
                      </a:endParaRPr>
                    </a:p>
                  </a:txBody>
                  <a:tcPr marT="1466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p>
                      <a:pPr indent="0" lvl="0" marL="1270" marR="0" rtl="0" algn="ctr">
                        <a:lnSpc>
                          <a:spcPct val="100000"/>
                        </a:lnSpc>
                        <a:spcBef>
                          <a:spcPts val="0"/>
                        </a:spcBef>
                        <a:spcAft>
                          <a:spcPts val="0"/>
                        </a:spcAft>
                        <a:buNone/>
                      </a:pPr>
                      <a:r>
                        <a:rPr lang="en-US" sz="900" u="none" cap="none" strike="noStrike">
                          <a:latin typeface="Arial"/>
                          <a:ea typeface="Arial"/>
                          <a:cs typeface="Arial"/>
                          <a:sym typeface="Arial"/>
                        </a:rPr>
                        <a:t>515</a:t>
                      </a:r>
                      <a:endParaRPr sz="900" u="none" cap="none" strike="noStrike">
                        <a:latin typeface="Arial"/>
                        <a:ea typeface="Arial"/>
                        <a:cs typeface="Arial"/>
                        <a:sym typeface="Arial"/>
                      </a:endParaRPr>
                    </a:p>
                  </a:txBody>
                  <a:tcPr marT="1466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1000" u="none" cap="none" strike="noStrike">
                          <a:solidFill>
                            <a:srgbClr val="000000"/>
                          </a:solidFill>
                          <a:latin typeface="Arial"/>
                          <a:ea typeface="Arial"/>
                          <a:cs typeface="Arial"/>
                          <a:sym typeface="Arial"/>
                        </a:rPr>
                        <a:t> </a:t>
                      </a:r>
                      <a:endParaRPr/>
                    </a:p>
                  </a:txBody>
                  <a:tcPr marT="5575" marB="0" marR="5575" marL="5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1000" u="none" cap="none" strike="noStrike">
                          <a:solidFill>
                            <a:srgbClr val="000000"/>
                          </a:solidFill>
                          <a:latin typeface="Arial"/>
                          <a:ea typeface="Arial"/>
                          <a:cs typeface="Arial"/>
                          <a:sym typeface="Arial"/>
                        </a:rPr>
                        <a:t> </a:t>
                      </a:r>
                      <a:endParaRPr/>
                    </a:p>
                  </a:txBody>
                  <a:tcPr marT="5575" marB="0" marR="5575" marL="5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20575">
                <a:tc>
                  <a:txBody>
                    <a:bodyPr/>
                    <a:lstStyle/>
                    <a:p>
                      <a:pPr indent="-3174" lvl="0" marL="5715" marR="0" rtl="0" algn="ctr">
                        <a:lnSpc>
                          <a:spcPct val="160000"/>
                        </a:lnSpc>
                        <a:spcBef>
                          <a:spcPts val="0"/>
                        </a:spcBef>
                        <a:spcAft>
                          <a:spcPts val="0"/>
                        </a:spcAft>
                        <a:buNone/>
                      </a:pPr>
                      <a:r>
                        <a:rPr lang="en-US" sz="900" u="none" cap="none" strike="noStrike">
                          <a:latin typeface="Arial"/>
                          <a:ea typeface="Arial"/>
                          <a:cs typeface="Arial"/>
                          <a:sym typeface="Arial"/>
                        </a:rPr>
                        <a:t>T4KL01 KNTHA P09R01 287</a:t>
                      </a:r>
                      <a:endParaRPr sz="9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42545" lvl="0" marL="6350" marR="0" rtl="0" algn="just">
                        <a:lnSpc>
                          <a:spcPct val="160000"/>
                        </a:lnSpc>
                        <a:spcBef>
                          <a:spcPts val="0"/>
                        </a:spcBef>
                        <a:spcAft>
                          <a:spcPts val="0"/>
                        </a:spcAft>
                        <a:buNone/>
                      </a:pPr>
                      <a:r>
                        <a:rPr lang="en-US" sz="900" u="none" cap="none" strike="noStrike">
                          <a:latin typeface="Arial"/>
                          <a:ea typeface="Arial"/>
                          <a:cs typeface="Arial"/>
                          <a:sym typeface="Arial"/>
                        </a:rPr>
                        <a:t>T4KL01 KNTHAP 09R01287_B</a:t>
                      </a:r>
                      <a:endParaRPr sz="900" u="none" cap="none" strike="noStrike">
                        <a:latin typeface="Arial"/>
                        <a:ea typeface="Arial"/>
                        <a:cs typeface="Arial"/>
                        <a:sym typeface="Arial"/>
                      </a:endParaRPr>
                    </a:p>
                  </a:txBody>
                  <a:tcPr marT="57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p>
                      <a:pPr indent="0" lvl="0" marL="1905" marR="0" rtl="0" algn="ctr">
                        <a:lnSpc>
                          <a:spcPct val="100000"/>
                        </a:lnSpc>
                        <a:spcBef>
                          <a:spcPts val="0"/>
                        </a:spcBef>
                        <a:spcAft>
                          <a:spcPts val="0"/>
                        </a:spcAft>
                        <a:buNone/>
                      </a:pPr>
                      <a:r>
                        <a:rPr lang="en-US" sz="900" u="none" cap="none" strike="noStrike">
                          <a:latin typeface="Arial"/>
                          <a:ea typeface="Arial"/>
                          <a:cs typeface="Arial"/>
                          <a:sym typeface="Arial"/>
                        </a:rPr>
                        <a:t>674971</a:t>
                      </a:r>
                      <a:endParaRPr sz="900" u="none" cap="none" strike="noStrike">
                        <a:latin typeface="Arial"/>
                        <a:ea typeface="Arial"/>
                        <a:cs typeface="Arial"/>
                        <a:sym typeface="Arial"/>
                      </a:endParaRPr>
                    </a:p>
                  </a:txBody>
                  <a:tcPr marT="69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lang="en-US" sz="900" u="none" cap="none" strike="noStrike">
                          <a:latin typeface="Arial"/>
                          <a:ea typeface="Arial"/>
                          <a:cs typeface="Arial"/>
                          <a:sym typeface="Arial"/>
                        </a:rPr>
                        <a:t>674971-1</a:t>
                      </a:r>
                      <a:endParaRPr sz="900" u="none" cap="none" strike="noStrike">
                        <a:latin typeface="Arial"/>
                        <a:ea typeface="Arial"/>
                        <a:cs typeface="Arial"/>
                        <a:sym typeface="Arial"/>
                      </a:endParaRPr>
                    </a:p>
                  </a:txBody>
                  <a:tcPr marT="69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lang="en-US" sz="900" u="none" cap="none" strike="noStrike">
                          <a:latin typeface="Arial"/>
                          <a:ea typeface="Arial"/>
                          <a:cs typeface="Arial"/>
                          <a:sym typeface="Arial"/>
                        </a:rPr>
                        <a:t>1</a:t>
                      </a:r>
                      <a:endParaRPr sz="900" u="none" cap="none" strike="noStrike">
                        <a:latin typeface="Arial"/>
                        <a:ea typeface="Arial"/>
                        <a:cs typeface="Arial"/>
                        <a:sym typeface="Arial"/>
                      </a:endParaRPr>
                    </a:p>
                  </a:txBody>
                  <a:tcPr marT="984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p>
                      <a:pPr indent="0" lvl="0" marL="3810" marR="0" rtl="0" algn="ctr">
                        <a:lnSpc>
                          <a:spcPct val="100000"/>
                        </a:lnSpc>
                        <a:spcBef>
                          <a:spcPts val="0"/>
                        </a:spcBef>
                        <a:spcAft>
                          <a:spcPts val="0"/>
                        </a:spcAft>
                        <a:buNone/>
                      </a:pPr>
                      <a:r>
                        <a:rPr lang="en-US" sz="900" u="none" cap="none" strike="noStrike">
                          <a:latin typeface="Arial"/>
                          <a:ea typeface="Arial"/>
                          <a:cs typeface="Arial"/>
                          <a:sym typeface="Arial"/>
                        </a:rPr>
                        <a:t>31743</a:t>
                      </a:r>
                      <a:endParaRPr sz="900" u="none" cap="none" strike="noStrike">
                        <a:latin typeface="Arial"/>
                        <a:ea typeface="Arial"/>
                        <a:cs typeface="Arial"/>
                        <a:sym typeface="Arial"/>
                      </a:endParaRPr>
                    </a:p>
                  </a:txBody>
                  <a:tcPr marT="984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p>
                      <a:pPr indent="0" lvl="0" marL="1905" marR="0" rtl="0" algn="ctr">
                        <a:lnSpc>
                          <a:spcPct val="100000"/>
                        </a:lnSpc>
                        <a:spcBef>
                          <a:spcPts val="0"/>
                        </a:spcBef>
                        <a:spcAft>
                          <a:spcPts val="0"/>
                        </a:spcAft>
                        <a:buNone/>
                      </a:pPr>
                      <a:r>
                        <a:rPr lang="en-US" sz="900" u="none" cap="none" strike="noStrike">
                          <a:latin typeface="Arial"/>
                          <a:ea typeface="Arial"/>
                          <a:cs typeface="Arial"/>
                          <a:sym typeface="Arial"/>
                        </a:rPr>
                        <a:t>36</a:t>
                      </a:r>
                      <a:endParaRPr sz="900" u="none" cap="none" strike="noStrike">
                        <a:latin typeface="Arial"/>
                        <a:ea typeface="Arial"/>
                        <a:cs typeface="Arial"/>
                        <a:sym typeface="Arial"/>
                      </a:endParaRPr>
                    </a:p>
                  </a:txBody>
                  <a:tcPr marT="984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p>
                      <a:pPr indent="0" lvl="0" marL="3810" marR="0" rtl="0" algn="ctr">
                        <a:lnSpc>
                          <a:spcPct val="100000"/>
                        </a:lnSpc>
                        <a:spcBef>
                          <a:spcPts val="0"/>
                        </a:spcBef>
                        <a:spcAft>
                          <a:spcPts val="0"/>
                        </a:spcAft>
                        <a:buNone/>
                      </a:pPr>
                      <a:r>
                        <a:rPr lang="en-US" sz="900" u="none" cap="none" strike="noStrike">
                          <a:latin typeface="Arial"/>
                          <a:ea typeface="Arial"/>
                          <a:cs typeface="Arial"/>
                          <a:sym typeface="Arial"/>
                        </a:rPr>
                        <a:t>183</a:t>
                      </a:r>
                      <a:endParaRPr sz="900" u="none" cap="none" strike="noStrike">
                        <a:latin typeface="Arial"/>
                        <a:ea typeface="Arial"/>
                        <a:cs typeface="Arial"/>
                        <a:sym typeface="Arial"/>
                      </a:endParaRPr>
                    </a:p>
                  </a:txBody>
                  <a:tcPr marT="984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p>
                      <a:pPr indent="0" lvl="0" marL="3810" marR="0" rtl="0" algn="ctr">
                        <a:lnSpc>
                          <a:spcPct val="100000"/>
                        </a:lnSpc>
                        <a:spcBef>
                          <a:spcPts val="0"/>
                        </a:spcBef>
                        <a:spcAft>
                          <a:spcPts val="0"/>
                        </a:spcAft>
                        <a:buNone/>
                      </a:pPr>
                      <a:r>
                        <a:rPr lang="en-US" sz="900" u="none" cap="none" strike="noStrike">
                          <a:latin typeface="Arial"/>
                          <a:ea typeface="Arial"/>
                          <a:cs typeface="Arial"/>
                          <a:sym typeface="Arial"/>
                        </a:rPr>
                        <a:t>15</a:t>
                      </a:r>
                      <a:endParaRPr sz="900" u="none" cap="none" strike="noStrike">
                        <a:latin typeface="Arial"/>
                        <a:ea typeface="Arial"/>
                        <a:cs typeface="Arial"/>
                        <a:sym typeface="Arial"/>
                      </a:endParaRPr>
                    </a:p>
                  </a:txBody>
                  <a:tcPr marT="984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p>
                      <a:pPr indent="0" lvl="0" marL="4445" marR="0" rtl="0" algn="ctr">
                        <a:lnSpc>
                          <a:spcPct val="100000"/>
                        </a:lnSpc>
                        <a:spcBef>
                          <a:spcPts val="0"/>
                        </a:spcBef>
                        <a:spcAft>
                          <a:spcPts val="0"/>
                        </a:spcAft>
                        <a:buNone/>
                      </a:pPr>
                      <a:r>
                        <a:rPr lang="en-US" sz="900" u="none" cap="none" strike="noStrike">
                          <a:latin typeface="Arial"/>
                          <a:ea typeface="Arial"/>
                          <a:cs typeface="Arial"/>
                          <a:sym typeface="Arial"/>
                        </a:rPr>
                        <a:t>18515</a:t>
                      </a:r>
                      <a:endParaRPr sz="900" u="none" cap="none" strike="noStrike">
                        <a:latin typeface="Arial"/>
                        <a:ea typeface="Arial"/>
                        <a:cs typeface="Arial"/>
                        <a:sym typeface="Arial"/>
                      </a:endParaRPr>
                    </a:p>
                  </a:txBody>
                  <a:tcPr marT="984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p>
                      <a:pPr indent="0" lvl="0" marL="1270" marR="0" rtl="0" algn="ctr">
                        <a:lnSpc>
                          <a:spcPct val="100000"/>
                        </a:lnSpc>
                        <a:spcBef>
                          <a:spcPts val="0"/>
                        </a:spcBef>
                        <a:spcAft>
                          <a:spcPts val="0"/>
                        </a:spcAft>
                        <a:buNone/>
                      </a:pPr>
                      <a:r>
                        <a:rPr lang="en-US" sz="900" u="none" cap="none" strike="noStrike">
                          <a:latin typeface="Arial"/>
                          <a:ea typeface="Arial"/>
                          <a:cs typeface="Arial"/>
                          <a:sym typeface="Arial"/>
                        </a:rPr>
                        <a:t>515</a:t>
                      </a:r>
                      <a:endParaRPr sz="900" u="none" cap="none" strike="noStrike">
                        <a:latin typeface="Arial"/>
                        <a:ea typeface="Arial"/>
                        <a:cs typeface="Arial"/>
                        <a:sym typeface="Arial"/>
                      </a:endParaRPr>
                    </a:p>
                  </a:txBody>
                  <a:tcPr marT="984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1000" u="none" cap="none" strike="noStrike">
                          <a:solidFill>
                            <a:srgbClr val="000000"/>
                          </a:solidFill>
                          <a:latin typeface="Arial"/>
                          <a:ea typeface="Arial"/>
                          <a:cs typeface="Arial"/>
                          <a:sym typeface="Arial"/>
                        </a:rPr>
                        <a:t> </a:t>
                      </a:r>
                      <a:endParaRPr/>
                    </a:p>
                  </a:txBody>
                  <a:tcPr marT="5575" marB="0" marR="5575" marL="5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1000" u="none" cap="none" strike="noStrike">
                          <a:solidFill>
                            <a:srgbClr val="000000"/>
                          </a:solidFill>
                          <a:latin typeface="Arial"/>
                          <a:ea typeface="Arial"/>
                          <a:cs typeface="Arial"/>
                          <a:sym typeface="Arial"/>
                        </a:rPr>
                        <a:t> </a:t>
                      </a:r>
                      <a:endParaRPr/>
                    </a:p>
                  </a:txBody>
                  <a:tcPr marT="5575" marB="0" marR="5575" marL="5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91650">
                <a:tc>
                  <a:txBody>
                    <a:bodyPr/>
                    <a:lstStyle/>
                    <a:p>
                      <a:pPr indent="0" lvl="0" marL="0" marR="0" rtl="0" algn="ctr">
                        <a:lnSpc>
                          <a:spcPct val="159444"/>
                        </a:lnSpc>
                        <a:spcBef>
                          <a:spcPts val="0"/>
                        </a:spcBef>
                        <a:spcAft>
                          <a:spcPts val="0"/>
                        </a:spcAft>
                        <a:buNone/>
                      </a:pPr>
                      <a:r>
                        <a:rPr lang="en-US" sz="900" u="none" cap="none" strike="noStrike">
                          <a:latin typeface="Arial"/>
                          <a:ea typeface="Arial"/>
                          <a:cs typeface="Arial"/>
                          <a:sym typeface="Arial"/>
                        </a:rPr>
                        <a:t>T4KL01</a:t>
                      </a:r>
                      <a:endParaRPr sz="900" u="none" cap="none" strike="noStrike">
                        <a:latin typeface="Arial"/>
                        <a:ea typeface="Arial"/>
                        <a:cs typeface="Arial"/>
                        <a:sym typeface="Arial"/>
                      </a:endParaRPr>
                    </a:p>
                    <a:p>
                      <a:pPr indent="-3809" lvl="0" marL="5715" marR="0" rtl="0" algn="ctr">
                        <a:lnSpc>
                          <a:spcPct val="100000"/>
                        </a:lnSpc>
                        <a:spcBef>
                          <a:spcPts val="0"/>
                        </a:spcBef>
                        <a:spcAft>
                          <a:spcPts val="0"/>
                        </a:spcAft>
                        <a:buNone/>
                      </a:pPr>
                      <a:r>
                        <a:rPr lang="en-US" sz="900" u="none" cap="none" strike="noStrike">
                          <a:latin typeface="Arial"/>
                          <a:ea typeface="Arial"/>
                          <a:cs typeface="Arial"/>
                          <a:sym typeface="Arial"/>
                        </a:rPr>
                        <a:t>KNTHA P09R01 287</a:t>
                      </a:r>
                      <a:endParaRPr sz="9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59444"/>
                        </a:lnSpc>
                        <a:spcBef>
                          <a:spcPts val="0"/>
                        </a:spcBef>
                        <a:spcAft>
                          <a:spcPts val="0"/>
                        </a:spcAft>
                        <a:buNone/>
                      </a:pPr>
                      <a:r>
                        <a:rPr lang="en-US" sz="900" u="none" cap="none" strike="noStrike">
                          <a:latin typeface="Arial"/>
                          <a:ea typeface="Arial"/>
                          <a:cs typeface="Arial"/>
                          <a:sym typeface="Arial"/>
                        </a:rPr>
                        <a:t>T4KL01</a:t>
                      </a:r>
                      <a:endParaRPr sz="900" u="none" cap="none" strike="noStrike">
                        <a:latin typeface="Arial"/>
                        <a:ea typeface="Arial"/>
                        <a:cs typeface="Arial"/>
                        <a:sym typeface="Arial"/>
                      </a:endParaRPr>
                    </a:p>
                    <a:p>
                      <a:pPr indent="1904" lvl="0" marL="6350" marR="0" rtl="0" algn="ctr">
                        <a:lnSpc>
                          <a:spcPct val="100000"/>
                        </a:lnSpc>
                        <a:spcBef>
                          <a:spcPts val="0"/>
                        </a:spcBef>
                        <a:spcAft>
                          <a:spcPts val="0"/>
                        </a:spcAft>
                        <a:buNone/>
                      </a:pPr>
                      <a:r>
                        <a:rPr lang="en-US" sz="900" u="none" cap="none" strike="noStrike">
                          <a:latin typeface="Arial"/>
                          <a:ea typeface="Arial"/>
                          <a:cs typeface="Arial"/>
                          <a:sym typeface="Arial"/>
                        </a:rPr>
                        <a:t>KNTHAP 09R01287_C</a:t>
                      </a:r>
                      <a:endParaRPr sz="9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p>
                      <a:pPr indent="0" lvl="0" marL="1905" marR="0" rtl="0" algn="ctr">
                        <a:lnSpc>
                          <a:spcPct val="100000"/>
                        </a:lnSpc>
                        <a:spcBef>
                          <a:spcPts val="0"/>
                        </a:spcBef>
                        <a:spcAft>
                          <a:spcPts val="0"/>
                        </a:spcAft>
                        <a:buNone/>
                      </a:pPr>
                      <a:r>
                        <a:rPr lang="en-US" sz="900" u="none" cap="none" strike="noStrike">
                          <a:latin typeface="Arial"/>
                          <a:ea typeface="Arial"/>
                          <a:cs typeface="Arial"/>
                          <a:sym typeface="Arial"/>
                        </a:rPr>
                        <a:t>674971</a:t>
                      </a:r>
                      <a:endParaRPr sz="900" u="none" cap="none" strike="noStrike">
                        <a:latin typeface="Arial"/>
                        <a:ea typeface="Arial"/>
                        <a:cs typeface="Arial"/>
                        <a:sym typeface="Arial"/>
                      </a:endParaRPr>
                    </a:p>
                  </a:txBody>
                  <a:tcPr marT="76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lang="en-US" sz="900" u="none" cap="none" strike="noStrike">
                          <a:latin typeface="Arial"/>
                          <a:ea typeface="Arial"/>
                          <a:cs typeface="Arial"/>
                          <a:sym typeface="Arial"/>
                        </a:rPr>
                        <a:t>674971-2</a:t>
                      </a:r>
                      <a:endParaRPr sz="900" u="none" cap="none" strike="noStrike">
                        <a:latin typeface="Arial"/>
                        <a:ea typeface="Arial"/>
                        <a:cs typeface="Arial"/>
                        <a:sym typeface="Arial"/>
                      </a:endParaRPr>
                    </a:p>
                  </a:txBody>
                  <a:tcPr marT="76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lang="en-US" sz="900" u="none" cap="none" strike="noStrike">
                          <a:latin typeface="Arial"/>
                          <a:ea typeface="Arial"/>
                          <a:cs typeface="Arial"/>
                          <a:sym typeface="Arial"/>
                        </a:rPr>
                        <a:t>2</a:t>
                      </a:r>
                      <a:endParaRPr sz="900" u="none" cap="none" strike="noStrike">
                        <a:latin typeface="Arial"/>
                        <a:ea typeface="Arial"/>
                        <a:cs typeface="Arial"/>
                        <a:sym typeface="Arial"/>
                      </a:endParaRPr>
                    </a:p>
                  </a:txBody>
                  <a:tcPr marT="990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p>
                      <a:pPr indent="0" lvl="0" marL="3810" marR="0" rtl="0" algn="ctr">
                        <a:lnSpc>
                          <a:spcPct val="100000"/>
                        </a:lnSpc>
                        <a:spcBef>
                          <a:spcPts val="0"/>
                        </a:spcBef>
                        <a:spcAft>
                          <a:spcPts val="0"/>
                        </a:spcAft>
                        <a:buNone/>
                      </a:pPr>
                      <a:r>
                        <a:rPr lang="en-US" sz="900" u="none" cap="none" strike="noStrike">
                          <a:latin typeface="Arial"/>
                          <a:ea typeface="Arial"/>
                          <a:cs typeface="Arial"/>
                          <a:sym typeface="Arial"/>
                        </a:rPr>
                        <a:t>31743</a:t>
                      </a:r>
                      <a:endParaRPr sz="900" u="none" cap="none" strike="noStrike">
                        <a:latin typeface="Arial"/>
                        <a:ea typeface="Arial"/>
                        <a:cs typeface="Arial"/>
                        <a:sym typeface="Arial"/>
                      </a:endParaRPr>
                    </a:p>
                  </a:txBody>
                  <a:tcPr marT="990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p>
                      <a:pPr indent="0" lvl="0" marL="1905" marR="0" rtl="0" algn="ctr">
                        <a:lnSpc>
                          <a:spcPct val="100000"/>
                        </a:lnSpc>
                        <a:spcBef>
                          <a:spcPts val="0"/>
                        </a:spcBef>
                        <a:spcAft>
                          <a:spcPts val="0"/>
                        </a:spcAft>
                        <a:buNone/>
                      </a:pPr>
                      <a:r>
                        <a:rPr lang="en-US" sz="900" u="none" cap="none" strike="noStrike">
                          <a:latin typeface="Arial"/>
                          <a:ea typeface="Arial"/>
                          <a:cs typeface="Arial"/>
                          <a:sym typeface="Arial"/>
                        </a:rPr>
                        <a:t>38</a:t>
                      </a:r>
                      <a:endParaRPr sz="900" u="none" cap="none" strike="noStrike">
                        <a:latin typeface="Arial"/>
                        <a:ea typeface="Arial"/>
                        <a:cs typeface="Arial"/>
                        <a:sym typeface="Arial"/>
                      </a:endParaRPr>
                    </a:p>
                  </a:txBody>
                  <a:tcPr marT="990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p>
                      <a:pPr indent="0" lvl="0" marL="3175" marR="0" rtl="0" algn="ctr">
                        <a:lnSpc>
                          <a:spcPct val="100000"/>
                        </a:lnSpc>
                        <a:spcBef>
                          <a:spcPts val="0"/>
                        </a:spcBef>
                        <a:spcAft>
                          <a:spcPts val="0"/>
                        </a:spcAft>
                        <a:buNone/>
                      </a:pPr>
                      <a:r>
                        <a:rPr lang="en-US" sz="900" u="none" cap="none" strike="noStrike">
                          <a:latin typeface="Arial"/>
                          <a:ea typeface="Arial"/>
                          <a:cs typeface="Arial"/>
                          <a:sym typeface="Arial"/>
                        </a:rPr>
                        <a:t>22</a:t>
                      </a:r>
                      <a:endParaRPr sz="900" u="none" cap="none" strike="noStrike">
                        <a:latin typeface="Arial"/>
                        <a:ea typeface="Arial"/>
                        <a:cs typeface="Arial"/>
                        <a:sym typeface="Arial"/>
                      </a:endParaRPr>
                    </a:p>
                  </a:txBody>
                  <a:tcPr marT="990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p>
                      <a:pPr indent="0" lvl="0" marL="3810" marR="0" rtl="0" algn="ctr">
                        <a:lnSpc>
                          <a:spcPct val="100000"/>
                        </a:lnSpc>
                        <a:spcBef>
                          <a:spcPts val="0"/>
                        </a:spcBef>
                        <a:spcAft>
                          <a:spcPts val="0"/>
                        </a:spcAft>
                        <a:buNone/>
                      </a:pPr>
                      <a:r>
                        <a:rPr lang="en-US" sz="900" u="none" cap="none" strike="noStrike">
                          <a:latin typeface="Arial"/>
                          <a:ea typeface="Arial"/>
                          <a:cs typeface="Arial"/>
                          <a:sym typeface="Arial"/>
                        </a:rPr>
                        <a:t>15</a:t>
                      </a:r>
                      <a:endParaRPr sz="900" u="none" cap="none" strike="noStrike">
                        <a:latin typeface="Arial"/>
                        <a:ea typeface="Arial"/>
                        <a:cs typeface="Arial"/>
                        <a:sym typeface="Arial"/>
                      </a:endParaRPr>
                    </a:p>
                  </a:txBody>
                  <a:tcPr marT="990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p>
                      <a:pPr indent="0" lvl="0" marL="4445" marR="0" rtl="0" algn="ctr">
                        <a:lnSpc>
                          <a:spcPct val="100000"/>
                        </a:lnSpc>
                        <a:spcBef>
                          <a:spcPts val="0"/>
                        </a:spcBef>
                        <a:spcAft>
                          <a:spcPts val="0"/>
                        </a:spcAft>
                        <a:buNone/>
                      </a:pPr>
                      <a:r>
                        <a:rPr lang="en-US" sz="900" u="none" cap="none" strike="noStrike">
                          <a:latin typeface="Arial"/>
                          <a:ea typeface="Arial"/>
                          <a:cs typeface="Arial"/>
                          <a:sym typeface="Arial"/>
                        </a:rPr>
                        <a:t>18515</a:t>
                      </a:r>
                      <a:endParaRPr sz="900" u="none" cap="none" strike="noStrike">
                        <a:latin typeface="Arial"/>
                        <a:ea typeface="Arial"/>
                        <a:cs typeface="Arial"/>
                        <a:sym typeface="Arial"/>
                      </a:endParaRPr>
                    </a:p>
                  </a:txBody>
                  <a:tcPr marT="990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p>
                      <a:pPr indent="0" lvl="0" marL="1270" marR="0" rtl="0" algn="ctr">
                        <a:lnSpc>
                          <a:spcPct val="100000"/>
                        </a:lnSpc>
                        <a:spcBef>
                          <a:spcPts val="0"/>
                        </a:spcBef>
                        <a:spcAft>
                          <a:spcPts val="0"/>
                        </a:spcAft>
                        <a:buNone/>
                      </a:pPr>
                      <a:r>
                        <a:rPr lang="en-US" sz="900" u="none" cap="none" strike="noStrike">
                          <a:latin typeface="Arial"/>
                          <a:ea typeface="Arial"/>
                          <a:cs typeface="Arial"/>
                          <a:sym typeface="Arial"/>
                        </a:rPr>
                        <a:t>515</a:t>
                      </a:r>
                      <a:endParaRPr sz="900" u="none" cap="none" strike="noStrike">
                        <a:latin typeface="Arial"/>
                        <a:ea typeface="Arial"/>
                        <a:cs typeface="Arial"/>
                        <a:sym typeface="Arial"/>
                      </a:endParaRPr>
                    </a:p>
                  </a:txBody>
                  <a:tcPr marT="990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1000" u="none" cap="none" strike="noStrike">
                          <a:solidFill>
                            <a:srgbClr val="000000"/>
                          </a:solidFill>
                          <a:latin typeface="Arial"/>
                          <a:ea typeface="Arial"/>
                          <a:cs typeface="Arial"/>
                          <a:sym typeface="Arial"/>
                        </a:rPr>
                        <a:t> </a:t>
                      </a:r>
                      <a:endParaRPr/>
                    </a:p>
                  </a:txBody>
                  <a:tcPr marT="5575" marB="0" marR="5575" marL="5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1000" u="none" cap="none" strike="noStrike">
                          <a:solidFill>
                            <a:srgbClr val="000000"/>
                          </a:solidFill>
                          <a:latin typeface="Arial"/>
                          <a:ea typeface="Arial"/>
                          <a:cs typeface="Arial"/>
                          <a:sym typeface="Arial"/>
                        </a:rPr>
                        <a:t> </a:t>
                      </a:r>
                      <a:endParaRPr/>
                    </a:p>
                  </a:txBody>
                  <a:tcPr marT="5575" marB="0" marR="5575" marL="5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89" name="Shape 189"/>
        <p:cNvGrpSpPr/>
        <p:nvPr/>
      </p:nvGrpSpPr>
      <p:grpSpPr>
        <a:xfrm>
          <a:off x="0" y="0"/>
          <a:ext cx="0" cy="0"/>
          <a:chOff x="0" y="0"/>
          <a:chExt cx="0" cy="0"/>
        </a:xfrm>
      </p:grpSpPr>
      <p:sp>
        <p:nvSpPr>
          <p:cNvPr id="190" name="Google Shape;190;p19"/>
          <p:cNvSpPr txBox="1"/>
          <p:nvPr>
            <p:ph idx="11" type="ftr"/>
          </p:nvPr>
        </p:nvSpPr>
        <p:spPr>
          <a:xfrm>
            <a:off x="868476" y="9083316"/>
            <a:ext cx="1681480" cy="182245"/>
          </a:xfrm>
          <a:prstGeom prst="rect">
            <a:avLst/>
          </a:prstGeom>
          <a:noFill/>
          <a:ln>
            <a:noFill/>
          </a:ln>
        </p:spPr>
        <p:txBody>
          <a:bodyPr anchorCtr="0" anchor="t" bIns="0" lIns="0" spcFirstLastPara="1" rIns="0" wrap="square" tIns="0">
            <a:spAutoFit/>
          </a:bodyPr>
          <a:lstStyle/>
          <a:p>
            <a:pPr indent="0" lvl="0" marL="12700" rtl="0" algn="l">
              <a:lnSpc>
                <a:spcPct val="100000"/>
              </a:lnSpc>
              <a:spcBef>
                <a:spcPts val="0"/>
              </a:spcBef>
              <a:spcAft>
                <a:spcPts val="0"/>
              </a:spcAft>
              <a:buNone/>
            </a:pPr>
            <a:r>
              <a:rPr lang="en-US"/>
              <a:t>QAIN-11/31(14)/1/2023-CM</a:t>
            </a:r>
            <a:endParaRPr/>
          </a:p>
        </p:txBody>
      </p:sp>
      <p:sp>
        <p:nvSpPr>
          <p:cNvPr id="191" name="Google Shape;191;p19"/>
          <p:cNvSpPr txBox="1"/>
          <p:nvPr/>
        </p:nvSpPr>
        <p:spPr>
          <a:xfrm>
            <a:off x="5249926" y="414883"/>
            <a:ext cx="1609725" cy="379095"/>
          </a:xfrm>
          <a:prstGeom prst="rect">
            <a:avLst/>
          </a:prstGeom>
          <a:noFill/>
          <a:ln>
            <a:noFill/>
          </a:ln>
        </p:spPr>
        <p:txBody>
          <a:bodyPr anchorCtr="0" anchor="t" bIns="0" lIns="0" spcFirstLastPara="1" rIns="0" wrap="square" tIns="12050">
            <a:spAutoFit/>
          </a:bodyPr>
          <a:lstStyle/>
          <a:p>
            <a:pPr indent="61595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4G PHASE IX.2  eNode-B A/T SCHEDULE</a:t>
            </a:r>
            <a:endParaRPr sz="1100">
              <a:solidFill>
                <a:schemeClr val="dk1"/>
              </a:solidFill>
              <a:latin typeface="Arial"/>
              <a:ea typeface="Arial"/>
              <a:cs typeface="Arial"/>
              <a:sym typeface="Arial"/>
            </a:endParaRPr>
          </a:p>
        </p:txBody>
      </p:sp>
      <p:sp>
        <p:nvSpPr>
          <p:cNvPr id="192" name="Google Shape;192;p19"/>
          <p:cNvSpPr txBox="1"/>
          <p:nvPr/>
        </p:nvSpPr>
        <p:spPr>
          <a:xfrm>
            <a:off x="764844" y="1203934"/>
            <a:ext cx="6525259" cy="602615"/>
          </a:xfrm>
          <a:prstGeom prst="rect">
            <a:avLst/>
          </a:prstGeom>
          <a:noFill/>
          <a:ln>
            <a:noFill/>
          </a:ln>
        </p:spPr>
        <p:txBody>
          <a:bodyPr anchorCtr="0" anchor="t" bIns="0" lIns="0" spcFirstLastPara="1" rIns="0" wrap="square" tIns="49525">
            <a:spAutoFit/>
          </a:bodyPr>
          <a:lstStyle/>
          <a:p>
            <a:pPr indent="0" lvl="0" marL="12700" marR="0" rtl="0" algn="l">
              <a:lnSpc>
                <a:spcPct val="100000"/>
              </a:lnSpc>
              <a:spcBef>
                <a:spcPts val="0"/>
              </a:spcBef>
              <a:spcAft>
                <a:spcPts val="0"/>
              </a:spcAft>
              <a:buNone/>
            </a:pPr>
            <a:r>
              <a:rPr b="1" lang="en-US" sz="1100">
                <a:solidFill>
                  <a:schemeClr val="dk1"/>
                </a:solidFill>
                <a:latin typeface="Arial"/>
                <a:ea typeface="Arial"/>
                <a:cs typeface="Arial"/>
                <a:sym typeface="Arial"/>
              </a:rPr>
              <a:t>4.	Drive test procedure</a:t>
            </a:r>
            <a:endParaRPr sz="1100">
              <a:solidFill>
                <a:schemeClr val="dk1"/>
              </a:solidFill>
              <a:latin typeface="Arial"/>
              <a:ea typeface="Arial"/>
              <a:cs typeface="Arial"/>
              <a:sym typeface="Arial"/>
            </a:endParaRPr>
          </a:p>
          <a:p>
            <a:pPr indent="-55244" lvl="0" marL="241300" marR="5080" rtl="0" algn="l">
              <a:lnSpc>
                <a:spcPct val="100000"/>
              </a:lnSpc>
              <a:spcBef>
                <a:spcPts val="290"/>
              </a:spcBef>
              <a:spcAft>
                <a:spcPts val="0"/>
              </a:spcAft>
              <a:buNone/>
            </a:pPr>
            <a:r>
              <a:rPr lang="en-US" sz="1100">
                <a:solidFill>
                  <a:schemeClr val="dk1"/>
                </a:solidFill>
                <a:latin typeface="Arial"/>
                <a:ea typeface="Arial"/>
                <a:cs typeface="Arial"/>
                <a:sym typeface="Arial"/>
              </a:rPr>
              <a:t>The Drive Test will be done with NEMO/TEMS/X-CAL with Calibrated Mobiles. The phones will be in the  following modes</a:t>
            </a:r>
            <a:endParaRPr sz="1100">
              <a:solidFill>
                <a:schemeClr val="dk1"/>
              </a:solidFill>
              <a:latin typeface="Arial"/>
              <a:ea typeface="Arial"/>
              <a:cs typeface="Arial"/>
              <a:sym typeface="Arial"/>
            </a:endParaRPr>
          </a:p>
        </p:txBody>
      </p:sp>
      <p:graphicFrame>
        <p:nvGraphicFramePr>
          <p:cNvPr id="193" name="Google Shape;193;p19"/>
          <p:cNvGraphicFramePr/>
          <p:nvPr/>
        </p:nvGraphicFramePr>
        <p:xfrm>
          <a:off x="1051864" y="2118995"/>
          <a:ext cx="3000000" cy="3000000"/>
        </p:xfrm>
        <a:graphic>
          <a:graphicData uri="http://schemas.openxmlformats.org/drawingml/2006/table">
            <a:tbl>
              <a:tblPr bandRow="1" firstRow="1">
                <a:noFill/>
                <a:tableStyleId>{FBDFD955-5028-4EC1-B6FB-75A9DF07899A}</a:tableStyleId>
              </a:tblPr>
              <a:tblGrid>
                <a:gridCol w="820425"/>
                <a:gridCol w="1320800"/>
                <a:gridCol w="945525"/>
                <a:gridCol w="854075"/>
                <a:gridCol w="1927225"/>
              </a:tblGrid>
              <a:tr h="395600">
                <a:tc>
                  <a:txBody>
                    <a:bodyPr/>
                    <a:lstStyle/>
                    <a:p>
                      <a:pPr indent="0" lvl="0" marL="10795" marR="0" rtl="0" algn="ctr">
                        <a:lnSpc>
                          <a:spcPct val="113636"/>
                        </a:lnSpc>
                        <a:spcBef>
                          <a:spcPts val="0"/>
                        </a:spcBef>
                        <a:spcAft>
                          <a:spcPts val="0"/>
                        </a:spcAft>
                        <a:buNone/>
                      </a:pPr>
                      <a:r>
                        <a:rPr lang="en-US" sz="1100" u="none" cap="none" strike="noStrike">
                          <a:latin typeface="Arial"/>
                          <a:ea typeface="Arial"/>
                          <a:cs typeface="Arial"/>
                          <a:sym typeface="Arial"/>
                        </a:rPr>
                        <a:t>Device</a:t>
                      </a:r>
                      <a:endParaRPr sz="1100" u="none" cap="none" strike="noStrike">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18415" marR="0" rtl="0" algn="ctr">
                        <a:lnSpc>
                          <a:spcPct val="113636"/>
                        </a:lnSpc>
                        <a:spcBef>
                          <a:spcPts val="0"/>
                        </a:spcBef>
                        <a:spcAft>
                          <a:spcPts val="0"/>
                        </a:spcAft>
                        <a:buNone/>
                      </a:pPr>
                      <a:r>
                        <a:rPr lang="en-US" sz="1100" u="none" cap="none" strike="noStrike">
                          <a:latin typeface="Arial"/>
                          <a:ea typeface="Arial"/>
                          <a:cs typeface="Arial"/>
                          <a:sym typeface="Arial"/>
                        </a:rPr>
                        <a:t>Type of Call</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15240" marR="0" rtl="0" algn="ctr">
                        <a:lnSpc>
                          <a:spcPct val="113636"/>
                        </a:lnSpc>
                        <a:spcBef>
                          <a:spcPts val="0"/>
                        </a:spcBef>
                        <a:spcAft>
                          <a:spcPts val="0"/>
                        </a:spcAft>
                        <a:buNone/>
                      </a:pPr>
                      <a:r>
                        <a:rPr lang="en-US" sz="1100" u="none" cap="none" strike="noStrike">
                          <a:latin typeface="Arial"/>
                          <a:ea typeface="Arial"/>
                          <a:cs typeface="Arial"/>
                          <a:sym typeface="Arial"/>
                        </a:rPr>
                        <a:t>Operator Name</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10160" marR="0" rtl="0" algn="ctr">
                        <a:lnSpc>
                          <a:spcPct val="113636"/>
                        </a:lnSpc>
                        <a:spcBef>
                          <a:spcPts val="0"/>
                        </a:spcBef>
                        <a:spcAft>
                          <a:spcPts val="0"/>
                        </a:spcAft>
                        <a:buNone/>
                      </a:pPr>
                      <a:r>
                        <a:rPr lang="en-US" sz="1100" u="none" cap="none" strike="noStrike">
                          <a:latin typeface="Arial"/>
                          <a:ea typeface="Arial"/>
                          <a:cs typeface="Arial"/>
                          <a:sym typeface="Arial"/>
                        </a:rPr>
                        <a:t>Mode</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13970" marR="0" rtl="0" algn="ctr">
                        <a:lnSpc>
                          <a:spcPct val="113636"/>
                        </a:lnSpc>
                        <a:spcBef>
                          <a:spcPts val="0"/>
                        </a:spcBef>
                        <a:spcAft>
                          <a:spcPts val="0"/>
                        </a:spcAft>
                        <a:buNone/>
                      </a:pPr>
                      <a:r>
                        <a:rPr lang="en-US" sz="1100" u="none" cap="none" strike="noStrike">
                          <a:latin typeface="Arial"/>
                          <a:ea typeface="Arial"/>
                          <a:cs typeface="Arial"/>
                          <a:sym typeface="Arial"/>
                        </a:rPr>
                        <a:t>Comment</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17800">
                <a:tc>
                  <a:txBody>
                    <a:bodyPr/>
                    <a:lstStyle/>
                    <a:p>
                      <a:pPr indent="0" lvl="0" marL="13970" marR="0" rtl="0" algn="ctr">
                        <a:lnSpc>
                          <a:spcPct val="113636"/>
                        </a:lnSpc>
                        <a:spcBef>
                          <a:spcPts val="0"/>
                        </a:spcBef>
                        <a:spcAft>
                          <a:spcPts val="0"/>
                        </a:spcAft>
                        <a:buNone/>
                      </a:pPr>
                      <a:r>
                        <a:rPr lang="en-US" sz="1100" u="none" cap="none" strike="noStrike">
                          <a:latin typeface="Arial"/>
                          <a:ea typeface="Arial"/>
                          <a:cs typeface="Arial"/>
                          <a:sym typeface="Arial"/>
                        </a:rPr>
                        <a:t>MS1</a:t>
                      </a:r>
                      <a:endParaRPr sz="1100" u="none" cap="none" strike="noStrike">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0795" marR="0" rtl="0" algn="ctr">
                        <a:lnSpc>
                          <a:spcPct val="113636"/>
                        </a:lnSpc>
                        <a:spcBef>
                          <a:spcPts val="0"/>
                        </a:spcBef>
                        <a:spcAft>
                          <a:spcPts val="0"/>
                        </a:spcAft>
                        <a:buNone/>
                      </a:pPr>
                      <a:r>
                        <a:rPr lang="en-US" sz="1100" u="none" cap="none" strike="noStrike">
                          <a:latin typeface="Arial"/>
                          <a:ea typeface="Arial"/>
                          <a:cs typeface="Arial"/>
                          <a:sym typeface="Arial"/>
                        </a:rPr>
                        <a:t>Volte Call Short</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13690" marR="0" rtl="0" algn="l">
                        <a:lnSpc>
                          <a:spcPct val="100000"/>
                        </a:lnSpc>
                        <a:spcBef>
                          <a:spcPts val="0"/>
                        </a:spcBef>
                        <a:spcAft>
                          <a:spcPts val="0"/>
                        </a:spcAft>
                        <a:buNone/>
                      </a:pPr>
                      <a:r>
                        <a:rPr lang="en-US" sz="1100" u="none" cap="none" strike="noStrike">
                          <a:latin typeface="Arial"/>
                          <a:ea typeface="Arial"/>
                          <a:cs typeface="Arial"/>
                          <a:sym typeface="Arial"/>
                        </a:rPr>
                        <a:t>BSNL</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9685" marR="0" rtl="0" algn="ctr">
                        <a:lnSpc>
                          <a:spcPct val="113636"/>
                        </a:lnSpc>
                        <a:spcBef>
                          <a:spcPts val="0"/>
                        </a:spcBef>
                        <a:spcAft>
                          <a:spcPts val="0"/>
                        </a:spcAft>
                        <a:buNone/>
                      </a:pPr>
                      <a:r>
                        <a:rPr lang="en-US" sz="1100" u="none" cap="none" strike="noStrike">
                          <a:latin typeface="Arial"/>
                          <a:ea typeface="Arial"/>
                          <a:cs typeface="Arial"/>
                          <a:sym typeface="Arial"/>
                        </a:rPr>
                        <a:t>LTE</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540" marR="0" rtl="0" algn="l">
                        <a:lnSpc>
                          <a:spcPct val="118181"/>
                        </a:lnSpc>
                        <a:spcBef>
                          <a:spcPts val="0"/>
                        </a:spcBef>
                        <a:spcAft>
                          <a:spcPts val="0"/>
                        </a:spcAft>
                        <a:buNone/>
                      </a:pPr>
                      <a:r>
                        <a:rPr lang="en-US" sz="1100" u="none" cap="none" strike="noStrike">
                          <a:latin typeface="Times New Roman"/>
                          <a:ea typeface="Times New Roman"/>
                          <a:cs typeface="Times New Roman"/>
                          <a:sym typeface="Times New Roman"/>
                        </a:rPr>
                        <a:t>YES ( 30 s interval /5s hold )</a:t>
                      </a:r>
                      <a:endParaRPr sz="11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7750">
                <a:tc>
                  <a:txBody>
                    <a:bodyPr/>
                    <a:lstStyle/>
                    <a:p>
                      <a:pPr indent="0" lvl="0" marL="13970" marR="0" rtl="0" algn="ctr">
                        <a:lnSpc>
                          <a:spcPct val="113636"/>
                        </a:lnSpc>
                        <a:spcBef>
                          <a:spcPts val="0"/>
                        </a:spcBef>
                        <a:spcAft>
                          <a:spcPts val="0"/>
                        </a:spcAft>
                        <a:buNone/>
                      </a:pPr>
                      <a:r>
                        <a:rPr lang="en-US" sz="1100" u="none" cap="none" strike="noStrike">
                          <a:latin typeface="Arial"/>
                          <a:ea typeface="Arial"/>
                          <a:cs typeface="Arial"/>
                          <a:sym typeface="Arial"/>
                        </a:rPr>
                        <a:t>MS2</a:t>
                      </a:r>
                      <a:endParaRPr sz="1100" u="none" cap="none" strike="noStrike">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3334" marR="0" rtl="0" algn="ctr">
                        <a:lnSpc>
                          <a:spcPct val="113636"/>
                        </a:lnSpc>
                        <a:spcBef>
                          <a:spcPts val="0"/>
                        </a:spcBef>
                        <a:spcAft>
                          <a:spcPts val="0"/>
                        </a:spcAft>
                        <a:buNone/>
                      </a:pPr>
                      <a:r>
                        <a:rPr lang="en-US" sz="1100" u="none" cap="none" strike="noStrike">
                          <a:latin typeface="Arial"/>
                          <a:ea typeface="Arial"/>
                          <a:cs typeface="Arial"/>
                          <a:sym typeface="Arial"/>
                        </a:rPr>
                        <a:t>Volte Call Long</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6510" marR="0" rtl="0" algn="ctr">
                        <a:lnSpc>
                          <a:spcPct val="113636"/>
                        </a:lnSpc>
                        <a:spcBef>
                          <a:spcPts val="0"/>
                        </a:spcBef>
                        <a:spcAft>
                          <a:spcPts val="0"/>
                        </a:spcAft>
                        <a:buNone/>
                      </a:pPr>
                      <a:r>
                        <a:rPr lang="en-US" sz="1100" u="none" cap="none" strike="noStrike">
                          <a:latin typeface="Arial"/>
                          <a:ea typeface="Arial"/>
                          <a:cs typeface="Arial"/>
                          <a:sym typeface="Arial"/>
                        </a:rPr>
                        <a:t>BSNL</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9685" marR="0" rtl="0" algn="ctr">
                        <a:lnSpc>
                          <a:spcPct val="113636"/>
                        </a:lnSpc>
                        <a:spcBef>
                          <a:spcPts val="0"/>
                        </a:spcBef>
                        <a:spcAft>
                          <a:spcPts val="0"/>
                        </a:spcAft>
                        <a:buNone/>
                      </a:pPr>
                      <a:r>
                        <a:rPr lang="en-US" sz="1100" u="none" cap="none" strike="noStrike">
                          <a:latin typeface="Arial"/>
                          <a:ea typeface="Arial"/>
                          <a:cs typeface="Arial"/>
                          <a:sym typeface="Arial"/>
                        </a:rPr>
                        <a:t>LTE</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9370" marR="0" rtl="0" algn="l">
                        <a:lnSpc>
                          <a:spcPct val="115909"/>
                        </a:lnSpc>
                        <a:spcBef>
                          <a:spcPts val="0"/>
                        </a:spcBef>
                        <a:spcAft>
                          <a:spcPts val="0"/>
                        </a:spcAft>
                        <a:buNone/>
                      </a:pPr>
                      <a:r>
                        <a:rPr lang="en-US" sz="1100" u="none" cap="none" strike="noStrike">
                          <a:latin typeface="Times New Roman"/>
                          <a:ea typeface="Times New Roman"/>
                          <a:cs typeface="Times New Roman"/>
                          <a:sym typeface="Times New Roman"/>
                        </a:rPr>
                        <a:t>YES</a:t>
                      </a:r>
                      <a:endParaRPr sz="11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49925">
                <a:tc>
                  <a:txBody>
                    <a:bodyPr/>
                    <a:lstStyle/>
                    <a:p>
                      <a:pPr indent="0" lvl="0" marL="13970" marR="0" rtl="0" algn="ctr">
                        <a:lnSpc>
                          <a:spcPct val="113636"/>
                        </a:lnSpc>
                        <a:spcBef>
                          <a:spcPts val="0"/>
                        </a:spcBef>
                        <a:spcAft>
                          <a:spcPts val="0"/>
                        </a:spcAft>
                        <a:buNone/>
                      </a:pPr>
                      <a:r>
                        <a:rPr lang="en-US" sz="1100" u="none" cap="none" strike="noStrike">
                          <a:latin typeface="Arial"/>
                          <a:ea typeface="Arial"/>
                          <a:cs typeface="Arial"/>
                          <a:sym typeface="Arial"/>
                        </a:rPr>
                        <a:t>MS3</a:t>
                      </a:r>
                      <a:endParaRPr sz="1100" u="none" cap="none" strike="noStrike">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16510" marR="0" rtl="0" algn="ctr">
                        <a:lnSpc>
                          <a:spcPct val="113636"/>
                        </a:lnSpc>
                        <a:spcBef>
                          <a:spcPts val="0"/>
                        </a:spcBef>
                        <a:spcAft>
                          <a:spcPts val="0"/>
                        </a:spcAft>
                        <a:buNone/>
                      </a:pPr>
                      <a:r>
                        <a:rPr lang="en-US" sz="1100" u="none" cap="none" strike="noStrike">
                          <a:latin typeface="Arial"/>
                          <a:ea typeface="Arial"/>
                          <a:cs typeface="Arial"/>
                          <a:sym typeface="Arial"/>
                        </a:rPr>
                        <a:t>Data Download</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16510" marR="0" rtl="0" algn="ctr">
                        <a:lnSpc>
                          <a:spcPct val="113636"/>
                        </a:lnSpc>
                        <a:spcBef>
                          <a:spcPts val="0"/>
                        </a:spcBef>
                        <a:spcAft>
                          <a:spcPts val="0"/>
                        </a:spcAft>
                        <a:buNone/>
                      </a:pPr>
                      <a:r>
                        <a:rPr lang="en-US" sz="1100" u="none" cap="none" strike="noStrike">
                          <a:latin typeface="Arial"/>
                          <a:ea typeface="Arial"/>
                          <a:cs typeface="Arial"/>
                          <a:sym typeface="Arial"/>
                        </a:rPr>
                        <a:t>BSNL</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19685" marR="0" rtl="0" algn="ctr">
                        <a:lnSpc>
                          <a:spcPct val="113636"/>
                        </a:lnSpc>
                        <a:spcBef>
                          <a:spcPts val="0"/>
                        </a:spcBef>
                        <a:spcAft>
                          <a:spcPts val="0"/>
                        </a:spcAft>
                        <a:buNone/>
                      </a:pPr>
                      <a:r>
                        <a:rPr lang="en-US" sz="1100" u="none" cap="none" strike="noStrike">
                          <a:latin typeface="Arial"/>
                          <a:ea typeface="Arial"/>
                          <a:cs typeface="Arial"/>
                          <a:sym typeface="Arial"/>
                        </a:rPr>
                        <a:t>LTE</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39370" marR="0" rtl="0" algn="l">
                        <a:lnSpc>
                          <a:spcPct val="113636"/>
                        </a:lnSpc>
                        <a:spcBef>
                          <a:spcPts val="0"/>
                        </a:spcBef>
                        <a:spcAft>
                          <a:spcPts val="0"/>
                        </a:spcAft>
                        <a:buNone/>
                      </a:pPr>
                      <a:r>
                        <a:rPr lang="en-US" sz="1100" u="none" cap="none" strike="noStrike">
                          <a:latin typeface="Times New Roman"/>
                          <a:ea typeface="Times New Roman"/>
                          <a:cs typeface="Times New Roman"/>
                          <a:sym typeface="Times New Roman"/>
                        </a:rPr>
                        <a:t>YES</a:t>
                      </a:r>
                      <a:endParaRPr sz="11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194" name="Google Shape;194;p19"/>
          <p:cNvSpPr txBox="1"/>
          <p:nvPr/>
        </p:nvSpPr>
        <p:spPr>
          <a:xfrm>
            <a:off x="685596" y="376781"/>
            <a:ext cx="2286204" cy="370999"/>
          </a:xfrm>
          <a:prstGeom prst="rect">
            <a:avLst/>
          </a:prstGeom>
          <a:noFill/>
          <a:ln>
            <a:noFill/>
          </a:ln>
        </p:spPr>
        <p:txBody>
          <a:bodyPr anchorCtr="0" anchor="t" bIns="0" lIns="0" spcFirstLastPara="1" rIns="0" wrap="square" tIns="12050">
            <a:spAutoFit/>
          </a:bodyPr>
          <a:lstStyle/>
          <a:p>
            <a:pPr indent="254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QA &amp; INSPECTION CIRCLE KL 	</a:t>
            </a:r>
            <a:endParaRPr sz="1100">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0"/>
          <p:cNvSpPr txBox="1"/>
          <p:nvPr>
            <p:ph idx="11" type="ftr"/>
          </p:nvPr>
        </p:nvSpPr>
        <p:spPr>
          <a:xfrm>
            <a:off x="868476" y="9083316"/>
            <a:ext cx="1681480" cy="182245"/>
          </a:xfrm>
          <a:prstGeom prst="rect">
            <a:avLst/>
          </a:prstGeom>
          <a:noFill/>
          <a:ln>
            <a:noFill/>
          </a:ln>
        </p:spPr>
        <p:txBody>
          <a:bodyPr anchorCtr="0" anchor="t" bIns="0" lIns="0" spcFirstLastPara="1" rIns="0" wrap="square" tIns="0">
            <a:spAutoFit/>
          </a:bodyPr>
          <a:lstStyle/>
          <a:p>
            <a:pPr indent="0" lvl="0" marL="12700" rtl="0" algn="l">
              <a:lnSpc>
                <a:spcPct val="100000"/>
              </a:lnSpc>
              <a:spcBef>
                <a:spcPts val="0"/>
              </a:spcBef>
              <a:spcAft>
                <a:spcPts val="0"/>
              </a:spcAft>
              <a:buNone/>
            </a:pPr>
            <a:r>
              <a:rPr lang="en-US"/>
              <a:t>QAIN-11/31(14)/1/2023-CM</a:t>
            </a:r>
            <a:endParaRPr/>
          </a:p>
        </p:txBody>
      </p:sp>
      <p:sp>
        <p:nvSpPr>
          <p:cNvPr id="200" name="Google Shape;200;p20"/>
          <p:cNvSpPr txBox="1"/>
          <p:nvPr/>
        </p:nvSpPr>
        <p:spPr>
          <a:xfrm>
            <a:off x="5249926" y="414883"/>
            <a:ext cx="1609725" cy="379095"/>
          </a:xfrm>
          <a:prstGeom prst="rect">
            <a:avLst/>
          </a:prstGeom>
          <a:noFill/>
          <a:ln>
            <a:noFill/>
          </a:ln>
        </p:spPr>
        <p:txBody>
          <a:bodyPr anchorCtr="0" anchor="t" bIns="0" lIns="0" spcFirstLastPara="1" rIns="0" wrap="square" tIns="12050">
            <a:spAutoFit/>
          </a:bodyPr>
          <a:lstStyle/>
          <a:p>
            <a:pPr indent="61595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4G PHASE IX.2  eNode-B A/T SCHEDULE</a:t>
            </a:r>
            <a:endParaRPr sz="1100">
              <a:solidFill>
                <a:schemeClr val="dk1"/>
              </a:solidFill>
              <a:latin typeface="Arial"/>
              <a:ea typeface="Arial"/>
              <a:cs typeface="Arial"/>
              <a:sym typeface="Arial"/>
            </a:endParaRPr>
          </a:p>
        </p:txBody>
      </p:sp>
      <p:sp>
        <p:nvSpPr>
          <p:cNvPr id="201" name="Google Shape;201;p20"/>
          <p:cNvSpPr txBox="1"/>
          <p:nvPr/>
        </p:nvSpPr>
        <p:spPr>
          <a:xfrm>
            <a:off x="685596" y="376781"/>
            <a:ext cx="2286204" cy="370999"/>
          </a:xfrm>
          <a:prstGeom prst="rect">
            <a:avLst/>
          </a:prstGeom>
          <a:noFill/>
          <a:ln>
            <a:noFill/>
          </a:ln>
        </p:spPr>
        <p:txBody>
          <a:bodyPr anchorCtr="0" anchor="t" bIns="0" lIns="0" spcFirstLastPara="1" rIns="0" wrap="square" tIns="12050">
            <a:spAutoFit/>
          </a:bodyPr>
          <a:lstStyle/>
          <a:p>
            <a:pPr indent="254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QA &amp; INSPECTION CIRCLE KL 	</a:t>
            </a:r>
            <a:endParaRPr sz="1100">
              <a:solidFill>
                <a:schemeClr val="dk1"/>
              </a:solidFill>
              <a:latin typeface="Arial"/>
              <a:ea typeface="Arial"/>
              <a:cs typeface="Arial"/>
              <a:sym typeface="Arial"/>
            </a:endParaRPr>
          </a:p>
        </p:txBody>
      </p:sp>
      <p:sp>
        <p:nvSpPr>
          <p:cNvPr id="202" name="Google Shape;202;p20"/>
          <p:cNvSpPr txBox="1"/>
          <p:nvPr/>
        </p:nvSpPr>
        <p:spPr>
          <a:xfrm>
            <a:off x="533400" y="1219200"/>
            <a:ext cx="1759585" cy="421640"/>
          </a:xfrm>
          <a:prstGeom prst="rect">
            <a:avLst/>
          </a:prstGeom>
          <a:noFill/>
          <a:ln>
            <a:noFill/>
          </a:ln>
        </p:spPr>
        <p:txBody>
          <a:bodyPr anchorCtr="0" anchor="t" bIns="0" lIns="0" spcFirstLastPara="1" rIns="0" wrap="square" tIns="12050">
            <a:spAutoFit/>
          </a:bodyPr>
          <a:lstStyle/>
          <a:p>
            <a:pPr indent="-344805" lvl="0" marL="356870" marR="5080" rtl="0" algn="l">
              <a:lnSpc>
                <a:spcPct val="118200"/>
              </a:lnSpc>
              <a:spcBef>
                <a:spcPts val="0"/>
              </a:spcBef>
              <a:spcAft>
                <a:spcPts val="0"/>
              </a:spcAft>
              <a:buNone/>
            </a:pPr>
            <a:r>
              <a:rPr b="1" lang="en-US" sz="1100">
                <a:solidFill>
                  <a:schemeClr val="dk1"/>
                </a:solidFill>
                <a:latin typeface="Arial"/>
                <a:ea typeface="Arial"/>
                <a:cs typeface="Arial"/>
                <a:sym typeface="Arial"/>
              </a:rPr>
              <a:t>5.	Drive test plots  </a:t>
            </a:r>
            <a:r>
              <a:rPr b="1" lang="en-US" sz="1100">
                <a:solidFill>
                  <a:srgbClr val="00ADED"/>
                </a:solidFill>
                <a:latin typeface="Arial"/>
                <a:ea typeface="Arial"/>
                <a:cs typeface="Arial"/>
                <a:sym typeface="Arial"/>
              </a:rPr>
              <a:t>Prediction Plot-RSRP</a:t>
            </a:r>
            <a:endParaRPr sz="1100">
              <a:solidFill>
                <a:schemeClr val="dk1"/>
              </a:solidFill>
              <a:latin typeface="Arial"/>
              <a:ea typeface="Arial"/>
              <a:cs typeface="Arial"/>
              <a:sym typeface="Arial"/>
            </a:endParaRPr>
          </a:p>
        </p:txBody>
      </p:sp>
      <p:grpSp>
        <p:nvGrpSpPr>
          <p:cNvPr id="203" name="Google Shape;203;p20"/>
          <p:cNvGrpSpPr/>
          <p:nvPr/>
        </p:nvGrpSpPr>
        <p:grpSpPr>
          <a:xfrm>
            <a:off x="762000" y="1748111"/>
            <a:ext cx="6272783" cy="6633887"/>
            <a:chOff x="762000" y="1748111"/>
            <a:chExt cx="6272783" cy="6633887"/>
          </a:xfrm>
        </p:grpSpPr>
        <p:pic>
          <p:nvPicPr>
            <p:cNvPr id="204" name="Google Shape;204;p20"/>
            <p:cNvPicPr preferRelativeResize="0"/>
            <p:nvPr/>
          </p:nvPicPr>
          <p:blipFill rotWithShape="1">
            <a:blip r:embed="rId3">
              <a:alphaModFix/>
            </a:blip>
            <a:srcRect b="0" l="0" r="0" t="0"/>
            <a:stretch/>
          </p:blipFill>
          <p:spPr>
            <a:xfrm>
              <a:off x="775203" y="1748111"/>
              <a:ext cx="6221992" cy="6571033"/>
            </a:xfrm>
            <a:prstGeom prst="rect">
              <a:avLst/>
            </a:prstGeom>
            <a:noFill/>
            <a:ln>
              <a:noFill/>
            </a:ln>
          </p:spPr>
        </p:pic>
        <p:pic>
          <p:nvPicPr>
            <p:cNvPr id="205" name="Google Shape;205;p20"/>
            <p:cNvPicPr preferRelativeResize="0"/>
            <p:nvPr/>
          </p:nvPicPr>
          <p:blipFill rotWithShape="1">
            <a:blip r:embed="rId4">
              <a:alphaModFix/>
            </a:blip>
            <a:srcRect b="0" l="0" r="0" t="0"/>
            <a:stretch/>
          </p:blipFill>
          <p:spPr>
            <a:xfrm>
              <a:off x="5638800" y="7717535"/>
              <a:ext cx="1395983" cy="664463"/>
            </a:xfrm>
            <a:prstGeom prst="rect">
              <a:avLst/>
            </a:prstGeom>
            <a:noFill/>
            <a:ln>
              <a:noFill/>
            </a:ln>
          </p:spPr>
        </p:pic>
        <p:pic>
          <p:nvPicPr>
            <p:cNvPr id="206" name="Google Shape;206;p20"/>
            <p:cNvPicPr preferRelativeResize="0"/>
            <p:nvPr/>
          </p:nvPicPr>
          <p:blipFill rotWithShape="1">
            <a:blip r:embed="rId5">
              <a:alphaModFix/>
            </a:blip>
            <a:srcRect b="0" l="0" r="0" t="0"/>
            <a:stretch/>
          </p:blipFill>
          <p:spPr>
            <a:xfrm>
              <a:off x="762000" y="1749551"/>
              <a:ext cx="1319784" cy="362711"/>
            </a:xfrm>
            <a:prstGeom prst="rect">
              <a:avLst/>
            </a:prstGeom>
            <a:noFill/>
            <a:ln>
              <a:noFill/>
            </a:ln>
          </p:spPr>
        </p:pic>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1"/>
          <p:cNvSpPr txBox="1"/>
          <p:nvPr/>
        </p:nvSpPr>
        <p:spPr>
          <a:xfrm>
            <a:off x="5251450" y="408177"/>
            <a:ext cx="1603375" cy="370840"/>
          </a:xfrm>
          <a:prstGeom prst="rect">
            <a:avLst/>
          </a:prstGeom>
          <a:noFill/>
          <a:ln>
            <a:noFill/>
          </a:ln>
        </p:spPr>
        <p:txBody>
          <a:bodyPr anchorCtr="0" anchor="t" bIns="0" lIns="0" spcFirstLastPara="1" rIns="0" wrap="square" tIns="12700">
            <a:spAutoFit/>
          </a:bodyPr>
          <a:lstStyle/>
          <a:p>
            <a:pPr indent="0" lvl="0" marL="0" marR="5080" rtl="0" algn="r">
              <a:lnSpc>
                <a:spcPct val="100000"/>
              </a:lnSpc>
              <a:spcBef>
                <a:spcPts val="0"/>
              </a:spcBef>
              <a:spcAft>
                <a:spcPts val="0"/>
              </a:spcAft>
              <a:buNone/>
            </a:pPr>
            <a:r>
              <a:rPr lang="en-US" sz="1100">
                <a:solidFill>
                  <a:schemeClr val="dk1"/>
                </a:solidFill>
                <a:latin typeface="Arial"/>
                <a:ea typeface="Arial"/>
                <a:cs typeface="Arial"/>
                <a:sym typeface="Arial"/>
              </a:rPr>
              <a:t>4G PHASE IX.2</a:t>
            </a:r>
            <a:endParaRPr sz="1100">
              <a:solidFill>
                <a:schemeClr val="dk1"/>
              </a:solidFill>
              <a:latin typeface="Arial"/>
              <a:ea typeface="Arial"/>
              <a:cs typeface="Arial"/>
              <a:sym typeface="Arial"/>
            </a:endParaRPr>
          </a:p>
          <a:p>
            <a:pPr indent="0" lvl="0" marL="0" marR="10160" rtl="0" algn="r">
              <a:lnSpc>
                <a:spcPct val="100000"/>
              </a:lnSpc>
              <a:spcBef>
                <a:spcPts val="75"/>
              </a:spcBef>
              <a:spcAft>
                <a:spcPts val="0"/>
              </a:spcAft>
              <a:buNone/>
            </a:pPr>
            <a:r>
              <a:rPr lang="en-US" sz="1100">
                <a:solidFill>
                  <a:schemeClr val="dk1"/>
                </a:solidFill>
                <a:latin typeface="Arial"/>
                <a:ea typeface="Arial"/>
                <a:cs typeface="Arial"/>
                <a:sym typeface="Arial"/>
              </a:rPr>
              <a:t>eNode-B A/T SCHEDULE</a:t>
            </a:r>
            <a:endParaRPr sz="1100">
              <a:solidFill>
                <a:schemeClr val="dk1"/>
              </a:solidFill>
              <a:latin typeface="Arial"/>
              <a:ea typeface="Arial"/>
              <a:cs typeface="Arial"/>
              <a:sym typeface="Arial"/>
            </a:endParaRPr>
          </a:p>
        </p:txBody>
      </p:sp>
      <p:sp>
        <p:nvSpPr>
          <p:cNvPr id="212" name="Google Shape;212;p21"/>
          <p:cNvSpPr txBox="1"/>
          <p:nvPr/>
        </p:nvSpPr>
        <p:spPr>
          <a:xfrm>
            <a:off x="754786" y="1228089"/>
            <a:ext cx="1421765" cy="19367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US" sz="1100">
                <a:solidFill>
                  <a:srgbClr val="00ACEC"/>
                </a:solidFill>
                <a:latin typeface="Arial"/>
                <a:ea typeface="Arial"/>
                <a:cs typeface="Arial"/>
                <a:sym typeface="Arial"/>
              </a:rPr>
              <a:t>Prediction Plot-RSRQ</a:t>
            </a:r>
            <a:endParaRPr sz="1100">
              <a:solidFill>
                <a:schemeClr val="dk1"/>
              </a:solidFill>
              <a:latin typeface="Arial"/>
              <a:ea typeface="Arial"/>
              <a:cs typeface="Arial"/>
              <a:sym typeface="Arial"/>
            </a:endParaRPr>
          </a:p>
        </p:txBody>
      </p:sp>
      <p:sp>
        <p:nvSpPr>
          <p:cNvPr id="213" name="Google Shape;213;p21"/>
          <p:cNvSpPr txBox="1"/>
          <p:nvPr/>
        </p:nvSpPr>
        <p:spPr>
          <a:xfrm>
            <a:off x="688340" y="370077"/>
            <a:ext cx="1954530" cy="19367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100">
                <a:solidFill>
                  <a:schemeClr val="dk1"/>
                </a:solidFill>
                <a:latin typeface="Arial"/>
                <a:ea typeface="Arial"/>
                <a:cs typeface="Arial"/>
                <a:sym typeface="Arial"/>
              </a:rPr>
              <a:t>QA &amp; INSPECTION CIRCLE KL</a:t>
            </a:r>
            <a:endParaRPr sz="1100">
              <a:solidFill>
                <a:schemeClr val="dk1"/>
              </a:solidFill>
              <a:latin typeface="Arial"/>
              <a:ea typeface="Arial"/>
              <a:cs typeface="Arial"/>
              <a:sym typeface="Arial"/>
            </a:endParaRPr>
          </a:p>
        </p:txBody>
      </p:sp>
      <p:sp>
        <p:nvSpPr>
          <p:cNvPr id="214" name="Google Shape;214;p21"/>
          <p:cNvSpPr txBox="1"/>
          <p:nvPr>
            <p:ph idx="11" type="ftr"/>
          </p:nvPr>
        </p:nvSpPr>
        <p:spPr>
          <a:xfrm>
            <a:off x="868476" y="9083316"/>
            <a:ext cx="1681480" cy="182245"/>
          </a:xfrm>
          <a:prstGeom prst="rect">
            <a:avLst/>
          </a:prstGeom>
          <a:noFill/>
          <a:ln>
            <a:noFill/>
          </a:ln>
        </p:spPr>
        <p:txBody>
          <a:bodyPr anchorCtr="0" anchor="t" bIns="0" lIns="0" spcFirstLastPara="1" rIns="0" wrap="square" tIns="0">
            <a:spAutoFit/>
          </a:bodyPr>
          <a:lstStyle/>
          <a:p>
            <a:pPr indent="0" lvl="0" marL="12700" rtl="0" algn="l">
              <a:lnSpc>
                <a:spcPct val="100000"/>
              </a:lnSpc>
              <a:spcBef>
                <a:spcPts val="0"/>
              </a:spcBef>
              <a:spcAft>
                <a:spcPts val="0"/>
              </a:spcAft>
              <a:buNone/>
            </a:pPr>
            <a:r>
              <a:rPr lang="en-US"/>
              <a:t>QAIN-11/31(14)/1/2023-CM</a:t>
            </a:r>
            <a:endParaRPr/>
          </a:p>
        </p:txBody>
      </p:sp>
      <p:grpSp>
        <p:nvGrpSpPr>
          <p:cNvPr id="215" name="Google Shape;215;p21"/>
          <p:cNvGrpSpPr/>
          <p:nvPr/>
        </p:nvGrpSpPr>
        <p:grpSpPr>
          <a:xfrm>
            <a:off x="868680" y="2057400"/>
            <a:ext cx="6016751" cy="6172200"/>
            <a:chOff x="868680" y="2057400"/>
            <a:chExt cx="6016751" cy="6172200"/>
          </a:xfrm>
        </p:grpSpPr>
        <p:pic>
          <p:nvPicPr>
            <p:cNvPr id="216" name="Google Shape;216;p21"/>
            <p:cNvPicPr preferRelativeResize="0"/>
            <p:nvPr/>
          </p:nvPicPr>
          <p:blipFill rotWithShape="1">
            <a:blip r:embed="rId3">
              <a:alphaModFix/>
            </a:blip>
            <a:srcRect b="0" l="0" r="0" t="0"/>
            <a:stretch/>
          </p:blipFill>
          <p:spPr>
            <a:xfrm>
              <a:off x="868680" y="2057400"/>
              <a:ext cx="5992368" cy="6172200"/>
            </a:xfrm>
            <a:prstGeom prst="rect">
              <a:avLst/>
            </a:prstGeom>
            <a:noFill/>
            <a:ln>
              <a:noFill/>
            </a:ln>
          </p:spPr>
        </p:pic>
        <p:pic>
          <p:nvPicPr>
            <p:cNvPr id="217" name="Google Shape;217;p21"/>
            <p:cNvPicPr preferRelativeResize="0"/>
            <p:nvPr/>
          </p:nvPicPr>
          <p:blipFill rotWithShape="1">
            <a:blip r:embed="rId4">
              <a:alphaModFix/>
            </a:blip>
            <a:srcRect b="0" l="0" r="0" t="0"/>
            <a:stretch/>
          </p:blipFill>
          <p:spPr>
            <a:xfrm>
              <a:off x="5657088" y="2103119"/>
              <a:ext cx="1228343" cy="286511"/>
            </a:xfrm>
            <a:prstGeom prst="rect">
              <a:avLst/>
            </a:prstGeom>
            <a:noFill/>
            <a:ln>
              <a:noFill/>
            </a:ln>
          </p:spPr>
        </p:pic>
        <p:pic>
          <p:nvPicPr>
            <p:cNvPr id="218" name="Google Shape;218;p21"/>
            <p:cNvPicPr preferRelativeResize="0"/>
            <p:nvPr/>
          </p:nvPicPr>
          <p:blipFill rotWithShape="1">
            <a:blip r:embed="rId5">
              <a:alphaModFix/>
            </a:blip>
            <a:srcRect b="0" l="0" r="0" t="0"/>
            <a:stretch/>
          </p:blipFill>
          <p:spPr>
            <a:xfrm>
              <a:off x="5303520" y="7543800"/>
              <a:ext cx="1514855" cy="685800"/>
            </a:xfrm>
            <a:prstGeom prst="rect">
              <a:avLst/>
            </a:prstGeom>
            <a:noFill/>
            <a:ln>
              <a:noFill/>
            </a:ln>
          </p:spPr>
        </p:pic>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2"/>
          <p:cNvSpPr txBox="1"/>
          <p:nvPr/>
        </p:nvSpPr>
        <p:spPr>
          <a:xfrm>
            <a:off x="5251450" y="408177"/>
            <a:ext cx="1603375" cy="370840"/>
          </a:xfrm>
          <a:prstGeom prst="rect">
            <a:avLst/>
          </a:prstGeom>
          <a:noFill/>
          <a:ln>
            <a:noFill/>
          </a:ln>
        </p:spPr>
        <p:txBody>
          <a:bodyPr anchorCtr="0" anchor="t" bIns="0" lIns="0" spcFirstLastPara="1" rIns="0" wrap="square" tIns="12700">
            <a:spAutoFit/>
          </a:bodyPr>
          <a:lstStyle/>
          <a:p>
            <a:pPr indent="0" lvl="0" marL="0" marR="5080" rtl="0" algn="r">
              <a:lnSpc>
                <a:spcPct val="100000"/>
              </a:lnSpc>
              <a:spcBef>
                <a:spcPts val="0"/>
              </a:spcBef>
              <a:spcAft>
                <a:spcPts val="0"/>
              </a:spcAft>
              <a:buNone/>
            </a:pPr>
            <a:r>
              <a:rPr lang="en-US" sz="1100">
                <a:solidFill>
                  <a:schemeClr val="dk1"/>
                </a:solidFill>
                <a:latin typeface="Arial"/>
                <a:ea typeface="Arial"/>
                <a:cs typeface="Arial"/>
                <a:sym typeface="Arial"/>
              </a:rPr>
              <a:t>4G PHASE IX.2</a:t>
            </a:r>
            <a:endParaRPr sz="1100">
              <a:solidFill>
                <a:schemeClr val="dk1"/>
              </a:solidFill>
              <a:latin typeface="Arial"/>
              <a:ea typeface="Arial"/>
              <a:cs typeface="Arial"/>
              <a:sym typeface="Arial"/>
            </a:endParaRPr>
          </a:p>
          <a:p>
            <a:pPr indent="0" lvl="0" marL="0" marR="10160" rtl="0" algn="r">
              <a:lnSpc>
                <a:spcPct val="100000"/>
              </a:lnSpc>
              <a:spcBef>
                <a:spcPts val="75"/>
              </a:spcBef>
              <a:spcAft>
                <a:spcPts val="0"/>
              </a:spcAft>
              <a:buNone/>
            </a:pPr>
            <a:r>
              <a:rPr lang="en-US" sz="1100">
                <a:solidFill>
                  <a:schemeClr val="dk1"/>
                </a:solidFill>
                <a:latin typeface="Arial"/>
                <a:ea typeface="Arial"/>
                <a:cs typeface="Arial"/>
                <a:sym typeface="Arial"/>
              </a:rPr>
              <a:t>eNode-B A/T SCHEDULE</a:t>
            </a:r>
            <a:endParaRPr sz="1100">
              <a:solidFill>
                <a:schemeClr val="dk1"/>
              </a:solidFill>
              <a:latin typeface="Arial"/>
              <a:ea typeface="Arial"/>
              <a:cs typeface="Arial"/>
              <a:sym typeface="Arial"/>
            </a:endParaRPr>
          </a:p>
        </p:txBody>
      </p:sp>
      <p:sp>
        <p:nvSpPr>
          <p:cNvPr id="224" name="Google Shape;224;p22"/>
          <p:cNvSpPr txBox="1"/>
          <p:nvPr/>
        </p:nvSpPr>
        <p:spPr>
          <a:xfrm>
            <a:off x="754786" y="1228089"/>
            <a:ext cx="1343660" cy="19367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US" sz="1100">
                <a:solidFill>
                  <a:srgbClr val="00ACEC"/>
                </a:solidFill>
                <a:latin typeface="Arial"/>
                <a:ea typeface="Arial"/>
                <a:cs typeface="Arial"/>
                <a:sym typeface="Arial"/>
              </a:rPr>
              <a:t>Prediction Plot-SINR</a:t>
            </a:r>
            <a:endParaRPr sz="1100">
              <a:solidFill>
                <a:schemeClr val="dk1"/>
              </a:solidFill>
              <a:latin typeface="Arial"/>
              <a:ea typeface="Arial"/>
              <a:cs typeface="Arial"/>
              <a:sym typeface="Arial"/>
            </a:endParaRPr>
          </a:p>
        </p:txBody>
      </p:sp>
      <p:sp>
        <p:nvSpPr>
          <p:cNvPr id="225" name="Google Shape;225;p22"/>
          <p:cNvSpPr txBox="1"/>
          <p:nvPr/>
        </p:nvSpPr>
        <p:spPr>
          <a:xfrm>
            <a:off x="688340" y="370077"/>
            <a:ext cx="1954530" cy="19367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100">
                <a:solidFill>
                  <a:schemeClr val="dk1"/>
                </a:solidFill>
                <a:latin typeface="Arial"/>
                <a:ea typeface="Arial"/>
                <a:cs typeface="Arial"/>
                <a:sym typeface="Arial"/>
              </a:rPr>
              <a:t>QA &amp; INSPECTION CIRCLE KL</a:t>
            </a:r>
            <a:endParaRPr sz="1100">
              <a:solidFill>
                <a:schemeClr val="dk1"/>
              </a:solidFill>
              <a:latin typeface="Arial"/>
              <a:ea typeface="Arial"/>
              <a:cs typeface="Arial"/>
              <a:sym typeface="Arial"/>
            </a:endParaRPr>
          </a:p>
        </p:txBody>
      </p:sp>
      <p:sp>
        <p:nvSpPr>
          <p:cNvPr id="226" name="Google Shape;226;p22"/>
          <p:cNvSpPr txBox="1"/>
          <p:nvPr>
            <p:ph idx="11" type="ftr"/>
          </p:nvPr>
        </p:nvSpPr>
        <p:spPr>
          <a:xfrm>
            <a:off x="868476" y="9083316"/>
            <a:ext cx="1681480" cy="182245"/>
          </a:xfrm>
          <a:prstGeom prst="rect">
            <a:avLst/>
          </a:prstGeom>
          <a:noFill/>
          <a:ln>
            <a:noFill/>
          </a:ln>
        </p:spPr>
        <p:txBody>
          <a:bodyPr anchorCtr="0" anchor="t" bIns="0" lIns="0" spcFirstLastPara="1" rIns="0" wrap="square" tIns="0">
            <a:spAutoFit/>
          </a:bodyPr>
          <a:lstStyle/>
          <a:p>
            <a:pPr indent="0" lvl="0" marL="12700" rtl="0" algn="l">
              <a:lnSpc>
                <a:spcPct val="100000"/>
              </a:lnSpc>
              <a:spcBef>
                <a:spcPts val="0"/>
              </a:spcBef>
              <a:spcAft>
                <a:spcPts val="0"/>
              </a:spcAft>
              <a:buNone/>
            </a:pPr>
            <a:r>
              <a:rPr lang="en-US"/>
              <a:t>QAIN-11/31(14)/1/2023-CM</a:t>
            </a:r>
            <a:endParaRPr/>
          </a:p>
        </p:txBody>
      </p:sp>
      <p:grpSp>
        <p:nvGrpSpPr>
          <p:cNvPr id="227" name="Google Shape;227;p22"/>
          <p:cNvGrpSpPr/>
          <p:nvPr/>
        </p:nvGrpSpPr>
        <p:grpSpPr>
          <a:xfrm>
            <a:off x="768095" y="2023872"/>
            <a:ext cx="6272783" cy="6096000"/>
            <a:chOff x="768095" y="2023872"/>
            <a:chExt cx="6272783" cy="6096000"/>
          </a:xfrm>
        </p:grpSpPr>
        <p:pic>
          <p:nvPicPr>
            <p:cNvPr id="228" name="Google Shape;228;p22"/>
            <p:cNvPicPr preferRelativeResize="0"/>
            <p:nvPr/>
          </p:nvPicPr>
          <p:blipFill rotWithShape="1">
            <a:blip r:embed="rId3">
              <a:alphaModFix/>
            </a:blip>
            <a:srcRect b="0" l="0" r="0" t="0"/>
            <a:stretch/>
          </p:blipFill>
          <p:spPr>
            <a:xfrm>
              <a:off x="768095" y="2023872"/>
              <a:ext cx="6272783" cy="6010656"/>
            </a:xfrm>
            <a:prstGeom prst="rect">
              <a:avLst/>
            </a:prstGeom>
            <a:noFill/>
            <a:ln>
              <a:noFill/>
            </a:ln>
          </p:spPr>
        </p:pic>
        <p:pic>
          <p:nvPicPr>
            <p:cNvPr id="229" name="Google Shape;229;p22"/>
            <p:cNvPicPr preferRelativeResize="0"/>
            <p:nvPr/>
          </p:nvPicPr>
          <p:blipFill rotWithShape="1">
            <a:blip r:embed="rId4">
              <a:alphaModFix/>
            </a:blip>
            <a:srcRect b="0" l="0" r="0" t="0"/>
            <a:stretch/>
          </p:blipFill>
          <p:spPr>
            <a:xfrm>
              <a:off x="768095" y="2075688"/>
              <a:ext cx="1560576" cy="362711"/>
            </a:xfrm>
            <a:prstGeom prst="rect">
              <a:avLst/>
            </a:prstGeom>
            <a:noFill/>
            <a:ln>
              <a:noFill/>
            </a:ln>
          </p:spPr>
        </p:pic>
        <p:pic>
          <p:nvPicPr>
            <p:cNvPr id="230" name="Google Shape;230;p22"/>
            <p:cNvPicPr preferRelativeResize="0"/>
            <p:nvPr/>
          </p:nvPicPr>
          <p:blipFill rotWithShape="1">
            <a:blip r:embed="rId5">
              <a:alphaModFix/>
            </a:blip>
            <a:srcRect b="0" l="0" r="0" t="0"/>
            <a:stretch/>
          </p:blipFill>
          <p:spPr>
            <a:xfrm>
              <a:off x="5714999" y="7403592"/>
              <a:ext cx="1325879" cy="716280"/>
            </a:xfrm>
            <a:prstGeom prst="rect">
              <a:avLst/>
            </a:prstGeom>
            <a:noFill/>
            <a:ln>
              <a:noFill/>
            </a:ln>
          </p:spPr>
        </p:pic>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23"/>
          <p:cNvSpPr txBox="1"/>
          <p:nvPr>
            <p:ph idx="11" type="ftr"/>
          </p:nvPr>
        </p:nvSpPr>
        <p:spPr>
          <a:xfrm>
            <a:off x="868476" y="9083316"/>
            <a:ext cx="1681480" cy="182245"/>
          </a:xfrm>
          <a:prstGeom prst="rect">
            <a:avLst/>
          </a:prstGeom>
          <a:noFill/>
          <a:ln>
            <a:noFill/>
          </a:ln>
        </p:spPr>
        <p:txBody>
          <a:bodyPr anchorCtr="0" anchor="t" bIns="0" lIns="0" spcFirstLastPara="1" rIns="0" wrap="square" tIns="0">
            <a:spAutoFit/>
          </a:bodyPr>
          <a:lstStyle/>
          <a:p>
            <a:pPr indent="0" lvl="0" marL="12700" rtl="0" algn="l">
              <a:lnSpc>
                <a:spcPct val="100000"/>
              </a:lnSpc>
              <a:spcBef>
                <a:spcPts val="0"/>
              </a:spcBef>
              <a:spcAft>
                <a:spcPts val="0"/>
              </a:spcAft>
              <a:buNone/>
            </a:pPr>
            <a:r>
              <a:rPr lang="en-US"/>
              <a:t>QAIN-11/31(14)/1/2023-CM</a:t>
            </a:r>
            <a:endParaRPr/>
          </a:p>
        </p:txBody>
      </p:sp>
      <p:sp>
        <p:nvSpPr>
          <p:cNvPr id="236" name="Google Shape;236;p23"/>
          <p:cNvSpPr txBox="1"/>
          <p:nvPr/>
        </p:nvSpPr>
        <p:spPr>
          <a:xfrm>
            <a:off x="5249926" y="414883"/>
            <a:ext cx="1609725" cy="379095"/>
          </a:xfrm>
          <a:prstGeom prst="rect">
            <a:avLst/>
          </a:prstGeom>
          <a:noFill/>
          <a:ln>
            <a:noFill/>
          </a:ln>
        </p:spPr>
        <p:txBody>
          <a:bodyPr anchorCtr="0" anchor="t" bIns="0" lIns="0" spcFirstLastPara="1" rIns="0" wrap="square" tIns="12050">
            <a:spAutoFit/>
          </a:bodyPr>
          <a:lstStyle/>
          <a:p>
            <a:pPr indent="61595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4G PHASE IX.2  eNode-B A/T SCHEDULE</a:t>
            </a:r>
            <a:endParaRPr sz="1100">
              <a:solidFill>
                <a:schemeClr val="dk1"/>
              </a:solidFill>
              <a:latin typeface="Arial"/>
              <a:ea typeface="Arial"/>
              <a:cs typeface="Arial"/>
              <a:sym typeface="Arial"/>
            </a:endParaRPr>
          </a:p>
        </p:txBody>
      </p:sp>
      <p:sp>
        <p:nvSpPr>
          <p:cNvPr id="237" name="Google Shape;237;p23"/>
          <p:cNvSpPr txBox="1"/>
          <p:nvPr/>
        </p:nvSpPr>
        <p:spPr>
          <a:xfrm>
            <a:off x="755015" y="1219201"/>
            <a:ext cx="2140585" cy="211917"/>
          </a:xfrm>
          <a:prstGeom prst="rect">
            <a:avLst/>
          </a:prstGeom>
          <a:noFill/>
          <a:ln>
            <a:noFill/>
          </a:ln>
        </p:spPr>
        <p:txBody>
          <a:bodyPr anchorCtr="0" anchor="t" bIns="0" lIns="0" spcFirstLastPara="1" rIns="0" wrap="square" tIns="12050">
            <a:spAutoFit/>
          </a:bodyPr>
          <a:lstStyle/>
          <a:p>
            <a:pPr indent="-344805" lvl="0" marL="356870" marR="5080" rtl="0" algn="l">
              <a:lnSpc>
                <a:spcPct val="118200"/>
              </a:lnSpc>
              <a:spcBef>
                <a:spcPts val="0"/>
              </a:spcBef>
              <a:spcAft>
                <a:spcPts val="0"/>
              </a:spcAft>
              <a:buNone/>
            </a:pPr>
            <a:r>
              <a:rPr b="1" lang="en-US" sz="1100">
                <a:solidFill>
                  <a:srgbClr val="00ADED"/>
                </a:solidFill>
                <a:latin typeface="Arial"/>
                <a:ea typeface="Arial"/>
                <a:cs typeface="Arial"/>
                <a:sym typeface="Arial"/>
              </a:rPr>
              <a:t>Prediction Plot-DL Throughput</a:t>
            </a:r>
            <a:endParaRPr sz="1100">
              <a:solidFill>
                <a:schemeClr val="dk1"/>
              </a:solidFill>
              <a:latin typeface="Arial"/>
              <a:ea typeface="Arial"/>
              <a:cs typeface="Arial"/>
              <a:sym typeface="Arial"/>
            </a:endParaRPr>
          </a:p>
        </p:txBody>
      </p:sp>
      <p:sp>
        <p:nvSpPr>
          <p:cNvPr id="238" name="Google Shape;238;p23"/>
          <p:cNvSpPr txBox="1"/>
          <p:nvPr/>
        </p:nvSpPr>
        <p:spPr>
          <a:xfrm>
            <a:off x="685596" y="376781"/>
            <a:ext cx="2286204" cy="370999"/>
          </a:xfrm>
          <a:prstGeom prst="rect">
            <a:avLst/>
          </a:prstGeom>
          <a:noFill/>
          <a:ln>
            <a:noFill/>
          </a:ln>
        </p:spPr>
        <p:txBody>
          <a:bodyPr anchorCtr="0" anchor="t" bIns="0" lIns="0" spcFirstLastPara="1" rIns="0" wrap="square" tIns="12050">
            <a:spAutoFit/>
          </a:bodyPr>
          <a:lstStyle/>
          <a:p>
            <a:pPr indent="254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QA &amp; INSPECTION CIRCLE KL 	</a:t>
            </a:r>
            <a:endParaRPr sz="1100">
              <a:solidFill>
                <a:schemeClr val="dk1"/>
              </a:solidFill>
              <a:latin typeface="Arial"/>
              <a:ea typeface="Arial"/>
              <a:cs typeface="Arial"/>
              <a:sym typeface="Arial"/>
            </a:endParaRPr>
          </a:p>
        </p:txBody>
      </p:sp>
      <p:grpSp>
        <p:nvGrpSpPr>
          <p:cNvPr id="239" name="Google Shape;239;p23"/>
          <p:cNvGrpSpPr/>
          <p:nvPr/>
        </p:nvGrpSpPr>
        <p:grpSpPr>
          <a:xfrm>
            <a:off x="734568" y="2133600"/>
            <a:ext cx="6303263" cy="6007608"/>
            <a:chOff x="734568" y="2133600"/>
            <a:chExt cx="6303263" cy="6007608"/>
          </a:xfrm>
        </p:grpSpPr>
        <p:pic>
          <p:nvPicPr>
            <p:cNvPr id="240" name="Google Shape;240;p23"/>
            <p:cNvPicPr preferRelativeResize="0"/>
            <p:nvPr/>
          </p:nvPicPr>
          <p:blipFill rotWithShape="1">
            <a:blip r:embed="rId3">
              <a:alphaModFix/>
            </a:blip>
            <a:srcRect b="0" l="0" r="0" t="0"/>
            <a:stretch/>
          </p:blipFill>
          <p:spPr>
            <a:xfrm>
              <a:off x="734568" y="2133600"/>
              <a:ext cx="6303263" cy="5995911"/>
            </a:xfrm>
            <a:prstGeom prst="rect">
              <a:avLst/>
            </a:prstGeom>
            <a:noFill/>
            <a:ln>
              <a:noFill/>
            </a:ln>
          </p:spPr>
        </p:pic>
        <p:pic>
          <p:nvPicPr>
            <p:cNvPr id="241" name="Google Shape;241;p23"/>
            <p:cNvPicPr preferRelativeResize="0"/>
            <p:nvPr/>
          </p:nvPicPr>
          <p:blipFill rotWithShape="1">
            <a:blip r:embed="rId4">
              <a:alphaModFix/>
            </a:blip>
            <a:srcRect b="0" l="0" r="0" t="0"/>
            <a:stretch/>
          </p:blipFill>
          <p:spPr>
            <a:xfrm>
              <a:off x="5248656" y="7577328"/>
              <a:ext cx="1737359" cy="563880"/>
            </a:xfrm>
            <a:prstGeom prst="rect">
              <a:avLst/>
            </a:prstGeom>
            <a:noFill/>
            <a:ln>
              <a:noFill/>
            </a:ln>
          </p:spPr>
        </p:pic>
        <p:pic>
          <p:nvPicPr>
            <p:cNvPr id="242" name="Google Shape;242;p23"/>
            <p:cNvPicPr preferRelativeResize="0"/>
            <p:nvPr/>
          </p:nvPicPr>
          <p:blipFill rotWithShape="1">
            <a:blip r:embed="rId5">
              <a:alphaModFix/>
            </a:blip>
            <a:srcRect b="0" l="0" r="0" t="0"/>
            <a:stretch/>
          </p:blipFill>
          <p:spPr>
            <a:xfrm>
              <a:off x="746760" y="2179319"/>
              <a:ext cx="1560576" cy="362711"/>
            </a:xfrm>
            <a:prstGeom prst="rect">
              <a:avLst/>
            </a:prstGeom>
            <a:noFill/>
            <a:ln>
              <a:noFill/>
            </a:ln>
          </p:spPr>
        </p:pic>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46" name="Shape 246"/>
        <p:cNvGrpSpPr/>
        <p:nvPr/>
      </p:nvGrpSpPr>
      <p:grpSpPr>
        <a:xfrm>
          <a:off x="0" y="0"/>
          <a:ext cx="0" cy="0"/>
          <a:chOff x="0" y="0"/>
          <a:chExt cx="0" cy="0"/>
        </a:xfrm>
      </p:grpSpPr>
      <p:sp>
        <p:nvSpPr>
          <p:cNvPr id="247" name="Google Shape;247;p24"/>
          <p:cNvSpPr txBox="1"/>
          <p:nvPr/>
        </p:nvSpPr>
        <p:spPr>
          <a:xfrm>
            <a:off x="5249926" y="414883"/>
            <a:ext cx="1612900" cy="379095"/>
          </a:xfrm>
          <a:prstGeom prst="rect">
            <a:avLst/>
          </a:prstGeom>
          <a:noFill/>
          <a:ln>
            <a:noFill/>
          </a:ln>
        </p:spPr>
        <p:txBody>
          <a:bodyPr anchorCtr="0" anchor="t" bIns="0" lIns="0" spcFirstLastPara="1" rIns="0" wrap="square" tIns="12050">
            <a:spAutoFit/>
          </a:bodyPr>
          <a:lstStyle/>
          <a:p>
            <a:pPr indent="619125"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4G PHASE IX.2  eNode-B A/T SCHEDULE</a:t>
            </a:r>
            <a:endParaRPr sz="1100">
              <a:solidFill>
                <a:schemeClr val="dk1"/>
              </a:solidFill>
              <a:latin typeface="Arial"/>
              <a:ea typeface="Arial"/>
              <a:cs typeface="Arial"/>
              <a:sym typeface="Arial"/>
            </a:endParaRPr>
          </a:p>
        </p:txBody>
      </p:sp>
      <p:sp>
        <p:nvSpPr>
          <p:cNvPr id="248" name="Google Shape;248;p24"/>
          <p:cNvSpPr txBox="1"/>
          <p:nvPr/>
        </p:nvSpPr>
        <p:spPr>
          <a:xfrm>
            <a:off x="920292" y="938530"/>
            <a:ext cx="795655" cy="20827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US" sz="1200">
                <a:solidFill>
                  <a:schemeClr val="dk1"/>
                </a:solidFill>
                <a:latin typeface="Arial"/>
                <a:ea typeface="Arial"/>
                <a:cs typeface="Arial"/>
                <a:sym typeface="Arial"/>
              </a:rPr>
              <a:t>Drive route:</a:t>
            </a:r>
            <a:endParaRPr sz="1200">
              <a:solidFill>
                <a:schemeClr val="dk1"/>
              </a:solidFill>
              <a:latin typeface="Arial"/>
              <a:ea typeface="Arial"/>
              <a:cs typeface="Arial"/>
              <a:sym typeface="Arial"/>
            </a:endParaRPr>
          </a:p>
        </p:txBody>
      </p:sp>
      <p:sp>
        <p:nvSpPr>
          <p:cNvPr id="249" name="Google Shape;249;p24"/>
          <p:cNvSpPr txBox="1"/>
          <p:nvPr/>
        </p:nvSpPr>
        <p:spPr>
          <a:xfrm>
            <a:off x="868476" y="9391164"/>
            <a:ext cx="1681480" cy="182245"/>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lang="en-US" sz="1100">
                <a:solidFill>
                  <a:schemeClr val="dk1"/>
                </a:solidFill>
                <a:latin typeface="Arial"/>
                <a:ea typeface="Arial"/>
                <a:cs typeface="Arial"/>
                <a:sym typeface="Arial"/>
              </a:rPr>
              <a:t>QAIN-11/31(14)/1/2023-CM</a:t>
            </a:r>
            <a:endParaRPr sz="1100">
              <a:solidFill>
                <a:schemeClr val="dk1"/>
              </a:solidFill>
              <a:latin typeface="Arial"/>
              <a:ea typeface="Arial"/>
              <a:cs typeface="Arial"/>
              <a:sym typeface="Arial"/>
            </a:endParaRPr>
          </a:p>
        </p:txBody>
      </p:sp>
      <p:sp>
        <p:nvSpPr>
          <p:cNvPr id="250" name="Google Shape;250;p24"/>
          <p:cNvSpPr txBox="1"/>
          <p:nvPr/>
        </p:nvSpPr>
        <p:spPr>
          <a:xfrm>
            <a:off x="685596" y="376781"/>
            <a:ext cx="2286204" cy="370999"/>
          </a:xfrm>
          <a:prstGeom prst="rect">
            <a:avLst/>
          </a:prstGeom>
          <a:noFill/>
          <a:ln>
            <a:noFill/>
          </a:ln>
        </p:spPr>
        <p:txBody>
          <a:bodyPr anchorCtr="0" anchor="t" bIns="0" lIns="0" spcFirstLastPara="1" rIns="0" wrap="square" tIns="12050">
            <a:spAutoFit/>
          </a:bodyPr>
          <a:lstStyle/>
          <a:p>
            <a:pPr indent="254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QA &amp; INSPECTION CIRCLE KL 	</a:t>
            </a:r>
            <a:endParaRPr sz="1100">
              <a:solidFill>
                <a:schemeClr val="dk1"/>
              </a:solidFill>
              <a:latin typeface="Arial"/>
              <a:ea typeface="Arial"/>
              <a:cs typeface="Arial"/>
              <a:sym typeface="Arial"/>
            </a:endParaRPr>
          </a:p>
        </p:txBody>
      </p:sp>
      <p:pic>
        <p:nvPicPr>
          <p:cNvPr descr="Picture" id="251" name="Google Shape;251;p24"/>
          <p:cNvPicPr preferRelativeResize="0"/>
          <p:nvPr/>
        </p:nvPicPr>
        <p:blipFill rotWithShape="1">
          <a:blip r:embed="rId3">
            <a:alphaModFix/>
          </a:blip>
          <a:srcRect b="0" l="0" r="0" t="0"/>
          <a:stretch/>
        </p:blipFill>
        <p:spPr>
          <a:xfrm>
            <a:off x="76200" y="1219200"/>
            <a:ext cx="7620000" cy="7620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55" name="Shape 255"/>
        <p:cNvGrpSpPr/>
        <p:nvPr/>
      </p:nvGrpSpPr>
      <p:grpSpPr>
        <a:xfrm>
          <a:off x="0" y="0"/>
          <a:ext cx="0" cy="0"/>
          <a:chOff x="0" y="0"/>
          <a:chExt cx="0" cy="0"/>
        </a:xfrm>
      </p:grpSpPr>
      <p:sp>
        <p:nvSpPr>
          <p:cNvPr id="256" name="Google Shape;256;p25"/>
          <p:cNvSpPr txBox="1"/>
          <p:nvPr/>
        </p:nvSpPr>
        <p:spPr>
          <a:xfrm>
            <a:off x="5249926" y="414883"/>
            <a:ext cx="1612900" cy="379095"/>
          </a:xfrm>
          <a:prstGeom prst="rect">
            <a:avLst/>
          </a:prstGeom>
          <a:noFill/>
          <a:ln>
            <a:noFill/>
          </a:ln>
        </p:spPr>
        <p:txBody>
          <a:bodyPr anchorCtr="0" anchor="t" bIns="0" lIns="0" spcFirstLastPara="1" rIns="0" wrap="square" tIns="12050">
            <a:spAutoFit/>
          </a:bodyPr>
          <a:lstStyle/>
          <a:p>
            <a:pPr indent="619125"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4G PHASE IX.2  eNode-B A/T SCHEDULE</a:t>
            </a:r>
            <a:endParaRPr sz="1100">
              <a:solidFill>
                <a:schemeClr val="dk1"/>
              </a:solidFill>
              <a:latin typeface="Arial"/>
              <a:ea typeface="Arial"/>
              <a:cs typeface="Arial"/>
              <a:sym typeface="Arial"/>
            </a:endParaRPr>
          </a:p>
        </p:txBody>
      </p:sp>
      <p:sp>
        <p:nvSpPr>
          <p:cNvPr id="257" name="Google Shape;257;p25"/>
          <p:cNvSpPr txBox="1"/>
          <p:nvPr/>
        </p:nvSpPr>
        <p:spPr>
          <a:xfrm>
            <a:off x="920292" y="938530"/>
            <a:ext cx="1390650" cy="20827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US" sz="1100">
                <a:solidFill>
                  <a:schemeClr val="dk1"/>
                </a:solidFill>
                <a:latin typeface="Arial"/>
                <a:ea typeface="Arial"/>
                <a:cs typeface="Arial"/>
                <a:sym typeface="Arial"/>
              </a:rPr>
              <a:t>E.  </a:t>
            </a:r>
            <a:r>
              <a:rPr b="1" lang="en-US" sz="1200">
                <a:solidFill>
                  <a:schemeClr val="dk1"/>
                </a:solidFill>
                <a:latin typeface="Arial"/>
                <a:ea typeface="Arial"/>
                <a:cs typeface="Arial"/>
                <a:sym typeface="Arial"/>
              </a:rPr>
              <a:t>Serving PCI Plot</a:t>
            </a:r>
            <a:endParaRPr sz="1200">
              <a:solidFill>
                <a:schemeClr val="dk1"/>
              </a:solidFill>
              <a:latin typeface="Arial"/>
              <a:ea typeface="Arial"/>
              <a:cs typeface="Arial"/>
              <a:sym typeface="Arial"/>
            </a:endParaRPr>
          </a:p>
        </p:txBody>
      </p:sp>
      <p:sp>
        <p:nvSpPr>
          <p:cNvPr id="258" name="Google Shape;258;p25"/>
          <p:cNvSpPr txBox="1"/>
          <p:nvPr/>
        </p:nvSpPr>
        <p:spPr>
          <a:xfrm>
            <a:off x="868476" y="9391164"/>
            <a:ext cx="1681480" cy="182245"/>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lang="en-US" sz="1100">
                <a:solidFill>
                  <a:schemeClr val="dk1"/>
                </a:solidFill>
                <a:latin typeface="Arial"/>
                <a:ea typeface="Arial"/>
                <a:cs typeface="Arial"/>
                <a:sym typeface="Arial"/>
              </a:rPr>
              <a:t>QAIN-11/31(14)/1/2023-CM</a:t>
            </a:r>
            <a:endParaRPr sz="1100">
              <a:solidFill>
                <a:schemeClr val="dk1"/>
              </a:solidFill>
              <a:latin typeface="Arial"/>
              <a:ea typeface="Arial"/>
              <a:cs typeface="Arial"/>
              <a:sym typeface="Arial"/>
            </a:endParaRPr>
          </a:p>
        </p:txBody>
      </p:sp>
      <p:sp>
        <p:nvSpPr>
          <p:cNvPr id="259" name="Google Shape;259;p25"/>
          <p:cNvSpPr txBox="1"/>
          <p:nvPr/>
        </p:nvSpPr>
        <p:spPr>
          <a:xfrm>
            <a:off x="685596" y="376781"/>
            <a:ext cx="2286204" cy="370999"/>
          </a:xfrm>
          <a:prstGeom prst="rect">
            <a:avLst/>
          </a:prstGeom>
          <a:noFill/>
          <a:ln>
            <a:noFill/>
          </a:ln>
        </p:spPr>
        <p:txBody>
          <a:bodyPr anchorCtr="0" anchor="t" bIns="0" lIns="0" spcFirstLastPara="1" rIns="0" wrap="square" tIns="12050">
            <a:spAutoFit/>
          </a:bodyPr>
          <a:lstStyle/>
          <a:p>
            <a:pPr indent="254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QA &amp; INSPECTION CIRCLE KL 	</a:t>
            </a:r>
            <a:endParaRPr sz="1100">
              <a:solidFill>
                <a:schemeClr val="dk1"/>
              </a:solidFill>
              <a:latin typeface="Arial"/>
              <a:ea typeface="Arial"/>
              <a:cs typeface="Arial"/>
              <a:sym typeface="Arial"/>
            </a:endParaRPr>
          </a:p>
        </p:txBody>
      </p:sp>
      <p:sp>
        <p:nvSpPr>
          <p:cNvPr id="260" name="Google Shape;260;p25"/>
          <p:cNvSpPr txBox="1"/>
          <p:nvPr/>
        </p:nvSpPr>
        <p:spPr>
          <a:xfrm>
            <a:off x="640080" y="1737360"/>
            <a:ext cx="1044285" cy="369332"/>
          </a:xfrm>
          <a:prstGeom prst="rect">
            <a:avLst/>
          </a:prstGeom>
          <a:solidFill>
            <a:schemeClr val="lt1"/>
          </a:solidFill>
          <a:ln cap="flat" cmpd="sng" w="9525">
            <a:solidFill>
              <a:schemeClr val="l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p:txBody>
      </p:sp>
      <p:pic>
        <p:nvPicPr>
          <p:cNvPr descr="Picture" id="261" name="Google Shape;261;p25"/>
          <p:cNvPicPr preferRelativeResize="0"/>
          <p:nvPr/>
        </p:nvPicPr>
        <p:blipFill rotWithShape="1">
          <a:blip r:embed="rId3">
            <a:alphaModFix/>
          </a:blip>
          <a:srcRect b="0" l="0" r="0" t="0"/>
          <a:stretch/>
        </p:blipFill>
        <p:spPr>
          <a:xfrm>
            <a:off x="76200" y="1219200"/>
            <a:ext cx="7620000" cy="76200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65" name="Shape 265"/>
        <p:cNvGrpSpPr/>
        <p:nvPr/>
      </p:nvGrpSpPr>
      <p:grpSpPr>
        <a:xfrm>
          <a:off x="0" y="0"/>
          <a:ext cx="0" cy="0"/>
          <a:chOff x="0" y="0"/>
          <a:chExt cx="0" cy="0"/>
        </a:xfrm>
      </p:grpSpPr>
      <p:sp>
        <p:nvSpPr>
          <p:cNvPr id="266" name="Google Shape;266;p26"/>
          <p:cNvSpPr txBox="1"/>
          <p:nvPr/>
        </p:nvSpPr>
        <p:spPr>
          <a:xfrm>
            <a:off x="5249926" y="414883"/>
            <a:ext cx="1609725" cy="379095"/>
          </a:xfrm>
          <a:prstGeom prst="rect">
            <a:avLst/>
          </a:prstGeom>
          <a:noFill/>
          <a:ln>
            <a:noFill/>
          </a:ln>
        </p:spPr>
        <p:txBody>
          <a:bodyPr anchorCtr="0" anchor="t" bIns="0" lIns="0" spcFirstLastPara="1" rIns="0" wrap="square" tIns="12050">
            <a:spAutoFit/>
          </a:bodyPr>
          <a:lstStyle/>
          <a:p>
            <a:pPr indent="61595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4G PHASE IX.2  eNode-B A/T SCHEDULE</a:t>
            </a:r>
            <a:endParaRPr sz="1100">
              <a:solidFill>
                <a:schemeClr val="dk1"/>
              </a:solidFill>
              <a:latin typeface="Arial"/>
              <a:ea typeface="Arial"/>
              <a:cs typeface="Arial"/>
              <a:sym typeface="Arial"/>
            </a:endParaRPr>
          </a:p>
        </p:txBody>
      </p:sp>
      <p:sp>
        <p:nvSpPr>
          <p:cNvPr id="267" name="Google Shape;267;p26"/>
          <p:cNvSpPr txBox="1"/>
          <p:nvPr/>
        </p:nvSpPr>
        <p:spPr>
          <a:xfrm>
            <a:off x="920292" y="941577"/>
            <a:ext cx="920115" cy="19367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100">
                <a:solidFill>
                  <a:schemeClr val="dk1"/>
                </a:solidFill>
                <a:latin typeface="Arial"/>
                <a:ea typeface="Arial"/>
                <a:cs typeface="Arial"/>
                <a:sym typeface="Arial"/>
              </a:rPr>
              <a:t>A. </a:t>
            </a:r>
            <a:r>
              <a:rPr b="1" lang="en-US" sz="1100">
                <a:solidFill>
                  <a:schemeClr val="dk1"/>
                </a:solidFill>
                <a:latin typeface="Arial"/>
                <a:ea typeface="Arial"/>
                <a:cs typeface="Arial"/>
                <a:sym typeface="Arial"/>
              </a:rPr>
              <a:t>RSRP Plot</a:t>
            </a:r>
            <a:endParaRPr sz="1100">
              <a:solidFill>
                <a:schemeClr val="dk1"/>
              </a:solidFill>
              <a:latin typeface="Arial"/>
              <a:ea typeface="Arial"/>
              <a:cs typeface="Arial"/>
              <a:sym typeface="Arial"/>
            </a:endParaRPr>
          </a:p>
        </p:txBody>
      </p:sp>
      <p:sp>
        <p:nvSpPr>
          <p:cNvPr id="268" name="Google Shape;268;p26"/>
          <p:cNvSpPr txBox="1"/>
          <p:nvPr>
            <p:ph idx="11" type="ftr"/>
          </p:nvPr>
        </p:nvSpPr>
        <p:spPr>
          <a:xfrm>
            <a:off x="868476" y="9083316"/>
            <a:ext cx="1681480" cy="182245"/>
          </a:xfrm>
          <a:prstGeom prst="rect">
            <a:avLst/>
          </a:prstGeom>
          <a:noFill/>
          <a:ln>
            <a:noFill/>
          </a:ln>
        </p:spPr>
        <p:txBody>
          <a:bodyPr anchorCtr="0" anchor="t" bIns="0" lIns="0" spcFirstLastPara="1" rIns="0" wrap="square" tIns="0">
            <a:spAutoFit/>
          </a:bodyPr>
          <a:lstStyle/>
          <a:p>
            <a:pPr indent="0" lvl="0" marL="12700" rtl="0" algn="l">
              <a:lnSpc>
                <a:spcPct val="100000"/>
              </a:lnSpc>
              <a:spcBef>
                <a:spcPts val="0"/>
              </a:spcBef>
              <a:spcAft>
                <a:spcPts val="0"/>
              </a:spcAft>
              <a:buNone/>
            </a:pPr>
            <a:r>
              <a:rPr lang="en-US"/>
              <a:t>QAIN-11/31(14)/1/2023-CM</a:t>
            </a:r>
            <a:endParaRPr/>
          </a:p>
        </p:txBody>
      </p:sp>
      <p:sp>
        <p:nvSpPr>
          <p:cNvPr id="269" name="Google Shape;269;p26"/>
          <p:cNvSpPr txBox="1"/>
          <p:nvPr/>
        </p:nvSpPr>
        <p:spPr>
          <a:xfrm>
            <a:off x="685596" y="376781"/>
            <a:ext cx="2286204" cy="370999"/>
          </a:xfrm>
          <a:prstGeom prst="rect">
            <a:avLst/>
          </a:prstGeom>
          <a:noFill/>
          <a:ln>
            <a:noFill/>
          </a:ln>
        </p:spPr>
        <p:txBody>
          <a:bodyPr anchorCtr="0" anchor="t" bIns="0" lIns="0" spcFirstLastPara="1" rIns="0" wrap="square" tIns="12050">
            <a:spAutoFit/>
          </a:bodyPr>
          <a:lstStyle/>
          <a:p>
            <a:pPr indent="254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QA &amp; INSPECTION CIRCLE KL 	</a:t>
            </a:r>
            <a:endParaRPr sz="1100">
              <a:solidFill>
                <a:schemeClr val="dk1"/>
              </a:solidFill>
              <a:latin typeface="Arial"/>
              <a:ea typeface="Arial"/>
              <a:cs typeface="Arial"/>
              <a:sym typeface="Arial"/>
            </a:endParaRPr>
          </a:p>
        </p:txBody>
      </p:sp>
      <p:sp>
        <p:nvSpPr>
          <p:cNvPr id="270" name="Google Shape;270;p26"/>
          <p:cNvSpPr txBox="1"/>
          <p:nvPr/>
        </p:nvSpPr>
        <p:spPr>
          <a:xfrm>
            <a:off x="163453" y="1764749"/>
            <a:ext cx="1044285" cy="369332"/>
          </a:xfrm>
          <a:prstGeom prst="rect">
            <a:avLst/>
          </a:prstGeom>
          <a:solidFill>
            <a:schemeClr val="lt1"/>
          </a:solidFill>
          <a:ln cap="flat" cmpd="sng" w="9525">
            <a:solidFill>
              <a:schemeClr val="l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p:txBody>
      </p:sp>
      <p:pic>
        <p:nvPicPr>
          <p:cNvPr descr="Picture" id="271" name="Google Shape;271;p26"/>
          <p:cNvPicPr preferRelativeResize="0"/>
          <p:nvPr/>
        </p:nvPicPr>
        <p:blipFill rotWithShape="1">
          <a:blip r:embed="rId3">
            <a:alphaModFix/>
          </a:blip>
          <a:srcRect b="0" l="0" r="0" t="0"/>
          <a:stretch/>
        </p:blipFill>
        <p:spPr>
          <a:xfrm>
            <a:off x="76200" y="1219200"/>
            <a:ext cx="7620000" cy="76200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75" name="Shape 275"/>
        <p:cNvGrpSpPr/>
        <p:nvPr/>
      </p:nvGrpSpPr>
      <p:grpSpPr>
        <a:xfrm>
          <a:off x="0" y="0"/>
          <a:ext cx="0" cy="0"/>
          <a:chOff x="0" y="0"/>
          <a:chExt cx="0" cy="0"/>
        </a:xfrm>
      </p:grpSpPr>
      <p:sp>
        <p:nvSpPr>
          <p:cNvPr id="276" name="Google Shape;276;p27"/>
          <p:cNvSpPr txBox="1"/>
          <p:nvPr/>
        </p:nvSpPr>
        <p:spPr>
          <a:xfrm>
            <a:off x="5249926" y="414883"/>
            <a:ext cx="1609725" cy="379095"/>
          </a:xfrm>
          <a:prstGeom prst="rect">
            <a:avLst/>
          </a:prstGeom>
          <a:noFill/>
          <a:ln>
            <a:noFill/>
          </a:ln>
        </p:spPr>
        <p:txBody>
          <a:bodyPr anchorCtr="0" anchor="t" bIns="0" lIns="0" spcFirstLastPara="1" rIns="0" wrap="square" tIns="12050">
            <a:spAutoFit/>
          </a:bodyPr>
          <a:lstStyle/>
          <a:p>
            <a:pPr indent="61595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4G PHASE IX.2  eNode-B A/T SCHEDULE</a:t>
            </a:r>
            <a:endParaRPr sz="1100">
              <a:solidFill>
                <a:schemeClr val="dk1"/>
              </a:solidFill>
              <a:latin typeface="Arial"/>
              <a:ea typeface="Arial"/>
              <a:cs typeface="Arial"/>
              <a:sym typeface="Arial"/>
            </a:endParaRPr>
          </a:p>
        </p:txBody>
      </p:sp>
      <p:sp>
        <p:nvSpPr>
          <p:cNvPr id="277" name="Google Shape;277;p27"/>
          <p:cNvSpPr txBox="1"/>
          <p:nvPr/>
        </p:nvSpPr>
        <p:spPr>
          <a:xfrm>
            <a:off x="920292" y="950722"/>
            <a:ext cx="898525" cy="193675"/>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lang="en-US" sz="1200">
                <a:solidFill>
                  <a:schemeClr val="dk1"/>
                </a:solidFill>
                <a:latin typeface="Arial"/>
                <a:ea typeface="Arial"/>
                <a:cs typeface="Arial"/>
                <a:sym typeface="Arial"/>
              </a:rPr>
              <a:t>B. </a:t>
            </a:r>
            <a:r>
              <a:rPr b="1" lang="en-US" sz="1100">
                <a:solidFill>
                  <a:schemeClr val="dk1"/>
                </a:solidFill>
                <a:latin typeface="Arial"/>
                <a:ea typeface="Arial"/>
                <a:cs typeface="Arial"/>
                <a:sym typeface="Arial"/>
              </a:rPr>
              <a:t>RSRQ Plot</a:t>
            </a:r>
            <a:endParaRPr sz="1100">
              <a:solidFill>
                <a:schemeClr val="dk1"/>
              </a:solidFill>
              <a:latin typeface="Arial"/>
              <a:ea typeface="Arial"/>
              <a:cs typeface="Arial"/>
              <a:sym typeface="Arial"/>
            </a:endParaRPr>
          </a:p>
        </p:txBody>
      </p:sp>
      <p:sp>
        <p:nvSpPr>
          <p:cNvPr id="278" name="Google Shape;278;p27"/>
          <p:cNvSpPr txBox="1"/>
          <p:nvPr>
            <p:ph idx="11" type="ftr"/>
          </p:nvPr>
        </p:nvSpPr>
        <p:spPr>
          <a:xfrm>
            <a:off x="868476" y="9083316"/>
            <a:ext cx="1681480" cy="182245"/>
          </a:xfrm>
          <a:prstGeom prst="rect">
            <a:avLst/>
          </a:prstGeom>
          <a:noFill/>
          <a:ln>
            <a:noFill/>
          </a:ln>
        </p:spPr>
        <p:txBody>
          <a:bodyPr anchorCtr="0" anchor="t" bIns="0" lIns="0" spcFirstLastPara="1" rIns="0" wrap="square" tIns="0">
            <a:spAutoFit/>
          </a:bodyPr>
          <a:lstStyle/>
          <a:p>
            <a:pPr indent="0" lvl="0" marL="12700" rtl="0" algn="l">
              <a:lnSpc>
                <a:spcPct val="100000"/>
              </a:lnSpc>
              <a:spcBef>
                <a:spcPts val="0"/>
              </a:spcBef>
              <a:spcAft>
                <a:spcPts val="0"/>
              </a:spcAft>
              <a:buNone/>
            </a:pPr>
            <a:r>
              <a:rPr lang="en-US"/>
              <a:t>QAIN-11/31(14)/1/2023-CM</a:t>
            </a:r>
            <a:endParaRPr/>
          </a:p>
        </p:txBody>
      </p:sp>
      <p:sp>
        <p:nvSpPr>
          <p:cNvPr id="279" name="Google Shape;279;p27"/>
          <p:cNvSpPr txBox="1"/>
          <p:nvPr/>
        </p:nvSpPr>
        <p:spPr>
          <a:xfrm>
            <a:off x="685596" y="376781"/>
            <a:ext cx="2286204" cy="370999"/>
          </a:xfrm>
          <a:prstGeom prst="rect">
            <a:avLst/>
          </a:prstGeom>
          <a:noFill/>
          <a:ln>
            <a:noFill/>
          </a:ln>
        </p:spPr>
        <p:txBody>
          <a:bodyPr anchorCtr="0" anchor="t" bIns="0" lIns="0" spcFirstLastPara="1" rIns="0" wrap="square" tIns="12050">
            <a:spAutoFit/>
          </a:bodyPr>
          <a:lstStyle/>
          <a:p>
            <a:pPr indent="254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QA &amp; INSPECTION CIRCLE KL 	</a:t>
            </a:r>
            <a:endParaRPr sz="1100">
              <a:solidFill>
                <a:schemeClr val="dk1"/>
              </a:solidFill>
              <a:latin typeface="Arial"/>
              <a:ea typeface="Arial"/>
              <a:cs typeface="Arial"/>
              <a:sym typeface="Arial"/>
            </a:endParaRPr>
          </a:p>
        </p:txBody>
      </p:sp>
      <p:graphicFrame>
        <p:nvGraphicFramePr>
          <p:cNvPr id="280" name="Google Shape;280;p27"/>
          <p:cNvGraphicFramePr/>
          <p:nvPr/>
        </p:nvGraphicFramePr>
        <p:xfrm>
          <a:off x="123825" y="-39643050"/>
          <a:ext cx="3000000" cy="3000000"/>
        </p:xfrm>
        <a:graphic>
          <a:graphicData uri="http://schemas.openxmlformats.org/drawingml/2006/table">
            <a:tbl>
              <a:tblPr>
                <a:noFill/>
                <a:tableStyleId>{35CDC5D1-381B-486F-B248-BD003D0397AE}</a:tableStyleId>
              </a:tblPr>
              <a:tblGrid>
                <a:gridCol w="6994525"/>
              </a:tblGrid>
              <a:tr h="164675">
                <a:tc>
                  <a:txBody>
                    <a:bodyPr/>
                    <a:lstStyle/>
                    <a:p>
                      <a:pPr indent="0" lvl="0" marL="0" marR="0" rtl="0" algn="l">
                        <a:spcBef>
                          <a:spcPts val="0"/>
                        </a:spcBef>
                        <a:spcAft>
                          <a:spcPts val="0"/>
                        </a:spcAft>
                        <a:buNone/>
                      </a:pPr>
                      <a:r>
                        <a:t/>
                      </a:r>
                      <a:endParaRPr b="0" i="0" sz="1000" u="none" cap="none" strike="noStrike">
                        <a:solidFill>
                          <a:srgbClr val="000000"/>
                        </a:solidFill>
                        <a:latin typeface="Calibri"/>
                        <a:ea typeface="Calibri"/>
                        <a:cs typeface="Calibri"/>
                        <a:sym typeface="Calibri"/>
                      </a:endParaRPr>
                    </a:p>
                  </a:txBody>
                  <a:tcPr marT="8850" marB="0" marR="8850" marL="8850" anchor="b"/>
                </a:tc>
              </a:tr>
            </a:tbl>
          </a:graphicData>
        </a:graphic>
      </p:graphicFrame>
      <p:pic>
        <p:nvPicPr>
          <p:cNvPr descr="_tmp_4cfomhuk_go0.jpg" id="281" name="Google Shape;281;p27"/>
          <p:cNvPicPr preferRelativeResize="0"/>
          <p:nvPr/>
        </p:nvPicPr>
        <p:blipFill rotWithShape="1">
          <a:blip r:embed="rId3">
            <a:alphaModFix/>
          </a:blip>
          <a:srcRect b="0" l="0" r="0" t="0"/>
          <a:stretch/>
        </p:blipFill>
        <p:spPr>
          <a:xfrm>
            <a:off x="123825" y="43986450"/>
            <a:ext cx="7524750" cy="5715000"/>
          </a:xfrm>
          <a:prstGeom prst="rect">
            <a:avLst/>
          </a:prstGeom>
          <a:noFill/>
          <a:ln>
            <a:noFill/>
          </a:ln>
        </p:spPr>
      </p:pic>
      <p:graphicFrame>
        <p:nvGraphicFramePr>
          <p:cNvPr id="282" name="Google Shape;282;p27"/>
          <p:cNvGraphicFramePr/>
          <p:nvPr/>
        </p:nvGraphicFramePr>
        <p:xfrm>
          <a:off x="123825" y="-39643050"/>
          <a:ext cx="3000000" cy="3000000"/>
        </p:xfrm>
        <a:graphic>
          <a:graphicData uri="http://schemas.openxmlformats.org/drawingml/2006/table">
            <a:tbl>
              <a:tblPr>
                <a:noFill/>
                <a:tableStyleId>{35CDC5D1-381B-486F-B248-BD003D0397AE}</a:tableStyleId>
              </a:tblPr>
              <a:tblGrid>
                <a:gridCol w="6994525"/>
              </a:tblGrid>
              <a:tr h="164675">
                <a:tc>
                  <a:txBody>
                    <a:bodyPr/>
                    <a:lstStyle/>
                    <a:p>
                      <a:pPr indent="0" lvl="0" marL="0" marR="0" rtl="0" algn="l">
                        <a:spcBef>
                          <a:spcPts val="0"/>
                        </a:spcBef>
                        <a:spcAft>
                          <a:spcPts val="0"/>
                        </a:spcAft>
                        <a:buNone/>
                      </a:pPr>
                      <a:r>
                        <a:t/>
                      </a:r>
                      <a:endParaRPr b="0" i="0" sz="1000" u="none" cap="none" strike="noStrike">
                        <a:solidFill>
                          <a:srgbClr val="000000"/>
                        </a:solidFill>
                        <a:latin typeface="Calibri"/>
                        <a:ea typeface="Calibri"/>
                        <a:cs typeface="Calibri"/>
                        <a:sym typeface="Calibri"/>
                      </a:endParaRPr>
                    </a:p>
                  </a:txBody>
                  <a:tcPr marT="8850" marB="0" marR="8850" marL="8850" anchor="b"/>
                </a:tc>
              </a:tr>
            </a:tbl>
          </a:graphicData>
        </a:graphic>
      </p:graphicFrame>
      <p:pic>
        <p:nvPicPr>
          <p:cNvPr descr="_tmp_4cfomhuk_go0.jpg" id="283" name="Google Shape;283;p27"/>
          <p:cNvPicPr preferRelativeResize="0"/>
          <p:nvPr/>
        </p:nvPicPr>
        <p:blipFill rotWithShape="1">
          <a:blip r:embed="rId3">
            <a:alphaModFix/>
          </a:blip>
          <a:srcRect b="0" l="0" r="0" t="0"/>
          <a:stretch/>
        </p:blipFill>
        <p:spPr>
          <a:xfrm>
            <a:off x="123825" y="43986450"/>
            <a:ext cx="7524750" cy="5715000"/>
          </a:xfrm>
          <a:prstGeom prst="rect">
            <a:avLst/>
          </a:prstGeom>
          <a:noFill/>
          <a:ln>
            <a:noFill/>
          </a:ln>
        </p:spPr>
      </p:pic>
      <p:sp>
        <p:nvSpPr>
          <p:cNvPr id="284" name="Google Shape;284;p27"/>
          <p:cNvSpPr txBox="1"/>
          <p:nvPr/>
        </p:nvSpPr>
        <p:spPr>
          <a:xfrm>
            <a:off x="640080" y="1737360"/>
            <a:ext cx="1044285" cy="369332"/>
          </a:xfrm>
          <a:prstGeom prst="rect">
            <a:avLst/>
          </a:prstGeom>
          <a:solidFill>
            <a:schemeClr val="lt1"/>
          </a:solidFill>
          <a:ln cap="flat" cmpd="sng" w="9525">
            <a:solidFill>
              <a:schemeClr val="l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p:txBody>
      </p:sp>
      <p:pic>
        <p:nvPicPr>
          <p:cNvPr descr="Picture" id="285" name="Google Shape;285;p27"/>
          <p:cNvPicPr preferRelativeResize="0"/>
          <p:nvPr/>
        </p:nvPicPr>
        <p:blipFill rotWithShape="1">
          <a:blip r:embed="rId4">
            <a:alphaModFix/>
          </a:blip>
          <a:srcRect b="0" l="0" r="0" t="0"/>
          <a:stretch/>
        </p:blipFill>
        <p:spPr>
          <a:xfrm>
            <a:off x="76200" y="1219200"/>
            <a:ext cx="7620000" cy="76200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89" name="Shape 289"/>
        <p:cNvGrpSpPr/>
        <p:nvPr/>
      </p:nvGrpSpPr>
      <p:grpSpPr>
        <a:xfrm>
          <a:off x="0" y="0"/>
          <a:ext cx="0" cy="0"/>
          <a:chOff x="0" y="0"/>
          <a:chExt cx="0" cy="0"/>
        </a:xfrm>
      </p:grpSpPr>
      <p:sp>
        <p:nvSpPr>
          <p:cNvPr id="290" name="Google Shape;290;p28"/>
          <p:cNvSpPr txBox="1"/>
          <p:nvPr/>
        </p:nvSpPr>
        <p:spPr>
          <a:xfrm>
            <a:off x="5249926" y="414883"/>
            <a:ext cx="1612900" cy="379095"/>
          </a:xfrm>
          <a:prstGeom prst="rect">
            <a:avLst/>
          </a:prstGeom>
          <a:noFill/>
          <a:ln>
            <a:noFill/>
          </a:ln>
        </p:spPr>
        <p:txBody>
          <a:bodyPr anchorCtr="0" anchor="t" bIns="0" lIns="0" spcFirstLastPara="1" rIns="0" wrap="square" tIns="12050">
            <a:spAutoFit/>
          </a:bodyPr>
          <a:lstStyle/>
          <a:p>
            <a:pPr indent="619125"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4G PHASE IX.2  eNode-B A/T SCHEDULE</a:t>
            </a:r>
            <a:endParaRPr sz="1100">
              <a:solidFill>
                <a:schemeClr val="dk1"/>
              </a:solidFill>
              <a:latin typeface="Arial"/>
              <a:ea typeface="Arial"/>
              <a:cs typeface="Arial"/>
              <a:sym typeface="Arial"/>
            </a:endParaRPr>
          </a:p>
        </p:txBody>
      </p:sp>
      <p:sp>
        <p:nvSpPr>
          <p:cNvPr id="291" name="Google Shape;291;p28"/>
          <p:cNvSpPr txBox="1"/>
          <p:nvPr/>
        </p:nvSpPr>
        <p:spPr>
          <a:xfrm>
            <a:off x="920292" y="941577"/>
            <a:ext cx="925830" cy="193675"/>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lang="en-US" sz="1200">
                <a:solidFill>
                  <a:schemeClr val="dk1"/>
                </a:solidFill>
                <a:latin typeface="Arial"/>
                <a:ea typeface="Arial"/>
                <a:cs typeface="Arial"/>
                <a:sym typeface="Arial"/>
              </a:rPr>
              <a:t>C.	</a:t>
            </a:r>
            <a:r>
              <a:rPr b="1" lang="en-US" sz="1100">
                <a:solidFill>
                  <a:schemeClr val="dk1"/>
                </a:solidFill>
                <a:latin typeface="Arial"/>
                <a:ea typeface="Arial"/>
                <a:cs typeface="Arial"/>
                <a:sym typeface="Arial"/>
              </a:rPr>
              <a:t>SINR Plot</a:t>
            </a:r>
            <a:endParaRPr sz="1100">
              <a:solidFill>
                <a:schemeClr val="dk1"/>
              </a:solidFill>
              <a:latin typeface="Arial"/>
              <a:ea typeface="Arial"/>
              <a:cs typeface="Arial"/>
              <a:sym typeface="Arial"/>
            </a:endParaRPr>
          </a:p>
        </p:txBody>
      </p:sp>
      <p:sp>
        <p:nvSpPr>
          <p:cNvPr id="292" name="Google Shape;292;p28"/>
          <p:cNvSpPr txBox="1"/>
          <p:nvPr/>
        </p:nvSpPr>
        <p:spPr>
          <a:xfrm>
            <a:off x="868476" y="9391164"/>
            <a:ext cx="1681480" cy="182245"/>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lang="en-US" sz="1100">
                <a:solidFill>
                  <a:schemeClr val="dk1"/>
                </a:solidFill>
                <a:latin typeface="Arial"/>
                <a:ea typeface="Arial"/>
                <a:cs typeface="Arial"/>
                <a:sym typeface="Arial"/>
              </a:rPr>
              <a:t>QAIN-11/31(14)/1/2023-CM</a:t>
            </a:r>
            <a:endParaRPr sz="1100">
              <a:solidFill>
                <a:schemeClr val="dk1"/>
              </a:solidFill>
              <a:latin typeface="Arial"/>
              <a:ea typeface="Arial"/>
              <a:cs typeface="Arial"/>
              <a:sym typeface="Arial"/>
            </a:endParaRPr>
          </a:p>
        </p:txBody>
      </p:sp>
      <p:sp>
        <p:nvSpPr>
          <p:cNvPr id="293" name="Google Shape;293;p28"/>
          <p:cNvSpPr txBox="1"/>
          <p:nvPr/>
        </p:nvSpPr>
        <p:spPr>
          <a:xfrm>
            <a:off x="685596" y="376781"/>
            <a:ext cx="2286204" cy="370999"/>
          </a:xfrm>
          <a:prstGeom prst="rect">
            <a:avLst/>
          </a:prstGeom>
          <a:noFill/>
          <a:ln>
            <a:noFill/>
          </a:ln>
        </p:spPr>
        <p:txBody>
          <a:bodyPr anchorCtr="0" anchor="t" bIns="0" lIns="0" spcFirstLastPara="1" rIns="0" wrap="square" tIns="12050">
            <a:spAutoFit/>
          </a:bodyPr>
          <a:lstStyle/>
          <a:p>
            <a:pPr indent="254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QA &amp; INSPECTION CIRCLE KL 	</a:t>
            </a:r>
            <a:endParaRPr sz="1100">
              <a:solidFill>
                <a:schemeClr val="dk1"/>
              </a:solidFill>
              <a:latin typeface="Arial"/>
              <a:ea typeface="Arial"/>
              <a:cs typeface="Arial"/>
              <a:sym typeface="Arial"/>
            </a:endParaRPr>
          </a:p>
        </p:txBody>
      </p:sp>
      <p:sp>
        <p:nvSpPr>
          <p:cNvPr id="294" name="Google Shape;294;p28"/>
          <p:cNvSpPr txBox="1"/>
          <p:nvPr/>
        </p:nvSpPr>
        <p:spPr>
          <a:xfrm>
            <a:off x="698845" y="1370059"/>
            <a:ext cx="1044285" cy="369332"/>
          </a:xfrm>
          <a:prstGeom prst="rect">
            <a:avLst/>
          </a:prstGeom>
          <a:solidFill>
            <a:schemeClr val="lt1"/>
          </a:solidFill>
          <a:ln cap="flat" cmpd="sng" w="9525">
            <a:solidFill>
              <a:schemeClr val="l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p:txBody>
      </p:sp>
      <p:pic>
        <p:nvPicPr>
          <p:cNvPr descr="Picture" id="295" name="Google Shape;295;p28"/>
          <p:cNvPicPr preferRelativeResize="0"/>
          <p:nvPr/>
        </p:nvPicPr>
        <p:blipFill rotWithShape="1">
          <a:blip r:embed="rId3">
            <a:alphaModFix/>
          </a:blip>
          <a:srcRect b="0" l="0" r="0" t="0"/>
          <a:stretch/>
        </p:blipFill>
        <p:spPr>
          <a:xfrm>
            <a:off x="76200" y="1219200"/>
            <a:ext cx="7620000" cy="76200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99" name="Shape 299"/>
        <p:cNvGrpSpPr/>
        <p:nvPr/>
      </p:nvGrpSpPr>
      <p:grpSpPr>
        <a:xfrm>
          <a:off x="0" y="0"/>
          <a:ext cx="0" cy="0"/>
          <a:chOff x="0" y="0"/>
          <a:chExt cx="0" cy="0"/>
        </a:xfrm>
      </p:grpSpPr>
      <p:sp>
        <p:nvSpPr>
          <p:cNvPr id="300" name="Google Shape;300;p29"/>
          <p:cNvSpPr txBox="1"/>
          <p:nvPr/>
        </p:nvSpPr>
        <p:spPr>
          <a:xfrm>
            <a:off x="5249926" y="414883"/>
            <a:ext cx="1612900" cy="379095"/>
          </a:xfrm>
          <a:prstGeom prst="rect">
            <a:avLst/>
          </a:prstGeom>
          <a:noFill/>
          <a:ln>
            <a:noFill/>
          </a:ln>
        </p:spPr>
        <p:txBody>
          <a:bodyPr anchorCtr="0" anchor="t" bIns="0" lIns="0" spcFirstLastPara="1" rIns="0" wrap="square" tIns="12050">
            <a:spAutoFit/>
          </a:bodyPr>
          <a:lstStyle/>
          <a:p>
            <a:pPr indent="619125"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4G PHASE IX.2  eNode-B A/T SCHEDULE</a:t>
            </a:r>
            <a:endParaRPr sz="1100">
              <a:solidFill>
                <a:schemeClr val="dk1"/>
              </a:solidFill>
              <a:latin typeface="Arial"/>
              <a:ea typeface="Arial"/>
              <a:cs typeface="Arial"/>
              <a:sym typeface="Arial"/>
            </a:endParaRPr>
          </a:p>
        </p:txBody>
      </p:sp>
      <p:sp>
        <p:nvSpPr>
          <p:cNvPr id="301" name="Google Shape;301;p29"/>
          <p:cNvSpPr txBox="1"/>
          <p:nvPr/>
        </p:nvSpPr>
        <p:spPr>
          <a:xfrm>
            <a:off x="920292" y="941577"/>
            <a:ext cx="1587500" cy="193675"/>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lang="en-US" sz="1200">
                <a:solidFill>
                  <a:schemeClr val="dk1"/>
                </a:solidFill>
                <a:latin typeface="Arial"/>
                <a:ea typeface="Arial"/>
                <a:cs typeface="Arial"/>
                <a:sym typeface="Arial"/>
              </a:rPr>
              <a:t>D.	</a:t>
            </a:r>
            <a:r>
              <a:rPr b="1" lang="en-US" sz="1100">
                <a:solidFill>
                  <a:schemeClr val="dk1"/>
                </a:solidFill>
                <a:latin typeface="Arial"/>
                <a:ea typeface="Arial"/>
                <a:cs typeface="Arial"/>
                <a:sym typeface="Arial"/>
              </a:rPr>
              <a:t>DL Throughput plot</a:t>
            </a:r>
            <a:endParaRPr sz="1100">
              <a:solidFill>
                <a:schemeClr val="dk1"/>
              </a:solidFill>
              <a:latin typeface="Arial"/>
              <a:ea typeface="Arial"/>
              <a:cs typeface="Arial"/>
              <a:sym typeface="Arial"/>
            </a:endParaRPr>
          </a:p>
        </p:txBody>
      </p:sp>
      <p:sp>
        <p:nvSpPr>
          <p:cNvPr id="302" name="Google Shape;302;p29"/>
          <p:cNvSpPr txBox="1"/>
          <p:nvPr/>
        </p:nvSpPr>
        <p:spPr>
          <a:xfrm>
            <a:off x="868476" y="9391164"/>
            <a:ext cx="1681480" cy="182245"/>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lang="en-US" sz="1100">
                <a:solidFill>
                  <a:schemeClr val="dk1"/>
                </a:solidFill>
                <a:latin typeface="Arial"/>
                <a:ea typeface="Arial"/>
                <a:cs typeface="Arial"/>
                <a:sym typeface="Arial"/>
              </a:rPr>
              <a:t>QAIN-11/31(14)/1/2023-CM</a:t>
            </a:r>
            <a:endParaRPr sz="1100">
              <a:solidFill>
                <a:schemeClr val="dk1"/>
              </a:solidFill>
              <a:latin typeface="Arial"/>
              <a:ea typeface="Arial"/>
              <a:cs typeface="Arial"/>
              <a:sym typeface="Arial"/>
            </a:endParaRPr>
          </a:p>
        </p:txBody>
      </p:sp>
      <p:sp>
        <p:nvSpPr>
          <p:cNvPr id="303" name="Google Shape;303;p29"/>
          <p:cNvSpPr txBox="1"/>
          <p:nvPr/>
        </p:nvSpPr>
        <p:spPr>
          <a:xfrm>
            <a:off x="685596" y="376781"/>
            <a:ext cx="2286204" cy="370999"/>
          </a:xfrm>
          <a:prstGeom prst="rect">
            <a:avLst/>
          </a:prstGeom>
          <a:noFill/>
          <a:ln>
            <a:noFill/>
          </a:ln>
        </p:spPr>
        <p:txBody>
          <a:bodyPr anchorCtr="0" anchor="t" bIns="0" lIns="0" spcFirstLastPara="1" rIns="0" wrap="square" tIns="12050">
            <a:spAutoFit/>
          </a:bodyPr>
          <a:lstStyle/>
          <a:p>
            <a:pPr indent="254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QA &amp; INSPECTION CIRCLE KL 	</a:t>
            </a:r>
            <a:endParaRPr sz="1100">
              <a:solidFill>
                <a:schemeClr val="dk1"/>
              </a:solidFill>
              <a:latin typeface="Arial"/>
              <a:ea typeface="Arial"/>
              <a:cs typeface="Arial"/>
              <a:sym typeface="Arial"/>
            </a:endParaRPr>
          </a:p>
        </p:txBody>
      </p:sp>
      <p:pic>
        <p:nvPicPr>
          <p:cNvPr descr="Picture" id="304" name="Google Shape;304;p29"/>
          <p:cNvPicPr preferRelativeResize="0"/>
          <p:nvPr/>
        </p:nvPicPr>
        <p:blipFill rotWithShape="1">
          <a:blip r:embed="rId3">
            <a:alphaModFix/>
          </a:blip>
          <a:srcRect b="0" l="0" r="0" t="0"/>
          <a:stretch/>
        </p:blipFill>
        <p:spPr>
          <a:xfrm>
            <a:off x="76200" y="1219200"/>
            <a:ext cx="7620000" cy="76200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30"/>
          <p:cNvSpPr txBox="1"/>
          <p:nvPr/>
        </p:nvSpPr>
        <p:spPr>
          <a:xfrm>
            <a:off x="5249926" y="414883"/>
            <a:ext cx="1612900" cy="379095"/>
          </a:xfrm>
          <a:prstGeom prst="rect">
            <a:avLst/>
          </a:prstGeom>
          <a:noFill/>
          <a:ln>
            <a:noFill/>
          </a:ln>
        </p:spPr>
        <p:txBody>
          <a:bodyPr anchorCtr="0" anchor="t" bIns="0" lIns="0" spcFirstLastPara="1" rIns="0" wrap="square" tIns="12050">
            <a:spAutoFit/>
          </a:bodyPr>
          <a:lstStyle/>
          <a:p>
            <a:pPr indent="619125"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4G PHASE IX.2  eNode-B A/T SCHEDULE</a:t>
            </a:r>
            <a:endParaRPr sz="1100">
              <a:solidFill>
                <a:schemeClr val="dk1"/>
              </a:solidFill>
              <a:latin typeface="Arial"/>
              <a:ea typeface="Arial"/>
              <a:cs typeface="Arial"/>
              <a:sym typeface="Arial"/>
            </a:endParaRPr>
          </a:p>
        </p:txBody>
      </p:sp>
      <p:sp>
        <p:nvSpPr>
          <p:cNvPr id="310" name="Google Shape;310;p30"/>
          <p:cNvSpPr txBox="1"/>
          <p:nvPr/>
        </p:nvSpPr>
        <p:spPr>
          <a:xfrm>
            <a:off x="868476" y="9391164"/>
            <a:ext cx="1681480" cy="182245"/>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lang="en-US" sz="1100">
                <a:solidFill>
                  <a:schemeClr val="dk1"/>
                </a:solidFill>
                <a:latin typeface="Arial"/>
                <a:ea typeface="Arial"/>
                <a:cs typeface="Arial"/>
                <a:sym typeface="Arial"/>
              </a:rPr>
              <a:t>QAIN-11/31(14)/1/2023-CM</a:t>
            </a:r>
            <a:endParaRPr sz="1100">
              <a:solidFill>
                <a:schemeClr val="dk1"/>
              </a:solidFill>
              <a:latin typeface="Arial"/>
              <a:ea typeface="Arial"/>
              <a:cs typeface="Arial"/>
              <a:sym typeface="Arial"/>
            </a:endParaRPr>
          </a:p>
        </p:txBody>
      </p:sp>
      <p:sp>
        <p:nvSpPr>
          <p:cNvPr id="311" name="Google Shape;311;p30"/>
          <p:cNvSpPr txBox="1"/>
          <p:nvPr/>
        </p:nvSpPr>
        <p:spPr>
          <a:xfrm>
            <a:off x="685596" y="281247"/>
            <a:ext cx="2286204" cy="370999"/>
          </a:xfrm>
          <a:prstGeom prst="rect">
            <a:avLst/>
          </a:prstGeom>
          <a:noFill/>
          <a:ln>
            <a:noFill/>
          </a:ln>
        </p:spPr>
        <p:txBody>
          <a:bodyPr anchorCtr="0" anchor="t" bIns="0" lIns="0" spcFirstLastPara="1" rIns="0" wrap="square" tIns="12050">
            <a:spAutoFit/>
          </a:bodyPr>
          <a:lstStyle/>
          <a:p>
            <a:pPr indent="254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QA &amp; INSPECTION CIRCLE KL 	</a:t>
            </a:r>
            <a:endParaRPr sz="1100">
              <a:solidFill>
                <a:schemeClr val="dk1"/>
              </a:solidFill>
              <a:latin typeface="Arial"/>
              <a:ea typeface="Arial"/>
              <a:cs typeface="Arial"/>
              <a:sym typeface="Arial"/>
            </a:endParaRPr>
          </a:p>
        </p:txBody>
      </p:sp>
      <p:sp>
        <p:nvSpPr>
          <p:cNvPr id="312" name="Google Shape;312;p30"/>
          <p:cNvSpPr txBox="1"/>
          <p:nvPr/>
        </p:nvSpPr>
        <p:spPr>
          <a:xfrm>
            <a:off x="920292" y="941577"/>
            <a:ext cx="1587500" cy="184666"/>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lang="en-US" sz="1200">
                <a:solidFill>
                  <a:schemeClr val="dk1"/>
                </a:solidFill>
                <a:latin typeface="Arial"/>
                <a:ea typeface="Arial"/>
                <a:cs typeface="Arial"/>
                <a:sym typeface="Arial"/>
              </a:rPr>
              <a:t>E.	</a:t>
            </a:r>
            <a:r>
              <a:rPr b="1" lang="en-US" sz="1100">
                <a:solidFill>
                  <a:schemeClr val="dk1"/>
                </a:solidFill>
                <a:latin typeface="Arial"/>
                <a:ea typeface="Arial"/>
                <a:cs typeface="Arial"/>
                <a:sym typeface="Arial"/>
              </a:rPr>
              <a:t>Rank Indicator Plot</a:t>
            </a:r>
            <a:endParaRPr sz="1100">
              <a:solidFill>
                <a:schemeClr val="dk1"/>
              </a:solidFill>
              <a:latin typeface="Arial"/>
              <a:ea typeface="Arial"/>
              <a:cs typeface="Arial"/>
              <a:sym typeface="Arial"/>
            </a:endParaRPr>
          </a:p>
        </p:txBody>
      </p:sp>
      <p:pic>
        <p:nvPicPr>
          <p:cNvPr descr="Picture" id="313" name="Google Shape;313;p30"/>
          <p:cNvPicPr preferRelativeResize="0"/>
          <p:nvPr/>
        </p:nvPicPr>
        <p:blipFill rotWithShape="1">
          <a:blip r:embed="rId3">
            <a:alphaModFix/>
          </a:blip>
          <a:srcRect b="0" l="0" r="0" t="0"/>
          <a:stretch/>
        </p:blipFill>
        <p:spPr>
          <a:xfrm>
            <a:off x="76200" y="1219200"/>
            <a:ext cx="7620000" cy="76200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31"/>
          <p:cNvSpPr txBox="1"/>
          <p:nvPr/>
        </p:nvSpPr>
        <p:spPr>
          <a:xfrm>
            <a:off x="5249926" y="414883"/>
            <a:ext cx="1612900" cy="379095"/>
          </a:xfrm>
          <a:prstGeom prst="rect">
            <a:avLst/>
          </a:prstGeom>
          <a:noFill/>
          <a:ln>
            <a:noFill/>
          </a:ln>
        </p:spPr>
        <p:txBody>
          <a:bodyPr anchorCtr="0" anchor="t" bIns="0" lIns="0" spcFirstLastPara="1" rIns="0" wrap="square" tIns="12050">
            <a:spAutoFit/>
          </a:bodyPr>
          <a:lstStyle/>
          <a:p>
            <a:pPr indent="619125"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4G PHASE IX.2  eNode-B A/T SCHEDULE</a:t>
            </a:r>
            <a:endParaRPr/>
          </a:p>
        </p:txBody>
      </p:sp>
      <p:sp>
        <p:nvSpPr>
          <p:cNvPr id="319" name="Google Shape;319;p31"/>
          <p:cNvSpPr txBox="1"/>
          <p:nvPr/>
        </p:nvSpPr>
        <p:spPr>
          <a:xfrm>
            <a:off x="868476" y="9391164"/>
            <a:ext cx="1681480" cy="182245"/>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lang="en-US" sz="1100">
                <a:solidFill>
                  <a:schemeClr val="dk1"/>
                </a:solidFill>
                <a:latin typeface="Arial"/>
                <a:ea typeface="Arial"/>
                <a:cs typeface="Arial"/>
                <a:sym typeface="Arial"/>
              </a:rPr>
              <a:t>QAIN-11/31(14)/1/2023-CM</a:t>
            </a:r>
            <a:endParaRPr sz="1100">
              <a:solidFill>
                <a:schemeClr val="dk1"/>
              </a:solidFill>
              <a:latin typeface="Arial"/>
              <a:ea typeface="Arial"/>
              <a:cs typeface="Arial"/>
              <a:sym typeface="Arial"/>
            </a:endParaRPr>
          </a:p>
        </p:txBody>
      </p:sp>
      <p:sp>
        <p:nvSpPr>
          <p:cNvPr id="320" name="Google Shape;320;p31"/>
          <p:cNvSpPr txBox="1"/>
          <p:nvPr/>
        </p:nvSpPr>
        <p:spPr>
          <a:xfrm>
            <a:off x="685596" y="376781"/>
            <a:ext cx="2286204" cy="370999"/>
          </a:xfrm>
          <a:prstGeom prst="rect">
            <a:avLst/>
          </a:prstGeom>
          <a:noFill/>
          <a:ln>
            <a:noFill/>
          </a:ln>
        </p:spPr>
        <p:txBody>
          <a:bodyPr anchorCtr="0" anchor="t" bIns="0" lIns="0" spcFirstLastPara="1" rIns="0" wrap="square" tIns="12050">
            <a:spAutoFit/>
          </a:bodyPr>
          <a:lstStyle/>
          <a:p>
            <a:pPr indent="254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QA &amp; INSPECTION CIRCLE KL 	</a:t>
            </a:r>
            <a:endParaRPr sz="1100">
              <a:solidFill>
                <a:schemeClr val="dk1"/>
              </a:solidFill>
              <a:latin typeface="Arial"/>
              <a:ea typeface="Arial"/>
              <a:cs typeface="Arial"/>
              <a:sym typeface="Arial"/>
            </a:endParaRPr>
          </a:p>
        </p:txBody>
      </p:sp>
      <p:sp>
        <p:nvSpPr>
          <p:cNvPr id="321" name="Google Shape;321;p31"/>
          <p:cNvSpPr txBox="1"/>
          <p:nvPr/>
        </p:nvSpPr>
        <p:spPr>
          <a:xfrm>
            <a:off x="920292" y="941577"/>
            <a:ext cx="1587500" cy="184666"/>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lang="en-US" sz="1200">
                <a:solidFill>
                  <a:schemeClr val="dk1"/>
                </a:solidFill>
                <a:latin typeface="Arial"/>
                <a:ea typeface="Arial"/>
                <a:cs typeface="Arial"/>
                <a:sym typeface="Arial"/>
              </a:rPr>
              <a:t>F.	</a:t>
            </a:r>
            <a:r>
              <a:rPr b="1" lang="en-US" sz="1100">
                <a:solidFill>
                  <a:schemeClr val="dk1"/>
                </a:solidFill>
                <a:latin typeface="Arial"/>
                <a:ea typeface="Arial"/>
                <a:cs typeface="Arial"/>
                <a:sym typeface="Arial"/>
              </a:rPr>
              <a:t>Modulation Plot</a:t>
            </a:r>
            <a:endParaRPr sz="1100">
              <a:solidFill>
                <a:schemeClr val="dk1"/>
              </a:solidFill>
              <a:latin typeface="Arial"/>
              <a:ea typeface="Arial"/>
              <a:cs typeface="Arial"/>
              <a:sym typeface="Arial"/>
            </a:endParaRPr>
          </a:p>
        </p:txBody>
      </p:sp>
      <p:sp>
        <p:nvSpPr>
          <p:cNvPr id="322" name="Google Shape;322;p31"/>
          <p:cNvSpPr txBox="1"/>
          <p:nvPr/>
        </p:nvSpPr>
        <p:spPr>
          <a:xfrm>
            <a:off x="640080" y="1737360"/>
            <a:ext cx="1044285" cy="369332"/>
          </a:xfrm>
          <a:prstGeom prst="rect">
            <a:avLst/>
          </a:prstGeom>
          <a:solidFill>
            <a:schemeClr val="lt1"/>
          </a:solidFill>
          <a:ln cap="flat" cmpd="sng" w="9525">
            <a:solidFill>
              <a:schemeClr val="l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p:txBody>
      </p:sp>
      <p:pic>
        <p:nvPicPr>
          <p:cNvPr descr="Picture" id="323" name="Google Shape;323;p31"/>
          <p:cNvPicPr preferRelativeResize="0"/>
          <p:nvPr/>
        </p:nvPicPr>
        <p:blipFill rotWithShape="1">
          <a:blip r:embed="rId3">
            <a:alphaModFix/>
          </a:blip>
          <a:srcRect b="0" l="0" r="0" t="0"/>
          <a:stretch/>
        </p:blipFill>
        <p:spPr>
          <a:xfrm>
            <a:off x="76200" y="1219200"/>
            <a:ext cx="7620000" cy="76200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32"/>
          <p:cNvSpPr txBox="1"/>
          <p:nvPr/>
        </p:nvSpPr>
        <p:spPr>
          <a:xfrm>
            <a:off x="5249926" y="414883"/>
            <a:ext cx="1612900" cy="379095"/>
          </a:xfrm>
          <a:prstGeom prst="rect">
            <a:avLst/>
          </a:prstGeom>
          <a:noFill/>
          <a:ln>
            <a:noFill/>
          </a:ln>
        </p:spPr>
        <p:txBody>
          <a:bodyPr anchorCtr="0" anchor="t" bIns="0" lIns="0" spcFirstLastPara="1" rIns="0" wrap="square" tIns="12050">
            <a:spAutoFit/>
          </a:bodyPr>
          <a:lstStyle/>
          <a:p>
            <a:pPr indent="619125"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4G PHASE IX.2  eNode-B A/T SCHEDULE</a:t>
            </a:r>
            <a:endParaRPr/>
          </a:p>
        </p:txBody>
      </p:sp>
      <p:sp>
        <p:nvSpPr>
          <p:cNvPr id="329" name="Google Shape;329;p32"/>
          <p:cNvSpPr txBox="1"/>
          <p:nvPr/>
        </p:nvSpPr>
        <p:spPr>
          <a:xfrm>
            <a:off x="868476" y="9391164"/>
            <a:ext cx="1681480" cy="182245"/>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lang="en-US" sz="1100">
                <a:solidFill>
                  <a:schemeClr val="dk1"/>
                </a:solidFill>
                <a:latin typeface="Arial"/>
                <a:ea typeface="Arial"/>
                <a:cs typeface="Arial"/>
                <a:sym typeface="Arial"/>
              </a:rPr>
              <a:t>QAIN-11/31(14)/1/2023-CM</a:t>
            </a:r>
            <a:endParaRPr sz="1100">
              <a:solidFill>
                <a:schemeClr val="dk1"/>
              </a:solidFill>
              <a:latin typeface="Arial"/>
              <a:ea typeface="Arial"/>
              <a:cs typeface="Arial"/>
              <a:sym typeface="Arial"/>
            </a:endParaRPr>
          </a:p>
        </p:txBody>
      </p:sp>
      <p:sp>
        <p:nvSpPr>
          <p:cNvPr id="330" name="Google Shape;330;p32"/>
          <p:cNvSpPr txBox="1"/>
          <p:nvPr/>
        </p:nvSpPr>
        <p:spPr>
          <a:xfrm>
            <a:off x="685596" y="376781"/>
            <a:ext cx="2286204" cy="370999"/>
          </a:xfrm>
          <a:prstGeom prst="rect">
            <a:avLst/>
          </a:prstGeom>
          <a:noFill/>
          <a:ln>
            <a:noFill/>
          </a:ln>
        </p:spPr>
        <p:txBody>
          <a:bodyPr anchorCtr="0" anchor="t" bIns="0" lIns="0" spcFirstLastPara="1" rIns="0" wrap="square" tIns="12050">
            <a:spAutoFit/>
          </a:bodyPr>
          <a:lstStyle/>
          <a:p>
            <a:pPr indent="254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QA &amp; INSPECTION CIRCLE KL 	</a:t>
            </a:r>
            <a:endParaRPr sz="1100">
              <a:solidFill>
                <a:schemeClr val="dk1"/>
              </a:solidFill>
              <a:latin typeface="Arial"/>
              <a:ea typeface="Arial"/>
              <a:cs typeface="Arial"/>
              <a:sym typeface="Arial"/>
            </a:endParaRPr>
          </a:p>
        </p:txBody>
      </p:sp>
      <p:sp>
        <p:nvSpPr>
          <p:cNvPr id="331" name="Google Shape;331;p32"/>
          <p:cNvSpPr txBox="1"/>
          <p:nvPr/>
        </p:nvSpPr>
        <p:spPr>
          <a:xfrm>
            <a:off x="685596" y="880858"/>
            <a:ext cx="66294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Uplink Performance Data from Drive Results</a:t>
            </a:r>
            <a:endParaRPr b="1" sz="1800">
              <a:solidFill>
                <a:schemeClr val="dk1"/>
              </a:solidFill>
              <a:latin typeface="Calibri"/>
              <a:ea typeface="Calibri"/>
              <a:cs typeface="Calibri"/>
              <a:sym typeface="Calibri"/>
            </a:endParaRPr>
          </a:p>
        </p:txBody>
      </p:sp>
      <p:graphicFrame>
        <p:nvGraphicFramePr>
          <p:cNvPr id="332" name="Google Shape;332;p32"/>
          <p:cNvGraphicFramePr/>
          <p:nvPr/>
        </p:nvGraphicFramePr>
        <p:xfrm>
          <a:off x="685596" y="1524000"/>
          <a:ext cx="3000000" cy="3000000"/>
        </p:xfrm>
        <a:graphic>
          <a:graphicData uri="http://schemas.openxmlformats.org/drawingml/2006/table">
            <a:tbl>
              <a:tblPr>
                <a:noFill/>
                <a:tableStyleId>{D2C2C31C-BB3A-4677-B747-F5C60967CC61}</a:tableStyleId>
              </a:tblPr>
              <a:tblGrid>
                <a:gridCol w="2578100"/>
                <a:gridCol w="1325875"/>
                <a:gridCol w="1362700"/>
                <a:gridCol w="1362700"/>
              </a:tblGrid>
              <a:tr h="457200">
                <a:tc>
                  <a:txBody>
                    <a:bodyPr/>
                    <a:lstStyle/>
                    <a:p>
                      <a:pPr indent="0" lvl="0" marL="0" marR="0" rtl="0" algn="ctr">
                        <a:spcBef>
                          <a:spcPts val="0"/>
                        </a:spcBef>
                        <a:spcAft>
                          <a:spcPts val="0"/>
                        </a:spcAft>
                        <a:buNone/>
                      </a:pPr>
                      <a:r>
                        <a:rPr b="0" i="0" lang="en-US" sz="1200" u="none" cap="none" strike="noStrike">
                          <a:solidFill>
                            <a:srgbClr val="000000"/>
                          </a:solidFill>
                          <a:latin typeface="Arial"/>
                          <a:ea typeface="Arial"/>
                          <a:cs typeface="Arial"/>
                          <a:sym typeface="Arial"/>
                        </a:rPr>
                        <a:t> </a:t>
                      </a:r>
                      <a:endParaRPr/>
                    </a:p>
                  </a:txBody>
                  <a:tcPr marT="6350" marB="0" marR="6350" marL="63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gridSpan="3">
                  <a:txBody>
                    <a:bodyPr/>
                    <a:lstStyle/>
                    <a:p>
                      <a:pPr indent="0" lvl="0" marL="0" marR="0" rtl="0" algn="ctr">
                        <a:spcBef>
                          <a:spcPts val="0"/>
                        </a:spcBef>
                        <a:spcAft>
                          <a:spcPts val="0"/>
                        </a:spcAft>
                        <a:buNone/>
                      </a:pPr>
                      <a:r>
                        <a:rPr b="0" i="0" lang="en-US" sz="1400" u="none" cap="none" strike="noStrike">
                          <a:solidFill>
                            <a:srgbClr val="000000"/>
                          </a:solidFill>
                          <a:latin typeface="Arial"/>
                          <a:ea typeface="Arial"/>
                          <a:cs typeface="Arial"/>
                          <a:sym typeface="Arial"/>
                        </a:rPr>
                        <a:t>Band 1</a:t>
                      </a:r>
                      <a:endParaRPr b="0" i="0" sz="1400" u="none" cap="none" strike="noStrike">
                        <a:solidFill>
                          <a:srgbClr val="000000"/>
                        </a:solidFill>
                        <a:latin typeface="Arial"/>
                        <a:ea typeface="Arial"/>
                        <a:cs typeface="Arial"/>
                        <a:sym typeface="Arial"/>
                      </a:endParaRPr>
                    </a:p>
                  </a:txBody>
                  <a:tcPr marT="6350" marB="0" marR="6350" marL="63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xBody>
                    <a:bodyPr/>
                    <a:p/>
                  </a:txBody>
                </a:tc>
                <a:tc hMerge="1">
                  <a:txBody>
                    <a:bodyPr/>
                    <a:p/>
                  </a:txBody>
                </a:tc>
              </a:tr>
              <a:tr h="457200">
                <a:tc>
                  <a:txBody>
                    <a:bodyPr/>
                    <a:lstStyle/>
                    <a:p>
                      <a:pPr indent="0" lvl="0" marL="0" marR="0" rtl="0" algn="ctr">
                        <a:spcBef>
                          <a:spcPts val="0"/>
                        </a:spcBef>
                        <a:spcAft>
                          <a:spcPts val="0"/>
                        </a:spcAft>
                        <a:buNone/>
                      </a:pPr>
                      <a:r>
                        <a:rPr b="0" i="0" lang="en-US" sz="1200" u="none" cap="none" strike="noStrike">
                          <a:solidFill>
                            <a:srgbClr val="000000"/>
                          </a:solidFill>
                          <a:latin typeface="Arial"/>
                          <a:ea typeface="Arial"/>
                          <a:cs typeface="Arial"/>
                          <a:sym typeface="Arial"/>
                        </a:rPr>
                        <a:t>Up link</a:t>
                      </a:r>
                      <a:endParaRPr/>
                    </a:p>
                  </a:txBody>
                  <a:tcPr marT="6350" marB="0" marR="6350" marL="63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1200" u="none" cap="none" strike="noStrike">
                          <a:solidFill>
                            <a:srgbClr val="000000"/>
                          </a:solidFill>
                          <a:latin typeface="Arial"/>
                          <a:ea typeface="Arial"/>
                          <a:cs typeface="Arial"/>
                          <a:sym typeface="Arial"/>
                        </a:rPr>
                        <a:t>Sector1</a:t>
                      </a:r>
                      <a:endParaRPr/>
                    </a:p>
                  </a:txBody>
                  <a:tcPr marT="6350" marB="0" marR="6350" marL="63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1200" u="none" cap="none" strike="noStrike">
                          <a:solidFill>
                            <a:srgbClr val="000000"/>
                          </a:solidFill>
                          <a:latin typeface="Arial"/>
                          <a:ea typeface="Arial"/>
                          <a:cs typeface="Arial"/>
                          <a:sym typeface="Arial"/>
                        </a:rPr>
                        <a:t>Sector 2</a:t>
                      </a:r>
                      <a:endParaRPr/>
                    </a:p>
                  </a:txBody>
                  <a:tcPr marT="6350" marB="0" marR="6350" marL="63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1200" u="none" cap="none" strike="noStrike">
                          <a:solidFill>
                            <a:srgbClr val="000000"/>
                          </a:solidFill>
                          <a:latin typeface="Arial"/>
                          <a:ea typeface="Arial"/>
                          <a:cs typeface="Arial"/>
                          <a:sym typeface="Arial"/>
                        </a:rPr>
                        <a:t>Sector3</a:t>
                      </a:r>
                      <a:endParaRPr/>
                    </a:p>
                  </a:txBody>
                  <a:tcPr marT="6350" marB="0" marR="6350" marL="63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57200">
                <a:tc>
                  <a:txBody>
                    <a:bodyPr/>
                    <a:lstStyle/>
                    <a:p>
                      <a:pPr indent="0" lvl="0" marL="0" marR="0" rtl="0" algn="ctr">
                        <a:spcBef>
                          <a:spcPts val="0"/>
                        </a:spcBef>
                        <a:spcAft>
                          <a:spcPts val="0"/>
                        </a:spcAft>
                        <a:buNone/>
                      </a:pPr>
                      <a:r>
                        <a:rPr b="0" i="0" lang="en-US" sz="1200" u="none" cap="none" strike="noStrike">
                          <a:solidFill>
                            <a:srgbClr val="000000"/>
                          </a:solidFill>
                          <a:latin typeface="Arial"/>
                          <a:ea typeface="Arial"/>
                          <a:cs typeface="Arial"/>
                          <a:sym typeface="Arial"/>
                        </a:rPr>
                        <a:t>Avg Uplink throughput</a:t>
                      </a:r>
                      <a:endParaRPr/>
                    </a:p>
                  </a:txBody>
                  <a:tcPr marT="6350" marB="0" marR="6350" marL="63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4445" marR="0" rtl="0" algn="ctr">
                        <a:lnSpc>
                          <a:spcPct val="100000"/>
                        </a:lnSpc>
                        <a:spcBef>
                          <a:spcPts val="5"/>
                        </a:spcBef>
                        <a:spcAft>
                          <a:spcPts val="0"/>
                        </a:spcAft>
                        <a:buNone/>
                      </a:pPr>
                      <a:r>
                        <a:rPr lang="en-US" sz="1100" u="none" cap="none" strike="noStrike">
                          <a:latin typeface="Calibri"/>
                          <a:ea typeface="Calibri"/>
                          <a:cs typeface="Calibri"/>
                          <a:sym typeface="Calibri"/>
                        </a:rPr>
                        <a:t>9.37</a:t>
                      </a:r>
                      <a:endParaRPr sz="1100" u="none" cap="none" strike="noStrike">
                        <a:latin typeface="Calibri"/>
                        <a:ea typeface="Calibri"/>
                        <a:cs typeface="Calibri"/>
                        <a:sym typeface="Calibri"/>
                      </a:endParaRPr>
                    </a:p>
                  </a:txBody>
                  <a:tcPr marT="13325"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5080" marR="0" rtl="0" algn="ctr">
                        <a:lnSpc>
                          <a:spcPct val="100000"/>
                        </a:lnSpc>
                        <a:spcBef>
                          <a:spcPts val="5"/>
                        </a:spcBef>
                        <a:spcAft>
                          <a:spcPts val="0"/>
                        </a:spcAft>
                        <a:buNone/>
                      </a:pPr>
                      <a:r>
                        <a:rPr lang="en-US" sz="1100" u="none" cap="none" strike="noStrike">
                          <a:latin typeface="Calibri"/>
                          <a:ea typeface="Calibri"/>
                          <a:cs typeface="Calibri"/>
                          <a:sym typeface="Calibri"/>
                        </a:rPr>
                        <a:t>3.25</a:t>
                      </a:r>
                      <a:endParaRPr sz="1100" u="none" cap="none" strike="noStrike">
                        <a:latin typeface="Calibri"/>
                        <a:ea typeface="Calibri"/>
                        <a:cs typeface="Calibri"/>
                        <a:sym typeface="Calibri"/>
                      </a:endParaRPr>
                    </a:p>
                  </a:txBody>
                  <a:tcPr marT="13325"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6350" marR="0" rtl="0" algn="ctr">
                        <a:lnSpc>
                          <a:spcPct val="100000"/>
                        </a:lnSpc>
                        <a:spcBef>
                          <a:spcPts val="5"/>
                        </a:spcBef>
                        <a:spcAft>
                          <a:spcPts val="0"/>
                        </a:spcAft>
                        <a:buNone/>
                      </a:pPr>
                      <a:r>
                        <a:rPr lang="en-US" sz="1100" u="none" cap="none" strike="noStrike">
                          <a:latin typeface="Calibri"/>
                          <a:ea typeface="Calibri"/>
                          <a:cs typeface="Calibri"/>
                          <a:sym typeface="Calibri"/>
                        </a:rPr>
                        <a:t>7.05</a:t>
                      </a:r>
                      <a:endParaRPr sz="1100" u="none" cap="none" strike="noStrike">
                        <a:latin typeface="Calibri"/>
                        <a:ea typeface="Calibri"/>
                        <a:cs typeface="Calibri"/>
                        <a:sym typeface="Calibri"/>
                      </a:endParaRPr>
                    </a:p>
                  </a:txBody>
                  <a:tcPr marT="13325"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46750">
                <a:tc>
                  <a:txBody>
                    <a:bodyPr/>
                    <a:lstStyle/>
                    <a:p>
                      <a:pPr indent="0" lvl="0" marL="0" marR="0" rtl="0" algn="ctr">
                        <a:spcBef>
                          <a:spcPts val="0"/>
                        </a:spcBef>
                        <a:spcAft>
                          <a:spcPts val="0"/>
                        </a:spcAft>
                        <a:buNone/>
                      </a:pPr>
                      <a:r>
                        <a:rPr b="0" i="0" lang="en-US" sz="1200" u="none" cap="none" strike="noStrike">
                          <a:solidFill>
                            <a:srgbClr val="000000"/>
                          </a:solidFill>
                          <a:latin typeface="Arial"/>
                          <a:ea typeface="Arial"/>
                          <a:cs typeface="Arial"/>
                          <a:sym typeface="Arial"/>
                        </a:rPr>
                        <a:t>Maximum Uplink throughput</a:t>
                      </a:r>
                      <a:endParaRPr/>
                    </a:p>
                  </a:txBody>
                  <a:tcPr marT="6350" marB="0" marR="6350" marL="63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1270" marR="0" rtl="0" algn="ctr">
                        <a:lnSpc>
                          <a:spcPct val="100000"/>
                        </a:lnSpc>
                        <a:spcBef>
                          <a:spcPts val="5"/>
                        </a:spcBef>
                        <a:spcAft>
                          <a:spcPts val="0"/>
                        </a:spcAft>
                        <a:buNone/>
                      </a:pPr>
                      <a:r>
                        <a:rPr lang="en-US" sz="1100" u="none" cap="none" strike="noStrike">
                          <a:latin typeface="Calibri"/>
                          <a:ea typeface="Calibri"/>
                          <a:cs typeface="Calibri"/>
                          <a:sym typeface="Calibri"/>
                        </a:rPr>
                        <a:t>12.82</a:t>
                      </a:r>
                      <a:endParaRPr sz="1100" u="none" cap="none" strike="noStrike">
                        <a:latin typeface="Calibri"/>
                        <a:ea typeface="Calibri"/>
                        <a:cs typeface="Calibri"/>
                        <a:sym typeface="Calibri"/>
                      </a:endParaRPr>
                    </a:p>
                  </a:txBody>
                  <a:tcPr marT="7625"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5080" marR="0" rtl="0" algn="ctr">
                        <a:lnSpc>
                          <a:spcPct val="100000"/>
                        </a:lnSpc>
                        <a:spcBef>
                          <a:spcPts val="5"/>
                        </a:spcBef>
                        <a:spcAft>
                          <a:spcPts val="0"/>
                        </a:spcAft>
                        <a:buNone/>
                      </a:pPr>
                      <a:r>
                        <a:rPr lang="en-US" sz="1100" u="none" cap="none" strike="noStrike">
                          <a:latin typeface="Calibri"/>
                          <a:ea typeface="Calibri"/>
                          <a:cs typeface="Calibri"/>
                          <a:sym typeface="Calibri"/>
                        </a:rPr>
                        <a:t>6.73</a:t>
                      </a:r>
                      <a:endParaRPr sz="1100" u="none" cap="none" strike="noStrike">
                        <a:latin typeface="Calibri"/>
                        <a:ea typeface="Calibri"/>
                        <a:cs typeface="Calibri"/>
                        <a:sym typeface="Calibri"/>
                      </a:endParaRPr>
                    </a:p>
                  </a:txBody>
                  <a:tcPr marT="7625"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3175" marR="0" rtl="0" algn="ctr">
                        <a:lnSpc>
                          <a:spcPct val="100000"/>
                        </a:lnSpc>
                        <a:spcBef>
                          <a:spcPts val="5"/>
                        </a:spcBef>
                        <a:spcAft>
                          <a:spcPts val="0"/>
                        </a:spcAft>
                        <a:buNone/>
                      </a:pPr>
                      <a:r>
                        <a:rPr lang="en-US" sz="1100" u="none" cap="none" strike="noStrike">
                          <a:latin typeface="Calibri"/>
                          <a:ea typeface="Calibri"/>
                          <a:cs typeface="Calibri"/>
                          <a:sym typeface="Calibri"/>
                        </a:rPr>
                        <a:t>11.73</a:t>
                      </a:r>
                      <a:endParaRPr sz="1100" u="none" cap="none" strike="noStrike">
                        <a:latin typeface="Calibri"/>
                        <a:ea typeface="Calibri"/>
                        <a:cs typeface="Calibri"/>
                        <a:sym typeface="Calibri"/>
                      </a:endParaRPr>
                    </a:p>
                  </a:txBody>
                  <a:tcPr marT="7625"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75250">
                <a:tc>
                  <a:txBody>
                    <a:bodyPr/>
                    <a:lstStyle/>
                    <a:p>
                      <a:pPr indent="0" lvl="0" marL="0" marR="0" rtl="0" algn="ctr">
                        <a:spcBef>
                          <a:spcPts val="0"/>
                        </a:spcBef>
                        <a:spcAft>
                          <a:spcPts val="0"/>
                        </a:spcAft>
                        <a:buNone/>
                      </a:pPr>
                      <a:r>
                        <a:rPr b="0" i="0" lang="en-US" sz="1200" u="none" cap="none" strike="noStrike">
                          <a:solidFill>
                            <a:srgbClr val="000000"/>
                          </a:solidFill>
                          <a:latin typeface="Arial"/>
                          <a:ea typeface="Arial"/>
                          <a:cs typeface="Arial"/>
                          <a:sym typeface="Arial"/>
                        </a:rPr>
                        <a:t>Modulation percentage</a:t>
                      </a:r>
                      <a:endParaRPr/>
                    </a:p>
                  </a:txBody>
                  <a:tcPr marT="6350" marB="0" marR="6350" marL="63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1200" u="none" cap="none" strike="noStrike">
                          <a:solidFill>
                            <a:srgbClr val="000000"/>
                          </a:solidFill>
                          <a:latin typeface="Arial"/>
                          <a:ea typeface="Arial"/>
                          <a:cs typeface="Arial"/>
                          <a:sym typeface="Arial"/>
                        </a:rPr>
                        <a:t>Count/Percentage</a:t>
                      </a:r>
                      <a:endParaRPr/>
                    </a:p>
                  </a:txBody>
                  <a:tcPr marT="6350" marB="0" marR="6350" marL="63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1200" u="none" cap="none" strike="noStrike">
                          <a:solidFill>
                            <a:srgbClr val="000000"/>
                          </a:solidFill>
                          <a:latin typeface="Arial"/>
                          <a:ea typeface="Arial"/>
                          <a:cs typeface="Arial"/>
                          <a:sym typeface="Arial"/>
                        </a:rPr>
                        <a:t>Count/Percentage</a:t>
                      </a:r>
                      <a:endParaRPr/>
                    </a:p>
                  </a:txBody>
                  <a:tcPr marT="6350" marB="0" marR="6350" marL="63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1200" u="none" cap="none" strike="noStrike">
                          <a:solidFill>
                            <a:srgbClr val="000000"/>
                          </a:solidFill>
                          <a:latin typeface="Arial"/>
                          <a:ea typeface="Arial"/>
                          <a:cs typeface="Arial"/>
                          <a:sym typeface="Arial"/>
                        </a:rPr>
                        <a:t>Count/Percentage</a:t>
                      </a:r>
                      <a:endParaRPr/>
                    </a:p>
                  </a:txBody>
                  <a:tcPr marT="6350" marB="0" marR="6350" marL="63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25800">
                <a:tc rowSpan="2">
                  <a:txBody>
                    <a:bodyPr/>
                    <a:lstStyle/>
                    <a:p>
                      <a:pPr indent="0" lvl="0" marL="0" marR="0" rtl="0" algn="ctr">
                        <a:spcBef>
                          <a:spcPts val="0"/>
                        </a:spcBef>
                        <a:spcAft>
                          <a:spcPts val="0"/>
                        </a:spcAft>
                        <a:buNone/>
                      </a:pPr>
                      <a:r>
                        <a:rPr b="0" i="0" lang="en-US" sz="1200" u="none" cap="none" strike="noStrike">
                          <a:solidFill>
                            <a:srgbClr val="000000"/>
                          </a:solidFill>
                          <a:latin typeface="Arial"/>
                          <a:ea typeface="Arial"/>
                          <a:cs typeface="Arial"/>
                          <a:sym typeface="Arial"/>
                        </a:rPr>
                        <a:t>    64 QAM</a:t>
                      </a:r>
                      <a:endParaRPr/>
                    </a:p>
                  </a:txBody>
                  <a:tcPr marT="6350" marB="0" marR="6350" marL="63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000" u="none" cap="none" strike="noStrike">
                        <a:latin typeface="Times New Roman"/>
                        <a:ea typeface="Times New Roman"/>
                        <a:cs typeface="Times New Roman"/>
                        <a:sym typeface="Times New Roman"/>
                      </a:endParaRPr>
                    </a:p>
                    <a:p>
                      <a:pPr indent="0" lvl="0" marL="3810" marR="0" rtl="0" algn="ctr">
                        <a:lnSpc>
                          <a:spcPct val="100000"/>
                        </a:lnSpc>
                        <a:spcBef>
                          <a:spcPts val="0"/>
                        </a:spcBef>
                        <a:spcAft>
                          <a:spcPts val="0"/>
                        </a:spcAft>
                        <a:buNone/>
                      </a:pPr>
                      <a:r>
                        <a:rPr b="1" lang="en-US" sz="1000" u="none" cap="none" strike="noStrike">
                          <a:latin typeface="Calibri"/>
                          <a:ea typeface="Calibri"/>
                          <a:cs typeface="Calibri"/>
                          <a:sym typeface="Calibri"/>
                        </a:rPr>
                        <a:t>98.96907216</a:t>
                      </a:r>
                      <a:endParaRPr sz="1000" u="none" cap="none" strike="noStrike">
                        <a:latin typeface="Calibri"/>
                        <a:ea typeface="Calibri"/>
                        <a:cs typeface="Calibri"/>
                        <a:sym typeface="Calibri"/>
                      </a:endParaRPr>
                    </a:p>
                  </a:txBody>
                  <a:tcPr marT="15875"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5715" marR="0" rtl="0" algn="ctr">
                        <a:lnSpc>
                          <a:spcPct val="100000"/>
                        </a:lnSpc>
                        <a:spcBef>
                          <a:spcPts val="0"/>
                        </a:spcBef>
                        <a:spcAft>
                          <a:spcPts val="0"/>
                        </a:spcAft>
                        <a:buNone/>
                      </a:pPr>
                      <a:r>
                        <a:rPr lang="en-US" sz="11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156850"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000" u="none" cap="none" strike="noStrike">
                        <a:latin typeface="Times New Roman"/>
                        <a:ea typeface="Times New Roman"/>
                        <a:cs typeface="Times New Roman"/>
                        <a:sym typeface="Times New Roman"/>
                      </a:endParaRPr>
                    </a:p>
                    <a:p>
                      <a:pPr indent="0" lvl="0" marL="6350" marR="0" rtl="0" algn="ctr">
                        <a:lnSpc>
                          <a:spcPct val="100000"/>
                        </a:lnSpc>
                        <a:spcBef>
                          <a:spcPts val="0"/>
                        </a:spcBef>
                        <a:spcAft>
                          <a:spcPts val="0"/>
                        </a:spcAft>
                        <a:buNone/>
                      </a:pPr>
                      <a:r>
                        <a:rPr b="1" lang="en-US" sz="1000" u="none" cap="none" strike="noStrike">
                          <a:latin typeface="Calibri"/>
                          <a:ea typeface="Calibri"/>
                          <a:cs typeface="Calibri"/>
                          <a:sym typeface="Calibri"/>
                        </a:rPr>
                        <a:t>98.31144465</a:t>
                      </a:r>
                      <a:endParaRPr sz="1000" u="none" cap="none" strike="noStrike">
                        <a:latin typeface="Calibri"/>
                        <a:ea typeface="Calibri"/>
                        <a:cs typeface="Calibri"/>
                        <a:sym typeface="Calibri"/>
                      </a:endParaRPr>
                    </a:p>
                  </a:txBody>
                  <a:tcPr marT="15875"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04800">
                <a:tc vMerge="1">
                  <a:txBody>
                    <a:bodyPr/>
                    <a:p/>
                  </a:txBody>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3175" marR="0" rtl="0" algn="ctr">
                        <a:lnSpc>
                          <a:spcPct val="100000"/>
                        </a:lnSpc>
                        <a:spcBef>
                          <a:spcPts val="0"/>
                        </a:spcBef>
                        <a:spcAft>
                          <a:spcPts val="0"/>
                        </a:spcAft>
                        <a:buNone/>
                      </a:pPr>
                      <a:r>
                        <a:rPr lang="en-US" sz="1100" u="none" cap="none" strike="noStrike">
                          <a:latin typeface="Calibri"/>
                          <a:ea typeface="Calibri"/>
                          <a:cs typeface="Calibri"/>
                          <a:sym typeface="Calibri"/>
                        </a:rPr>
                        <a:t>99%</a:t>
                      </a:r>
                      <a:endParaRPr sz="1100" u="none" cap="none" strike="noStrike">
                        <a:latin typeface="Calibri"/>
                        <a:ea typeface="Calibri"/>
                        <a:cs typeface="Calibri"/>
                        <a:sym typeface="Calibri"/>
                      </a:endParaRPr>
                    </a:p>
                  </a:txBody>
                  <a:tcPr marT="19050"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lang="en-US" sz="11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19050"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3810" marR="0" rtl="0" algn="ctr">
                        <a:lnSpc>
                          <a:spcPct val="100000"/>
                        </a:lnSpc>
                        <a:spcBef>
                          <a:spcPts val="0"/>
                        </a:spcBef>
                        <a:spcAft>
                          <a:spcPts val="0"/>
                        </a:spcAft>
                        <a:buNone/>
                      </a:pPr>
                      <a:r>
                        <a:rPr lang="en-US" sz="1100" u="none" cap="none" strike="noStrike">
                          <a:latin typeface="Calibri"/>
                          <a:ea typeface="Calibri"/>
                          <a:cs typeface="Calibri"/>
                          <a:sym typeface="Calibri"/>
                        </a:rPr>
                        <a:t>98%</a:t>
                      </a:r>
                      <a:endParaRPr sz="1100" u="none" cap="none" strike="noStrike">
                        <a:latin typeface="Calibri"/>
                        <a:ea typeface="Calibri"/>
                        <a:cs typeface="Calibri"/>
                        <a:sym typeface="Calibri"/>
                      </a:endParaRPr>
                    </a:p>
                  </a:txBody>
                  <a:tcPr marT="19050"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04800">
                <a:tc rowSpan="2">
                  <a:txBody>
                    <a:bodyPr/>
                    <a:lstStyle/>
                    <a:p>
                      <a:pPr indent="0" lvl="0" marL="0" marR="0" rtl="0" algn="ctr">
                        <a:spcBef>
                          <a:spcPts val="0"/>
                        </a:spcBef>
                        <a:spcAft>
                          <a:spcPts val="0"/>
                        </a:spcAft>
                        <a:buNone/>
                      </a:pPr>
                      <a:r>
                        <a:rPr b="0" i="0" lang="en-US" sz="1200" u="none" cap="none" strike="noStrike">
                          <a:solidFill>
                            <a:srgbClr val="000000"/>
                          </a:solidFill>
                          <a:latin typeface="Arial"/>
                          <a:ea typeface="Arial"/>
                          <a:cs typeface="Arial"/>
                          <a:sym typeface="Arial"/>
                        </a:rPr>
                        <a:t>    16 QAM</a:t>
                      </a:r>
                      <a:endParaRPr/>
                    </a:p>
                  </a:txBody>
                  <a:tcPr marT="6350" marB="0" marR="6350" marL="63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3810" marR="0" rtl="0" algn="ctr">
                        <a:lnSpc>
                          <a:spcPct val="100000"/>
                        </a:lnSpc>
                        <a:spcBef>
                          <a:spcPts val="0"/>
                        </a:spcBef>
                        <a:spcAft>
                          <a:spcPts val="0"/>
                        </a:spcAft>
                        <a:buNone/>
                      </a:pPr>
                      <a:r>
                        <a:rPr b="1" lang="en-US" sz="1000" u="none" cap="none" strike="noStrike">
                          <a:latin typeface="Calibri"/>
                          <a:ea typeface="Calibri"/>
                          <a:cs typeface="Calibri"/>
                          <a:sym typeface="Calibri"/>
                        </a:rPr>
                        <a:t>0.171821306</a:t>
                      </a:r>
                      <a:endParaRPr sz="1000" u="none" cap="none" strike="noStrike">
                        <a:latin typeface="Calibri"/>
                        <a:ea typeface="Calibri"/>
                        <a:cs typeface="Calibri"/>
                        <a:sym typeface="Calibri"/>
                      </a:endParaRPr>
                    </a:p>
                  </a:txBody>
                  <a:tcPr marT="93350"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5080" marR="0" rtl="0" algn="ctr">
                        <a:lnSpc>
                          <a:spcPct val="100000"/>
                        </a:lnSpc>
                        <a:spcBef>
                          <a:spcPts val="0"/>
                        </a:spcBef>
                        <a:spcAft>
                          <a:spcPts val="0"/>
                        </a:spcAft>
                        <a:buNone/>
                      </a:pPr>
                      <a:r>
                        <a:rPr b="1" lang="en-US" sz="1000" u="none" cap="none" strike="noStrike">
                          <a:latin typeface="Calibri"/>
                          <a:ea typeface="Calibri"/>
                          <a:cs typeface="Calibri"/>
                          <a:sym typeface="Calibri"/>
                        </a:rPr>
                        <a:t>90.78694818</a:t>
                      </a:r>
                      <a:endParaRPr sz="1000" u="none" cap="none" strike="noStrike">
                        <a:latin typeface="Calibri"/>
                        <a:ea typeface="Calibri"/>
                        <a:cs typeface="Calibri"/>
                        <a:sym typeface="Calibri"/>
                      </a:endParaRPr>
                    </a:p>
                  </a:txBody>
                  <a:tcPr marT="93350"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6350" marR="0" rtl="0" algn="ctr">
                        <a:lnSpc>
                          <a:spcPct val="100000"/>
                        </a:lnSpc>
                        <a:spcBef>
                          <a:spcPts val="0"/>
                        </a:spcBef>
                        <a:spcAft>
                          <a:spcPts val="0"/>
                        </a:spcAft>
                        <a:buNone/>
                      </a:pPr>
                      <a:r>
                        <a:rPr b="1" lang="en-US" sz="1000" u="none" cap="none" strike="noStrike">
                          <a:latin typeface="Calibri"/>
                          <a:ea typeface="Calibri"/>
                          <a:cs typeface="Calibri"/>
                          <a:sym typeface="Calibri"/>
                        </a:rPr>
                        <a:t>1.688555347</a:t>
                      </a:r>
                      <a:endParaRPr sz="1000" u="none" cap="none" strike="noStrike">
                        <a:latin typeface="Calibri"/>
                        <a:ea typeface="Calibri"/>
                        <a:cs typeface="Calibri"/>
                        <a:sym typeface="Calibri"/>
                      </a:endParaRPr>
                    </a:p>
                  </a:txBody>
                  <a:tcPr marT="93350"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81325">
                <a:tc vMerge="1">
                  <a:txBody>
                    <a:bodyPr/>
                    <a:p/>
                  </a:txBody>
                </a:tc>
                <a:tc>
                  <a:txBody>
                    <a:bodyPr/>
                    <a:lstStyle/>
                    <a:p>
                      <a:pPr indent="0" lvl="0" marL="0" marR="0" rtl="0" algn="ctr">
                        <a:lnSpc>
                          <a:spcPct val="100000"/>
                        </a:lnSpc>
                        <a:spcBef>
                          <a:spcPts val="0"/>
                        </a:spcBef>
                        <a:spcAft>
                          <a:spcPts val="0"/>
                        </a:spcAft>
                        <a:buNone/>
                      </a:pPr>
                      <a:r>
                        <a:rPr lang="en-US" sz="11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88275"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3175" marR="0" rtl="0" algn="ctr">
                        <a:lnSpc>
                          <a:spcPct val="100000"/>
                        </a:lnSpc>
                        <a:spcBef>
                          <a:spcPts val="0"/>
                        </a:spcBef>
                        <a:spcAft>
                          <a:spcPts val="0"/>
                        </a:spcAft>
                        <a:buNone/>
                      </a:pPr>
                      <a:r>
                        <a:rPr lang="en-US" sz="1100" u="none" cap="none" strike="noStrike">
                          <a:latin typeface="Calibri"/>
                          <a:ea typeface="Calibri"/>
                          <a:cs typeface="Calibri"/>
                          <a:sym typeface="Calibri"/>
                        </a:rPr>
                        <a:t>91%</a:t>
                      </a:r>
                      <a:endParaRPr sz="1100" u="none" cap="none" strike="noStrike">
                        <a:latin typeface="Calibri"/>
                        <a:ea typeface="Calibri"/>
                        <a:cs typeface="Calibri"/>
                        <a:sym typeface="Calibri"/>
                      </a:endParaRPr>
                    </a:p>
                  </a:txBody>
                  <a:tcPr marT="88275"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635" marR="0" rtl="0" algn="ctr">
                        <a:lnSpc>
                          <a:spcPct val="100000"/>
                        </a:lnSpc>
                        <a:spcBef>
                          <a:spcPts val="0"/>
                        </a:spcBef>
                        <a:spcAft>
                          <a:spcPts val="0"/>
                        </a:spcAft>
                        <a:buNone/>
                      </a:pPr>
                      <a:r>
                        <a:rPr lang="en-US" sz="1100" u="none" cap="none" strike="noStrike">
                          <a:latin typeface="Calibri"/>
                          <a:ea typeface="Calibri"/>
                          <a:cs typeface="Calibri"/>
                          <a:sym typeface="Calibri"/>
                        </a:rPr>
                        <a:t>2%</a:t>
                      </a:r>
                      <a:endParaRPr sz="1100" u="none" cap="none" strike="noStrike">
                        <a:latin typeface="Calibri"/>
                        <a:ea typeface="Calibri"/>
                        <a:cs typeface="Calibri"/>
                        <a:sym typeface="Calibri"/>
                      </a:endParaRPr>
                    </a:p>
                  </a:txBody>
                  <a:tcPr marT="88275"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04800">
                <a:tc rowSpan="2">
                  <a:txBody>
                    <a:bodyPr/>
                    <a:lstStyle/>
                    <a:p>
                      <a:pPr indent="0" lvl="0" marL="0" marR="0" rtl="0" algn="ctr">
                        <a:spcBef>
                          <a:spcPts val="0"/>
                        </a:spcBef>
                        <a:spcAft>
                          <a:spcPts val="0"/>
                        </a:spcAft>
                        <a:buNone/>
                      </a:pPr>
                      <a:r>
                        <a:rPr b="0" i="0" lang="en-US" sz="1200" u="none" cap="none" strike="noStrike">
                          <a:solidFill>
                            <a:srgbClr val="000000"/>
                          </a:solidFill>
                          <a:latin typeface="Arial"/>
                          <a:ea typeface="Arial"/>
                          <a:cs typeface="Arial"/>
                          <a:sym typeface="Arial"/>
                        </a:rPr>
                        <a:t>     QPSK</a:t>
                      </a:r>
                      <a:endParaRPr/>
                    </a:p>
                  </a:txBody>
                  <a:tcPr marT="6350" marB="0" marR="6350" marL="63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3810" marR="0" rtl="0" algn="ctr">
                        <a:lnSpc>
                          <a:spcPct val="100000"/>
                        </a:lnSpc>
                        <a:spcBef>
                          <a:spcPts val="0"/>
                        </a:spcBef>
                        <a:spcAft>
                          <a:spcPts val="0"/>
                        </a:spcAft>
                        <a:buNone/>
                      </a:pPr>
                      <a:r>
                        <a:rPr b="1" lang="en-US" sz="1000" u="none" cap="none" strike="noStrike">
                          <a:latin typeface="Calibri"/>
                          <a:ea typeface="Calibri"/>
                          <a:cs typeface="Calibri"/>
                          <a:sym typeface="Calibri"/>
                        </a:rPr>
                        <a:t>0.859106529</a:t>
                      </a:r>
                      <a:endParaRPr sz="1000" u="none" cap="none" strike="noStrike">
                        <a:latin typeface="Calibri"/>
                        <a:ea typeface="Calibri"/>
                        <a:cs typeface="Calibri"/>
                        <a:sym typeface="Calibri"/>
                      </a:endParaRPr>
                    </a:p>
                  </a:txBody>
                  <a:tcPr marT="93975"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5080" marR="0" rtl="0" algn="ctr">
                        <a:lnSpc>
                          <a:spcPct val="100000"/>
                        </a:lnSpc>
                        <a:spcBef>
                          <a:spcPts val="0"/>
                        </a:spcBef>
                        <a:spcAft>
                          <a:spcPts val="0"/>
                        </a:spcAft>
                        <a:buNone/>
                      </a:pPr>
                      <a:r>
                        <a:rPr b="1" lang="en-US" sz="1000" u="none" cap="none" strike="noStrike">
                          <a:latin typeface="Calibri"/>
                          <a:ea typeface="Calibri"/>
                          <a:cs typeface="Calibri"/>
                          <a:sym typeface="Calibri"/>
                        </a:rPr>
                        <a:t>9.213051823</a:t>
                      </a:r>
                      <a:endParaRPr sz="1000" u="none" cap="none" strike="noStrike">
                        <a:latin typeface="Calibri"/>
                        <a:ea typeface="Calibri"/>
                        <a:cs typeface="Calibri"/>
                        <a:sym typeface="Calibri"/>
                      </a:endParaRPr>
                    </a:p>
                  </a:txBody>
                  <a:tcPr marT="93975"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6985" marR="0" rtl="0" algn="ctr">
                        <a:lnSpc>
                          <a:spcPct val="100000"/>
                        </a:lnSpc>
                        <a:spcBef>
                          <a:spcPts val="0"/>
                        </a:spcBef>
                        <a:spcAft>
                          <a:spcPts val="0"/>
                        </a:spcAft>
                        <a:buNone/>
                      </a:pPr>
                      <a:r>
                        <a:rPr lang="en-US" sz="11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88275"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17575">
                <a:tc vMerge="1">
                  <a:txBody>
                    <a:bodyPr/>
                    <a:p/>
                  </a:txBody>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lang="en-US" sz="1100" u="none" cap="none" strike="noStrike">
                          <a:latin typeface="Calibri"/>
                          <a:ea typeface="Calibri"/>
                          <a:cs typeface="Calibri"/>
                          <a:sym typeface="Calibri"/>
                        </a:rPr>
                        <a:t>1%</a:t>
                      </a:r>
                      <a:endParaRPr sz="1100" u="none" cap="none" strike="noStrike">
                        <a:latin typeface="Calibri"/>
                        <a:ea typeface="Calibri"/>
                        <a:cs typeface="Calibri"/>
                        <a:sym typeface="Calibri"/>
                      </a:endParaRPr>
                    </a:p>
                  </a:txBody>
                  <a:tcPr marT="14600"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lang="en-US" sz="1100" u="none" cap="none" strike="noStrike">
                          <a:latin typeface="Calibri"/>
                          <a:ea typeface="Calibri"/>
                          <a:cs typeface="Calibri"/>
                          <a:sym typeface="Calibri"/>
                        </a:rPr>
                        <a:t>9%</a:t>
                      </a:r>
                      <a:endParaRPr sz="1100" u="none" cap="none" strike="noStrike">
                        <a:latin typeface="Calibri"/>
                        <a:ea typeface="Calibri"/>
                        <a:cs typeface="Calibri"/>
                        <a:sym typeface="Calibri"/>
                      </a:endParaRPr>
                    </a:p>
                  </a:txBody>
                  <a:tcPr marT="14600"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635" marR="0" rtl="0" algn="ctr">
                        <a:lnSpc>
                          <a:spcPct val="100000"/>
                        </a:lnSpc>
                        <a:spcBef>
                          <a:spcPts val="0"/>
                        </a:spcBef>
                        <a:spcAft>
                          <a:spcPts val="0"/>
                        </a:spcAft>
                        <a:buNone/>
                      </a:pPr>
                      <a:r>
                        <a:rPr lang="en-US" sz="11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14600"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26500">
                <a:tc>
                  <a:txBody>
                    <a:bodyPr/>
                    <a:lstStyle/>
                    <a:p>
                      <a:pPr indent="0" lvl="0" marL="0" marR="0" rtl="0" algn="ctr">
                        <a:spcBef>
                          <a:spcPts val="0"/>
                        </a:spcBef>
                        <a:spcAft>
                          <a:spcPts val="0"/>
                        </a:spcAft>
                        <a:buNone/>
                      </a:pPr>
                      <a:r>
                        <a:rPr b="0" i="0" lang="en-US" sz="1200" u="none" cap="none" strike="noStrike">
                          <a:solidFill>
                            <a:srgbClr val="000000"/>
                          </a:solidFill>
                          <a:latin typeface="Arial"/>
                          <a:ea typeface="Arial"/>
                          <a:cs typeface="Arial"/>
                          <a:sym typeface="Arial"/>
                        </a:rPr>
                        <a:t> TA advance Value of location where test conducted</a:t>
                      </a:r>
                      <a:endParaRPr/>
                    </a:p>
                  </a:txBody>
                  <a:tcPr marT="6350" marB="0" marR="6350" marL="63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000" u="none" cap="none" strike="noStrike">
                        <a:latin typeface="Times New Roman"/>
                        <a:ea typeface="Times New Roman"/>
                        <a:cs typeface="Times New Roman"/>
                        <a:sym typeface="Times New Roman"/>
                      </a:endParaRPr>
                    </a:p>
                    <a:p>
                      <a:pPr indent="0" lvl="0" marL="5080" marR="0" rtl="0" algn="ctr">
                        <a:lnSpc>
                          <a:spcPct val="100000"/>
                        </a:lnSpc>
                        <a:spcBef>
                          <a:spcPts val="0"/>
                        </a:spcBef>
                        <a:spcAft>
                          <a:spcPts val="0"/>
                        </a:spcAft>
                        <a:buNone/>
                      </a:pPr>
                      <a:r>
                        <a:rPr lang="en-US" sz="1000" u="none" cap="none" strike="noStrike">
                          <a:latin typeface="Arial"/>
                          <a:ea typeface="Arial"/>
                          <a:cs typeface="Arial"/>
                          <a:sym typeface="Arial"/>
                        </a:rPr>
                        <a:t>-77.526</a:t>
                      </a:r>
                      <a:endParaRPr sz="1000" u="none" cap="none" strike="noStrike">
                        <a:latin typeface="Arial"/>
                        <a:ea typeface="Arial"/>
                        <a:cs typeface="Arial"/>
                        <a:sym typeface="Arial"/>
                      </a:endParaRPr>
                    </a:p>
                  </a:txBody>
                  <a:tcPr marT="80000"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000" u="none" cap="none" strike="noStrike">
                        <a:latin typeface="Times New Roman"/>
                        <a:ea typeface="Times New Roman"/>
                        <a:cs typeface="Times New Roman"/>
                        <a:sym typeface="Times New Roman"/>
                      </a:endParaRPr>
                    </a:p>
                    <a:p>
                      <a:pPr indent="0" lvl="0" marL="5715" marR="0" rtl="0" algn="ctr">
                        <a:lnSpc>
                          <a:spcPct val="100000"/>
                        </a:lnSpc>
                        <a:spcBef>
                          <a:spcPts val="0"/>
                        </a:spcBef>
                        <a:spcAft>
                          <a:spcPts val="0"/>
                        </a:spcAft>
                        <a:buNone/>
                      </a:pPr>
                      <a:r>
                        <a:rPr lang="en-US" sz="1000" u="none" cap="none" strike="noStrike">
                          <a:latin typeface="Arial"/>
                          <a:ea typeface="Arial"/>
                          <a:cs typeface="Arial"/>
                          <a:sym typeface="Arial"/>
                        </a:rPr>
                        <a:t>-81.534</a:t>
                      </a:r>
                      <a:endParaRPr sz="1000" u="none" cap="none" strike="noStrike">
                        <a:latin typeface="Arial"/>
                        <a:ea typeface="Arial"/>
                        <a:cs typeface="Arial"/>
                        <a:sym typeface="Arial"/>
                      </a:endParaRPr>
                    </a:p>
                  </a:txBody>
                  <a:tcPr marT="80000"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000" u="none" cap="none" strike="noStrike">
                        <a:latin typeface="Times New Roman"/>
                        <a:ea typeface="Times New Roman"/>
                        <a:cs typeface="Times New Roman"/>
                        <a:sym typeface="Times New Roman"/>
                      </a:endParaRPr>
                    </a:p>
                    <a:p>
                      <a:pPr indent="0" lvl="0" marL="6350" marR="0" rtl="0" algn="ctr">
                        <a:lnSpc>
                          <a:spcPct val="100000"/>
                        </a:lnSpc>
                        <a:spcBef>
                          <a:spcPts val="0"/>
                        </a:spcBef>
                        <a:spcAft>
                          <a:spcPts val="0"/>
                        </a:spcAft>
                        <a:buNone/>
                      </a:pPr>
                      <a:r>
                        <a:rPr lang="en-US" sz="1000" u="none" cap="none" strike="noStrike">
                          <a:latin typeface="Arial"/>
                          <a:ea typeface="Arial"/>
                          <a:cs typeface="Arial"/>
                          <a:sym typeface="Arial"/>
                        </a:rPr>
                        <a:t>-74.283</a:t>
                      </a:r>
                      <a:endParaRPr sz="1000" u="none" cap="none" strike="noStrike">
                        <a:latin typeface="Arial"/>
                        <a:ea typeface="Arial"/>
                        <a:cs typeface="Arial"/>
                        <a:sym typeface="Arial"/>
                      </a:endParaRPr>
                    </a:p>
                  </a:txBody>
                  <a:tcPr marT="80000"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81150">
                <a:tc>
                  <a:txBody>
                    <a:bodyPr/>
                    <a:lstStyle/>
                    <a:p>
                      <a:pPr indent="0" lvl="0" marL="0" marR="0" rtl="0" algn="ctr">
                        <a:spcBef>
                          <a:spcPts val="0"/>
                        </a:spcBef>
                        <a:spcAft>
                          <a:spcPts val="0"/>
                        </a:spcAft>
                        <a:buNone/>
                      </a:pPr>
                      <a:r>
                        <a:rPr b="0" i="0" lang="en-US" sz="1200" u="none" cap="none" strike="noStrike">
                          <a:solidFill>
                            <a:srgbClr val="000000"/>
                          </a:solidFill>
                          <a:latin typeface="Arial"/>
                          <a:ea typeface="Arial"/>
                          <a:cs typeface="Arial"/>
                          <a:sym typeface="Arial"/>
                        </a:rPr>
                        <a:t>Avg PUSCH Trans Power</a:t>
                      </a:r>
                      <a:endParaRPr/>
                    </a:p>
                  </a:txBody>
                  <a:tcPr marT="6350" marB="0" marR="6350" marL="63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000" u="none" cap="none" strike="noStrike">
                        <a:latin typeface="Times New Roman"/>
                        <a:ea typeface="Times New Roman"/>
                        <a:cs typeface="Times New Roman"/>
                        <a:sym typeface="Times New Roman"/>
                      </a:endParaRPr>
                    </a:p>
                    <a:p>
                      <a:pPr indent="0" lvl="0" marL="4445" marR="0" rtl="0" algn="ctr">
                        <a:lnSpc>
                          <a:spcPct val="100000"/>
                        </a:lnSpc>
                        <a:spcBef>
                          <a:spcPts val="0"/>
                        </a:spcBef>
                        <a:spcAft>
                          <a:spcPts val="0"/>
                        </a:spcAft>
                        <a:buNone/>
                      </a:pPr>
                      <a:r>
                        <a:rPr lang="en-US" sz="1000" u="none" cap="none" strike="noStrike">
                          <a:latin typeface="Calibri"/>
                          <a:ea typeface="Calibri"/>
                          <a:cs typeface="Calibri"/>
                          <a:sym typeface="Calibri"/>
                        </a:rPr>
                        <a:t>22.09909513</a:t>
                      </a:r>
                      <a:endParaRPr sz="1000" u="none" cap="none" strike="noStrike">
                        <a:latin typeface="Calibri"/>
                        <a:ea typeface="Calibri"/>
                        <a:cs typeface="Calibri"/>
                        <a:sym typeface="Calibri"/>
                      </a:endParaRPr>
                    </a:p>
                  </a:txBody>
                  <a:tcPr marT="48250"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000" u="none" cap="none" strike="noStrike">
                        <a:latin typeface="Times New Roman"/>
                        <a:ea typeface="Times New Roman"/>
                        <a:cs typeface="Times New Roman"/>
                        <a:sym typeface="Times New Roman"/>
                      </a:endParaRPr>
                    </a:p>
                    <a:p>
                      <a:pPr indent="0" lvl="0" marL="1905" marR="0" rtl="0" algn="ctr">
                        <a:lnSpc>
                          <a:spcPct val="100000"/>
                        </a:lnSpc>
                        <a:spcBef>
                          <a:spcPts val="0"/>
                        </a:spcBef>
                        <a:spcAft>
                          <a:spcPts val="0"/>
                        </a:spcAft>
                        <a:buNone/>
                      </a:pPr>
                      <a:r>
                        <a:rPr lang="en-US" sz="1000" u="none" cap="none" strike="noStrike">
                          <a:latin typeface="Calibri"/>
                          <a:ea typeface="Calibri"/>
                          <a:cs typeface="Calibri"/>
                          <a:sym typeface="Calibri"/>
                        </a:rPr>
                        <a:t>31.9265643</a:t>
                      </a:r>
                      <a:endParaRPr sz="1000" u="none" cap="none" strike="noStrike">
                        <a:latin typeface="Calibri"/>
                        <a:ea typeface="Calibri"/>
                        <a:cs typeface="Calibri"/>
                        <a:sym typeface="Calibri"/>
                      </a:endParaRPr>
                    </a:p>
                  </a:txBody>
                  <a:tcPr marT="48250"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000" u="none" cap="none" strike="noStrike">
                        <a:latin typeface="Times New Roman"/>
                        <a:ea typeface="Times New Roman"/>
                        <a:cs typeface="Times New Roman"/>
                        <a:sym typeface="Times New Roman"/>
                      </a:endParaRPr>
                    </a:p>
                    <a:p>
                      <a:pPr indent="0" lvl="0" marL="5715" marR="0" rtl="0" algn="ctr">
                        <a:lnSpc>
                          <a:spcPct val="100000"/>
                        </a:lnSpc>
                        <a:spcBef>
                          <a:spcPts val="0"/>
                        </a:spcBef>
                        <a:spcAft>
                          <a:spcPts val="0"/>
                        </a:spcAft>
                        <a:buNone/>
                      </a:pPr>
                      <a:r>
                        <a:rPr lang="en-US" sz="1000" u="none" cap="none" strike="noStrike">
                          <a:latin typeface="Calibri"/>
                          <a:ea typeface="Calibri"/>
                          <a:cs typeface="Calibri"/>
                          <a:sym typeface="Calibri"/>
                        </a:rPr>
                        <a:t>33.09552819</a:t>
                      </a:r>
                      <a:endParaRPr sz="1000" u="none" cap="none" strike="noStrike">
                        <a:latin typeface="Calibri"/>
                        <a:ea typeface="Calibri"/>
                        <a:cs typeface="Calibri"/>
                        <a:sym typeface="Calibri"/>
                      </a:endParaRPr>
                    </a:p>
                  </a:txBody>
                  <a:tcPr marT="48250"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62925">
                <a:tc>
                  <a:txBody>
                    <a:bodyPr/>
                    <a:lstStyle/>
                    <a:p>
                      <a:pPr indent="0" lvl="0" marL="0" marR="0" rtl="0" algn="ctr">
                        <a:spcBef>
                          <a:spcPts val="0"/>
                        </a:spcBef>
                        <a:spcAft>
                          <a:spcPts val="0"/>
                        </a:spcAft>
                        <a:buNone/>
                      </a:pPr>
                      <a:r>
                        <a:rPr b="0" i="0" lang="en-US" sz="1200" u="none" cap="none" strike="noStrike">
                          <a:solidFill>
                            <a:srgbClr val="000000"/>
                          </a:solidFill>
                          <a:latin typeface="Arial"/>
                          <a:ea typeface="Arial"/>
                          <a:cs typeface="Arial"/>
                          <a:sym typeface="Arial"/>
                        </a:rPr>
                        <a:t>Ping/Latency Test (ms)</a:t>
                      </a:r>
                      <a:endParaRPr/>
                    </a:p>
                  </a:txBody>
                  <a:tcPr marT="6350" marB="0" marR="6350" marL="63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000" u="none" cap="none" strike="noStrike">
                        <a:latin typeface="Times New Roman"/>
                        <a:ea typeface="Times New Roman"/>
                        <a:cs typeface="Times New Roman"/>
                        <a:sym typeface="Times New Roman"/>
                      </a:endParaRPr>
                    </a:p>
                    <a:p>
                      <a:pPr indent="0" lvl="0" marL="4445" marR="0" rtl="0" algn="ctr">
                        <a:lnSpc>
                          <a:spcPct val="100000"/>
                        </a:lnSpc>
                        <a:spcBef>
                          <a:spcPts val="0"/>
                        </a:spcBef>
                        <a:spcAft>
                          <a:spcPts val="0"/>
                        </a:spcAft>
                        <a:buNone/>
                      </a:pPr>
                      <a:r>
                        <a:rPr lang="en-US" sz="1000" u="none" cap="none" strike="noStrike">
                          <a:latin typeface="Calibri"/>
                          <a:ea typeface="Calibri"/>
                          <a:cs typeface="Calibri"/>
                          <a:sym typeface="Calibri"/>
                        </a:rPr>
                        <a:t>78.34</a:t>
                      </a:r>
                      <a:endParaRPr sz="1000" u="none" cap="none" strike="noStrike">
                        <a:latin typeface="Calibri"/>
                        <a:ea typeface="Calibri"/>
                        <a:cs typeface="Calibri"/>
                        <a:sym typeface="Calibri"/>
                      </a:endParaRPr>
                    </a:p>
                  </a:txBody>
                  <a:tcPr marT="38100"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000" u="none" cap="none" strike="noStrike">
                        <a:latin typeface="Times New Roman"/>
                        <a:ea typeface="Times New Roman"/>
                        <a:cs typeface="Times New Roman"/>
                        <a:sym typeface="Times New Roman"/>
                      </a:endParaRPr>
                    </a:p>
                    <a:p>
                      <a:pPr indent="0" lvl="0" marL="1905" marR="0" rtl="0" algn="ctr">
                        <a:lnSpc>
                          <a:spcPct val="100000"/>
                        </a:lnSpc>
                        <a:spcBef>
                          <a:spcPts val="0"/>
                        </a:spcBef>
                        <a:spcAft>
                          <a:spcPts val="0"/>
                        </a:spcAft>
                        <a:buNone/>
                      </a:pPr>
                      <a:r>
                        <a:rPr lang="en-US" sz="1000" u="none" cap="none" strike="noStrike">
                          <a:latin typeface="Calibri"/>
                          <a:ea typeface="Calibri"/>
                          <a:cs typeface="Calibri"/>
                          <a:sym typeface="Calibri"/>
                        </a:rPr>
                        <a:t>78.495</a:t>
                      </a:r>
                      <a:endParaRPr sz="1000" u="none" cap="none" strike="noStrike">
                        <a:latin typeface="Calibri"/>
                        <a:ea typeface="Calibri"/>
                        <a:cs typeface="Calibri"/>
                        <a:sym typeface="Calibri"/>
                      </a:endParaRPr>
                    </a:p>
                  </a:txBody>
                  <a:tcPr marT="38100"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000" u="none" cap="none" strike="noStrike">
                        <a:latin typeface="Times New Roman"/>
                        <a:ea typeface="Times New Roman"/>
                        <a:cs typeface="Times New Roman"/>
                        <a:sym typeface="Times New Roman"/>
                      </a:endParaRPr>
                    </a:p>
                    <a:p>
                      <a:pPr indent="0" lvl="0" marL="3175" marR="0" rtl="0" algn="ctr">
                        <a:lnSpc>
                          <a:spcPct val="100000"/>
                        </a:lnSpc>
                        <a:spcBef>
                          <a:spcPts val="0"/>
                        </a:spcBef>
                        <a:spcAft>
                          <a:spcPts val="0"/>
                        </a:spcAft>
                        <a:buNone/>
                      </a:pPr>
                      <a:r>
                        <a:rPr lang="en-US" sz="1000" u="none" cap="none" strike="noStrike">
                          <a:latin typeface="Calibri"/>
                          <a:ea typeface="Calibri"/>
                          <a:cs typeface="Calibri"/>
                          <a:sym typeface="Calibri"/>
                        </a:rPr>
                        <a:t>67.635</a:t>
                      </a:r>
                      <a:endParaRPr sz="1000" u="none" cap="none" strike="noStrike">
                        <a:latin typeface="Calibri"/>
                        <a:ea typeface="Calibri"/>
                        <a:cs typeface="Calibri"/>
                        <a:sym typeface="Calibri"/>
                      </a:endParaRPr>
                    </a:p>
                  </a:txBody>
                  <a:tcPr marT="38100"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33"/>
          <p:cNvSpPr txBox="1"/>
          <p:nvPr/>
        </p:nvSpPr>
        <p:spPr>
          <a:xfrm>
            <a:off x="595238" y="654058"/>
            <a:ext cx="1193875" cy="159146"/>
          </a:xfrm>
          <a:prstGeom prst="rect">
            <a:avLst/>
          </a:prstGeom>
          <a:noFill/>
          <a:ln>
            <a:noFill/>
          </a:ln>
        </p:spPr>
        <p:txBody>
          <a:bodyPr anchorCtr="0" anchor="t" bIns="0" lIns="0" spcFirstLastPara="1" rIns="0" wrap="square" tIns="0">
            <a:spAutoFit/>
          </a:bodyPr>
          <a:lstStyle/>
          <a:p>
            <a:pPr indent="0" lvl="0" marL="11939" marR="0" rtl="0" algn="l">
              <a:spcBef>
                <a:spcPts val="0"/>
              </a:spcBef>
              <a:spcAft>
                <a:spcPts val="0"/>
              </a:spcAft>
              <a:buNone/>
            </a:pPr>
            <a:r>
              <a:rPr lang="en-US" sz="1034">
                <a:solidFill>
                  <a:schemeClr val="dk1"/>
                </a:solidFill>
                <a:latin typeface="Arial"/>
                <a:ea typeface="Arial"/>
                <a:cs typeface="Arial"/>
                <a:sym typeface="Arial"/>
              </a:rPr>
              <a:t>6.</a:t>
            </a:r>
            <a:r>
              <a:rPr lang="en-US" sz="1034">
                <a:solidFill>
                  <a:schemeClr val="dk1"/>
                </a:solidFill>
                <a:latin typeface="Times New Roman"/>
                <a:ea typeface="Times New Roman"/>
                <a:cs typeface="Times New Roman"/>
                <a:sym typeface="Times New Roman"/>
              </a:rPr>
              <a:t> </a:t>
            </a:r>
            <a:r>
              <a:rPr b="1" lang="en-US" sz="939">
                <a:solidFill>
                  <a:schemeClr val="dk1"/>
                </a:solidFill>
                <a:latin typeface="Arial"/>
                <a:ea typeface="Arial"/>
                <a:cs typeface="Arial"/>
                <a:sym typeface="Arial"/>
              </a:rPr>
              <a:t>Events</a:t>
            </a:r>
            <a:r>
              <a:rPr b="1" lang="en-US" sz="939">
                <a:solidFill>
                  <a:schemeClr val="dk1"/>
                </a:solidFill>
                <a:latin typeface="Times New Roman"/>
                <a:ea typeface="Times New Roman"/>
                <a:cs typeface="Times New Roman"/>
                <a:sym typeface="Times New Roman"/>
              </a:rPr>
              <a:t> </a:t>
            </a:r>
            <a:r>
              <a:rPr b="1" lang="en-US" sz="939">
                <a:solidFill>
                  <a:schemeClr val="dk1"/>
                </a:solidFill>
                <a:latin typeface="Arial"/>
                <a:ea typeface="Arial"/>
                <a:cs typeface="Arial"/>
                <a:sym typeface="Arial"/>
              </a:rPr>
              <a:t>Based</a:t>
            </a:r>
            <a:r>
              <a:rPr b="1" lang="en-US" sz="939">
                <a:solidFill>
                  <a:schemeClr val="dk1"/>
                </a:solidFill>
                <a:latin typeface="Times New Roman"/>
                <a:ea typeface="Times New Roman"/>
                <a:cs typeface="Times New Roman"/>
                <a:sym typeface="Times New Roman"/>
              </a:rPr>
              <a:t> </a:t>
            </a:r>
            <a:r>
              <a:rPr b="1" lang="en-US" sz="939">
                <a:solidFill>
                  <a:schemeClr val="dk1"/>
                </a:solidFill>
                <a:latin typeface="Arial"/>
                <a:ea typeface="Arial"/>
                <a:cs typeface="Arial"/>
                <a:sym typeface="Arial"/>
              </a:rPr>
              <a:t>KPIs</a:t>
            </a:r>
            <a:endParaRPr sz="939">
              <a:solidFill>
                <a:schemeClr val="dk1"/>
              </a:solidFill>
              <a:latin typeface="Arial"/>
              <a:ea typeface="Arial"/>
              <a:cs typeface="Arial"/>
              <a:sym typeface="Arial"/>
            </a:endParaRPr>
          </a:p>
        </p:txBody>
      </p:sp>
      <p:graphicFrame>
        <p:nvGraphicFramePr>
          <p:cNvPr id="338" name="Google Shape;338;p33"/>
          <p:cNvGraphicFramePr/>
          <p:nvPr/>
        </p:nvGraphicFramePr>
        <p:xfrm>
          <a:off x="595238" y="939320"/>
          <a:ext cx="3000000" cy="3000000"/>
        </p:xfrm>
        <a:graphic>
          <a:graphicData uri="http://schemas.openxmlformats.org/drawingml/2006/table">
            <a:tbl>
              <a:tblPr>
                <a:noFill/>
                <a:tableStyleId>{D2C2C31C-BB3A-4677-B747-F5C60967CC61}</a:tableStyleId>
              </a:tblPr>
              <a:tblGrid>
                <a:gridCol w="2081850"/>
                <a:gridCol w="832400"/>
                <a:gridCol w="832400"/>
                <a:gridCol w="1068300"/>
                <a:gridCol w="2458475"/>
              </a:tblGrid>
              <a:tr h="298075">
                <a:tc>
                  <a:txBody>
                    <a:bodyPr/>
                    <a:lstStyle/>
                    <a:p>
                      <a:pPr indent="0" lvl="0" marL="0" marR="0" rtl="0" algn="l">
                        <a:lnSpc>
                          <a:spcPct val="100000"/>
                        </a:lnSpc>
                        <a:spcBef>
                          <a:spcPts val="0"/>
                        </a:spcBef>
                        <a:spcAft>
                          <a:spcPts val="0"/>
                        </a:spcAft>
                        <a:buSzPts val="1200"/>
                        <a:buFont typeface="Calibri"/>
                        <a:buNone/>
                      </a:pPr>
                      <a:r>
                        <a:t/>
                      </a:r>
                      <a:endParaRPr b="0" i="0" sz="1200" u="none" cap="none" strike="noStrike">
                        <a:solidFill>
                          <a:schemeClr val="dk1"/>
                        </a:solidFill>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8732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Sector 1</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88913"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Sector 2</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6827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Sector 3</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5088"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Comments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49425">
                <a:tc>
                  <a:txBody>
                    <a:bodyPr/>
                    <a:lstStyle/>
                    <a:p>
                      <a:pPr indent="0" lvl="0" marL="43497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MOC/MTC Voice LTE</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6830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79413"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5877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623888" lvl="0" marL="903288" marR="0" rtl="0" algn="l">
                        <a:lnSpc>
                          <a:spcPct val="95833"/>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5-MO/MT Successful Calls-All Passed</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96000">
                <a:tc>
                  <a:txBody>
                    <a:bodyPr/>
                    <a:lstStyle/>
                    <a:p>
                      <a:pPr indent="0" lvl="0" marL="32067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Call Setup Time – VoLTE</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54634" marR="0" rtl="0" algn="l">
                        <a:lnSpc>
                          <a:spcPct val="100000"/>
                        </a:lnSpc>
                        <a:spcBef>
                          <a:spcPts val="0"/>
                        </a:spcBef>
                        <a:spcAft>
                          <a:spcPts val="0"/>
                        </a:spcAft>
                        <a:buNone/>
                      </a:pPr>
                      <a:r>
                        <a:rPr lang="en-US" sz="1100" u="none" cap="none" strike="noStrike">
                          <a:latin typeface="Calibri"/>
                          <a:ea typeface="Calibri"/>
                          <a:cs typeface="Calibri"/>
                          <a:sym typeface="Calibri"/>
                        </a:rPr>
                        <a:t>1607</a:t>
                      </a:r>
                      <a:endParaRPr sz="1100" u="none" cap="none" strike="noStrike">
                        <a:latin typeface="Calibri"/>
                        <a:ea typeface="Calibri"/>
                        <a:cs typeface="Calibri"/>
                        <a:sym typeface="Calibri"/>
                      </a:endParaRPr>
                    </a:p>
                  </a:txBody>
                  <a:tcPr marT="266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6669" marR="0" rtl="0" algn="l">
                        <a:lnSpc>
                          <a:spcPct val="100000"/>
                        </a:lnSpc>
                        <a:spcBef>
                          <a:spcPts val="0"/>
                        </a:spcBef>
                        <a:spcAft>
                          <a:spcPts val="0"/>
                        </a:spcAft>
                        <a:buNone/>
                      </a:pPr>
                      <a:r>
                        <a:rPr lang="en-US" sz="1100" u="none" cap="none" strike="noStrike">
                          <a:latin typeface="Calibri"/>
                          <a:ea typeface="Calibri"/>
                          <a:cs typeface="Calibri"/>
                          <a:sym typeface="Calibri"/>
                        </a:rPr>
                        <a:t>2164.666667</a:t>
                      </a:r>
                      <a:endParaRPr sz="1100" u="none" cap="none" strike="noStrike">
                        <a:latin typeface="Calibri"/>
                        <a:ea typeface="Calibri"/>
                        <a:cs typeface="Calibri"/>
                        <a:sym typeface="Calibri"/>
                      </a:endParaRPr>
                    </a:p>
                  </a:txBody>
                  <a:tcPr marT="266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9209" marR="0" rtl="0" algn="l">
                        <a:lnSpc>
                          <a:spcPct val="100000"/>
                        </a:lnSpc>
                        <a:spcBef>
                          <a:spcPts val="0"/>
                        </a:spcBef>
                        <a:spcAft>
                          <a:spcPts val="0"/>
                        </a:spcAft>
                        <a:buNone/>
                      </a:pPr>
                      <a:r>
                        <a:rPr lang="en-US" sz="1100" u="none" cap="none" strike="noStrike">
                          <a:latin typeface="Calibri"/>
                          <a:ea typeface="Calibri"/>
                          <a:cs typeface="Calibri"/>
                          <a:sym typeface="Calibri"/>
                        </a:rPr>
                        <a:t>2998.666667</a:t>
                      </a:r>
                      <a:endParaRPr sz="1100" u="none" cap="none" strike="noStrike">
                        <a:latin typeface="Calibri"/>
                        <a:ea typeface="Calibri"/>
                        <a:cs typeface="Calibri"/>
                        <a:sym typeface="Calibri"/>
                      </a:endParaRPr>
                    </a:p>
                  </a:txBody>
                  <a:tcPr marT="266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15900"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All OK</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09550">
                <a:tc>
                  <a:txBody>
                    <a:bodyPr/>
                    <a:lstStyle/>
                    <a:p>
                      <a:pPr indent="0" lvl="0" marL="11430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CSFB to WCDMA/GSM Success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41313"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54013"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2067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28613" marR="0" rtl="0" algn="ctr">
                        <a:lnSpc>
                          <a:spcPct val="104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5-CSFB Call Initiated and All are Successfully at GSM Network-All OK</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98075">
                <a:tc>
                  <a:txBody>
                    <a:bodyPr/>
                    <a:lstStyle/>
                    <a:p>
                      <a:pPr indent="0" lvl="0" marL="38735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SMS MO Success LTE</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41313"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54013"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2067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04838"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5 SMS MO-All OK</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98075">
                <a:tc>
                  <a:txBody>
                    <a:bodyPr/>
                    <a:lstStyle/>
                    <a:p>
                      <a:pPr indent="0" lvl="0" marL="39687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SMS MT Success LTE</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41313"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54013"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2067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17538"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5 SMS MT-All OK</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98075">
                <a:tc>
                  <a:txBody>
                    <a:bodyPr/>
                    <a:lstStyle/>
                    <a:p>
                      <a:pPr indent="0" lvl="0" marL="350838"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SMS MO Success Volte</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41313"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54013"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2067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04838"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5 SMS MO-All OK</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98075">
                <a:tc>
                  <a:txBody>
                    <a:bodyPr/>
                    <a:lstStyle/>
                    <a:p>
                      <a:pPr indent="0" lvl="0" marL="36195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SMS MT Success Volte</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41313"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54013"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2067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17538"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5 SMS MT-All OK</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98075">
                <a:tc>
                  <a:txBody>
                    <a:bodyPr/>
                    <a:lstStyle/>
                    <a:p>
                      <a:pPr indent="0" lvl="0" marL="48895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OTP TESTING LTE</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41313"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54013"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2067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14363"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1 OTP MO-All OK</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98075">
                <a:tc>
                  <a:txBody>
                    <a:bodyPr/>
                    <a:lstStyle/>
                    <a:p>
                      <a:pPr indent="0" lvl="0" marL="455613"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OTP TESTING Volte</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41313"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54013"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2067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2230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1 OTP MT-All OK</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98075">
                <a:tc>
                  <a:txBody>
                    <a:bodyPr/>
                    <a:lstStyle/>
                    <a:p>
                      <a:pPr indent="0" lvl="0" marL="576263"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Attach Success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7938"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100</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0797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100</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9847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100</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15900"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All OK</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59550">
                <a:tc>
                  <a:txBody>
                    <a:bodyPr/>
                    <a:lstStyle/>
                    <a:p>
                      <a:pPr indent="0" lvl="0" marL="0" marR="0" rtl="0" algn="l">
                        <a:lnSpc>
                          <a:spcPct val="100000"/>
                        </a:lnSpc>
                        <a:spcBef>
                          <a:spcPts val="0"/>
                        </a:spcBef>
                        <a:spcAft>
                          <a:spcPts val="0"/>
                        </a:spcAft>
                        <a:buSzPts val="1200"/>
                        <a:buFont typeface="Calibri"/>
                        <a:buNone/>
                      </a:pPr>
                      <a:r>
                        <a:t/>
                      </a:r>
                      <a:endParaRPr b="0" i="0" sz="1200" u="none" cap="none" strike="noStrike">
                        <a:solidFill>
                          <a:schemeClr val="dk1"/>
                        </a:solidFill>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74638"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Sector 1</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8892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Sector 2</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68288"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Sector 3</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SzPts val="1200"/>
                        <a:buFont typeface="Calibri"/>
                        <a:buNone/>
                      </a:pPr>
                      <a:r>
                        <a:t/>
                      </a:r>
                      <a:endParaRPr b="0" i="0" sz="1200" u="none" cap="none" strike="noStrike">
                        <a:solidFill>
                          <a:schemeClr val="dk1"/>
                        </a:solidFill>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59550">
                <a:tc>
                  <a:txBody>
                    <a:bodyPr/>
                    <a:lstStyle/>
                    <a:p>
                      <a:pPr indent="0" lvl="0" marL="150813"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Intra eNB Handover - Sector1</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20663"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54013"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2067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15900"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All OK</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59550">
                <a:tc>
                  <a:txBody>
                    <a:bodyPr/>
                    <a:lstStyle/>
                    <a:p>
                      <a:pPr indent="0" lvl="0" marL="18097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Intra eNB Handover - Sector2</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41313"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8895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2067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15900"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All OK</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59550">
                <a:tc>
                  <a:txBody>
                    <a:bodyPr/>
                    <a:lstStyle/>
                    <a:p>
                      <a:pPr indent="0" lvl="0" marL="18097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Intra eNB Handover - Sector3</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41313"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54013"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6672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15900"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All OK</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59550">
                <a:tc>
                  <a:txBody>
                    <a:bodyPr/>
                    <a:lstStyle/>
                    <a:p>
                      <a:pPr indent="0" lvl="0" marL="12700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Inter eNB Handover (Intra Freq)</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20688"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2227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0005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15900"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All OK</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59550">
                <a:tc>
                  <a:txBody>
                    <a:bodyPr/>
                    <a:lstStyle/>
                    <a:p>
                      <a:pPr indent="0" lvl="0" marL="12700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Inter eNB Handover (Inter Freq)</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20688"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0640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8417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15900"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All OK</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59550">
                <a:tc>
                  <a:txBody>
                    <a:bodyPr/>
                    <a:lstStyle/>
                    <a:p>
                      <a:pPr indent="0" lvl="0" marL="12700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Intra eNB Handover (Inter Freq)</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20688"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NA</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2227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NA</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8417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NA</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15900"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All OK</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59550">
                <a:tc>
                  <a:txBody>
                    <a:bodyPr/>
                    <a:lstStyle/>
                    <a:p>
                      <a:pPr indent="0" lvl="0" marL="12700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Intra eNB Handover (Inter Freq)</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5877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69888"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38138"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15900"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All OK</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59550">
                <a:tc>
                  <a:txBody>
                    <a:bodyPr/>
                    <a:lstStyle/>
                    <a:p>
                      <a:pPr indent="0" lvl="0" marL="34607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SRVCC to 2G Handover</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14338"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NA</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14338"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NA</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95288"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NA</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15900"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All OK</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59550">
                <a:tc>
                  <a:txBody>
                    <a:bodyPr/>
                    <a:lstStyle/>
                    <a:p>
                      <a:pPr indent="0" lvl="0" marL="34607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SRVCC to 3G Handover</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14338"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NA</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14338"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NA</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95288"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NA</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3815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Still Under Development</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59550">
                <a:tc>
                  <a:txBody>
                    <a:bodyPr/>
                    <a:lstStyle/>
                    <a:p>
                      <a:pPr indent="0" lvl="0" marL="25082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IRAT Handover for Data 2G</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41313"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54013"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2067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15900"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All OK</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59550">
                <a:tc>
                  <a:txBody>
                    <a:bodyPr/>
                    <a:lstStyle/>
                    <a:p>
                      <a:pPr indent="0" lvl="0" marL="220663"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IRAT Handover for Data 3G</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20688"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NA</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588"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NA</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175"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NA</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541338"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Wherever applicable</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339" name="Google Shape;339;p33"/>
          <p:cNvSpPr txBox="1"/>
          <p:nvPr/>
        </p:nvSpPr>
        <p:spPr>
          <a:xfrm>
            <a:off x="685596" y="376781"/>
            <a:ext cx="2286204" cy="370999"/>
          </a:xfrm>
          <a:prstGeom prst="rect">
            <a:avLst/>
          </a:prstGeom>
          <a:noFill/>
          <a:ln>
            <a:noFill/>
          </a:ln>
        </p:spPr>
        <p:txBody>
          <a:bodyPr anchorCtr="0" anchor="t" bIns="0" lIns="0" spcFirstLastPara="1" rIns="0" wrap="square" tIns="12050">
            <a:spAutoFit/>
          </a:bodyPr>
          <a:lstStyle/>
          <a:p>
            <a:pPr indent="254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QA &amp; INSPECTION CIRCLE KL 	</a:t>
            </a:r>
            <a:endParaRPr sz="1100">
              <a:solidFill>
                <a:schemeClr val="dk1"/>
              </a:solidFill>
              <a:latin typeface="Arial"/>
              <a:ea typeface="Arial"/>
              <a:cs typeface="Arial"/>
              <a:sym typeface="Arial"/>
            </a:endParaRPr>
          </a:p>
        </p:txBody>
      </p:sp>
      <p:sp>
        <p:nvSpPr>
          <p:cNvPr id="340" name="Google Shape;340;p33"/>
          <p:cNvSpPr txBox="1"/>
          <p:nvPr/>
        </p:nvSpPr>
        <p:spPr>
          <a:xfrm>
            <a:off x="5249926" y="414883"/>
            <a:ext cx="1612900" cy="379095"/>
          </a:xfrm>
          <a:prstGeom prst="rect">
            <a:avLst/>
          </a:prstGeom>
          <a:noFill/>
          <a:ln>
            <a:noFill/>
          </a:ln>
        </p:spPr>
        <p:txBody>
          <a:bodyPr anchorCtr="0" anchor="t" bIns="0" lIns="0" spcFirstLastPara="1" rIns="0" wrap="square" tIns="12050">
            <a:spAutoFit/>
          </a:bodyPr>
          <a:lstStyle/>
          <a:p>
            <a:pPr indent="619125"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4G PHASE IX.2  eNode-B A/T SCHEDULE</a:t>
            </a:r>
            <a:endParaRPr/>
          </a:p>
        </p:txBody>
      </p:sp>
      <p:sp>
        <p:nvSpPr>
          <p:cNvPr id="341" name="Google Shape;341;p33"/>
          <p:cNvSpPr txBox="1"/>
          <p:nvPr/>
        </p:nvSpPr>
        <p:spPr>
          <a:xfrm>
            <a:off x="868476" y="9391164"/>
            <a:ext cx="1681480" cy="182245"/>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lang="en-US" sz="1100">
                <a:solidFill>
                  <a:schemeClr val="dk1"/>
                </a:solidFill>
                <a:latin typeface="Arial"/>
                <a:ea typeface="Arial"/>
                <a:cs typeface="Arial"/>
                <a:sym typeface="Arial"/>
              </a:rPr>
              <a:t>QAIN-11/31(14)/1/2023-CM</a:t>
            </a:r>
            <a:endParaRPr sz="1100">
              <a:solidFill>
                <a:schemeClr val="dk1"/>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34"/>
          <p:cNvSpPr txBox="1"/>
          <p:nvPr/>
        </p:nvSpPr>
        <p:spPr>
          <a:xfrm>
            <a:off x="1568590" y="4906827"/>
            <a:ext cx="4372569" cy="282129"/>
          </a:xfrm>
          <a:prstGeom prst="rect">
            <a:avLst/>
          </a:prstGeom>
          <a:noFill/>
          <a:ln>
            <a:noFill/>
          </a:ln>
        </p:spPr>
        <p:txBody>
          <a:bodyPr anchorCtr="0" anchor="t" bIns="0" lIns="0" spcFirstLastPara="1" rIns="0" wrap="square" tIns="0">
            <a:spAutoFit/>
          </a:bodyPr>
          <a:lstStyle/>
          <a:p>
            <a:pPr indent="-1581150" lvl="0" marL="1592263" marR="0" rtl="0" algn="l">
              <a:lnSpc>
                <a:spcPct val="118956"/>
              </a:lnSpc>
              <a:spcBef>
                <a:spcPts val="0"/>
              </a:spcBef>
              <a:spcAft>
                <a:spcPts val="0"/>
              </a:spcAft>
              <a:buNone/>
            </a:pPr>
            <a:r>
              <a:rPr b="1" lang="en-US" sz="939">
                <a:solidFill>
                  <a:schemeClr val="dk1"/>
                </a:solidFill>
                <a:latin typeface="Arial"/>
                <a:ea typeface="Arial"/>
                <a:cs typeface="Arial"/>
                <a:sym typeface="Arial"/>
              </a:rPr>
              <a:t>The</a:t>
            </a:r>
            <a:r>
              <a:rPr b="1" lang="en-US" sz="939">
                <a:solidFill>
                  <a:schemeClr val="dk1"/>
                </a:solidFill>
                <a:latin typeface="Times New Roman"/>
                <a:ea typeface="Times New Roman"/>
                <a:cs typeface="Times New Roman"/>
                <a:sym typeface="Times New Roman"/>
              </a:rPr>
              <a:t> </a:t>
            </a:r>
            <a:r>
              <a:rPr b="1" lang="en-US" sz="939">
                <a:solidFill>
                  <a:schemeClr val="dk1"/>
                </a:solidFill>
                <a:latin typeface="Arial"/>
                <a:ea typeface="Arial"/>
                <a:cs typeface="Arial"/>
                <a:sym typeface="Arial"/>
              </a:rPr>
              <a:t>report</a:t>
            </a:r>
            <a:r>
              <a:rPr b="1" lang="en-US" sz="939">
                <a:solidFill>
                  <a:schemeClr val="dk1"/>
                </a:solidFill>
                <a:latin typeface="Times New Roman"/>
                <a:ea typeface="Times New Roman"/>
                <a:cs typeface="Times New Roman"/>
                <a:sym typeface="Times New Roman"/>
              </a:rPr>
              <a:t> </a:t>
            </a:r>
            <a:r>
              <a:rPr b="1" lang="en-US" sz="939">
                <a:solidFill>
                  <a:schemeClr val="dk1"/>
                </a:solidFill>
                <a:latin typeface="Arial"/>
                <a:ea typeface="Arial"/>
                <a:cs typeface="Arial"/>
                <a:sym typeface="Arial"/>
              </a:rPr>
              <a:t>confirms</a:t>
            </a:r>
            <a:r>
              <a:rPr b="1" lang="en-US" sz="939">
                <a:solidFill>
                  <a:schemeClr val="dk1"/>
                </a:solidFill>
                <a:latin typeface="Times New Roman"/>
                <a:ea typeface="Times New Roman"/>
                <a:cs typeface="Times New Roman"/>
                <a:sym typeface="Times New Roman"/>
              </a:rPr>
              <a:t> </a:t>
            </a:r>
            <a:r>
              <a:rPr b="1" lang="en-US" sz="939">
                <a:solidFill>
                  <a:schemeClr val="dk1"/>
                </a:solidFill>
                <a:latin typeface="Arial"/>
                <a:ea typeface="Arial"/>
                <a:cs typeface="Arial"/>
                <a:sym typeface="Arial"/>
              </a:rPr>
              <a:t>that</a:t>
            </a:r>
            <a:r>
              <a:rPr b="1" lang="en-US" sz="939">
                <a:solidFill>
                  <a:schemeClr val="dk1"/>
                </a:solidFill>
                <a:latin typeface="Times New Roman"/>
                <a:ea typeface="Times New Roman"/>
                <a:cs typeface="Times New Roman"/>
                <a:sym typeface="Times New Roman"/>
              </a:rPr>
              <a:t> </a:t>
            </a:r>
            <a:r>
              <a:rPr b="1" lang="en-US" sz="939">
                <a:solidFill>
                  <a:schemeClr val="dk1"/>
                </a:solidFill>
                <a:latin typeface="Arial"/>
                <a:ea typeface="Arial"/>
                <a:cs typeface="Arial"/>
                <a:sym typeface="Arial"/>
              </a:rPr>
              <a:t>Successful</a:t>
            </a:r>
            <a:r>
              <a:rPr b="1" lang="en-US" sz="939">
                <a:solidFill>
                  <a:schemeClr val="dk1"/>
                </a:solidFill>
                <a:latin typeface="Times New Roman"/>
                <a:ea typeface="Times New Roman"/>
                <a:cs typeface="Times New Roman"/>
                <a:sym typeface="Times New Roman"/>
              </a:rPr>
              <a:t> </a:t>
            </a:r>
            <a:r>
              <a:rPr b="1" lang="en-US" sz="939">
                <a:solidFill>
                  <a:schemeClr val="dk1"/>
                </a:solidFill>
                <a:latin typeface="Arial"/>
                <a:ea typeface="Arial"/>
                <a:cs typeface="Arial"/>
                <a:sym typeface="Arial"/>
              </a:rPr>
              <a:t>bidder/Installer</a:t>
            </a:r>
            <a:r>
              <a:rPr b="1" lang="en-US" sz="939">
                <a:solidFill>
                  <a:schemeClr val="dk1"/>
                </a:solidFill>
                <a:latin typeface="Times New Roman"/>
                <a:ea typeface="Times New Roman"/>
                <a:cs typeface="Times New Roman"/>
                <a:sym typeface="Times New Roman"/>
              </a:rPr>
              <a:t> </a:t>
            </a:r>
            <a:r>
              <a:rPr b="1" lang="en-US" sz="939">
                <a:solidFill>
                  <a:schemeClr val="dk1"/>
                </a:solidFill>
                <a:latin typeface="Arial"/>
                <a:ea typeface="Arial"/>
                <a:cs typeface="Arial"/>
                <a:sym typeface="Arial"/>
              </a:rPr>
              <a:t>has</a:t>
            </a:r>
            <a:r>
              <a:rPr b="1" lang="en-US" sz="939">
                <a:solidFill>
                  <a:schemeClr val="dk1"/>
                </a:solidFill>
                <a:latin typeface="Times New Roman"/>
                <a:ea typeface="Times New Roman"/>
                <a:cs typeface="Times New Roman"/>
                <a:sym typeface="Times New Roman"/>
              </a:rPr>
              <a:t> </a:t>
            </a:r>
            <a:r>
              <a:rPr b="1" lang="en-US" sz="939">
                <a:solidFill>
                  <a:schemeClr val="dk1"/>
                </a:solidFill>
                <a:latin typeface="Arial"/>
                <a:ea typeface="Arial"/>
                <a:cs typeface="Arial"/>
                <a:sym typeface="Arial"/>
              </a:rPr>
              <a:t>passed</a:t>
            </a:r>
            <a:r>
              <a:rPr b="1" lang="en-US" sz="939">
                <a:solidFill>
                  <a:schemeClr val="dk1"/>
                </a:solidFill>
                <a:latin typeface="Times New Roman"/>
                <a:ea typeface="Times New Roman"/>
                <a:cs typeface="Times New Roman"/>
                <a:sym typeface="Times New Roman"/>
              </a:rPr>
              <a:t> </a:t>
            </a:r>
            <a:r>
              <a:rPr b="1" lang="en-US" sz="939">
                <a:solidFill>
                  <a:schemeClr val="dk1"/>
                </a:solidFill>
                <a:latin typeface="Arial"/>
                <a:ea typeface="Arial"/>
                <a:cs typeface="Arial"/>
                <a:sym typeface="Arial"/>
              </a:rPr>
              <a:t>these</a:t>
            </a:r>
            <a:r>
              <a:rPr b="1" lang="en-US" sz="939">
                <a:solidFill>
                  <a:schemeClr val="dk1"/>
                </a:solidFill>
                <a:latin typeface="Times New Roman"/>
                <a:ea typeface="Times New Roman"/>
                <a:cs typeface="Times New Roman"/>
                <a:sym typeface="Times New Roman"/>
              </a:rPr>
              <a:t> </a:t>
            </a:r>
            <a:r>
              <a:rPr b="1" lang="en-US" sz="939">
                <a:solidFill>
                  <a:schemeClr val="dk1"/>
                </a:solidFill>
                <a:latin typeface="Arial"/>
                <a:ea typeface="Arial"/>
                <a:cs typeface="Arial"/>
                <a:sym typeface="Arial"/>
              </a:rPr>
              <a:t>new</a:t>
            </a:r>
            <a:r>
              <a:rPr b="1" lang="en-US" sz="939">
                <a:solidFill>
                  <a:schemeClr val="dk1"/>
                </a:solidFill>
                <a:latin typeface="Times New Roman"/>
                <a:ea typeface="Times New Roman"/>
                <a:cs typeface="Times New Roman"/>
                <a:sym typeface="Times New Roman"/>
              </a:rPr>
              <a:t> </a:t>
            </a:r>
            <a:r>
              <a:rPr b="1" lang="en-US" sz="939">
                <a:solidFill>
                  <a:schemeClr val="dk1"/>
                </a:solidFill>
                <a:latin typeface="Arial"/>
                <a:ea typeface="Arial"/>
                <a:cs typeface="Arial"/>
                <a:sym typeface="Arial"/>
              </a:rPr>
              <a:t>site</a:t>
            </a:r>
            <a:r>
              <a:rPr b="1" lang="en-US" sz="939">
                <a:solidFill>
                  <a:schemeClr val="dk1"/>
                </a:solidFill>
                <a:latin typeface="Times New Roman"/>
                <a:ea typeface="Times New Roman"/>
                <a:cs typeface="Times New Roman"/>
                <a:sym typeface="Times New Roman"/>
              </a:rPr>
              <a:t> </a:t>
            </a:r>
            <a:r>
              <a:rPr b="1" lang="en-US" sz="939">
                <a:solidFill>
                  <a:schemeClr val="dk1"/>
                </a:solidFill>
                <a:latin typeface="Arial"/>
                <a:ea typeface="Arial"/>
                <a:cs typeface="Arial"/>
                <a:sym typeface="Arial"/>
              </a:rPr>
              <a:t>Acceptance</a:t>
            </a:r>
            <a:r>
              <a:rPr b="1" lang="en-US" sz="939">
                <a:solidFill>
                  <a:schemeClr val="dk1"/>
                </a:solidFill>
                <a:latin typeface="Times New Roman"/>
                <a:ea typeface="Times New Roman"/>
                <a:cs typeface="Times New Roman"/>
                <a:sym typeface="Times New Roman"/>
              </a:rPr>
              <a:t>  </a:t>
            </a:r>
            <a:r>
              <a:rPr b="1" lang="en-US" sz="939">
                <a:solidFill>
                  <a:schemeClr val="dk1"/>
                </a:solidFill>
                <a:latin typeface="Arial"/>
                <a:ea typeface="Arial"/>
                <a:cs typeface="Arial"/>
                <a:sym typeface="Arial"/>
              </a:rPr>
              <a:t>Test</a:t>
            </a:r>
            <a:r>
              <a:rPr b="1" lang="en-US" sz="939">
                <a:solidFill>
                  <a:schemeClr val="dk1"/>
                </a:solidFill>
                <a:latin typeface="Times New Roman"/>
                <a:ea typeface="Times New Roman"/>
                <a:cs typeface="Times New Roman"/>
                <a:sym typeface="Times New Roman"/>
              </a:rPr>
              <a:t> </a:t>
            </a:r>
            <a:r>
              <a:rPr b="1" lang="en-US" sz="939">
                <a:solidFill>
                  <a:schemeClr val="dk1"/>
                </a:solidFill>
                <a:latin typeface="Arial"/>
                <a:ea typeface="Arial"/>
                <a:cs typeface="Arial"/>
                <a:sym typeface="Arial"/>
              </a:rPr>
              <a:t>criteria.</a:t>
            </a:r>
            <a:endParaRPr sz="939">
              <a:solidFill>
                <a:schemeClr val="dk1"/>
              </a:solidFill>
              <a:latin typeface="Arial"/>
              <a:ea typeface="Arial"/>
              <a:cs typeface="Arial"/>
              <a:sym typeface="Arial"/>
            </a:endParaRPr>
          </a:p>
        </p:txBody>
      </p:sp>
      <p:sp>
        <p:nvSpPr>
          <p:cNvPr id="347" name="Google Shape;347;p34"/>
          <p:cNvSpPr txBox="1"/>
          <p:nvPr/>
        </p:nvSpPr>
        <p:spPr>
          <a:xfrm>
            <a:off x="4466723" y="6621532"/>
            <a:ext cx="1201337" cy="144655"/>
          </a:xfrm>
          <a:prstGeom prst="rect">
            <a:avLst/>
          </a:prstGeom>
          <a:noFill/>
          <a:ln>
            <a:noFill/>
          </a:ln>
        </p:spPr>
        <p:txBody>
          <a:bodyPr anchorCtr="0" anchor="t" bIns="0" lIns="0" spcFirstLastPara="1" rIns="0" wrap="square" tIns="0">
            <a:spAutoFit/>
          </a:bodyPr>
          <a:lstStyle/>
          <a:p>
            <a:pPr indent="0" lvl="0" marL="11939" marR="0" rtl="0" algn="l">
              <a:spcBef>
                <a:spcPts val="0"/>
              </a:spcBef>
              <a:spcAft>
                <a:spcPts val="0"/>
              </a:spcAft>
              <a:buNone/>
            </a:pPr>
            <a:r>
              <a:rPr b="1" lang="en-US" sz="939">
                <a:solidFill>
                  <a:schemeClr val="dk1"/>
                </a:solidFill>
                <a:latin typeface="Arial"/>
                <a:ea typeface="Arial"/>
                <a:cs typeface="Arial"/>
                <a:sym typeface="Arial"/>
              </a:rPr>
              <a:t>Authorized</a:t>
            </a:r>
            <a:r>
              <a:rPr b="1" lang="en-US" sz="939">
                <a:solidFill>
                  <a:schemeClr val="dk1"/>
                </a:solidFill>
                <a:latin typeface="Times New Roman"/>
                <a:ea typeface="Times New Roman"/>
                <a:cs typeface="Times New Roman"/>
                <a:sym typeface="Times New Roman"/>
              </a:rPr>
              <a:t> </a:t>
            </a:r>
            <a:r>
              <a:rPr b="1" lang="en-US" sz="939">
                <a:solidFill>
                  <a:schemeClr val="dk1"/>
                </a:solidFill>
                <a:latin typeface="Arial"/>
                <a:ea typeface="Arial"/>
                <a:cs typeface="Arial"/>
                <a:sym typeface="Arial"/>
              </a:rPr>
              <a:t>Signatory</a:t>
            </a:r>
            <a:endParaRPr sz="939">
              <a:solidFill>
                <a:schemeClr val="dk1"/>
              </a:solidFill>
              <a:latin typeface="Arial"/>
              <a:ea typeface="Arial"/>
              <a:cs typeface="Arial"/>
              <a:sym typeface="Arial"/>
            </a:endParaRPr>
          </a:p>
        </p:txBody>
      </p:sp>
      <p:sp>
        <p:nvSpPr>
          <p:cNvPr id="348" name="Google Shape;348;p34"/>
          <p:cNvSpPr/>
          <p:nvPr/>
        </p:nvSpPr>
        <p:spPr>
          <a:xfrm>
            <a:off x="4414491" y="6494682"/>
            <a:ext cx="1317740" cy="0"/>
          </a:xfrm>
          <a:custGeom>
            <a:rect b="b" l="l" r="r" t="t"/>
            <a:pathLst>
              <a:path extrusionOk="0" h="120000" w="1401445">
                <a:moveTo>
                  <a:pt x="0" y="0"/>
                </a:moveTo>
                <a:lnTo>
                  <a:pt x="1401439" y="0"/>
                </a:lnTo>
              </a:path>
            </a:pathLst>
          </a:custGeom>
          <a:noFill/>
          <a:ln cap="flat" cmpd="sng" w="11375">
            <a:solidFill>
              <a:srgbClr val="000000"/>
            </a:solidFill>
            <a:prstDash val="solid"/>
            <a:round/>
            <a:headEnd len="med" w="med" type="none"/>
            <a:tailEnd len="med" w="med" type="none"/>
          </a:ln>
        </p:spPr>
        <p:txBody>
          <a:bodyPr anchorCtr="0" anchor="t" bIns="0" lIns="0" spcFirstLastPara="1" rIns="0" wrap="square" tIns="0">
            <a:noAutofit/>
          </a:bodyPr>
          <a:lstStyle/>
          <a:p>
            <a:pPr indent="0" lvl="0" marL="0" marR="0" rtl="0" algn="l">
              <a:spcBef>
                <a:spcPts val="0"/>
              </a:spcBef>
              <a:spcAft>
                <a:spcPts val="0"/>
              </a:spcAft>
              <a:buNone/>
            </a:pPr>
            <a:r>
              <a:t/>
            </a:r>
            <a:endParaRPr sz="1692">
              <a:solidFill>
                <a:schemeClr val="dk1"/>
              </a:solidFill>
              <a:latin typeface="Calibri"/>
              <a:ea typeface="Calibri"/>
              <a:cs typeface="Calibri"/>
              <a:sym typeface="Calibri"/>
            </a:endParaRPr>
          </a:p>
        </p:txBody>
      </p:sp>
      <p:graphicFrame>
        <p:nvGraphicFramePr>
          <p:cNvPr id="349" name="Google Shape;349;p34"/>
          <p:cNvGraphicFramePr/>
          <p:nvPr/>
        </p:nvGraphicFramePr>
        <p:xfrm>
          <a:off x="1371600" y="914400"/>
          <a:ext cx="3000000" cy="3000000"/>
        </p:xfrm>
        <a:graphic>
          <a:graphicData uri="http://schemas.openxmlformats.org/drawingml/2006/table">
            <a:tbl>
              <a:tblPr>
                <a:noFill/>
                <a:tableStyleId>{D2C2C31C-BB3A-4677-B747-F5C60967CC61}</a:tableStyleId>
              </a:tblPr>
              <a:tblGrid>
                <a:gridCol w="1974375"/>
                <a:gridCol w="997425"/>
                <a:gridCol w="838200"/>
                <a:gridCol w="838200"/>
                <a:gridCol w="1276400"/>
              </a:tblGrid>
              <a:tr h="30125">
                <a:tc>
                  <a:txBody>
                    <a:bodyPr/>
                    <a:lstStyle/>
                    <a:p>
                      <a:pPr indent="0" lvl="0" marL="328613" marR="0" rtl="0" algn="l">
                        <a:lnSpc>
                          <a:spcPct val="100000"/>
                        </a:lnSpc>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2G to 4G Cell Reselection</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11163" marR="0" rtl="0" algn="just">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0957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14338"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5722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All OK</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40275">
                <a:tc>
                  <a:txBody>
                    <a:bodyPr/>
                    <a:lstStyle/>
                    <a:p>
                      <a:pPr indent="0" lvl="0" marL="328613" marR="0" rtl="0" algn="l">
                        <a:lnSpc>
                          <a:spcPct val="100000"/>
                        </a:lnSpc>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3G to 4G Cell Reselection</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90538" marR="0" rtl="0" algn="just">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NA</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81013"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NA</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8260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NA</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5722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All OK</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04800">
                <a:tc>
                  <a:txBody>
                    <a:bodyPr/>
                    <a:lstStyle/>
                    <a:p>
                      <a:pPr indent="0" lvl="0" marL="328613" marR="0" rtl="0" algn="l">
                        <a:lnSpc>
                          <a:spcPct val="100000"/>
                        </a:lnSpc>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4G to 3G Cell Reselection</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90538" marR="0" rtl="0" algn="just">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NA</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81013"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NA</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8260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NA</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5722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All OK</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28600">
                <a:tc>
                  <a:txBody>
                    <a:bodyPr/>
                    <a:lstStyle/>
                    <a:p>
                      <a:pPr indent="0" lvl="0" marL="328613" marR="0" rtl="0" algn="l">
                        <a:lnSpc>
                          <a:spcPct val="100000"/>
                        </a:lnSpc>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4G to 2G Cell Reselection</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11163" marR="0" rtl="0" algn="just">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0957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14338"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5722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All OK</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28600">
                <a:tc>
                  <a:txBody>
                    <a:bodyPr/>
                    <a:lstStyle/>
                    <a:p>
                      <a:pPr indent="0" lvl="0" marL="328613" marR="0" rtl="0" algn="l">
                        <a:lnSpc>
                          <a:spcPct val="100000"/>
                        </a:lnSpc>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4G to 4G Cell Reselection</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11163" marR="0" rtl="0" algn="just">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0957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14338"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5722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All OK</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28600">
                <a:tc>
                  <a:txBody>
                    <a:bodyPr/>
                    <a:lstStyle/>
                    <a:p>
                      <a:pPr indent="0" lvl="0" marL="649288" marR="0" rtl="0" algn="l">
                        <a:lnSpc>
                          <a:spcPct val="100000"/>
                        </a:lnSpc>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FTP Download</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11163" marR="0" rtl="0" algn="just">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0957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14338"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5722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All OK</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04800">
                <a:tc>
                  <a:txBody>
                    <a:bodyPr/>
                    <a:lstStyle/>
                    <a:p>
                      <a:pPr indent="-739775" lvl="0" marL="871538" marR="0" rtl="0" algn="l">
                        <a:lnSpc>
                          <a:spcPct val="115000"/>
                        </a:lnSpc>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DL Average &amp; Peak Throughput (Mbps)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41934" marR="0" rtl="0" algn="l">
                        <a:lnSpc>
                          <a:spcPct val="100000"/>
                        </a:lnSpc>
                        <a:spcBef>
                          <a:spcPts val="0"/>
                        </a:spcBef>
                        <a:spcAft>
                          <a:spcPts val="0"/>
                        </a:spcAft>
                        <a:buNone/>
                      </a:pPr>
                      <a:r>
                        <a:rPr lang="en-US" sz="1000" u="none" cap="none" strike="noStrike">
                          <a:latin typeface="Calibri"/>
                          <a:ea typeface="Calibri"/>
                          <a:cs typeface="Calibri"/>
                          <a:sym typeface="Calibri"/>
                        </a:rPr>
                        <a:t>19.96 /26.16</a:t>
                      </a:r>
                      <a:endParaRPr sz="1000" u="none" cap="none" strike="noStrike">
                        <a:latin typeface="Calibri"/>
                        <a:ea typeface="Calibri"/>
                        <a:cs typeface="Calibri"/>
                        <a:sym typeface="Calibri"/>
                      </a:endParaRPr>
                    </a:p>
                  </a:txBody>
                  <a:tcPr marT="1263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39065" marR="0" rtl="0" algn="l">
                        <a:lnSpc>
                          <a:spcPct val="100000"/>
                        </a:lnSpc>
                        <a:spcBef>
                          <a:spcPts val="0"/>
                        </a:spcBef>
                        <a:spcAft>
                          <a:spcPts val="0"/>
                        </a:spcAft>
                        <a:buNone/>
                      </a:pPr>
                      <a:r>
                        <a:rPr lang="en-US" sz="1000" u="none" cap="none" strike="noStrike">
                          <a:latin typeface="Calibri"/>
                          <a:ea typeface="Calibri"/>
                          <a:cs typeface="Calibri"/>
                          <a:sym typeface="Calibri"/>
                        </a:rPr>
                        <a:t>19.14 /26.28</a:t>
                      </a:r>
                      <a:endParaRPr sz="1000" u="none" cap="none" strike="noStrike">
                        <a:latin typeface="Calibri"/>
                        <a:ea typeface="Calibri"/>
                        <a:cs typeface="Calibri"/>
                        <a:sym typeface="Calibri"/>
                      </a:endParaRPr>
                    </a:p>
                  </a:txBody>
                  <a:tcPr marT="1263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154305" rtl="0" algn="r">
                        <a:lnSpc>
                          <a:spcPct val="100000"/>
                        </a:lnSpc>
                        <a:spcBef>
                          <a:spcPts val="0"/>
                        </a:spcBef>
                        <a:spcAft>
                          <a:spcPts val="0"/>
                        </a:spcAft>
                        <a:buNone/>
                      </a:pPr>
                      <a:r>
                        <a:rPr lang="en-US" sz="1000" u="none" cap="none" strike="noStrike">
                          <a:latin typeface="Calibri"/>
                          <a:ea typeface="Calibri"/>
                          <a:cs typeface="Calibri"/>
                          <a:sym typeface="Calibri"/>
                        </a:rPr>
                        <a:t>16.05 /27.53</a:t>
                      </a:r>
                      <a:endParaRPr sz="1000" u="none" cap="none" strike="noStrike">
                        <a:latin typeface="Calibri"/>
                        <a:ea typeface="Calibri"/>
                        <a:cs typeface="Calibri"/>
                        <a:sym typeface="Calibri"/>
                      </a:endParaRPr>
                    </a:p>
                  </a:txBody>
                  <a:tcPr marT="1263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5722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All OK</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92700">
                <a:tc>
                  <a:txBody>
                    <a:bodyPr/>
                    <a:lstStyle/>
                    <a:p>
                      <a:pPr indent="0" lvl="0" marL="736600" marR="0" rtl="0" algn="l">
                        <a:lnSpc>
                          <a:spcPct val="100000"/>
                        </a:lnSpc>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FTP Upload</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11785" marR="0" rtl="0" algn="l">
                        <a:lnSpc>
                          <a:spcPct val="100000"/>
                        </a:lnSpc>
                        <a:spcBef>
                          <a:spcPts val="0"/>
                        </a:spcBef>
                        <a:spcAft>
                          <a:spcPts val="0"/>
                        </a:spcAft>
                        <a:buNone/>
                      </a:pPr>
                      <a:r>
                        <a:rPr lang="en-US" sz="1000" u="none" cap="none" strike="noStrike">
                          <a:latin typeface="Arial"/>
                          <a:ea typeface="Arial"/>
                          <a:cs typeface="Arial"/>
                          <a:sym typeface="Arial"/>
                        </a:rPr>
                        <a:t>PASS</a:t>
                      </a:r>
                      <a:endParaRPr sz="1000" u="none" cap="none" strike="noStrike">
                        <a:latin typeface="Arial"/>
                        <a:ea typeface="Arial"/>
                        <a:cs typeface="Arial"/>
                        <a:sym typeface="Arial"/>
                      </a:endParaRPr>
                    </a:p>
                  </a:txBody>
                  <a:tcPr marT="330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9050" marR="0" rtl="0" algn="ctr">
                        <a:lnSpc>
                          <a:spcPct val="100000"/>
                        </a:lnSpc>
                        <a:spcBef>
                          <a:spcPts val="0"/>
                        </a:spcBef>
                        <a:spcAft>
                          <a:spcPts val="0"/>
                        </a:spcAft>
                        <a:buNone/>
                      </a:pPr>
                      <a:r>
                        <a:rPr lang="en-US" sz="1000" u="none" cap="none" strike="noStrike">
                          <a:latin typeface="Arial"/>
                          <a:ea typeface="Arial"/>
                          <a:cs typeface="Arial"/>
                          <a:sym typeface="Arial"/>
                        </a:rPr>
                        <a:t>PASS</a:t>
                      </a:r>
                      <a:endParaRPr sz="1000" u="none" cap="none" strike="noStrike">
                        <a:latin typeface="Arial"/>
                        <a:ea typeface="Arial"/>
                        <a:cs typeface="Arial"/>
                        <a:sym typeface="Arial"/>
                      </a:endParaRPr>
                    </a:p>
                  </a:txBody>
                  <a:tcPr marT="330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15595" marR="0" rtl="0" algn="l">
                        <a:lnSpc>
                          <a:spcPct val="100000"/>
                        </a:lnSpc>
                        <a:spcBef>
                          <a:spcPts val="0"/>
                        </a:spcBef>
                        <a:spcAft>
                          <a:spcPts val="0"/>
                        </a:spcAft>
                        <a:buNone/>
                      </a:pPr>
                      <a:r>
                        <a:rPr lang="en-US" sz="1000" u="none" cap="none" strike="noStrike">
                          <a:latin typeface="Arial"/>
                          <a:ea typeface="Arial"/>
                          <a:cs typeface="Arial"/>
                          <a:sym typeface="Arial"/>
                        </a:rPr>
                        <a:t>PASS</a:t>
                      </a:r>
                      <a:endParaRPr sz="1000" u="none" cap="none" strike="noStrike">
                        <a:latin typeface="Arial"/>
                        <a:ea typeface="Arial"/>
                        <a:cs typeface="Arial"/>
                        <a:sym typeface="Arial"/>
                      </a:endParaRPr>
                    </a:p>
                  </a:txBody>
                  <a:tcPr marT="330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5722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All OK</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60525">
                <a:tc>
                  <a:txBody>
                    <a:bodyPr/>
                    <a:lstStyle/>
                    <a:p>
                      <a:pPr indent="-739775" lvl="0" marL="871538" marR="0" rtl="0" algn="l">
                        <a:lnSpc>
                          <a:spcPct val="115000"/>
                        </a:lnSpc>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UL Average &amp; Peak Throughput (Mbps)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000" u="none" cap="none" strike="noStrike">
                        <a:latin typeface="Times New Roman"/>
                        <a:ea typeface="Times New Roman"/>
                        <a:cs typeface="Times New Roman"/>
                        <a:sym typeface="Times New Roman"/>
                      </a:endParaRPr>
                    </a:p>
                    <a:p>
                      <a:pPr indent="0" lvl="0" marL="275590" marR="0" rtl="0" algn="l">
                        <a:lnSpc>
                          <a:spcPct val="100000"/>
                        </a:lnSpc>
                        <a:spcBef>
                          <a:spcPts val="0"/>
                        </a:spcBef>
                        <a:spcAft>
                          <a:spcPts val="0"/>
                        </a:spcAft>
                        <a:buNone/>
                      </a:pPr>
                      <a:r>
                        <a:rPr lang="en-US" sz="1000" u="none" cap="none" strike="noStrike">
                          <a:latin typeface="Calibri"/>
                          <a:ea typeface="Calibri"/>
                          <a:cs typeface="Calibri"/>
                          <a:sym typeface="Calibri"/>
                        </a:rPr>
                        <a:t>9.37/ 12.82</a:t>
                      </a:r>
                      <a:endParaRPr sz="1000" u="none" cap="none" strike="noStrike">
                        <a:latin typeface="Calibri"/>
                        <a:ea typeface="Calibri"/>
                        <a:cs typeface="Calibri"/>
                        <a:sym typeface="Calibri"/>
                      </a:endParaRPr>
                    </a:p>
                  </a:txBody>
                  <a:tcPr marT="13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000" u="none" cap="none" strike="noStrike">
                        <a:latin typeface="Times New Roman"/>
                        <a:ea typeface="Times New Roman"/>
                        <a:cs typeface="Times New Roman"/>
                        <a:sym typeface="Times New Roman"/>
                      </a:endParaRPr>
                    </a:p>
                    <a:p>
                      <a:pPr indent="0" lvl="0" marL="203200" marR="0" rtl="0" algn="l">
                        <a:lnSpc>
                          <a:spcPct val="100000"/>
                        </a:lnSpc>
                        <a:spcBef>
                          <a:spcPts val="0"/>
                        </a:spcBef>
                        <a:spcAft>
                          <a:spcPts val="0"/>
                        </a:spcAft>
                        <a:buNone/>
                      </a:pPr>
                      <a:r>
                        <a:rPr lang="en-US" sz="1000" u="none" cap="none" strike="noStrike">
                          <a:latin typeface="Calibri"/>
                          <a:ea typeface="Calibri"/>
                          <a:cs typeface="Calibri"/>
                          <a:sym typeface="Calibri"/>
                        </a:rPr>
                        <a:t>3.25 /6.73</a:t>
                      </a:r>
                      <a:endParaRPr sz="1000" u="none" cap="none" strike="noStrike">
                        <a:latin typeface="Calibri"/>
                        <a:ea typeface="Calibri"/>
                        <a:cs typeface="Calibri"/>
                        <a:sym typeface="Calibri"/>
                      </a:endParaRPr>
                    </a:p>
                  </a:txBody>
                  <a:tcPr marT="13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000" u="none" cap="none" strike="noStrike">
                        <a:latin typeface="Times New Roman"/>
                        <a:ea typeface="Times New Roman"/>
                        <a:cs typeface="Times New Roman"/>
                        <a:sym typeface="Times New Roman"/>
                      </a:endParaRPr>
                    </a:p>
                    <a:p>
                      <a:pPr indent="0" lvl="0" marL="0" marR="184785" rtl="0" algn="r">
                        <a:lnSpc>
                          <a:spcPct val="100000"/>
                        </a:lnSpc>
                        <a:spcBef>
                          <a:spcPts val="0"/>
                        </a:spcBef>
                        <a:spcAft>
                          <a:spcPts val="0"/>
                        </a:spcAft>
                        <a:buNone/>
                      </a:pPr>
                      <a:r>
                        <a:rPr lang="en-US" sz="1000" u="none" cap="none" strike="noStrike">
                          <a:latin typeface="Calibri"/>
                          <a:ea typeface="Calibri"/>
                          <a:cs typeface="Calibri"/>
                          <a:sym typeface="Calibri"/>
                        </a:rPr>
                        <a:t>7.05/ 11.73</a:t>
                      </a:r>
                      <a:endParaRPr sz="1000" u="none" cap="none" strike="noStrike">
                        <a:latin typeface="Calibri"/>
                        <a:ea typeface="Calibri"/>
                        <a:cs typeface="Calibri"/>
                        <a:sym typeface="Calibri"/>
                      </a:endParaRPr>
                    </a:p>
                  </a:txBody>
                  <a:tcPr marT="13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5722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All OK</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350" name="Google Shape;350;p34"/>
          <p:cNvSpPr txBox="1"/>
          <p:nvPr/>
        </p:nvSpPr>
        <p:spPr>
          <a:xfrm>
            <a:off x="685596" y="376781"/>
            <a:ext cx="2286204" cy="370999"/>
          </a:xfrm>
          <a:prstGeom prst="rect">
            <a:avLst/>
          </a:prstGeom>
          <a:noFill/>
          <a:ln>
            <a:noFill/>
          </a:ln>
        </p:spPr>
        <p:txBody>
          <a:bodyPr anchorCtr="0" anchor="t" bIns="0" lIns="0" spcFirstLastPara="1" rIns="0" wrap="square" tIns="12050">
            <a:spAutoFit/>
          </a:bodyPr>
          <a:lstStyle/>
          <a:p>
            <a:pPr indent="254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QA &amp; INSPECTION CIRCLE KL 	</a:t>
            </a:r>
            <a:endParaRPr sz="1100">
              <a:solidFill>
                <a:schemeClr val="dk1"/>
              </a:solidFill>
              <a:latin typeface="Arial"/>
              <a:ea typeface="Arial"/>
              <a:cs typeface="Arial"/>
              <a:sym typeface="Arial"/>
            </a:endParaRPr>
          </a:p>
        </p:txBody>
      </p:sp>
      <p:sp>
        <p:nvSpPr>
          <p:cNvPr id="351" name="Google Shape;351;p34"/>
          <p:cNvSpPr txBox="1"/>
          <p:nvPr/>
        </p:nvSpPr>
        <p:spPr>
          <a:xfrm>
            <a:off x="5249926" y="414883"/>
            <a:ext cx="1612900" cy="379095"/>
          </a:xfrm>
          <a:prstGeom prst="rect">
            <a:avLst/>
          </a:prstGeom>
          <a:noFill/>
          <a:ln>
            <a:noFill/>
          </a:ln>
        </p:spPr>
        <p:txBody>
          <a:bodyPr anchorCtr="0" anchor="t" bIns="0" lIns="0" spcFirstLastPara="1" rIns="0" wrap="square" tIns="12050">
            <a:spAutoFit/>
          </a:bodyPr>
          <a:lstStyle/>
          <a:p>
            <a:pPr indent="619125"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4G PHASE IX.2  eNode-B A/T SCHEDULE</a:t>
            </a:r>
            <a:endParaRPr/>
          </a:p>
        </p:txBody>
      </p:sp>
      <p:sp>
        <p:nvSpPr>
          <p:cNvPr id="352" name="Google Shape;352;p34"/>
          <p:cNvSpPr txBox="1"/>
          <p:nvPr/>
        </p:nvSpPr>
        <p:spPr>
          <a:xfrm>
            <a:off x="868476" y="9391164"/>
            <a:ext cx="1681480" cy="182245"/>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lang="en-US" sz="1100">
                <a:solidFill>
                  <a:schemeClr val="dk1"/>
                </a:solidFill>
                <a:latin typeface="Arial"/>
                <a:ea typeface="Arial"/>
                <a:cs typeface="Arial"/>
                <a:sym typeface="Arial"/>
              </a:rPr>
              <a:t>QAIN-11/31(14)/1/2023-CM</a:t>
            </a:r>
            <a:endParaRPr sz="1100">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